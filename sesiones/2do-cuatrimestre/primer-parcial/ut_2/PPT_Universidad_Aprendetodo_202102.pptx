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7"/>
  </p:notesMasterIdLst>
  <p:sldIdLst>
    <p:sldId id="256" r:id="rId5"/>
    <p:sldId id="265" r:id="rId6"/>
    <p:sldId id="266" r:id="rId7"/>
    <p:sldId id="267" r:id="rId8"/>
    <p:sldId id="257" r:id="rId9"/>
    <p:sldId id="258" r:id="rId10"/>
    <p:sldId id="259" r:id="rId11"/>
    <p:sldId id="260" r:id="rId12"/>
    <p:sldId id="261" r:id="rId13"/>
    <p:sldId id="262" r:id="rId14"/>
    <p:sldId id="264" r:id="rId15"/>
    <p:sldId id="263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08" y="1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729f02963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729f02963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729f02963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729f02963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729f02963f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729f02963f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729f02963f_1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729f02963f_1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729f02963f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729f02963f_1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729f02963f_1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729f02963f_1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729f02963f_1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729f02963f_1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3406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729f02963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729f02963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Universidad Aprendetodo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Diagrama Entidad-Relación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4D16B3F-DFAA-4B40-A25D-C0CD30697958}"/>
              </a:ext>
            </a:extLst>
          </p:cNvPr>
          <p:cNvSpPr txBox="1"/>
          <p:nvPr/>
        </p:nvSpPr>
        <p:spPr>
          <a:xfrm>
            <a:off x="191386" y="127591"/>
            <a:ext cx="8761228" cy="4283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UNIVERSIDAD APRENDETODO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Entidades/relaciones</a:t>
            </a: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s-AR" dirty="0"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atributos</a:t>
            </a: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s-AR" dirty="0"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verificadores</a:t>
            </a: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s-AR" dirty="0">
                <a:highlight>
                  <a:srgbClr val="FF0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restricciones</a:t>
            </a:r>
            <a:endParaRPr lang="es-A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Universidad APRENDETODO de la ciudad de </a:t>
            </a:r>
            <a:r>
              <a:rPr lang="es-AR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Estudiamucho</a:t>
            </a: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agrupa todas las materias, que en ella se dictan en </a:t>
            </a:r>
            <a:r>
              <a:rPr lang="es-AR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departamentos</a:t>
            </a: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académicos (actualmente son 10 departamentos). A la cabeza de cada departamento se encuentra un </a:t>
            </a:r>
            <a:r>
              <a:rPr lang="es-AR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director</a:t>
            </a: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Por fuera de los departamentos, en la Universidad existe una oficina que tiene por función asistirlos. Esta oficina se llama Oficina de Asistencia a Directores, también denominada OAD.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OAD recibe los distintos requerimientos que son dirigidos a los directores de departamento (los requerimientos se realizan a través de expedientes). Dichos </a:t>
            </a:r>
            <a:r>
              <a:rPr lang="es-AR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expedientes</a:t>
            </a: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son entregados al departamento correspondiente para que los directores se encarguen de resolverlos en lo que a ellos concierna.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Una vez que el director del departamento ha </a:t>
            </a:r>
            <a:r>
              <a:rPr lang="es-AR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finalizado el tratamiento del expediente</a:t>
            </a: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lo entrega a la OAD para que haga seguir el curso del mismo, direccionándolo donde corresponda.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 expedientes tienen un </a:t>
            </a:r>
            <a:r>
              <a:rPr lang="es-AR" dirty="0"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número (que los identifica unívocamente),</a:t>
            </a: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es otorgado por la universidad cuando el </a:t>
            </a:r>
            <a:r>
              <a:rPr lang="es-AR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iniciador</a:t>
            </a: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del expediente quiere dar comienzo al mismo. Quien lo inicia y lo presenta en la OAD, es el iniciador (que puede una </a:t>
            </a:r>
            <a:r>
              <a:rPr lang="es-AR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persona, organismo, otro departamento</a:t>
            </a: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etc.). Los </a:t>
            </a:r>
            <a:r>
              <a:rPr lang="es-AR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motivos</a:t>
            </a: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del expediente pueden ser por ejemplo el nombramiento de un docente, una denuncia, remoción de un docente, pedido de equivalencias de un alumno. </a:t>
            </a:r>
            <a:r>
              <a:rPr lang="es-AR" dirty="0">
                <a:highlight>
                  <a:srgbClr val="FF0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 mismos están tipificados por las OAD.</a:t>
            </a:r>
            <a:endParaRPr lang="es-A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AC8761F-A01B-4EAC-B96F-DFEAE3C85E97}"/>
              </a:ext>
            </a:extLst>
          </p:cNvPr>
          <p:cNvSpPr txBox="1"/>
          <p:nvPr/>
        </p:nvSpPr>
        <p:spPr>
          <a:xfrm>
            <a:off x="138223" y="116958"/>
            <a:ext cx="8814391" cy="4385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Otra actividad propia de los directores de departamento es la organización de </a:t>
            </a:r>
            <a:r>
              <a:rPr lang="es-AR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reuniones</a:t>
            </a: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periódicas a donde invitan a todos los </a:t>
            </a:r>
            <a:r>
              <a:rPr lang="es-AR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docentes</a:t>
            </a: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las </a:t>
            </a:r>
            <a:r>
              <a:rPr lang="es-AR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materias</a:t>
            </a: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que pertenecen al departamento. Y es la oficina antes mencionada la encargada de realizar las </a:t>
            </a:r>
            <a:r>
              <a:rPr lang="es-AR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invitaciones</a:t>
            </a: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los docentes correspondientes.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le pide a Ud., que realice el análisis de un sistema de información para la OAD, ya que se quiere implementar uno que ayude a dicha oficina en su gestión.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sistema debe cumplir las siguientes demandas de los directores, cuando ellos lo exijan: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s-AR" dirty="0"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Cuáles son los expedientes que tuvo el departamento sobre un determinado motivo</a:t>
            </a: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AR" dirty="0"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Necesita saber por cada uno de los expedientes: número de expediente, fecha de inicio, iniciador, motivo, solución adoptada, destino y fecha en que se entregó al destino</a:t>
            </a: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s-AR" dirty="0"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Cuáles son todos los expedientes para su departamento iniciados con posterioridad a una determinada fecha y que aún no han sido resueltos.</a:t>
            </a: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dirty="0"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Necesita de cada uno: número de expediente, fecha de inicio, iniciador, motivo.</a:t>
            </a:r>
            <a:endParaRPr lang="es-A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s-AR" dirty="0"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Cuáles son los expedientes de su departamento que sean de un determinado iniciador, hayan sido o no resueltos.</a:t>
            </a: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dirty="0"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Necesita saber por cada uno de los expedientes: número de expediente, motivo, y solución adoptada (si es que ya fue resuelto).</a:t>
            </a:r>
            <a:endParaRPr lang="es-A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s-AR" dirty="0"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Una lista de todos los docentes que hayan confirmado su asistencia a una reunión por él citada</a:t>
            </a:r>
            <a:r>
              <a:rPr lang="es-AR" dirty="0"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Necesita saber por cada uno de los docentes: </a:t>
            </a:r>
            <a:r>
              <a:rPr lang="es-AR" dirty="0" err="1"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Nºlegajo</a:t>
            </a:r>
            <a:r>
              <a:rPr lang="es-AR" dirty="0"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del docente, nombre del docente, fecha en que aceptó.</a:t>
            </a:r>
            <a:endParaRPr lang="es-A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83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2B9956D-FD86-4BAA-BA69-4E5E116DA2FB}"/>
              </a:ext>
            </a:extLst>
          </p:cNvPr>
          <p:cNvSpPr/>
          <p:nvPr/>
        </p:nvSpPr>
        <p:spPr>
          <a:xfrm>
            <a:off x="255181" y="213795"/>
            <a:ext cx="8708066" cy="3233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</a:t>
            </a:r>
            <a:r>
              <a:rPr lang="es-AR" dirty="0"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Cuáles son todas las reuniones que organizó en un determinado periodo</a:t>
            </a: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AR" dirty="0"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Necesita saber por cada reunión: código de reunión, tema, día, hora, lugar de reunión.</a:t>
            </a:r>
            <a:endParaRPr lang="es-A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Además el sistema debe permitir que la OAD </a:t>
            </a:r>
            <a:r>
              <a:rPr lang="es-AR" dirty="0"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obtenga una lista con todos los docentes que pertenecen a un determinado departamento.</a:t>
            </a: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dirty="0"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Necesitan por cada uno de los docentes: Nombre, teléfono, materia, domicilio.</a:t>
            </a:r>
            <a:endParaRPr lang="es-A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Finalmente, el sistema a diseñar debe </a:t>
            </a:r>
            <a:r>
              <a:rPr lang="es-AR" dirty="0">
                <a:highlight>
                  <a:srgbClr val="00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permitir dar respuesta ante el requerimiento de un iniciador sobre el avance de su expediente.</a:t>
            </a: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AR" dirty="0"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Permitiendo informarle si el mismo está en poder del director de departamento, o si ya ha sido entregado a otro destino; y en el segundo de los casos informarle a quien y en qué fecha.</a:t>
            </a:r>
            <a:endParaRPr lang="es-A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OBSERVACIONES: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highlight>
                  <a:srgbClr val="FF0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● Una materia pertenece a un y solo un departamento.</a:t>
            </a:r>
            <a:endParaRPr lang="es-A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highlight>
                  <a:srgbClr val="FF0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● No existe expediente que sea tratado por más de un departamento.</a:t>
            </a:r>
            <a:endParaRPr lang="es-A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AR" dirty="0">
                <a:highlight>
                  <a:srgbClr val="FF0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● Un Docente puede pertenecer a más de un departamento, según las materias que dicte.</a:t>
            </a:r>
            <a:endParaRPr lang="es-A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30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Entidades potenciales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2987400" y="1420344"/>
            <a:ext cx="15846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Departamento</a:t>
            </a:r>
            <a:endParaRPr b="1"/>
          </a:p>
        </p:txBody>
      </p:sp>
      <p:sp>
        <p:nvSpPr>
          <p:cNvPr id="62" name="Google Shape;62;p14"/>
          <p:cNvSpPr txBox="1"/>
          <p:nvPr/>
        </p:nvSpPr>
        <p:spPr>
          <a:xfrm>
            <a:off x="2987400" y="2161771"/>
            <a:ext cx="15846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Motivos</a:t>
            </a:r>
            <a:endParaRPr b="1"/>
          </a:p>
        </p:txBody>
      </p:sp>
      <p:sp>
        <p:nvSpPr>
          <p:cNvPr id="63" name="Google Shape;63;p14"/>
          <p:cNvSpPr txBox="1"/>
          <p:nvPr/>
        </p:nvSpPr>
        <p:spPr>
          <a:xfrm>
            <a:off x="617750" y="2196785"/>
            <a:ext cx="15846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Iniciador</a:t>
            </a:r>
            <a:endParaRPr b="1"/>
          </a:p>
        </p:txBody>
      </p:sp>
      <p:sp>
        <p:nvSpPr>
          <p:cNvPr id="64" name="Google Shape;64;p14"/>
          <p:cNvSpPr txBox="1"/>
          <p:nvPr/>
        </p:nvSpPr>
        <p:spPr>
          <a:xfrm>
            <a:off x="6716676" y="2110013"/>
            <a:ext cx="1584600" cy="87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1"/>
                </a:solidFill>
              </a:rPr>
              <a:t>finalizado el tratamiento del expediente - </a:t>
            </a:r>
            <a:r>
              <a:rPr lang="es-419" sz="1100" b="1">
                <a:solidFill>
                  <a:schemeClr val="dk1"/>
                </a:solidFill>
              </a:rPr>
              <a:t>solucion de expediente</a:t>
            </a:r>
            <a:endParaRPr b="1"/>
          </a:p>
        </p:txBody>
      </p:sp>
      <p:sp>
        <p:nvSpPr>
          <p:cNvPr id="65" name="Google Shape;65;p14"/>
          <p:cNvSpPr txBox="1"/>
          <p:nvPr/>
        </p:nvSpPr>
        <p:spPr>
          <a:xfrm>
            <a:off x="6716676" y="1371212"/>
            <a:ext cx="15846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Expedientes</a:t>
            </a:r>
            <a:endParaRPr b="1"/>
          </a:p>
        </p:txBody>
      </p:sp>
      <p:sp>
        <p:nvSpPr>
          <p:cNvPr id="66" name="Google Shape;66;p14"/>
          <p:cNvSpPr txBox="1"/>
          <p:nvPr/>
        </p:nvSpPr>
        <p:spPr>
          <a:xfrm>
            <a:off x="617750" y="1420344"/>
            <a:ext cx="15846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Director</a:t>
            </a:r>
            <a:endParaRPr b="1" dirty="0"/>
          </a:p>
        </p:txBody>
      </p:sp>
      <p:sp>
        <p:nvSpPr>
          <p:cNvPr id="67" name="Google Shape;67;p14"/>
          <p:cNvSpPr txBox="1"/>
          <p:nvPr/>
        </p:nvSpPr>
        <p:spPr>
          <a:xfrm>
            <a:off x="4916364" y="1849944"/>
            <a:ext cx="15846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Reuniones</a:t>
            </a:r>
            <a:endParaRPr b="1"/>
          </a:p>
        </p:txBody>
      </p:sp>
      <p:sp>
        <p:nvSpPr>
          <p:cNvPr id="68" name="Google Shape;68;p14"/>
          <p:cNvSpPr txBox="1"/>
          <p:nvPr/>
        </p:nvSpPr>
        <p:spPr>
          <a:xfrm>
            <a:off x="3003174" y="2903198"/>
            <a:ext cx="15846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Materias</a:t>
            </a:r>
            <a:endParaRPr b="1"/>
          </a:p>
        </p:txBody>
      </p:sp>
      <p:sp>
        <p:nvSpPr>
          <p:cNvPr id="69" name="Google Shape;69;p14"/>
          <p:cNvSpPr txBox="1"/>
          <p:nvPr/>
        </p:nvSpPr>
        <p:spPr>
          <a:xfrm>
            <a:off x="6716676" y="3291914"/>
            <a:ext cx="1584600" cy="683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chemeClr val="dk1"/>
                </a:solidFill>
              </a:rPr>
              <a:t>persona, organismo, otro departamento - t</a:t>
            </a:r>
            <a:r>
              <a:rPr lang="es-419" sz="1100" b="1">
                <a:solidFill>
                  <a:schemeClr val="dk1"/>
                </a:solidFill>
              </a:rPr>
              <a:t>ipos de iniciadores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4935870" y="2863957"/>
            <a:ext cx="15846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Invitaciones</a:t>
            </a:r>
            <a:endParaRPr b="1"/>
          </a:p>
        </p:txBody>
      </p:sp>
      <p:sp>
        <p:nvSpPr>
          <p:cNvPr id="71" name="Google Shape;71;p14"/>
          <p:cNvSpPr txBox="1"/>
          <p:nvPr/>
        </p:nvSpPr>
        <p:spPr>
          <a:xfrm>
            <a:off x="604296" y="2908359"/>
            <a:ext cx="15846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Docentes</a:t>
            </a: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6" grpId="0" animBg="1"/>
      <p:bldP spid="7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Atributos potenciales</a:t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523750" y="1329525"/>
            <a:ext cx="17994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Número Expediente</a:t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523750" y="1844525"/>
            <a:ext cx="20817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Fecha Inicio Expediente</a:t>
            </a: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3093450" y="1329525"/>
            <a:ext cx="17994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Nº Legajo Docente</a:t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3093450" y="1844525"/>
            <a:ext cx="15846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Nombre Docente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523750" y="2359525"/>
            <a:ext cx="20817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Iniciador Expediente</a:t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523750" y="2874525"/>
            <a:ext cx="20817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Motivo Expediente</a:t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523750" y="3389525"/>
            <a:ext cx="20817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Solución</a:t>
            </a:r>
            <a:r>
              <a:rPr lang="es-419"/>
              <a:t> Expediente</a:t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523750" y="3904525"/>
            <a:ext cx="20817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Destino </a:t>
            </a:r>
            <a:r>
              <a:rPr lang="es-419"/>
              <a:t>Expediente</a:t>
            </a: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523750" y="4419525"/>
            <a:ext cx="2256000" cy="57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Fecha Entrega Destino Expediente</a:t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3093450" y="2359525"/>
            <a:ext cx="1862100" cy="57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Fecha Confirmación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Asistencia a Reunión</a:t>
            </a:r>
            <a:endParaRPr/>
          </a:p>
        </p:txBody>
      </p:sp>
      <p:sp>
        <p:nvSpPr>
          <p:cNvPr id="87" name="Google Shape;87;p15"/>
          <p:cNvSpPr txBox="1"/>
          <p:nvPr/>
        </p:nvSpPr>
        <p:spPr>
          <a:xfrm>
            <a:off x="3093450" y="3017625"/>
            <a:ext cx="15846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Código Reunión</a:t>
            </a:r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3093450" y="3532625"/>
            <a:ext cx="15846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Tema Reunión</a:t>
            </a:r>
            <a:endParaRPr/>
          </a:p>
        </p:txBody>
      </p:sp>
      <p:sp>
        <p:nvSpPr>
          <p:cNvPr id="89" name="Google Shape;89;p15"/>
          <p:cNvSpPr txBox="1"/>
          <p:nvPr/>
        </p:nvSpPr>
        <p:spPr>
          <a:xfrm>
            <a:off x="3093450" y="4047625"/>
            <a:ext cx="17994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Día y Hora Reunión</a:t>
            </a:r>
            <a:endParaRPr/>
          </a:p>
        </p:txBody>
      </p:sp>
      <p:sp>
        <p:nvSpPr>
          <p:cNvPr id="90" name="Google Shape;90;p15"/>
          <p:cNvSpPr txBox="1"/>
          <p:nvPr/>
        </p:nvSpPr>
        <p:spPr>
          <a:xfrm>
            <a:off x="3093450" y="4562625"/>
            <a:ext cx="17994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Lugar Reunión</a:t>
            </a:r>
            <a:endParaRPr/>
          </a:p>
        </p:txBody>
      </p:sp>
      <p:sp>
        <p:nvSpPr>
          <p:cNvPr id="91" name="Google Shape;91;p15"/>
          <p:cNvSpPr txBox="1"/>
          <p:nvPr/>
        </p:nvSpPr>
        <p:spPr>
          <a:xfrm>
            <a:off x="5408000" y="1329525"/>
            <a:ext cx="17994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Teléfono Docente</a:t>
            </a:r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5408000" y="1844525"/>
            <a:ext cx="17994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Materia Docente</a:t>
            </a:r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5408000" y="2359525"/>
            <a:ext cx="17994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Domicilio Docente</a:t>
            </a:r>
            <a:endParaRPr/>
          </a:p>
        </p:txBody>
      </p:sp>
      <p:sp>
        <p:nvSpPr>
          <p:cNvPr id="94" name="Google Shape;94;p15"/>
          <p:cNvSpPr txBox="1"/>
          <p:nvPr/>
        </p:nvSpPr>
        <p:spPr>
          <a:xfrm>
            <a:off x="5408000" y="2874525"/>
            <a:ext cx="17994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Estado Expediente</a:t>
            </a:r>
            <a:endParaRPr/>
          </a:p>
        </p:txBody>
      </p:sp>
      <p:sp>
        <p:nvSpPr>
          <p:cNvPr id="95" name="Google Shape;95;p15"/>
          <p:cNvSpPr txBox="1"/>
          <p:nvPr/>
        </p:nvSpPr>
        <p:spPr>
          <a:xfrm>
            <a:off x="5408000" y="3389525"/>
            <a:ext cx="2081700" cy="57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Fecha Envío de Expediente a Destino</a:t>
            </a: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5380850" y="4047625"/>
            <a:ext cx="1799400" cy="57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Lugar Destino Expediente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80" grpId="0" animBg="1"/>
      <p:bldP spid="8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190800" y="192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Entidades con atributos identificados</a:t>
            </a:r>
            <a:endParaRPr/>
          </a:p>
        </p:txBody>
      </p:sp>
      <p:sp>
        <p:nvSpPr>
          <p:cNvPr id="102" name="Google Shape;102;p16"/>
          <p:cNvSpPr txBox="1"/>
          <p:nvPr/>
        </p:nvSpPr>
        <p:spPr>
          <a:xfrm>
            <a:off x="389450" y="997225"/>
            <a:ext cx="15846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Departamento</a:t>
            </a:r>
            <a:endParaRPr b="1"/>
          </a:p>
        </p:txBody>
      </p:sp>
      <p:sp>
        <p:nvSpPr>
          <p:cNvPr id="103" name="Google Shape;103;p16"/>
          <p:cNvSpPr txBox="1"/>
          <p:nvPr/>
        </p:nvSpPr>
        <p:spPr>
          <a:xfrm>
            <a:off x="389450" y="2219725"/>
            <a:ext cx="15846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Motivos</a:t>
            </a:r>
            <a:endParaRPr b="1"/>
          </a:p>
        </p:txBody>
      </p:sp>
      <p:sp>
        <p:nvSpPr>
          <p:cNvPr id="104" name="Google Shape;104;p16"/>
          <p:cNvSpPr txBox="1"/>
          <p:nvPr/>
        </p:nvSpPr>
        <p:spPr>
          <a:xfrm>
            <a:off x="4635088" y="997225"/>
            <a:ext cx="15846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Iniciador</a:t>
            </a:r>
            <a:endParaRPr b="1"/>
          </a:p>
        </p:txBody>
      </p:sp>
      <p:sp>
        <p:nvSpPr>
          <p:cNvPr id="105" name="Google Shape;105;p16"/>
          <p:cNvSpPr txBox="1"/>
          <p:nvPr/>
        </p:nvSpPr>
        <p:spPr>
          <a:xfrm>
            <a:off x="6733425" y="2766538"/>
            <a:ext cx="2197200" cy="1260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Solución de expediente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Solución exp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Destino exp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1"/>
                </a:solidFill>
              </a:rPr>
              <a:t>Fecha de entrega destino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6733425" y="997225"/>
            <a:ext cx="1780800" cy="1652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Expedientes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N° de expediente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Fecha de inicio de expediente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Iniciador exp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Motivo exp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Estado expediente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2536775" y="997213"/>
            <a:ext cx="15846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Director</a:t>
            </a:r>
            <a:endParaRPr b="1"/>
          </a:p>
        </p:txBody>
      </p:sp>
      <p:sp>
        <p:nvSpPr>
          <p:cNvPr id="108" name="Google Shape;108;p16"/>
          <p:cNvSpPr txBox="1"/>
          <p:nvPr/>
        </p:nvSpPr>
        <p:spPr>
          <a:xfrm>
            <a:off x="4684125" y="2356950"/>
            <a:ext cx="15846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Materias</a:t>
            </a:r>
            <a:endParaRPr b="1"/>
          </a:p>
        </p:txBody>
      </p:sp>
      <p:sp>
        <p:nvSpPr>
          <p:cNvPr id="109" name="Google Shape;109;p16"/>
          <p:cNvSpPr txBox="1"/>
          <p:nvPr/>
        </p:nvSpPr>
        <p:spPr>
          <a:xfrm>
            <a:off x="6733425" y="4221850"/>
            <a:ext cx="1584600" cy="540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>
                <a:solidFill>
                  <a:schemeClr val="dk1"/>
                </a:solidFill>
              </a:rPr>
              <a:t>Tipos de iniciadores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389450" y="3792250"/>
            <a:ext cx="15846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Invitaciones</a:t>
            </a:r>
            <a:endParaRPr b="1"/>
          </a:p>
        </p:txBody>
      </p:sp>
      <p:sp>
        <p:nvSpPr>
          <p:cNvPr id="111" name="Google Shape;111;p16"/>
          <p:cNvSpPr txBox="1"/>
          <p:nvPr/>
        </p:nvSpPr>
        <p:spPr>
          <a:xfrm>
            <a:off x="2337825" y="3698250"/>
            <a:ext cx="1848000" cy="1368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Docentes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N° legajo docente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Nombre docente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Telefono docente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Materia docente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Domicilio docente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2304225" y="1920425"/>
            <a:ext cx="1915200" cy="1652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Reuniones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Código reunión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Tema de </a:t>
            </a:r>
            <a:r>
              <a:rPr lang="es-419">
                <a:solidFill>
                  <a:schemeClr val="dk1"/>
                </a:solidFill>
              </a:rPr>
              <a:t>reunión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Día y hora de reunión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Lugar </a:t>
            </a:r>
            <a:r>
              <a:rPr lang="es-419">
                <a:solidFill>
                  <a:schemeClr val="dk1"/>
                </a:solidFill>
              </a:rPr>
              <a:t>reunión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Fecha de confirmación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>
            <a:spLocks noGrp="1"/>
          </p:cNvSpPr>
          <p:nvPr>
            <p:ph type="title"/>
          </p:nvPr>
        </p:nvSpPr>
        <p:spPr>
          <a:xfrm>
            <a:off x="190800" y="192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Entidades y atributos identificados</a:t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322300" y="997225"/>
            <a:ext cx="1719000" cy="923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Departamento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>
                <a:solidFill>
                  <a:srgbClr val="FF00FF"/>
                </a:solidFill>
              </a:rPr>
              <a:t>Código </a:t>
            </a:r>
            <a:r>
              <a:rPr lang="es-419" u="sng" dirty="0" err="1">
                <a:solidFill>
                  <a:srgbClr val="FF00FF"/>
                </a:solidFill>
              </a:rPr>
              <a:t>dpto</a:t>
            </a:r>
            <a:endParaRPr u="sng" dirty="0">
              <a:solidFill>
                <a:srgbClr val="FF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rgbClr val="FF00FF"/>
                </a:solidFill>
              </a:rPr>
              <a:t>Nombre </a:t>
            </a:r>
            <a:r>
              <a:rPr lang="es-419" dirty="0" err="1">
                <a:solidFill>
                  <a:srgbClr val="FF00FF"/>
                </a:solidFill>
              </a:rPr>
              <a:t>dpto</a:t>
            </a:r>
            <a:endParaRPr lang="es-419" dirty="0">
              <a:solidFill>
                <a:srgbClr val="FF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rgbClr val="FF00FF"/>
                </a:solidFill>
              </a:rPr>
              <a:t>Cod_director</a:t>
            </a:r>
            <a:endParaRPr dirty="0">
              <a:solidFill>
                <a:srgbClr val="FF00FF"/>
              </a:solidFill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190800" y="2281125"/>
            <a:ext cx="1584600" cy="815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Motivos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>
                <a:solidFill>
                  <a:srgbClr val="FF00FF"/>
                </a:solidFill>
              </a:rPr>
              <a:t>Código motivo</a:t>
            </a:r>
            <a:endParaRPr u="sng" dirty="0">
              <a:solidFill>
                <a:srgbClr val="FF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rgbClr val="FF00FF"/>
                </a:solidFill>
              </a:rPr>
              <a:t>Desc</a:t>
            </a:r>
            <a:r>
              <a:rPr lang="es-419" dirty="0">
                <a:solidFill>
                  <a:srgbClr val="FF00FF"/>
                </a:solidFill>
              </a:rPr>
              <a:t> motivo</a:t>
            </a:r>
            <a:endParaRPr dirty="0">
              <a:solidFill>
                <a:srgbClr val="FF00FF"/>
              </a:solidFill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4684125" y="997225"/>
            <a:ext cx="1584600" cy="923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Iniciador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>
                <a:solidFill>
                  <a:srgbClr val="FF00FF"/>
                </a:solidFill>
              </a:rPr>
              <a:t>Código iniciador</a:t>
            </a:r>
            <a:endParaRPr u="sng" dirty="0">
              <a:solidFill>
                <a:srgbClr val="FF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rgbClr val="FF00FF"/>
                </a:solidFill>
              </a:rPr>
              <a:t>Nombre iniciador</a:t>
            </a:r>
            <a:endParaRPr dirty="0">
              <a:solidFill>
                <a:srgbClr val="FF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rgbClr val="FF00FF"/>
                </a:solidFill>
              </a:rPr>
              <a:t>TIpo</a:t>
            </a:r>
            <a:r>
              <a:rPr lang="es-419" dirty="0">
                <a:solidFill>
                  <a:srgbClr val="FF00FF"/>
                </a:solidFill>
              </a:rPr>
              <a:t> de iniciador</a:t>
            </a:r>
            <a:endParaRPr dirty="0">
              <a:solidFill>
                <a:srgbClr val="FF00FF"/>
              </a:solidFill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6733425" y="2821050"/>
            <a:ext cx="1915200" cy="15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>
                <a:solidFill>
                  <a:schemeClr val="dk1"/>
                </a:solidFill>
              </a:rPr>
              <a:t>Solución de expediente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 err="1">
                <a:solidFill>
                  <a:schemeClr val="dk1"/>
                </a:solidFill>
              </a:rPr>
              <a:t>N°</a:t>
            </a:r>
            <a:r>
              <a:rPr lang="es-419" u="sng" dirty="0">
                <a:solidFill>
                  <a:schemeClr val="dk1"/>
                </a:solidFill>
              </a:rPr>
              <a:t> de expediente</a:t>
            </a:r>
            <a:endParaRPr u="sng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dk1"/>
                </a:solidFill>
              </a:rPr>
              <a:t>Solución </a:t>
            </a:r>
            <a:r>
              <a:rPr lang="es-419" dirty="0" err="1">
                <a:solidFill>
                  <a:schemeClr val="dk1"/>
                </a:solidFill>
              </a:rPr>
              <a:t>exp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dk1"/>
                </a:solidFill>
              </a:rPr>
              <a:t>Destino </a:t>
            </a:r>
            <a:r>
              <a:rPr lang="es-419" dirty="0" err="1">
                <a:solidFill>
                  <a:schemeClr val="dk1"/>
                </a:solidFill>
              </a:rPr>
              <a:t>exp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dk1"/>
                </a:solidFill>
              </a:rPr>
              <a:t>Fecha de entrega destino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6733425" y="1014525"/>
            <a:ext cx="1915200" cy="15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Expedientes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/>
              <a:t>N°</a:t>
            </a:r>
            <a:r>
              <a:rPr lang="es-419" dirty="0"/>
              <a:t> de expediente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Fecha de inicio de expediente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Iniciador </a:t>
            </a:r>
            <a:r>
              <a:rPr lang="es-419" dirty="0" err="1"/>
              <a:t>exp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Motivo </a:t>
            </a:r>
            <a:r>
              <a:rPr lang="es-419" dirty="0" err="1"/>
              <a:t>exp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Estado expediente</a:t>
            </a:r>
            <a:endParaRPr dirty="0"/>
          </a:p>
        </p:txBody>
      </p:sp>
      <p:sp>
        <p:nvSpPr>
          <p:cNvPr id="123" name="Google Shape;123;p17"/>
          <p:cNvSpPr txBox="1"/>
          <p:nvPr/>
        </p:nvSpPr>
        <p:spPr>
          <a:xfrm>
            <a:off x="2395775" y="943510"/>
            <a:ext cx="1584600" cy="815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Director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>
                <a:solidFill>
                  <a:srgbClr val="FF00FF"/>
                </a:solidFill>
              </a:rPr>
              <a:t>Código director</a:t>
            </a:r>
            <a:endParaRPr u="sng" dirty="0">
              <a:solidFill>
                <a:srgbClr val="FF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rgbClr val="FF00FF"/>
                </a:solidFill>
              </a:rPr>
              <a:t>Nombre director</a:t>
            </a:r>
            <a:endParaRPr dirty="0">
              <a:solidFill>
                <a:srgbClr val="FF00FF"/>
              </a:solidFill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2304225" y="1920425"/>
            <a:ext cx="1915200" cy="1652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Reuniones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/>
              <a:t>Código reunión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Tema de </a:t>
            </a:r>
            <a:r>
              <a:rPr lang="es-419" dirty="0">
                <a:solidFill>
                  <a:schemeClr val="dk1"/>
                </a:solidFill>
              </a:rPr>
              <a:t>reunión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Día y hora de reunión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Lugar </a:t>
            </a:r>
            <a:r>
              <a:rPr lang="es-419" dirty="0">
                <a:solidFill>
                  <a:schemeClr val="dk1"/>
                </a:solidFill>
              </a:rPr>
              <a:t>reunión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Fecha de confirmación</a:t>
            </a:r>
            <a:endParaRPr dirty="0"/>
          </a:p>
        </p:txBody>
      </p:sp>
      <p:sp>
        <p:nvSpPr>
          <p:cNvPr id="125" name="Google Shape;125;p17"/>
          <p:cNvSpPr txBox="1"/>
          <p:nvPr/>
        </p:nvSpPr>
        <p:spPr>
          <a:xfrm>
            <a:off x="4684125" y="2356950"/>
            <a:ext cx="1584600" cy="815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Materias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>
                <a:solidFill>
                  <a:srgbClr val="FF00FF"/>
                </a:solidFill>
              </a:rPr>
              <a:t>Código materia</a:t>
            </a:r>
            <a:endParaRPr u="sng" dirty="0">
              <a:solidFill>
                <a:srgbClr val="FF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rgbClr val="FF00FF"/>
                </a:solidFill>
              </a:rPr>
              <a:t>Desc</a:t>
            </a:r>
            <a:r>
              <a:rPr lang="es-419" dirty="0">
                <a:solidFill>
                  <a:srgbClr val="FF00FF"/>
                </a:solidFill>
              </a:rPr>
              <a:t> materia</a:t>
            </a:r>
            <a:endParaRPr dirty="0">
              <a:solidFill>
                <a:srgbClr val="FF00FF"/>
              </a:solidFill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4667325" y="3736600"/>
            <a:ext cx="1584600" cy="1205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>
                <a:solidFill>
                  <a:schemeClr val="dk1"/>
                </a:solidFill>
              </a:rPr>
              <a:t>Tipos de iniciadores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>
                <a:solidFill>
                  <a:srgbClr val="FF00FF"/>
                </a:solidFill>
              </a:rPr>
              <a:t>Cod tipo iniciador</a:t>
            </a:r>
            <a:endParaRPr u="sng" dirty="0">
              <a:solidFill>
                <a:srgbClr val="FF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rgbClr val="FF00FF"/>
                </a:solidFill>
              </a:rPr>
              <a:t>Desc</a:t>
            </a:r>
            <a:r>
              <a:rPr lang="es-419" dirty="0">
                <a:solidFill>
                  <a:srgbClr val="FF00FF"/>
                </a:solidFill>
              </a:rPr>
              <a:t> tipo iniciador</a:t>
            </a:r>
            <a:endParaRPr dirty="0">
              <a:solidFill>
                <a:srgbClr val="FF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p17"/>
          <p:cNvSpPr txBox="1"/>
          <p:nvPr/>
        </p:nvSpPr>
        <p:spPr>
          <a:xfrm>
            <a:off x="389500" y="3736600"/>
            <a:ext cx="15846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Invitaciones</a:t>
            </a:r>
            <a:endParaRPr b="1"/>
          </a:p>
        </p:txBody>
      </p:sp>
      <p:sp>
        <p:nvSpPr>
          <p:cNvPr id="128" name="Google Shape;128;p17"/>
          <p:cNvSpPr txBox="1"/>
          <p:nvPr/>
        </p:nvSpPr>
        <p:spPr>
          <a:xfrm>
            <a:off x="2337825" y="3698250"/>
            <a:ext cx="1848000" cy="1368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Docentes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 err="1"/>
              <a:t>N°</a:t>
            </a:r>
            <a:r>
              <a:rPr lang="es-419" u="sng" dirty="0"/>
              <a:t> legajo docente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Nombre docente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Teléfono docente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Materia docente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Domicilio docente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7" dur="500" fill="hold"/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" dur="500" fill="hold"/>
                                        <p:tgtEl>
                                          <p:spTgt spid="1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190800" y="192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Entidades y atributos - normalización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322300" y="997224"/>
            <a:ext cx="1719000" cy="101445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Departamento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>
                <a:solidFill>
                  <a:srgbClr val="FF00FF"/>
                </a:solidFill>
              </a:rPr>
              <a:t>Código </a:t>
            </a:r>
            <a:r>
              <a:rPr lang="es-419" u="sng" dirty="0" err="1">
                <a:solidFill>
                  <a:srgbClr val="FF00FF"/>
                </a:solidFill>
              </a:rPr>
              <a:t>dpto</a:t>
            </a:r>
            <a:endParaRPr u="sng" dirty="0">
              <a:solidFill>
                <a:srgbClr val="FF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rgbClr val="FF00FF"/>
                </a:solidFill>
              </a:rPr>
              <a:t>Nombre </a:t>
            </a:r>
            <a:r>
              <a:rPr lang="es-419" dirty="0" err="1">
                <a:solidFill>
                  <a:srgbClr val="FF00FF"/>
                </a:solidFill>
              </a:rPr>
              <a:t>dpto</a:t>
            </a:r>
            <a:endParaRPr lang="es-419" dirty="0">
              <a:solidFill>
                <a:srgbClr val="FF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rgbClr val="FF00FF"/>
                </a:solidFill>
              </a:rPr>
              <a:t>Cod_director</a:t>
            </a:r>
            <a:endParaRPr dirty="0">
              <a:solidFill>
                <a:srgbClr val="FF00FF"/>
              </a:solidFill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322300" y="2265500"/>
            <a:ext cx="1584600" cy="815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Motivos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>
                <a:solidFill>
                  <a:srgbClr val="FF00FF"/>
                </a:solidFill>
              </a:rPr>
              <a:t>Código motivo</a:t>
            </a:r>
            <a:endParaRPr u="sng" dirty="0">
              <a:solidFill>
                <a:srgbClr val="FF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rgbClr val="FF00FF"/>
                </a:solidFill>
              </a:rPr>
              <a:t>Desc</a:t>
            </a:r>
            <a:r>
              <a:rPr lang="es-419" dirty="0">
                <a:solidFill>
                  <a:srgbClr val="FF00FF"/>
                </a:solidFill>
              </a:rPr>
              <a:t> motivo</a:t>
            </a:r>
            <a:endParaRPr dirty="0">
              <a:solidFill>
                <a:srgbClr val="FF00FF"/>
              </a:solidFill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4684125" y="997225"/>
            <a:ext cx="1584600" cy="923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Iniciador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>
                <a:solidFill>
                  <a:srgbClr val="FF00FF"/>
                </a:solidFill>
              </a:rPr>
              <a:t>Código iniciador</a:t>
            </a:r>
            <a:endParaRPr u="sng" dirty="0">
              <a:solidFill>
                <a:srgbClr val="FF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rgbClr val="FF00FF"/>
                </a:solidFill>
              </a:rPr>
              <a:t>Nombre iniciador</a:t>
            </a:r>
            <a:endParaRPr dirty="0">
              <a:solidFill>
                <a:srgbClr val="FF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rgbClr val="FF00FF"/>
                </a:solidFill>
              </a:rPr>
              <a:t>TIpo</a:t>
            </a:r>
            <a:r>
              <a:rPr lang="es-419" dirty="0">
                <a:solidFill>
                  <a:srgbClr val="FF00FF"/>
                </a:solidFill>
              </a:rPr>
              <a:t> de iniciador</a:t>
            </a:r>
            <a:endParaRPr dirty="0">
              <a:solidFill>
                <a:srgbClr val="FF00FF"/>
              </a:solidFill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6716625" y="2764800"/>
            <a:ext cx="1915200" cy="1652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>
                <a:solidFill>
                  <a:schemeClr val="dk1"/>
                </a:solidFill>
              </a:rPr>
              <a:t>Solución de expediente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u="sng" dirty="0" err="1">
                <a:solidFill>
                  <a:schemeClr val="dk1"/>
                </a:solidFill>
              </a:rPr>
              <a:t>N°</a:t>
            </a:r>
            <a:r>
              <a:rPr lang="es-AR" u="sng" dirty="0">
                <a:solidFill>
                  <a:schemeClr val="dk1"/>
                </a:solidFill>
              </a:rPr>
              <a:t> de expediente</a:t>
            </a:r>
            <a:endParaRPr u="sng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dk1"/>
                </a:solidFill>
              </a:rPr>
              <a:t>Solución </a:t>
            </a:r>
            <a:r>
              <a:rPr lang="es-419" dirty="0" err="1">
                <a:solidFill>
                  <a:schemeClr val="dk1"/>
                </a:solidFill>
              </a:rPr>
              <a:t>exp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dk1"/>
                </a:solidFill>
              </a:rPr>
              <a:t>Destino </a:t>
            </a:r>
            <a:r>
              <a:rPr lang="es-419" dirty="0" err="1">
                <a:solidFill>
                  <a:schemeClr val="dk1"/>
                </a:solidFill>
              </a:rPr>
              <a:t>exp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dk1"/>
                </a:solidFill>
              </a:rPr>
              <a:t>Fecha de entrega destino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6733425" y="1014525"/>
            <a:ext cx="1915200" cy="1652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Expedientes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 err="1"/>
              <a:t>N°</a:t>
            </a:r>
            <a:r>
              <a:rPr lang="es-419" u="sng" dirty="0"/>
              <a:t> de expediente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Fecha de inicio de expediente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Iniciador </a:t>
            </a:r>
            <a:r>
              <a:rPr lang="es-419" dirty="0" err="1"/>
              <a:t>exp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Motivo </a:t>
            </a:r>
            <a:r>
              <a:rPr lang="es-419" dirty="0" err="1"/>
              <a:t>exp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Estado expediente</a:t>
            </a:r>
            <a:endParaRPr dirty="0"/>
          </a:p>
        </p:txBody>
      </p:sp>
      <p:sp>
        <p:nvSpPr>
          <p:cNvPr id="139" name="Google Shape;139;p18"/>
          <p:cNvSpPr txBox="1"/>
          <p:nvPr/>
        </p:nvSpPr>
        <p:spPr>
          <a:xfrm>
            <a:off x="2395775" y="943510"/>
            <a:ext cx="1584600" cy="815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Director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>
                <a:solidFill>
                  <a:srgbClr val="FF00FF"/>
                </a:solidFill>
              </a:rPr>
              <a:t>Código director</a:t>
            </a:r>
            <a:endParaRPr u="sng" dirty="0">
              <a:solidFill>
                <a:srgbClr val="FF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rgbClr val="FF00FF"/>
                </a:solidFill>
              </a:rPr>
              <a:t>Nombre director</a:t>
            </a:r>
            <a:endParaRPr dirty="0">
              <a:solidFill>
                <a:srgbClr val="FF00FF"/>
              </a:solidFill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2304225" y="1920425"/>
            <a:ext cx="1915200" cy="1652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Reuniones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/>
              <a:t>Código reunión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Tema de </a:t>
            </a:r>
            <a:r>
              <a:rPr lang="es-419" dirty="0">
                <a:solidFill>
                  <a:schemeClr val="dk1"/>
                </a:solidFill>
              </a:rPr>
              <a:t>reunión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Día y hora de reunión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Lugar </a:t>
            </a:r>
            <a:r>
              <a:rPr lang="es-419" dirty="0">
                <a:solidFill>
                  <a:schemeClr val="dk1"/>
                </a:solidFill>
              </a:rPr>
              <a:t>reunión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Fecha de confirmación</a:t>
            </a:r>
            <a:endParaRPr dirty="0"/>
          </a:p>
        </p:txBody>
      </p:sp>
      <p:sp>
        <p:nvSpPr>
          <p:cNvPr id="141" name="Google Shape;141;p18"/>
          <p:cNvSpPr txBox="1"/>
          <p:nvPr/>
        </p:nvSpPr>
        <p:spPr>
          <a:xfrm>
            <a:off x="4684125" y="2356950"/>
            <a:ext cx="1584600" cy="815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Materias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>
                <a:solidFill>
                  <a:srgbClr val="FF00FF"/>
                </a:solidFill>
              </a:rPr>
              <a:t>Código materia</a:t>
            </a:r>
            <a:endParaRPr u="sng" dirty="0">
              <a:solidFill>
                <a:srgbClr val="FF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rgbClr val="FF00FF"/>
                </a:solidFill>
              </a:rPr>
              <a:t>Desc</a:t>
            </a:r>
            <a:r>
              <a:rPr lang="es-419" dirty="0">
                <a:solidFill>
                  <a:srgbClr val="FF00FF"/>
                </a:solidFill>
              </a:rPr>
              <a:t> materia</a:t>
            </a:r>
            <a:endParaRPr dirty="0">
              <a:solidFill>
                <a:srgbClr val="FF00FF"/>
              </a:solidFill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4667325" y="3736600"/>
            <a:ext cx="1584600" cy="1205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>
                <a:solidFill>
                  <a:schemeClr val="dk1"/>
                </a:solidFill>
              </a:rPr>
              <a:t>Tipos de iniciadores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>
                <a:solidFill>
                  <a:srgbClr val="FF00FF"/>
                </a:solidFill>
              </a:rPr>
              <a:t>Cod tipo iniciador</a:t>
            </a:r>
            <a:endParaRPr u="sng" dirty="0">
              <a:solidFill>
                <a:srgbClr val="FF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>
                <a:solidFill>
                  <a:srgbClr val="FF00FF"/>
                </a:solidFill>
              </a:rPr>
              <a:t>Desc</a:t>
            </a:r>
            <a:r>
              <a:rPr lang="es-419" dirty="0">
                <a:solidFill>
                  <a:srgbClr val="FF00FF"/>
                </a:solidFill>
              </a:rPr>
              <a:t> tipo iniciador</a:t>
            </a:r>
            <a:endParaRPr dirty="0">
              <a:solidFill>
                <a:srgbClr val="FF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18"/>
          <p:cNvSpPr txBox="1"/>
          <p:nvPr/>
        </p:nvSpPr>
        <p:spPr>
          <a:xfrm>
            <a:off x="389500" y="3736600"/>
            <a:ext cx="1584600" cy="429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/>
              <a:t>Invitaciones</a:t>
            </a:r>
            <a:endParaRPr b="1"/>
          </a:p>
        </p:txBody>
      </p:sp>
      <p:sp>
        <p:nvSpPr>
          <p:cNvPr id="144" name="Google Shape;144;p18"/>
          <p:cNvSpPr txBox="1"/>
          <p:nvPr/>
        </p:nvSpPr>
        <p:spPr>
          <a:xfrm>
            <a:off x="2337825" y="3698250"/>
            <a:ext cx="1848000" cy="1368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Docentes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 err="1"/>
              <a:t>N°</a:t>
            </a:r>
            <a:r>
              <a:rPr lang="es-419" u="sng" dirty="0"/>
              <a:t> legajo docente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Nombre docente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Teléfono docente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Materia docente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Domicilio docente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50F0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50F0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50F0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50F0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50F0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50F0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4" dur="500" fill="hold"/>
                                        <p:tgtEl>
                                          <p:spTgt spid="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50F0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50F0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1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190800" y="192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Entidades y atributos - normalización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322300" y="862924"/>
            <a:ext cx="1719000" cy="9649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Departamento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/>
              <a:t>Código </a:t>
            </a:r>
            <a:r>
              <a:rPr lang="es-419" u="sng" dirty="0" err="1"/>
              <a:t>dpto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Nombre </a:t>
            </a:r>
            <a:r>
              <a:rPr lang="es-419" dirty="0" err="1"/>
              <a:t>dpto</a:t>
            </a:r>
            <a:endParaRPr lang="es-419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/>
              <a:t>Cod_director</a:t>
            </a:r>
            <a:endParaRPr dirty="0"/>
          </a:p>
        </p:txBody>
      </p:sp>
      <p:sp>
        <p:nvSpPr>
          <p:cNvPr id="151" name="Google Shape;151;p19"/>
          <p:cNvSpPr txBox="1"/>
          <p:nvPr/>
        </p:nvSpPr>
        <p:spPr>
          <a:xfrm>
            <a:off x="291370" y="1875800"/>
            <a:ext cx="1651800" cy="815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Motivos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/>
              <a:t>Código motivo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/>
              <a:t>Desc</a:t>
            </a:r>
            <a:r>
              <a:rPr lang="es-419" dirty="0"/>
              <a:t> motivo</a:t>
            </a:r>
            <a:endParaRPr dirty="0"/>
          </a:p>
        </p:txBody>
      </p:sp>
      <p:sp>
        <p:nvSpPr>
          <p:cNvPr id="152" name="Google Shape;152;p19"/>
          <p:cNvSpPr txBox="1"/>
          <p:nvPr/>
        </p:nvSpPr>
        <p:spPr>
          <a:xfrm>
            <a:off x="4535625" y="862950"/>
            <a:ext cx="1584600" cy="1012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Iniciador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/>
              <a:t>Código iniciador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Nombre iniciador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Tipo de iniciador</a:t>
            </a:r>
            <a:endParaRPr dirty="0"/>
          </a:p>
        </p:txBody>
      </p:sp>
      <p:sp>
        <p:nvSpPr>
          <p:cNvPr id="153" name="Google Shape;153;p19"/>
          <p:cNvSpPr txBox="1"/>
          <p:nvPr/>
        </p:nvSpPr>
        <p:spPr>
          <a:xfrm>
            <a:off x="6669200" y="2956175"/>
            <a:ext cx="2152500" cy="1205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>
                <a:solidFill>
                  <a:schemeClr val="dk1"/>
                </a:solidFill>
              </a:rPr>
              <a:t>Solución expediente</a:t>
            </a:r>
            <a:endParaRPr dirty="0">
              <a:solidFill>
                <a:schemeClr val="dk1"/>
              </a:solidFill>
              <a:highlight>
                <a:srgbClr val="FF00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 err="1">
                <a:solidFill>
                  <a:schemeClr val="dk1"/>
                </a:solidFill>
              </a:rPr>
              <a:t>N°</a:t>
            </a:r>
            <a:r>
              <a:rPr lang="es-419" u="sng" dirty="0">
                <a:solidFill>
                  <a:schemeClr val="dk1"/>
                </a:solidFill>
              </a:rPr>
              <a:t> de expediente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dk1"/>
                </a:solidFill>
              </a:rPr>
              <a:t>Solución </a:t>
            </a:r>
            <a:r>
              <a:rPr lang="es-419" dirty="0" err="1">
                <a:solidFill>
                  <a:schemeClr val="dk1"/>
                </a:solidFill>
              </a:rPr>
              <a:t>exp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dk1"/>
                </a:solidFill>
              </a:rPr>
              <a:t>Destino </a:t>
            </a:r>
            <a:r>
              <a:rPr lang="es-419" dirty="0" err="1">
                <a:solidFill>
                  <a:schemeClr val="dk1"/>
                </a:solidFill>
              </a:rPr>
              <a:t>exp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dk1"/>
                </a:solidFill>
              </a:rPr>
              <a:t>Fecha entrega destino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6669200" y="299225"/>
            <a:ext cx="2152500" cy="1379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Expedientes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 err="1"/>
              <a:t>N°</a:t>
            </a:r>
            <a:r>
              <a:rPr lang="es-419" u="sng" dirty="0"/>
              <a:t> de expediente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Fecha inicio expediente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Iniciador </a:t>
            </a:r>
            <a:r>
              <a:rPr lang="es-419" dirty="0" err="1"/>
              <a:t>exp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Motivo </a:t>
            </a:r>
            <a:r>
              <a:rPr lang="es-419" dirty="0" err="1"/>
              <a:t>exp</a:t>
            </a:r>
            <a:endParaRPr dirty="0"/>
          </a:p>
        </p:txBody>
      </p:sp>
      <p:sp>
        <p:nvSpPr>
          <p:cNvPr id="155" name="Google Shape;155;p19"/>
          <p:cNvSpPr txBox="1"/>
          <p:nvPr/>
        </p:nvSpPr>
        <p:spPr>
          <a:xfrm>
            <a:off x="2337825" y="862935"/>
            <a:ext cx="1584600" cy="815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Director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/>
              <a:t>Código director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Nombre director</a:t>
            </a:r>
            <a:endParaRPr dirty="0"/>
          </a:p>
        </p:txBody>
      </p:sp>
      <p:sp>
        <p:nvSpPr>
          <p:cNvPr id="156" name="Google Shape;156;p19"/>
          <p:cNvSpPr txBox="1"/>
          <p:nvPr/>
        </p:nvSpPr>
        <p:spPr>
          <a:xfrm>
            <a:off x="2329513" y="1875800"/>
            <a:ext cx="1915200" cy="1205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Reuniones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/>
              <a:t>Código reunión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Tema de </a:t>
            </a:r>
            <a:r>
              <a:rPr lang="es-419" dirty="0">
                <a:solidFill>
                  <a:schemeClr val="dk1"/>
                </a:solidFill>
              </a:rPr>
              <a:t>reunión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Día y hora de reunión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Lugar </a:t>
            </a:r>
            <a:r>
              <a:rPr lang="es-419" dirty="0">
                <a:solidFill>
                  <a:schemeClr val="dk1"/>
                </a:solidFill>
              </a:rPr>
              <a:t>reunión</a:t>
            </a:r>
            <a:endParaRPr dirty="0">
              <a:highlight>
                <a:srgbClr val="FF0000"/>
              </a:highlight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4535625" y="2804250"/>
            <a:ext cx="1584600" cy="1012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Materias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/>
              <a:t>Código materia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/>
              <a:t>Desc</a:t>
            </a:r>
            <a:r>
              <a:rPr lang="es-419" dirty="0"/>
              <a:t> materia</a:t>
            </a:r>
            <a:endParaRPr dirty="0"/>
          </a:p>
        </p:txBody>
      </p:sp>
      <p:sp>
        <p:nvSpPr>
          <p:cNvPr id="158" name="Google Shape;158;p19"/>
          <p:cNvSpPr txBox="1"/>
          <p:nvPr/>
        </p:nvSpPr>
        <p:spPr>
          <a:xfrm>
            <a:off x="4535625" y="3861450"/>
            <a:ext cx="1584600" cy="1205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>
                <a:solidFill>
                  <a:schemeClr val="dk1"/>
                </a:solidFill>
              </a:rPr>
              <a:t>Tipos de iniciadores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/>
              <a:t>Cod tipo iniciador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/>
              <a:t>Desc</a:t>
            </a:r>
            <a:r>
              <a:rPr lang="es-419" dirty="0"/>
              <a:t> tipo iniciador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9" name="Google Shape;159;p19"/>
          <p:cNvSpPr txBox="1"/>
          <p:nvPr/>
        </p:nvSpPr>
        <p:spPr>
          <a:xfrm>
            <a:off x="322300" y="2888675"/>
            <a:ext cx="1719000" cy="1147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Invitaciones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Código reunión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/>
              <a:t>N°</a:t>
            </a:r>
            <a:r>
              <a:rPr lang="es-419" dirty="0"/>
              <a:t> legajo docente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Fecha de confirmación</a:t>
            </a:r>
            <a:endParaRPr dirty="0"/>
          </a:p>
        </p:txBody>
      </p:sp>
      <p:sp>
        <p:nvSpPr>
          <p:cNvPr id="160" name="Google Shape;160;p19"/>
          <p:cNvSpPr txBox="1"/>
          <p:nvPr/>
        </p:nvSpPr>
        <p:spPr>
          <a:xfrm>
            <a:off x="2304225" y="3367625"/>
            <a:ext cx="1915200" cy="1044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Docentes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 err="1"/>
              <a:t>N°</a:t>
            </a:r>
            <a:r>
              <a:rPr lang="es-419" u="sng" dirty="0"/>
              <a:t> legajo docente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Nombre docente</a:t>
            </a:r>
            <a:endParaRPr dirty="0">
              <a:highlight>
                <a:srgbClr val="FF00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Domicilio docente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19"/>
          <p:cNvSpPr txBox="1"/>
          <p:nvPr/>
        </p:nvSpPr>
        <p:spPr>
          <a:xfrm>
            <a:off x="6669200" y="1827900"/>
            <a:ext cx="2152500" cy="1012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>
                <a:highlight>
                  <a:srgbClr val="00FF00"/>
                </a:highlight>
              </a:rPr>
              <a:t>Estado Expediente</a:t>
            </a:r>
            <a:endParaRPr b="1" dirty="0">
              <a:highlight>
                <a:srgbClr val="00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/>
              <a:t>N°</a:t>
            </a:r>
            <a:r>
              <a:rPr lang="es-419" dirty="0"/>
              <a:t> expediente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Fecha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Estado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3" name="Google Shape;163;p19"/>
          <p:cNvSpPr txBox="1"/>
          <p:nvPr/>
        </p:nvSpPr>
        <p:spPr>
          <a:xfrm>
            <a:off x="4535625" y="1926450"/>
            <a:ext cx="1848000" cy="815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 err="1">
                <a:highlight>
                  <a:srgbClr val="00FF00"/>
                </a:highlight>
              </a:rPr>
              <a:t>Materias_docentes</a:t>
            </a:r>
            <a:endParaRPr b="1" dirty="0">
              <a:highlight>
                <a:srgbClr val="00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Código de materia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/>
              <a:t>N°</a:t>
            </a:r>
            <a:r>
              <a:rPr lang="es-419" dirty="0"/>
              <a:t> legajo docente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00FF"/>
              </a:solidFill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322300" y="4233650"/>
            <a:ext cx="1719000" cy="815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 err="1">
                <a:highlight>
                  <a:srgbClr val="00FF00"/>
                </a:highlight>
              </a:rPr>
              <a:t>Teléfono_docente</a:t>
            </a:r>
            <a:endParaRPr b="1" dirty="0">
              <a:highlight>
                <a:srgbClr val="00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/>
              <a:t>N°</a:t>
            </a:r>
            <a:r>
              <a:rPr lang="es-419" dirty="0"/>
              <a:t> legajo docente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Teléfono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>
            <a:spLocks noGrp="1"/>
          </p:cNvSpPr>
          <p:nvPr>
            <p:ph type="title"/>
          </p:nvPr>
        </p:nvSpPr>
        <p:spPr>
          <a:xfrm>
            <a:off x="190800" y="192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Entidades y atributos - normalización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322300" y="862924"/>
            <a:ext cx="1719000" cy="9649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Departamento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/>
              <a:t>Código </a:t>
            </a:r>
            <a:r>
              <a:rPr lang="es-419" u="sng" dirty="0" err="1"/>
              <a:t>dpto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Nombre </a:t>
            </a:r>
            <a:r>
              <a:rPr lang="es-419" dirty="0" err="1"/>
              <a:t>dpto</a:t>
            </a:r>
            <a:endParaRPr lang="es-419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/>
              <a:t>Cod_director</a:t>
            </a:r>
            <a:endParaRPr dirty="0"/>
          </a:p>
        </p:txBody>
      </p:sp>
      <p:sp>
        <p:nvSpPr>
          <p:cNvPr id="151" name="Google Shape;151;p19"/>
          <p:cNvSpPr txBox="1"/>
          <p:nvPr/>
        </p:nvSpPr>
        <p:spPr>
          <a:xfrm>
            <a:off x="291370" y="1875800"/>
            <a:ext cx="1651800" cy="815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Motivos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/>
              <a:t>Código motivo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/>
              <a:t>Desc</a:t>
            </a:r>
            <a:r>
              <a:rPr lang="es-419" dirty="0"/>
              <a:t> motivo</a:t>
            </a:r>
            <a:endParaRPr dirty="0"/>
          </a:p>
        </p:txBody>
      </p:sp>
      <p:sp>
        <p:nvSpPr>
          <p:cNvPr id="152" name="Google Shape;152;p19"/>
          <p:cNvSpPr txBox="1"/>
          <p:nvPr/>
        </p:nvSpPr>
        <p:spPr>
          <a:xfrm>
            <a:off x="4535625" y="862950"/>
            <a:ext cx="1584600" cy="1012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Iniciador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/>
              <a:t>Código iniciador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Nombre iniciador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Tipo de iniciador</a:t>
            </a:r>
            <a:endParaRPr dirty="0"/>
          </a:p>
        </p:txBody>
      </p:sp>
      <p:sp>
        <p:nvSpPr>
          <p:cNvPr id="153" name="Google Shape;153;p19"/>
          <p:cNvSpPr txBox="1"/>
          <p:nvPr/>
        </p:nvSpPr>
        <p:spPr>
          <a:xfrm>
            <a:off x="6436425" y="2956175"/>
            <a:ext cx="2616135" cy="1205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>
                <a:solidFill>
                  <a:schemeClr val="dk1"/>
                </a:solidFill>
              </a:rPr>
              <a:t>Solución expediente</a:t>
            </a:r>
            <a:endParaRPr dirty="0">
              <a:solidFill>
                <a:schemeClr val="dk1"/>
              </a:solidFill>
              <a:highlight>
                <a:srgbClr val="FF00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 err="1">
                <a:solidFill>
                  <a:schemeClr val="dk1"/>
                </a:solidFill>
              </a:rPr>
              <a:t>N°</a:t>
            </a:r>
            <a:r>
              <a:rPr lang="es-419" u="sng" dirty="0">
                <a:solidFill>
                  <a:schemeClr val="dk1"/>
                </a:solidFill>
              </a:rPr>
              <a:t> de expediente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dk1"/>
                </a:solidFill>
              </a:rPr>
              <a:t>Solución </a:t>
            </a:r>
            <a:r>
              <a:rPr lang="es-419" dirty="0" err="1">
                <a:solidFill>
                  <a:schemeClr val="dk1"/>
                </a:solidFill>
              </a:rPr>
              <a:t>exp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dk1"/>
                </a:solidFill>
              </a:rPr>
              <a:t>Destino </a:t>
            </a:r>
            <a:r>
              <a:rPr lang="es-419" dirty="0" err="1">
                <a:solidFill>
                  <a:schemeClr val="dk1"/>
                </a:solidFill>
              </a:rPr>
              <a:t>exp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dk1"/>
                </a:solidFill>
              </a:rPr>
              <a:t>Fecha entrega destino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6669200" y="299225"/>
            <a:ext cx="2152500" cy="1379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Expedientes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 err="1"/>
              <a:t>N°</a:t>
            </a:r>
            <a:r>
              <a:rPr lang="es-419" u="sng" dirty="0"/>
              <a:t> de expediente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Fecha inicio expediente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Iniciador </a:t>
            </a:r>
            <a:r>
              <a:rPr lang="es-419" dirty="0" err="1"/>
              <a:t>exp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Motivo </a:t>
            </a:r>
            <a:r>
              <a:rPr lang="es-419" dirty="0" err="1"/>
              <a:t>exp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rgbClr val="FF0000"/>
                </a:solidFill>
              </a:rPr>
              <a:t>Código </a:t>
            </a:r>
            <a:r>
              <a:rPr lang="es-419" dirty="0" err="1">
                <a:solidFill>
                  <a:srgbClr val="FF0000"/>
                </a:solidFill>
              </a:rPr>
              <a:t>dpto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2337825" y="862935"/>
            <a:ext cx="1584600" cy="815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Director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/>
              <a:t>Código director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Nombre director</a:t>
            </a:r>
            <a:endParaRPr dirty="0"/>
          </a:p>
        </p:txBody>
      </p:sp>
      <p:sp>
        <p:nvSpPr>
          <p:cNvPr id="156" name="Google Shape;156;p19"/>
          <p:cNvSpPr txBox="1"/>
          <p:nvPr/>
        </p:nvSpPr>
        <p:spPr>
          <a:xfrm>
            <a:off x="2329513" y="1875800"/>
            <a:ext cx="1915200" cy="1205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Reuniones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/>
              <a:t>Código reunión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Tema de </a:t>
            </a:r>
            <a:r>
              <a:rPr lang="es-419" dirty="0">
                <a:solidFill>
                  <a:schemeClr val="dk1"/>
                </a:solidFill>
              </a:rPr>
              <a:t>reunión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Día y hora de reunión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Lugar </a:t>
            </a:r>
            <a:r>
              <a:rPr lang="es-419" dirty="0">
                <a:solidFill>
                  <a:schemeClr val="dk1"/>
                </a:solidFill>
              </a:rPr>
              <a:t>reunión</a:t>
            </a:r>
            <a:endParaRPr dirty="0">
              <a:highlight>
                <a:srgbClr val="FF0000"/>
              </a:highlight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4535625" y="2804250"/>
            <a:ext cx="1584600" cy="1012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Materias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/>
              <a:t>Código materia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/>
              <a:t>Desc</a:t>
            </a:r>
            <a:r>
              <a:rPr lang="es-419" dirty="0"/>
              <a:t> materia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rgbClr val="FF0000"/>
                </a:solidFill>
              </a:rPr>
              <a:t>Código </a:t>
            </a:r>
            <a:r>
              <a:rPr lang="es-419" dirty="0" err="1">
                <a:solidFill>
                  <a:srgbClr val="FF0000"/>
                </a:solidFill>
              </a:rPr>
              <a:t>dpto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4535625" y="3861450"/>
            <a:ext cx="1584600" cy="1205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>
                <a:solidFill>
                  <a:schemeClr val="dk1"/>
                </a:solidFill>
              </a:rPr>
              <a:t>Tipos de iniciadores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/>
              <a:t>Cod tipo iniciador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/>
              <a:t>Desc</a:t>
            </a:r>
            <a:r>
              <a:rPr lang="es-419" dirty="0"/>
              <a:t> tipo iniciador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9" name="Google Shape;159;p19"/>
          <p:cNvSpPr txBox="1"/>
          <p:nvPr/>
        </p:nvSpPr>
        <p:spPr>
          <a:xfrm>
            <a:off x="322300" y="2888675"/>
            <a:ext cx="1719000" cy="1147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Invitaciones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Código reunión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/>
              <a:t>N°</a:t>
            </a:r>
            <a:r>
              <a:rPr lang="es-419" dirty="0"/>
              <a:t> legajo docente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Fecha de confirmación</a:t>
            </a:r>
            <a:endParaRPr dirty="0"/>
          </a:p>
        </p:txBody>
      </p:sp>
      <p:sp>
        <p:nvSpPr>
          <p:cNvPr id="160" name="Google Shape;160;p19"/>
          <p:cNvSpPr txBox="1"/>
          <p:nvPr/>
        </p:nvSpPr>
        <p:spPr>
          <a:xfrm>
            <a:off x="2304225" y="3367625"/>
            <a:ext cx="1915200" cy="1044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Docentes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 err="1"/>
              <a:t>N°</a:t>
            </a:r>
            <a:r>
              <a:rPr lang="es-419" u="sng" dirty="0"/>
              <a:t> legajo docente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Nombre docente</a:t>
            </a:r>
            <a:endParaRPr dirty="0">
              <a:highlight>
                <a:srgbClr val="FF00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Domicilio docente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19"/>
          <p:cNvSpPr txBox="1"/>
          <p:nvPr/>
        </p:nvSpPr>
        <p:spPr>
          <a:xfrm>
            <a:off x="6669200" y="1827900"/>
            <a:ext cx="2152500" cy="1012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>
                <a:highlight>
                  <a:srgbClr val="00FF00"/>
                </a:highlight>
              </a:rPr>
              <a:t>Estado Expediente</a:t>
            </a:r>
            <a:endParaRPr b="1" dirty="0">
              <a:highlight>
                <a:srgbClr val="00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/>
              <a:t>N°</a:t>
            </a:r>
            <a:r>
              <a:rPr lang="es-419" dirty="0"/>
              <a:t> expediente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Fecha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Estado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2" name="Google Shape;162;p19"/>
          <p:cNvSpPr txBox="1"/>
          <p:nvPr/>
        </p:nvSpPr>
        <p:spPr>
          <a:xfrm>
            <a:off x="6713750" y="4251150"/>
            <a:ext cx="1915200" cy="815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>
                <a:highlight>
                  <a:srgbClr val="00FF00"/>
                </a:highlight>
              </a:rPr>
              <a:t>Soluciones</a:t>
            </a:r>
            <a:endParaRPr b="1" dirty="0">
              <a:highlight>
                <a:srgbClr val="00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/>
              <a:t>Código solución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/>
              <a:t>Desc</a:t>
            </a:r>
            <a:r>
              <a:rPr lang="es-419" dirty="0"/>
              <a:t> solución</a:t>
            </a:r>
            <a:endParaRPr dirty="0"/>
          </a:p>
        </p:txBody>
      </p:sp>
      <p:sp>
        <p:nvSpPr>
          <p:cNvPr id="163" name="Google Shape;163;p19"/>
          <p:cNvSpPr txBox="1"/>
          <p:nvPr/>
        </p:nvSpPr>
        <p:spPr>
          <a:xfrm>
            <a:off x="4535625" y="1926450"/>
            <a:ext cx="1848000" cy="815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 err="1">
                <a:highlight>
                  <a:srgbClr val="00FF00"/>
                </a:highlight>
              </a:rPr>
              <a:t>Materias_docentes</a:t>
            </a:r>
            <a:endParaRPr b="1" dirty="0">
              <a:highlight>
                <a:srgbClr val="00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Código de materia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/>
              <a:t>N°</a:t>
            </a:r>
            <a:r>
              <a:rPr lang="es-419" dirty="0"/>
              <a:t> legajo docente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00FF"/>
              </a:solidFill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322300" y="4233650"/>
            <a:ext cx="1719000" cy="815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 err="1">
                <a:highlight>
                  <a:srgbClr val="00FF00"/>
                </a:highlight>
              </a:rPr>
              <a:t>Teléfono_docente</a:t>
            </a:r>
            <a:endParaRPr b="1" dirty="0">
              <a:highlight>
                <a:srgbClr val="00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/>
              <a:t>N°</a:t>
            </a:r>
            <a:r>
              <a:rPr lang="es-419" dirty="0"/>
              <a:t> legajo docente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Teléfono</a:t>
            </a:r>
            <a:endParaRPr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8589814-E95A-461C-B826-68404DB300F2}"/>
              </a:ext>
            </a:extLst>
          </p:cNvPr>
          <p:cNvSpPr txBox="1"/>
          <p:nvPr/>
        </p:nvSpPr>
        <p:spPr>
          <a:xfrm>
            <a:off x="6436425" y="3404986"/>
            <a:ext cx="139446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AR" dirty="0" err="1"/>
              <a:t>Cod_Solucion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93524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8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" dur="500" fill="hold"/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8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4" dur="500" fill="hold"/>
                                        <p:tgtEl>
                                          <p:spTgt spid="1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8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" dur="500" fill="hold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4" dur="500" fill="hold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8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fill="hold"/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0" animBg="1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Tipos de relaciones y cardinalidad</a:t>
            </a:r>
            <a:endParaRPr/>
          </a:p>
        </p:txBody>
      </p:sp>
      <p:sp>
        <p:nvSpPr>
          <p:cNvPr id="5" name="Google Shape;160;p19">
            <a:extLst>
              <a:ext uri="{FF2B5EF4-FFF2-40B4-BE49-F238E27FC236}">
                <a16:creationId xmlns:a16="http://schemas.microsoft.com/office/drawing/2014/main" id="{19CA8E2B-1F87-46F6-B2E6-85BBBCF7CCEA}"/>
              </a:ext>
            </a:extLst>
          </p:cNvPr>
          <p:cNvSpPr txBox="1"/>
          <p:nvPr/>
        </p:nvSpPr>
        <p:spPr>
          <a:xfrm>
            <a:off x="1264095" y="3378210"/>
            <a:ext cx="1915200" cy="1044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Docentes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 err="1"/>
              <a:t>N°</a:t>
            </a:r>
            <a:r>
              <a:rPr lang="es-419" u="sng" dirty="0"/>
              <a:t> legajo docente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Nombre docente</a:t>
            </a:r>
            <a:endParaRPr dirty="0">
              <a:highlight>
                <a:srgbClr val="FF00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Domicilio docente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Google Shape;164;p19">
            <a:extLst>
              <a:ext uri="{FF2B5EF4-FFF2-40B4-BE49-F238E27FC236}">
                <a16:creationId xmlns:a16="http://schemas.microsoft.com/office/drawing/2014/main" id="{9C4ADF4C-54A9-4FA9-8DC9-ADF8F3759388}"/>
              </a:ext>
            </a:extLst>
          </p:cNvPr>
          <p:cNvSpPr txBox="1"/>
          <p:nvPr/>
        </p:nvSpPr>
        <p:spPr>
          <a:xfrm>
            <a:off x="117390" y="1756050"/>
            <a:ext cx="1719000" cy="815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 err="1"/>
              <a:t>Teléfono_docente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 err="1"/>
              <a:t>N°</a:t>
            </a:r>
            <a:r>
              <a:rPr lang="es-419" u="sng" dirty="0"/>
              <a:t> legajo docente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/>
              <a:t>Teléfono</a:t>
            </a:r>
            <a:endParaRPr u="sng" dirty="0"/>
          </a:p>
        </p:txBody>
      </p:sp>
      <p:sp>
        <p:nvSpPr>
          <p:cNvPr id="7" name="Google Shape;163;p19">
            <a:extLst>
              <a:ext uri="{FF2B5EF4-FFF2-40B4-BE49-F238E27FC236}">
                <a16:creationId xmlns:a16="http://schemas.microsoft.com/office/drawing/2014/main" id="{42EEC07E-C4BF-4B3C-B986-5AF2AE948D4E}"/>
              </a:ext>
            </a:extLst>
          </p:cNvPr>
          <p:cNvSpPr txBox="1"/>
          <p:nvPr/>
        </p:nvSpPr>
        <p:spPr>
          <a:xfrm>
            <a:off x="4318455" y="3607410"/>
            <a:ext cx="1848000" cy="815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 err="1"/>
              <a:t>Materias_docentes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/>
              <a:t>Código de materia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 err="1"/>
              <a:t>N°</a:t>
            </a:r>
            <a:r>
              <a:rPr lang="es-419" u="sng" dirty="0"/>
              <a:t> legajo docente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F00FF"/>
              </a:solidFill>
            </a:endParaRPr>
          </a:p>
        </p:txBody>
      </p:sp>
      <p:sp>
        <p:nvSpPr>
          <p:cNvPr id="11" name="Google Shape;157;p19">
            <a:extLst>
              <a:ext uri="{FF2B5EF4-FFF2-40B4-BE49-F238E27FC236}">
                <a16:creationId xmlns:a16="http://schemas.microsoft.com/office/drawing/2014/main" id="{33168257-04D2-4251-BD47-FFDF43CEF06F}"/>
              </a:ext>
            </a:extLst>
          </p:cNvPr>
          <p:cNvSpPr txBox="1"/>
          <p:nvPr/>
        </p:nvSpPr>
        <p:spPr>
          <a:xfrm>
            <a:off x="7087605" y="3410310"/>
            <a:ext cx="1584600" cy="1012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/>
              <a:t>Materias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 dirty="0"/>
              <a:t>Código materia</a:t>
            </a:r>
            <a:endParaRPr u="sng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 err="1"/>
              <a:t>Desc</a:t>
            </a:r>
            <a:r>
              <a:rPr lang="es-419" dirty="0"/>
              <a:t> materia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>
                <a:solidFill>
                  <a:schemeClr val="tx1"/>
                </a:solidFill>
              </a:rPr>
              <a:t>Código </a:t>
            </a:r>
            <a:r>
              <a:rPr lang="es-419" dirty="0" err="1">
                <a:solidFill>
                  <a:schemeClr val="tx1"/>
                </a:solidFill>
              </a:rPr>
              <a:t>dpto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606F59FD-87E0-4D6F-AC4B-4033C0AAACE7}"/>
              </a:ext>
            </a:extLst>
          </p:cNvPr>
          <p:cNvCxnSpPr>
            <a:stCxn id="5" idx="3"/>
          </p:cNvCxnSpPr>
          <p:nvPr/>
        </p:nvCxnSpPr>
        <p:spPr>
          <a:xfrm>
            <a:off x="3179295" y="3900660"/>
            <a:ext cx="11391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F8114BC-2E02-4CAF-94DF-8CBD015D1181}"/>
              </a:ext>
            </a:extLst>
          </p:cNvPr>
          <p:cNvCxnSpPr>
            <a:endCxn id="11" idx="1"/>
          </p:cNvCxnSpPr>
          <p:nvPr/>
        </p:nvCxnSpPr>
        <p:spPr>
          <a:xfrm>
            <a:off x="6166455" y="3900660"/>
            <a:ext cx="921150" cy="160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D72A0643-6C00-41B9-A811-892EF560DA8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457221" y="2435131"/>
            <a:ext cx="1322248" cy="563910"/>
          </a:xfrm>
          <a:prstGeom prst="bentConnector3">
            <a:avLst>
              <a:gd name="adj1" fmla="val -1002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67C811E2-49C6-4A37-BB89-18927D0FECEA}"/>
              </a:ext>
            </a:extLst>
          </p:cNvPr>
          <p:cNvCxnSpPr/>
          <p:nvPr/>
        </p:nvCxnSpPr>
        <p:spPr>
          <a:xfrm>
            <a:off x="1836390" y="1851660"/>
            <a:ext cx="281955" cy="2043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1E830203-B4F7-4659-BE99-E65CC9325A7F}"/>
              </a:ext>
            </a:extLst>
          </p:cNvPr>
          <p:cNvCxnSpPr>
            <a:cxnSpLocks/>
          </p:cNvCxnSpPr>
          <p:nvPr/>
        </p:nvCxnSpPr>
        <p:spPr>
          <a:xfrm flipV="1">
            <a:off x="1836390" y="2055961"/>
            <a:ext cx="281955" cy="2043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359A6719-A137-4984-ABBC-E47DEED523D8}"/>
              </a:ext>
            </a:extLst>
          </p:cNvPr>
          <p:cNvCxnSpPr/>
          <p:nvPr/>
        </p:nvCxnSpPr>
        <p:spPr>
          <a:xfrm>
            <a:off x="2221695" y="1824185"/>
            <a:ext cx="0" cy="4360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3F18C35-9398-40DA-BDBF-C78F06A7CC75}"/>
              </a:ext>
            </a:extLst>
          </p:cNvPr>
          <p:cNvCxnSpPr/>
          <p:nvPr/>
        </p:nvCxnSpPr>
        <p:spPr>
          <a:xfrm>
            <a:off x="2221695" y="3200400"/>
            <a:ext cx="36148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BB978028-7142-42E4-8CF1-488BA2CDBF84}"/>
              </a:ext>
            </a:extLst>
          </p:cNvPr>
          <p:cNvCxnSpPr>
            <a:cxnSpLocks/>
          </p:cNvCxnSpPr>
          <p:nvPr/>
        </p:nvCxnSpPr>
        <p:spPr>
          <a:xfrm>
            <a:off x="2221695" y="3077131"/>
            <a:ext cx="36148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34D14354-0689-436E-A19A-B83E8557F291}"/>
              </a:ext>
            </a:extLst>
          </p:cNvPr>
          <p:cNvSpPr txBox="1"/>
          <p:nvPr/>
        </p:nvSpPr>
        <p:spPr>
          <a:xfrm>
            <a:off x="2583180" y="2042223"/>
            <a:ext cx="389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I</a:t>
            </a: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338B208F-CA0A-4A12-A9ED-0A24F28F07F6}"/>
              </a:ext>
            </a:extLst>
          </p:cNvPr>
          <p:cNvCxnSpPr/>
          <p:nvPr/>
        </p:nvCxnSpPr>
        <p:spPr>
          <a:xfrm flipV="1">
            <a:off x="4034790" y="3749040"/>
            <a:ext cx="283665" cy="1516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D9580E4D-3512-4DE9-9FD9-AA900042CEA7}"/>
              </a:ext>
            </a:extLst>
          </p:cNvPr>
          <p:cNvCxnSpPr/>
          <p:nvPr/>
        </p:nvCxnSpPr>
        <p:spPr>
          <a:xfrm>
            <a:off x="4034790" y="3916710"/>
            <a:ext cx="283665" cy="2095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BFB993AF-9A80-4299-B522-43A3A1E727E2}"/>
              </a:ext>
            </a:extLst>
          </p:cNvPr>
          <p:cNvCxnSpPr/>
          <p:nvPr/>
        </p:nvCxnSpPr>
        <p:spPr>
          <a:xfrm>
            <a:off x="3268980" y="3732991"/>
            <a:ext cx="0" cy="309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EEEA1AB3-4C86-48B6-BDE5-A26D4BE28566}"/>
              </a:ext>
            </a:extLst>
          </p:cNvPr>
          <p:cNvCxnSpPr/>
          <p:nvPr/>
        </p:nvCxnSpPr>
        <p:spPr>
          <a:xfrm>
            <a:off x="3406140" y="3732991"/>
            <a:ext cx="0" cy="309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Elipse 44">
            <a:extLst>
              <a:ext uri="{FF2B5EF4-FFF2-40B4-BE49-F238E27FC236}">
                <a16:creationId xmlns:a16="http://schemas.microsoft.com/office/drawing/2014/main" id="{5A9CCDD1-CCC6-4EF1-9C45-25E943BBCBC2}"/>
              </a:ext>
            </a:extLst>
          </p:cNvPr>
          <p:cNvSpPr/>
          <p:nvPr/>
        </p:nvSpPr>
        <p:spPr>
          <a:xfrm>
            <a:off x="3817620" y="3749040"/>
            <a:ext cx="127481" cy="3092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595BA2A4-41D8-4C20-819C-E6B59B11CEBB}"/>
              </a:ext>
            </a:extLst>
          </p:cNvPr>
          <p:cNvSpPr txBox="1"/>
          <p:nvPr/>
        </p:nvSpPr>
        <p:spPr>
          <a:xfrm>
            <a:off x="3531870" y="3200400"/>
            <a:ext cx="361485" cy="30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I</a:t>
            </a:r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F9DCD274-3758-4D77-A783-E31C4940FF36}"/>
              </a:ext>
            </a:extLst>
          </p:cNvPr>
          <p:cNvCxnSpPr/>
          <p:nvPr/>
        </p:nvCxnSpPr>
        <p:spPr>
          <a:xfrm>
            <a:off x="6166455" y="3732991"/>
            <a:ext cx="314355" cy="1837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46871931-3A5E-4C27-8862-2818EE562149}"/>
              </a:ext>
            </a:extLst>
          </p:cNvPr>
          <p:cNvCxnSpPr/>
          <p:nvPr/>
        </p:nvCxnSpPr>
        <p:spPr>
          <a:xfrm flipV="1">
            <a:off x="6197145" y="3942511"/>
            <a:ext cx="252975" cy="1837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88D7EF7A-E287-4257-BE44-A97BC8D6DFF2}"/>
              </a:ext>
            </a:extLst>
          </p:cNvPr>
          <p:cNvCxnSpPr>
            <a:cxnSpLocks/>
          </p:cNvCxnSpPr>
          <p:nvPr/>
        </p:nvCxnSpPr>
        <p:spPr>
          <a:xfrm>
            <a:off x="6539809" y="3749040"/>
            <a:ext cx="0" cy="309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ED7D9B69-C6C1-4106-958D-1B57D3C43B45}"/>
              </a:ext>
            </a:extLst>
          </p:cNvPr>
          <p:cNvCxnSpPr>
            <a:cxnSpLocks/>
          </p:cNvCxnSpPr>
          <p:nvPr/>
        </p:nvCxnSpPr>
        <p:spPr>
          <a:xfrm>
            <a:off x="6926580" y="3749040"/>
            <a:ext cx="0" cy="309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42B46ED7-B687-41B6-8598-573E54B0D387}"/>
              </a:ext>
            </a:extLst>
          </p:cNvPr>
          <p:cNvCxnSpPr>
            <a:cxnSpLocks/>
          </p:cNvCxnSpPr>
          <p:nvPr/>
        </p:nvCxnSpPr>
        <p:spPr>
          <a:xfrm>
            <a:off x="6812280" y="3732991"/>
            <a:ext cx="0" cy="3092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CuadroTexto 57">
            <a:extLst>
              <a:ext uri="{FF2B5EF4-FFF2-40B4-BE49-F238E27FC236}">
                <a16:creationId xmlns:a16="http://schemas.microsoft.com/office/drawing/2014/main" id="{0B7A726A-8EB2-439A-A76D-094DBD1D8064}"/>
              </a:ext>
            </a:extLst>
          </p:cNvPr>
          <p:cNvSpPr txBox="1"/>
          <p:nvPr/>
        </p:nvSpPr>
        <p:spPr>
          <a:xfrm>
            <a:off x="6450120" y="3077131"/>
            <a:ext cx="47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NI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5" grpId="0" animBg="1"/>
      <p:bldP spid="46" grpId="0"/>
      <p:bldP spid="58" grpId="0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A77989896D2AC4D9D96CE4C57E869D0" ma:contentTypeVersion="4" ma:contentTypeDescription="Crear nuevo documento." ma:contentTypeScope="" ma:versionID="29012f36dd80fbd6a3d0ddbdb9f47357">
  <xsd:schema xmlns:xsd="http://www.w3.org/2001/XMLSchema" xmlns:xs="http://www.w3.org/2001/XMLSchema" xmlns:p="http://schemas.microsoft.com/office/2006/metadata/properties" xmlns:ns2="4e2fc5dc-0a9b-4fb0-a7bb-f2dbd29023f9" targetNamespace="http://schemas.microsoft.com/office/2006/metadata/properties" ma:root="true" ma:fieldsID="fbd407c50ac373832a33d9f6edc00259" ns2:_="">
    <xsd:import namespace="4e2fc5dc-0a9b-4fb0-a7bb-f2dbd29023f9"/>
    <xsd:element name="properties">
      <xsd:complexType>
        <xsd:sequence>
          <xsd:element name="documentManagement">
            <xsd:complexType>
              <xsd:all>
                <xsd:element ref="ns2:Nro"/>
                <xsd:element ref="ns2:Unidad" minOccurs="0"/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2fc5dc-0a9b-4fb0-a7bb-f2dbd29023f9" elementFormDefault="qualified">
    <xsd:import namespace="http://schemas.microsoft.com/office/2006/documentManagement/types"/>
    <xsd:import namespace="http://schemas.microsoft.com/office/infopath/2007/PartnerControls"/>
    <xsd:element name="Nro" ma:index="8" ma:displayName="Nro" ma:default="0" ma:description="Campo utilizado para ordenar" ma:internalName="Nro" ma:percentage="FALSE">
      <xsd:simpleType>
        <xsd:restriction base="dms:Number"/>
      </xsd:simpleType>
    </xsd:element>
    <xsd:element name="Unidad" ma:index="9" nillable="true" ma:displayName="Unidad" ma:internalName="Unidad" ma:percentage="FALSE">
      <xsd:simpleType>
        <xsd:restriction base="dms:Number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ro xmlns="4e2fc5dc-0a9b-4fb0-a7bb-f2dbd29023f9">1</Nro>
    <Unidad xmlns="4e2fc5dc-0a9b-4fb0-a7bb-f2dbd29023f9" xsi:nil="true"/>
  </documentManagement>
</p:properties>
</file>

<file path=customXml/itemProps1.xml><?xml version="1.0" encoding="utf-8"?>
<ds:datastoreItem xmlns:ds="http://schemas.openxmlformats.org/officeDocument/2006/customXml" ds:itemID="{3CC8E40B-093F-46EE-965D-61752094CA5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8721488-74E3-4FD1-A739-1EA789785E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e2fc5dc-0a9b-4fb0-a7bb-f2dbd29023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2A8CE3E-B6EE-47E6-A909-0E4DE0DAF63A}">
  <ds:schemaRefs>
    <ds:schemaRef ds:uri="http://schemas.microsoft.com/office/2006/metadata/properties"/>
    <ds:schemaRef ds:uri="http://schemas.microsoft.com/office/infopath/2007/PartnerControls"/>
    <ds:schemaRef ds:uri="4e2fc5dc-0a9b-4fb0-a7bb-f2dbd29023f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1481</TotalTime>
  <Words>1381</Words>
  <Application>Microsoft Office PowerPoint</Application>
  <PresentationFormat>Presentación en pantalla (16:9)</PresentationFormat>
  <Paragraphs>308</Paragraphs>
  <Slides>12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Simple Light</vt:lpstr>
      <vt:lpstr>Universidad Aprendetodo</vt:lpstr>
      <vt:lpstr>Presentación de PowerPoint</vt:lpstr>
      <vt:lpstr>Presentación de PowerPoint</vt:lpstr>
      <vt:lpstr>Presentación de PowerPoint</vt:lpstr>
      <vt:lpstr>Entidades potenciales</vt:lpstr>
      <vt:lpstr>Atributos potenciales</vt:lpstr>
      <vt:lpstr>Entidades con atributos identificados</vt:lpstr>
      <vt:lpstr>Entidades y atributos identificados</vt:lpstr>
      <vt:lpstr>Entidades y atributos - normalización</vt:lpstr>
      <vt:lpstr>Entidades y atributos - normalización</vt:lpstr>
      <vt:lpstr>Entidades y atributos - normalización</vt:lpstr>
      <vt:lpstr>Tipos de relaciones y cardinalidad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 Aprendetodo</dc:title>
  <cp:lastModifiedBy>Micaela Guadalupe Gutierrez Grinfeld</cp:lastModifiedBy>
  <cp:revision>16</cp:revision>
  <dcterms:modified xsi:type="dcterms:W3CDTF">2022-04-04T23:32:37Z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0x0101002A77989896D2AC4D9D96CE4C57E869D0</vt:lpwstr>
  </property>
</Properties>
</file>