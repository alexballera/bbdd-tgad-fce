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8.xml" ContentType="application/vnd.openxmlformats-officedocument.presentationml.tags+xml"/>
  <Override PartName="/ppt/notesSlides/notesSlide14.xml" ContentType="application/vnd.openxmlformats-officedocument.presentationml.notesSlide+xml"/>
  <Override PartName="/ppt/tags/tag9.xml" ContentType="application/vnd.openxmlformats-officedocument.presentationml.tags+xml"/>
  <Override PartName="/ppt/notesSlides/notesSlide15.xml" ContentType="application/vnd.openxmlformats-officedocument.presentationml.notesSlide+xml"/>
  <Override PartName="/ppt/tags/tag10.xml" ContentType="application/vnd.openxmlformats-officedocument.presentationml.tags+xml"/>
  <Override PartName="/ppt/notesSlides/notesSlide16.xml" ContentType="application/vnd.openxmlformats-officedocument.presentationml.notesSlide+xml"/>
  <Override PartName="/ppt/tags/tag11.xml" ContentType="application/vnd.openxmlformats-officedocument.presentationml.tags+xml"/>
  <Override PartName="/ppt/notesSlides/notesSlide17.xml" ContentType="application/vnd.openxmlformats-officedocument.presentationml.notesSlide+xml"/>
  <Override PartName="/ppt/tags/tag12.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3.xml" ContentType="application/vnd.openxmlformats-officedocument.presentationml.tags+xml"/>
  <Override PartName="/ppt/notesSlides/notesSlide21.xml" ContentType="application/vnd.openxmlformats-officedocument.presentationml.notesSlide+xml"/>
  <Override PartName="/ppt/tags/tag14.xml" ContentType="application/vnd.openxmlformats-officedocument.presentationml.tags+xml"/>
  <Override PartName="/ppt/notesSlides/notesSlide22.xml" ContentType="application/vnd.openxmlformats-officedocument.presentationml.notesSlide+xml"/>
  <Override PartName="/ppt/tags/tag15.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3"/>
  </p:notesMasterIdLst>
  <p:handoutMasterIdLst>
    <p:handoutMasterId r:id="rId34"/>
  </p:handoutMasterIdLst>
  <p:sldIdLst>
    <p:sldId id="722" r:id="rId2"/>
    <p:sldId id="257" r:id="rId3"/>
    <p:sldId id="294" r:id="rId4"/>
    <p:sldId id="317" r:id="rId5"/>
    <p:sldId id="295" r:id="rId6"/>
    <p:sldId id="296" r:id="rId7"/>
    <p:sldId id="319" r:id="rId8"/>
    <p:sldId id="259" r:id="rId9"/>
    <p:sldId id="260" r:id="rId10"/>
    <p:sldId id="261" r:id="rId11"/>
    <p:sldId id="276" r:id="rId12"/>
    <p:sldId id="297" r:id="rId13"/>
    <p:sldId id="318" r:id="rId14"/>
    <p:sldId id="301" r:id="rId15"/>
    <p:sldId id="302" r:id="rId16"/>
    <p:sldId id="303" r:id="rId17"/>
    <p:sldId id="273" r:id="rId18"/>
    <p:sldId id="277" r:id="rId19"/>
    <p:sldId id="283" r:id="rId20"/>
    <p:sldId id="284" r:id="rId21"/>
    <p:sldId id="285" r:id="rId22"/>
    <p:sldId id="308" r:id="rId23"/>
    <p:sldId id="306" r:id="rId24"/>
    <p:sldId id="298" r:id="rId25"/>
    <p:sldId id="269" r:id="rId26"/>
    <p:sldId id="270" r:id="rId27"/>
    <p:sldId id="289" r:id="rId28"/>
    <p:sldId id="300" r:id="rId29"/>
    <p:sldId id="290" r:id="rId30"/>
    <p:sldId id="291" r:id="rId31"/>
    <p:sldId id="264" r:id="rId32"/>
  </p:sldIdLst>
  <p:sldSz cx="9144000" cy="6858000" type="screen4x3"/>
  <p:notesSz cx="7099300" cy="10234613"/>
  <p:defaultTextStyle>
    <a:defPPr>
      <a:defRPr lang="es-AR"/>
    </a:defPPr>
    <a:lvl1pPr algn="l" rtl="0" eaLnBrk="0" fontAlgn="base" hangingPunct="0">
      <a:spcBef>
        <a:spcPct val="0"/>
      </a:spcBef>
      <a:spcAft>
        <a:spcPct val="0"/>
      </a:spcAft>
      <a:defRPr sz="1400" kern="1200">
        <a:solidFill>
          <a:schemeClr val="folHlink"/>
        </a:solidFill>
        <a:latin typeface="Tahoma" panose="020B0604030504040204" pitchFamily="34" charset="0"/>
        <a:ea typeface="+mn-ea"/>
        <a:cs typeface="+mn-cs"/>
      </a:defRPr>
    </a:lvl1pPr>
    <a:lvl2pPr marL="457200" algn="l" rtl="0" eaLnBrk="0" fontAlgn="base" hangingPunct="0">
      <a:spcBef>
        <a:spcPct val="0"/>
      </a:spcBef>
      <a:spcAft>
        <a:spcPct val="0"/>
      </a:spcAft>
      <a:defRPr sz="1400" kern="1200">
        <a:solidFill>
          <a:schemeClr val="folHlink"/>
        </a:solidFill>
        <a:latin typeface="Tahoma" panose="020B0604030504040204" pitchFamily="34" charset="0"/>
        <a:ea typeface="+mn-ea"/>
        <a:cs typeface="+mn-cs"/>
      </a:defRPr>
    </a:lvl2pPr>
    <a:lvl3pPr marL="914400" algn="l" rtl="0" eaLnBrk="0" fontAlgn="base" hangingPunct="0">
      <a:spcBef>
        <a:spcPct val="0"/>
      </a:spcBef>
      <a:spcAft>
        <a:spcPct val="0"/>
      </a:spcAft>
      <a:defRPr sz="1400" kern="1200">
        <a:solidFill>
          <a:schemeClr val="folHlink"/>
        </a:solidFill>
        <a:latin typeface="Tahoma" panose="020B0604030504040204" pitchFamily="34" charset="0"/>
        <a:ea typeface="+mn-ea"/>
        <a:cs typeface="+mn-cs"/>
      </a:defRPr>
    </a:lvl3pPr>
    <a:lvl4pPr marL="1371600" algn="l" rtl="0" eaLnBrk="0" fontAlgn="base" hangingPunct="0">
      <a:spcBef>
        <a:spcPct val="0"/>
      </a:spcBef>
      <a:spcAft>
        <a:spcPct val="0"/>
      </a:spcAft>
      <a:defRPr sz="1400" kern="1200">
        <a:solidFill>
          <a:schemeClr val="folHlink"/>
        </a:solidFill>
        <a:latin typeface="Tahoma" panose="020B0604030504040204" pitchFamily="34" charset="0"/>
        <a:ea typeface="+mn-ea"/>
        <a:cs typeface="+mn-cs"/>
      </a:defRPr>
    </a:lvl4pPr>
    <a:lvl5pPr marL="1828800" algn="l" rtl="0" eaLnBrk="0" fontAlgn="base" hangingPunct="0">
      <a:spcBef>
        <a:spcPct val="0"/>
      </a:spcBef>
      <a:spcAft>
        <a:spcPct val="0"/>
      </a:spcAft>
      <a:defRPr sz="1400" kern="1200">
        <a:solidFill>
          <a:schemeClr val="folHlink"/>
        </a:solidFill>
        <a:latin typeface="Tahoma" panose="020B0604030504040204" pitchFamily="34" charset="0"/>
        <a:ea typeface="+mn-ea"/>
        <a:cs typeface="+mn-cs"/>
      </a:defRPr>
    </a:lvl5pPr>
    <a:lvl6pPr marL="2286000" algn="l" defTabSz="914400" rtl="0" eaLnBrk="1" latinLnBrk="0" hangingPunct="1">
      <a:defRPr sz="1400" kern="1200">
        <a:solidFill>
          <a:schemeClr val="folHlink"/>
        </a:solidFill>
        <a:latin typeface="Tahoma" panose="020B0604030504040204" pitchFamily="34" charset="0"/>
        <a:ea typeface="+mn-ea"/>
        <a:cs typeface="+mn-cs"/>
      </a:defRPr>
    </a:lvl6pPr>
    <a:lvl7pPr marL="2743200" algn="l" defTabSz="914400" rtl="0" eaLnBrk="1" latinLnBrk="0" hangingPunct="1">
      <a:defRPr sz="1400" kern="1200">
        <a:solidFill>
          <a:schemeClr val="folHlink"/>
        </a:solidFill>
        <a:latin typeface="Tahoma" panose="020B0604030504040204" pitchFamily="34" charset="0"/>
        <a:ea typeface="+mn-ea"/>
        <a:cs typeface="+mn-cs"/>
      </a:defRPr>
    </a:lvl7pPr>
    <a:lvl8pPr marL="3200400" algn="l" defTabSz="914400" rtl="0" eaLnBrk="1" latinLnBrk="0" hangingPunct="1">
      <a:defRPr sz="1400" kern="1200">
        <a:solidFill>
          <a:schemeClr val="folHlink"/>
        </a:solidFill>
        <a:latin typeface="Tahoma" panose="020B0604030504040204" pitchFamily="34" charset="0"/>
        <a:ea typeface="+mn-ea"/>
        <a:cs typeface="+mn-cs"/>
      </a:defRPr>
    </a:lvl8pPr>
    <a:lvl9pPr marL="3657600" algn="l" defTabSz="914400" rtl="0" eaLnBrk="1" latinLnBrk="0" hangingPunct="1">
      <a:defRPr sz="1400" kern="1200">
        <a:solidFill>
          <a:schemeClr val="folHlink"/>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00"/>
    <a:srgbClr val="990033"/>
    <a:srgbClr val="C0C0C0"/>
    <a:srgbClr val="E8EEC4"/>
    <a:srgbClr val="808080"/>
    <a:srgbClr val="B2B2B2"/>
    <a:srgbClr val="5B82FF"/>
    <a:srgbClr val="EFF3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Estilo medio 4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5758FB7-9AC5-4552-8A53-C91805E547FA}" styleName="Estilo temático 1 - Énfasis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2094" y="78"/>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E06F4673-0CA2-4BF1-8B8C-FF27F07E87CE}"/>
              </a:ext>
            </a:extLst>
          </p:cNvPr>
          <p:cNvSpPr>
            <a:spLocks noGrp="1" noChangeArrowheads="1"/>
          </p:cNvSpPr>
          <p:nvPr>
            <p:ph type="hdr" sz="quarter"/>
          </p:nvPr>
        </p:nvSpPr>
        <p:spPr bwMode="auto">
          <a:xfrm>
            <a:off x="0" y="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t" anchorCtr="0" compatLnSpc="1">
            <a:prstTxWarp prst="textNoShape">
              <a:avLst/>
            </a:prstTxWarp>
          </a:bodyPr>
          <a:lstStyle>
            <a:lvl1pPr defTabSz="981075" eaLnBrk="1" hangingPunct="1">
              <a:defRPr sz="1300">
                <a:solidFill>
                  <a:schemeClr val="tx1"/>
                </a:solidFill>
              </a:defRPr>
            </a:lvl1pPr>
          </a:lstStyle>
          <a:p>
            <a:pPr>
              <a:defRPr/>
            </a:pPr>
            <a:endParaRPr lang="es-ES"/>
          </a:p>
        </p:txBody>
      </p:sp>
      <p:sp>
        <p:nvSpPr>
          <p:cNvPr id="51203" name="Rectangle 3">
            <a:extLst>
              <a:ext uri="{FF2B5EF4-FFF2-40B4-BE49-F238E27FC236}">
                <a16:creationId xmlns:a16="http://schemas.microsoft.com/office/drawing/2014/main" id="{B6E8AC83-5F4F-44B9-AF40-92A970ED2939}"/>
              </a:ext>
            </a:extLst>
          </p:cNvPr>
          <p:cNvSpPr>
            <a:spLocks noGrp="1" noChangeArrowheads="1"/>
          </p:cNvSpPr>
          <p:nvPr>
            <p:ph type="dt" sz="quarter" idx="1"/>
          </p:nvPr>
        </p:nvSpPr>
        <p:spPr bwMode="auto">
          <a:xfrm>
            <a:off x="4022725" y="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t" anchorCtr="0" compatLnSpc="1">
            <a:prstTxWarp prst="textNoShape">
              <a:avLst/>
            </a:prstTxWarp>
          </a:bodyPr>
          <a:lstStyle>
            <a:lvl1pPr algn="r" defTabSz="981075" eaLnBrk="1" hangingPunct="1">
              <a:defRPr sz="1300">
                <a:solidFill>
                  <a:schemeClr val="tx1"/>
                </a:solidFill>
              </a:defRPr>
            </a:lvl1pPr>
          </a:lstStyle>
          <a:p>
            <a:pPr>
              <a:defRPr/>
            </a:pPr>
            <a:endParaRPr lang="es-ES"/>
          </a:p>
        </p:txBody>
      </p:sp>
      <p:sp>
        <p:nvSpPr>
          <p:cNvPr id="51204" name="Rectangle 4">
            <a:extLst>
              <a:ext uri="{FF2B5EF4-FFF2-40B4-BE49-F238E27FC236}">
                <a16:creationId xmlns:a16="http://schemas.microsoft.com/office/drawing/2014/main" id="{A4884D21-E8BA-42A3-BB8B-AC81F641E965}"/>
              </a:ext>
            </a:extLst>
          </p:cNvPr>
          <p:cNvSpPr>
            <a:spLocks noGrp="1" noChangeArrowheads="1"/>
          </p:cNvSpPr>
          <p:nvPr>
            <p:ph type="ftr" sz="quarter" idx="2"/>
          </p:nvPr>
        </p:nvSpPr>
        <p:spPr bwMode="auto">
          <a:xfrm>
            <a:off x="0"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b" anchorCtr="0" compatLnSpc="1">
            <a:prstTxWarp prst="textNoShape">
              <a:avLst/>
            </a:prstTxWarp>
          </a:bodyPr>
          <a:lstStyle>
            <a:lvl1pPr defTabSz="981075" eaLnBrk="1" hangingPunct="1">
              <a:defRPr sz="1300">
                <a:solidFill>
                  <a:schemeClr val="tx1"/>
                </a:solidFill>
              </a:defRPr>
            </a:lvl1pPr>
          </a:lstStyle>
          <a:p>
            <a:pPr>
              <a:defRPr/>
            </a:pPr>
            <a:endParaRPr lang="es-ES"/>
          </a:p>
        </p:txBody>
      </p:sp>
      <p:sp>
        <p:nvSpPr>
          <p:cNvPr id="51205" name="Rectangle 5">
            <a:extLst>
              <a:ext uri="{FF2B5EF4-FFF2-40B4-BE49-F238E27FC236}">
                <a16:creationId xmlns:a16="http://schemas.microsoft.com/office/drawing/2014/main" id="{6EE1EE84-600B-4B26-9742-4671D2AB98ED}"/>
              </a:ext>
            </a:extLst>
          </p:cNvPr>
          <p:cNvSpPr>
            <a:spLocks noGrp="1" noChangeArrowheads="1"/>
          </p:cNvSpPr>
          <p:nvPr>
            <p:ph type="sldNum" sz="quarter" idx="3"/>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b" anchorCtr="0" compatLnSpc="1">
            <a:prstTxWarp prst="textNoShape">
              <a:avLst/>
            </a:prstTxWarp>
          </a:bodyPr>
          <a:lstStyle>
            <a:lvl1pPr algn="r" defTabSz="981075" eaLnBrk="1" hangingPunct="1">
              <a:defRPr sz="1300">
                <a:solidFill>
                  <a:schemeClr val="tx1"/>
                </a:solidFill>
              </a:defRPr>
            </a:lvl1pPr>
          </a:lstStyle>
          <a:p>
            <a:pPr>
              <a:defRPr/>
            </a:pPr>
            <a:fld id="{E19D3970-5275-497F-8813-3BA0930EA829}" type="slidenum">
              <a:rPr lang="es-AR" altLang="es-AR"/>
              <a:pPr>
                <a:defRPr/>
              </a:pPr>
              <a:t>‹Nº›</a:t>
            </a:fld>
            <a:endParaRPr lang="es-AR" altLang="es-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026">
            <a:extLst>
              <a:ext uri="{FF2B5EF4-FFF2-40B4-BE49-F238E27FC236}">
                <a16:creationId xmlns:a16="http://schemas.microsoft.com/office/drawing/2014/main" id="{452103B8-ED76-46B5-A696-A14D120C6404}"/>
              </a:ext>
            </a:extLst>
          </p:cNvPr>
          <p:cNvSpPr>
            <a:spLocks noGrp="1" noChangeArrowheads="1"/>
          </p:cNvSpPr>
          <p:nvPr>
            <p:ph type="hdr" sz="quarter"/>
          </p:nvPr>
        </p:nvSpPr>
        <p:spPr bwMode="auto">
          <a:xfrm>
            <a:off x="0" y="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t" anchorCtr="0" compatLnSpc="1">
            <a:prstTxWarp prst="textNoShape">
              <a:avLst/>
            </a:prstTxWarp>
          </a:bodyPr>
          <a:lstStyle>
            <a:lvl1pPr defTabSz="981075" eaLnBrk="1" hangingPunct="1">
              <a:defRPr sz="1300">
                <a:solidFill>
                  <a:schemeClr val="tx1"/>
                </a:solidFill>
              </a:defRPr>
            </a:lvl1pPr>
          </a:lstStyle>
          <a:p>
            <a:pPr>
              <a:defRPr/>
            </a:pPr>
            <a:endParaRPr lang="es-ES"/>
          </a:p>
        </p:txBody>
      </p:sp>
      <p:sp>
        <p:nvSpPr>
          <p:cNvPr id="11267" name="Rectangle 1027">
            <a:extLst>
              <a:ext uri="{FF2B5EF4-FFF2-40B4-BE49-F238E27FC236}">
                <a16:creationId xmlns:a16="http://schemas.microsoft.com/office/drawing/2014/main" id="{60F20666-410F-4CFA-8ED4-1F18EACF47B9}"/>
              </a:ext>
            </a:extLst>
          </p:cNvPr>
          <p:cNvSpPr>
            <a:spLocks noGrp="1" noChangeArrowheads="1"/>
          </p:cNvSpPr>
          <p:nvPr>
            <p:ph type="dt" idx="1"/>
          </p:nvPr>
        </p:nvSpPr>
        <p:spPr bwMode="auto">
          <a:xfrm>
            <a:off x="4022725" y="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t" anchorCtr="0" compatLnSpc="1">
            <a:prstTxWarp prst="textNoShape">
              <a:avLst/>
            </a:prstTxWarp>
          </a:bodyPr>
          <a:lstStyle>
            <a:lvl1pPr algn="r" defTabSz="981075" eaLnBrk="1" hangingPunct="1">
              <a:defRPr sz="1300">
                <a:solidFill>
                  <a:schemeClr val="tx1"/>
                </a:solidFill>
              </a:defRPr>
            </a:lvl1pPr>
          </a:lstStyle>
          <a:p>
            <a:pPr>
              <a:defRPr/>
            </a:pPr>
            <a:endParaRPr lang="es-ES"/>
          </a:p>
        </p:txBody>
      </p:sp>
      <p:sp>
        <p:nvSpPr>
          <p:cNvPr id="3076" name="Rectangle 1028">
            <a:extLst>
              <a:ext uri="{FF2B5EF4-FFF2-40B4-BE49-F238E27FC236}">
                <a16:creationId xmlns:a16="http://schemas.microsoft.com/office/drawing/2014/main" id="{62658455-C094-4737-B20C-2A0CEDFC527F}"/>
              </a:ext>
            </a:extLst>
          </p:cNvPr>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1029">
            <a:extLst>
              <a:ext uri="{FF2B5EF4-FFF2-40B4-BE49-F238E27FC236}">
                <a16:creationId xmlns:a16="http://schemas.microsoft.com/office/drawing/2014/main" id="{A1C14FAD-D6D8-41F9-84E5-7C089F82BC0F}"/>
              </a:ext>
            </a:extLst>
          </p:cNvPr>
          <p:cNvSpPr>
            <a:spLocks noGrp="1" noChangeArrowheads="1"/>
          </p:cNvSpPr>
          <p:nvPr>
            <p:ph type="body" sz="quarter" idx="3"/>
          </p:nvPr>
        </p:nvSpPr>
        <p:spPr bwMode="auto">
          <a:xfrm>
            <a:off x="946150" y="4862513"/>
            <a:ext cx="5207000" cy="460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t" anchorCtr="0" compatLnSpc="1">
            <a:prstTxWarp prst="textNoShape">
              <a:avLst/>
            </a:prstTxWarp>
          </a:bodyPr>
          <a:lstStyle/>
          <a:p>
            <a:pPr lvl="0"/>
            <a:r>
              <a:rPr lang="es-AR" noProof="0"/>
              <a:t>Click to edit Master text styles</a:t>
            </a:r>
          </a:p>
          <a:p>
            <a:pPr lvl="1"/>
            <a:r>
              <a:rPr lang="es-AR" noProof="0"/>
              <a:t>Second level</a:t>
            </a:r>
          </a:p>
          <a:p>
            <a:pPr lvl="2"/>
            <a:r>
              <a:rPr lang="es-AR" noProof="0"/>
              <a:t>Third level</a:t>
            </a:r>
          </a:p>
          <a:p>
            <a:pPr lvl="3"/>
            <a:r>
              <a:rPr lang="es-AR" noProof="0"/>
              <a:t>Fourth level</a:t>
            </a:r>
          </a:p>
          <a:p>
            <a:pPr lvl="4"/>
            <a:r>
              <a:rPr lang="es-AR" noProof="0"/>
              <a:t>Fifth level</a:t>
            </a:r>
          </a:p>
        </p:txBody>
      </p:sp>
      <p:sp>
        <p:nvSpPr>
          <p:cNvPr id="11270" name="Rectangle 1030">
            <a:extLst>
              <a:ext uri="{FF2B5EF4-FFF2-40B4-BE49-F238E27FC236}">
                <a16:creationId xmlns:a16="http://schemas.microsoft.com/office/drawing/2014/main" id="{26754D68-25F5-468F-9AB7-A8DC61ECACAC}"/>
              </a:ext>
            </a:extLst>
          </p:cNvPr>
          <p:cNvSpPr>
            <a:spLocks noGrp="1" noChangeArrowheads="1"/>
          </p:cNvSpPr>
          <p:nvPr>
            <p:ph type="ftr" sz="quarter" idx="4"/>
          </p:nvPr>
        </p:nvSpPr>
        <p:spPr bwMode="auto">
          <a:xfrm>
            <a:off x="0"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b" anchorCtr="0" compatLnSpc="1">
            <a:prstTxWarp prst="textNoShape">
              <a:avLst/>
            </a:prstTxWarp>
          </a:bodyPr>
          <a:lstStyle>
            <a:lvl1pPr defTabSz="981075" eaLnBrk="1" hangingPunct="1">
              <a:defRPr sz="1300">
                <a:solidFill>
                  <a:schemeClr val="tx1"/>
                </a:solidFill>
              </a:defRPr>
            </a:lvl1pPr>
          </a:lstStyle>
          <a:p>
            <a:pPr>
              <a:defRPr/>
            </a:pPr>
            <a:endParaRPr lang="es-ES"/>
          </a:p>
        </p:txBody>
      </p:sp>
      <p:sp>
        <p:nvSpPr>
          <p:cNvPr id="11271" name="Rectangle 1031">
            <a:extLst>
              <a:ext uri="{FF2B5EF4-FFF2-40B4-BE49-F238E27FC236}">
                <a16:creationId xmlns:a16="http://schemas.microsoft.com/office/drawing/2014/main" id="{ADD54B69-CCC3-4C0C-BD4C-727C9F9CD8E8}"/>
              </a:ext>
            </a:extLst>
          </p:cNvPr>
          <p:cNvSpPr>
            <a:spLocks noGrp="1" noChangeArrowheads="1"/>
          </p:cNvSpPr>
          <p:nvPr>
            <p:ph type="sldNum" sz="quarter" idx="5"/>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8115" tIns="49058" rIns="98115" bIns="49058" numCol="1" anchor="b" anchorCtr="0" compatLnSpc="1">
            <a:prstTxWarp prst="textNoShape">
              <a:avLst/>
            </a:prstTxWarp>
          </a:bodyPr>
          <a:lstStyle>
            <a:lvl1pPr algn="r" defTabSz="981075" eaLnBrk="1" hangingPunct="1">
              <a:defRPr sz="1300">
                <a:solidFill>
                  <a:schemeClr val="tx1"/>
                </a:solidFill>
              </a:defRPr>
            </a:lvl1pPr>
          </a:lstStyle>
          <a:p>
            <a:pPr>
              <a:defRPr/>
            </a:pPr>
            <a:fld id="{567F39AF-C783-40BE-ACF2-7521C3115A6E}" type="slidenum">
              <a:rPr lang="es-AR" altLang="es-AR"/>
              <a:pPr>
                <a:defRPr/>
              </a:pPr>
              <a:t>‹Nº›</a:t>
            </a:fld>
            <a:endParaRPr lang="es-AR" altLang="es-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3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itchFamily="18" charset="0"/>
              </a:defRPr>
            </a:lvl1pPr>
            <a:lvl2pPr marL="742950" indent="-285750">
              <a:spcBef>
                <a:spcPct val="30000"/>
              </a:spcBef>
              <a:defRPr sz="1200">
                <a:solidFill>
                  <a:schemeClr val="tx1"/>
                </a:solidFill>
                <a:latin typeface="Times New Roman" pitchFamily="18" charset="0"/>
              </a:defRPr>
            </a:lvl2pPr>
            <a:lvl3pPr marL="1143000" indent="-228600">
              <a:spcBef>
                <a:spcPct val="30000"/>
              </a:spcBef>
              <a:defRPr sz="1200">
                <a:solidFill>
                  <a:schemeClr val="tx1"/>
                </a:solidFill>
                <a:latin typeface="Times New Roman" pitchFamily="18" charset="0"/>
              </a:defRPr>
            </a:lvl3pPr>
            <a:lvl4pPr marL="1600200" indent="-228600">
              <a:spcBef>
                <a:spcPct val="30000"/>
              </a:spcBef>
              <a:defRPr sz="1200">
                <a:solidFill>
                  <a:schemeClr val="tx1"/>
                </a:solidFill>
                <a:latin typeface="Times New Roman" pitchFamily="18" charset="0"/>
              </a:defRPr>
            </a:lvl4pPr>
            <a:lvl5pPr marL="2057400" indent="-22860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a:spcBef>
                <a:spcPct val="0"/>
              </a:spcBef>
            </a:pPr>
            <a:fld id="{148EE9D3-FE62-4452-A120-2E50A3583EEC}" type="slidenum">
              <a:rPr lang="es-AR" altLang="es-AR">
                <a:latin typeface="Tahoma" pitchFamily="34" charset="0"/>
              </a:rPr>
              <a:pPr>
                <a:spcBef>
                  <a:spcPct val="0"/>
                </a:spcBef>
              </a:pPr>
              <a:t>1</a:t>
            </a:fld>
            <a:endParaRPr lang="es-AR" altLang="es-AR">
              <a:latin typeface="Tahoma" pitchFamily="34" charset="0"/>
            </a:endParaRPr>
          </a:p>
        </p:txBody>
      </p:sp>
      <p:sp>
        <p:nvSpPr>
          <p:cNvPr id="6147" name="Rectangle 2050"/>
          <p:cNvSpPr>
            <a:spLocks noGrp="1" noRot="1" noChangeAspect="1" noChangeArrowheads="1" noTextEdit="1"/>
          </p:cNvSpPr>
          <p:nvPr>
            <p:ph type="sldImg"/>
          </p:nvPr>
        </p:nvSpPr>
        <p:spPr>
          <a:ln/>
        </p:spPr>
      </p:sp>
      <p:sp>
        <p:nvSpPr>
          <p:cNvPr id="6148" name="Rectangle 2051"/>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ES" altLang="es-AR"/>
          </a:p>
        </p:txBody>
      </p:sp>
    </p:spTree>
    <p:extLst>
      <p:ext uri="{BB962C8B-B14F-4D97-AF65-F5344CB8AC3E}">
        <p14:creationId xmlns:p14="http://schemas.microsoft.com/office/powerpoint/2010/main" val="2263390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31">
            <a:extLst>
              <a:ext uri="{FF2B5EF4-FFF2-40B4-BE49-F238E27FC236}">
                <a16:creationId xmlns:a16="http://schemas.microsoft.com/office/drawing/2014/main" id="{4E2AE0DB-AE8A-4C99-AE6E-3E9A252CE580}"/>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1E9531-915D-4CC7-80E2-95F75EA14DEE}" type="slidenum">
              <a:rPr lang="es-AR" altLang="es-ES" sz="1300" smtClean="0">
                <a:latin typeface="Tahoma" panose="020B0604030504040204" pitchFamily="34" charset="0"/>
              </a:rPr>
              <a:pPr>
                <a:spcBef>
                  <a:spcPct val="0"/>
                </a:spcBef>
              </a:pPr>
              <a:t>2</a:t>
            </a:fld>
            <a:endParaRPr lang="es-AR" altLang="es-ES" sz="1300">
              <a:latin typeface="Tahoma" panose="020B0604030504040204" pitchFamily="34" charset="0"/>
            </a:endParaRPr>
          </a:p>
        </p:txBody>
      </p:sp>
      <p:sp>
        <p:nvSpPr>
          <p:cNvPr id="10243" name="Rectangle 2">
            <a:extLst>
              <a:ext uri="{FF2B5EF4-FFF2-40B4-BE49-F238E27FC236}">
                <a16:creationId xmlns:a16="http://schemas.microsoft.com/office/drawing/2014/main" id="{CB8923CC-1F9B-4F90-9AD3-AADFD8424EC8}"/>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AD4FD07B-4588-464E-96BA-EE40F8DB5040}"/>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31">
            <a:extLst>
              <a:ext uri="{FF2B5EF4-FFF2-40B4-BE49-F238E27FC236}">
                <a16:creationId xmlns:a16="http://schemas.microsoft.com/office/drawing/2014/main" id="{043E6277-BE96-43D5-B755-F85F502945EC}"/>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96925" indent="-306388" defTabSz="981075">
              <a:spcBef>
                <a:spcPct val="30000"/>
              </a:spcBef>
              <a:defRPr sz="1200">
                <a:solidFill>
                  <a:schemeClr val="tx1"/>
                </a:solidFill>
                <a:latin typeface="Times New Roman" panose="02020603050405020304" pitchFamily="18" charset="0"/>
              </a:defRPr>
            </a:lvl2pPr>
            <a:lvl3pPr marL="1225550" indent="-244475" defTabSz="981075">
              <a:spcBef>
                <a:spcPct val="30000"/>
              </a:spcBef>
              <a:defRPr sz="1200">
                <a:solidFill>
                  <a:schemeClr val="tx1"/>
                </a:solidFill>
                <a:latin typeface="Times New Roman" panose="02020603050405020304" pitchFamily="18" charset="0"/>
              </a:defRPr>
            </a:lvl3pPr>
            <a:lvl4pPr marL="1716088" indent="-244475" defTabSz="981075">
              <a:spcBef>
                <a:spcPct val="30000"/>
              </a:spcBef>
              <a:defRPr sz="1200">
                <a:solidFill>
                  <a:schemeClr val="tx1"/>
                </a:solidFill>
                <a:latin typeface="Times New Roman" panose="02020603050405020304" pitchFamily="18" charset="0"/>
              </a:defRPr>
            </a:lvl4pPr>
            <a:lvl5pPr marL="2206625" indent="-244475" defTabSz="981075">
              <a:spcBef>
                <a:spcPct val="30000"/>
              </a:spcBef>
              <a:defRPr sz="1200">
                <a:solidFill>
                  <a:schemeClr val="tx1"/>
                </a:solidFill>
                <a:latin typeface="Times New Roman" panose="02020603050405020304" pitchFamily="18" charset="0"/>
              </a:defRPr>
            </a:lvl5pPr>
            <a:lvl6pPr marL="2663825" indent="-244475"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3121025" indent="-244475"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578225" indent="-244475"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4035425" indent="-244475"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E59AEBC-1CD9-4E04-A260-9EFF0A98E3B6}" type="slidenum">
              <a:rPr lang="es-AR" altLang="es-AR" sz="1300" smtClean="0">
                <a:latin typeface="Tahoma" panose="020B0604030504040204" pitchFamily="34" charset="0"/>
              </a:rPr>
              <a:pPr>
                <a:spcBef>
                  <a:spcPct val="0"/>
                </a:spcBef>
              </a:pPr>
              <a:t>3</a:t>
            </a:fld>
            <a:endParaRPr lang="es-AR" altLang="es-AR" sz="1300">
              <a:latin typeface="Tahoma" panose="020B0604030504040204" pitchFamily="34" charset="0"/>
            </a:endParaRPr>
          </a:p>
        </p:txBody>
      </p:sp>
      <p:sp>
        <p:nvSpPr>
          <p:cNvPr id="12291" name="Rectangle 2">
            <a:extLst>
              <a:ext uri="{FF2B5EF4-FFF2-40B4-BE49-F238E27FC236}">
                <a16:creationId xmlns:a16="http://schemas.microsoft.com/office/drawing/2014/main" id="{02FFA8C1-8DB9-4EFB-925E-C0FDE8B90823}"/>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E88406EE-D2FE-4559-BB0D-378411B04E13}"/>
              </a:ext>
            </a:extLst>
          </p:cNvPr>
          <p:cNvSpPr>
            <a:spLocks noGrp="1" noChangeArrowheads="1"/>
          </p:cNvSpPr>
          <p:nvPr>
            <p:ph type="body" idx="1"/>
          </p:nvPr>
        </p:nvSpPr>
        <p:spPr>
          <a:noFill/>
        </p:spPr>
        <p:txBody>
          <a:bodyPr/>
          <a:lstStyle/>
          <a:p>
            <a:pPr eaLnBrk="1" hangingPunct="1"/>
            <a:endParaRPr lang="es-ES" altLang="es-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31">
            <a:extLst>
              <a:ext uri="{FF2B5EF4-FFF2-40B4-BE49-F238E27FC236}">
                <a16:creationId xmlns:a16="http://schemas.microsoft.com/office/drawing/2014/main" id="{B48CFE13-9073-42FC-A0BF-0C0055151E9B}"/>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96925" indent="-306388" defTabSz="981075">
              <a:spcBef>
                <a:spcPct val="30000"/>
              </a:spcBef>
              <a:defRPr sz="1200">
                <a:solidFill>
                  <a:schemeClr val="tx1"/>
                </a:solidFill>
                <a:latin typeface="Times New Roman" panose="02020603050405020304" pitchFamily="18" charset="0"/>
              </a:defRPr>
            </a:lvl2pPr>
            <a:lvl3pPr marL="1225550" indent="-244475" defTabSz="981075">
              <a:spcBef>
                <a:spcPct val="30000"/>
              </a:spcBef>
              <a:defRPr sz="1200">
                <a:solidFill>
                  <a:schemeClr val="tx1"/>
                </a:solidFill>
                <a:latin typeface="Times New Roman" panose="02020603050405020304" pitchFamily="18" charset="0"/>
              </a:defRPr>
            </a:lvl3pPr>
            <a:lvl4pPr marL="1716088" indent="-244475" defTabSz="981075">
              <a:spcBef>
                <a:spcPct val="30000"/>
              </a:spcBef>
              <a:defRPr sz="1200">
                <a:solidFill>
                  <a:schemeClr val="tx1"/>
                </a:solidFill>
                <a:latin typeface="Times New Roman" panose="02020603050405020304" pitchFamily="18" charset="0"/>
              </a:defRPr>
            </a:lvl4pPr>
            <a:lvl5pPr marL="2206625" indent="-244475" defTabSz="981075">
              <a:spcBef>
                <a:spcPct val="30000"/>
              </a:spcBef>
              <a:defRPr sz="1200">
                <a:solidFill>
                  <a:schemeClr val="tx1"/>
                </a:solidFill>
                <a:latin typeface="Times New Roman" panose="02020603050405020304" pitchFamily="18" charset="0"/>
              </a:defRPr>
            </a:lvl5pPr>
            <a:lvl6pPr marL="2663825" indent="-244475"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3121025" indent="-244475"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578225" indent="-244475"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4035425" indent="-244475"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D85B5C7-05D1-40DB-B59C-6398E7204F35}" type="slidenum">
              <a:rPr lang="es-AR" altLang="es-AR" sz="1300" smtClean="0">
                <a:latin typeface="Tahoma" panose="020B0604030504040204" pitchFamily="34" charset="0"/>
              </a:rPr>
              <a:pPr>
                <a:spcBef>
                  <a:spcPct val="0"/>
                </a:spcBef>
              </a:pPr>
              <a:t>5</a:t>
            </a:fld>
            <a:endParaRPr lang="es-AR" altLang="es-AR" sz="1300">
              <a:latin typeface="Tahoma" panose="020B0604030504040204" pitchFamily="34" charset="0"/>
            </a:endParaRPr>
          </a:p>
        </p:txBody>
      </p:sp>
      <p:sp>
        <p:nvSpPr>
          <p:cNvPr id="14339" name="Rectangle 2">
            <a:extLst>
              <a:ext uri="{FF2B5EF4-FFF2-40B4-BE49-F238E27FC236}">
                <a16:creationId xmlns:a16="http://schemas.microsoft.com/office/drawing/2014/main" id="{2678B579-01F1-44FE-A406-7AD5C57AE726}"/>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F8F34E66-81D5-4964-B821-66852C6F9238}"/>
              </a:ext>
            </a:extLst>
          </p:cNvPr>
          <p:cNvSpPr>
            <a:spLocks noGrp="1" noChangeArrowheads="1"/>
          </p:cNvSpPr>
          <p:nvPr>
            <p:ph type="body" idx="1"/>
          </p:nvPr>
        </p:nvSpPr>
        <p:spPr>
          <a:noFill/>
        </p:spPr>
        <p:txBody>
          <a:bodyPr/>
          <a:lstStyle/>
          <a:p>
            <a:pPr eaLnBrk="1" hangingPunct="1"/>
            <a:endParaRPr lang="es-ES" altLang="es-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31">
            <a:extLst>
              <a:ext uri="{FF2B5EF4-FFF2-40B4-BE49-F238E27FC236}">
                <a16:creationId xmlns:a16="http://schemas.microsoft.com/office/drawing/2014/main" id="{A9446733-6691-4876-AEC7-EFC2B03F37AD}"/>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96925" indent="-306388" defTabSz="981075">
              <a:spcBef>
                <a:spcPct val="30000"/>
              </a:spcBef>
              <a:defRPr sz="1200">
                <a:solidFill>
                  <a:schemeClr val="tx1"/>
                </a:solidFill>
                <a:latin typeface="Times New Roman" panose="02020603050405020304" pitchFamily="18" charset="0"/>
              </a:defRPr>
            </a:lvl2pPr>
            <a:lvl3pPr marL="1225550" indent="-244475" defTabSz="981075">
              <a:spcBef>
                <a:spcPct val="30000"/>
              </a:spcBef>
              <a:defRPr sz="1200">
                <a:solidFill>
                  <a:schemeClr val="tx1"/>
                </a:solidFill>
                <a:latin typeface="Times New Roman" panose="02020603050405020304" pitchFamily="18" charset="0"/>
              </a:defRPr>
            </a:lvl3pPr>
            <a:lvl4pPr marL="1716088" indent="-244475" defTabSz="981075">
              <a:spcBef>
                <a:spcPct val="30000"/>
              </a:spcBef>
              <a:defRPr sz="1200">
                <a:solidFill>
                  <a:schemeClr val="tx1"/>
                </a:solidFill>
                <a:latin typeface="Times New Roman" panose="02020603050405020304" pitchFamily="18" charset="0"/>
              </a:defRPr>
            </a:lvl4pPr>
            <a:lvl5pPr marL="2206625" indent="-244475" defTabSz="981075">
              <a:spcBef>
                <a:spcPct val="30000"/>
              </a:spcBef>
              <a:defRPr sz="1200">
                <a:solidFill>
                  <a:schemeClr val="tx1"/>
                </a:solidFill>
                <a:latin typeface="Times New Roman" panose="02020603050405020304" pitchFamily="18" charset="0"/>
              </a:defRPr>
            </a:lvl5pPr>
            <a:lvl6pPr marL="2663825" indent="-244475"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3121025" indent="-244475"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578225" indent="-244475"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4035425" indent="-244475"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C3A3AF6-DE61-4583-B0D2-96E29D34030F}" type="slidenum">
              <a:rPr lang="es-AR" altLang="es-AR" sz="1300" smtClean="0">
                <a:latin typeface="Tahoma" panose="020B0604030504040204" pitchFamily="34" charset="0"/>
              </a:rPr>
              <a:pPr>
                <a:spcBef>
                  <a:spcPct val="0"/>
                </a:spcBef>
              </a:pPr>
              <a:t>6</a:t>
            </a:fld>
            <a:endParaRPr lang="es-AR" altLang="es-AR" sz="1300">
              <a:latin typeface="Tahoma" panose="020B0604030504040204" pitchFamily="34" charset="0"/>
            </a:endParaRPr>
          </a:p>
        </p:txBody>
      </p:sp>
      <p:sp>
        <p:nvSpPr>
          <p:cNvPr id="16387" name="Rectangle 2">
            <a:extLst>
              <a:ext uri="{FF2B5EF4-FFF2-40B4-BE49-F238E27FC236}">
                <a16:creationId xmlns:a16="http://schemas.microsoft.com/office/drawing/2014/main" id="{6D65BDB1-FDD2-4466-9EAE-FD744A2F59A6}"/>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A8AAFF11-C445-45F8-AD80-21E1328FF33E}"/>
              </a:ext>
            </a:extLst>
          </p:cNvPr>
          <p:cNvSpPr>
            <a:spLocks noGrp="1" noChangeArrowheads="1"/>
          </p:cNvSpPr>
          <p:nvPr>
            <p:ph type="body" idx="1"/>
          </p:nvPr>
        </p:nvSpPr>
        <p:spPr>
          <a:noFill/>
        </p:spPr>
        <p:txBody>
          <a:bodyPr/>
          <a:lstStyle/>
          <a:p>
            <a:pPr eaLnBrk="1" hangingPunct="1"/>
            <a:r>
              <a:rPr lang="es-ES" altLang="es-AR"/>
              <a:t>2 – 11</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31">
            <a:extLst>
              <a:ext uri="{FF2B5EF4-FFF2-40B4-BE49-F238E27FC236}">
                <a16:creationId xmlns:a16="http://schemas.microsoft.com/office/drawing/2014/main" id="{201CFAE4-D768-463E-B0E3-ACB68A389DF7}"/>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40960D6-F074-4A98-952F-24B12792BBE6}" type="slidenum">
              <a:rPr lang="es-AR" altLang="es-ES" sz="1300" smtClean="0">
                <a:latin typeface="Tahoma" panose="020B0604030504040204" pitchFamily="34" charset="0"/>
              </a:rPr>
              <a:pPr>
                <a:spcBef>
                  <a:spcPct val="0"/>
                </a:spcBef>
              </a:pPr>
              <a:t>8</a:t>
            </a:fld>
            <a:endParaRPr lang="es-AR" altLang="es-ES" sz="1300">
              <a:latin typeface="Tahoma" panose="020B0604030504040204" pitchFamily="34" charset="0"/>
            </a:endParaRPr>
          </a:p>
        </p:txBody>
      </p:sp>
      <p:sp>
        <p:nvSpPr>
          <p:cNvPr id="18435" name="Rectangle 2">
            <a:extLst>
              <a:ext uri="{FF2B5EF4-FFF2-40B4-BE49-F238E27FC236}">
                <a16:creationId xmlns:a16="http://schemas.microsoft.com/office/drawing/2014/main" id="{393FA144-0669-4B10-A464-A8240CDEB5FB}"/>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125A2505-A455-4D38-9803-C225FEE0A080}"/>
              </a:ext>
            </a:extLst>
          </p:cNvPr>
          <p:cNvSpPr>
            <a:spLocks noGrp="1" noChangeArrowheads="1"/>
          </p:cNvSpPr>
          <p:nvPr>
            <p:ph type="body" idx="1"/>
          </p:nvPr>
        </p:nvSpPr>
        <p:spPr>
          <a:noFill/>
        </p:spPr>
        <p:txBody>
          <a:bodyPr/>
          <a:lstStyle/>
          <a:p>
            <a:pPr eaLnBrk="1" hangingPunct="1"/>
            <a:r>
              <a:rPr lang="es-ES" altLang="es-ES"/>
              <a:t>5 – 16 minutos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031">
            <a:extLst>
              <a:ext uri="{FF2B5EF4-FFF2-40B4-BE49-F238E27FC236}">
                <a16:creationId xmlns:a16="http://schemas.microsoft.com/office/drawing/2014/main" id="{50C387D1-D95D-4AA2-A418-6D9DB9C3A6D3}"/>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50165D4-F891-4EB0-9623-D8B7F388BD3B}" type="slidenum">
              <a:rPr lang="es-AR" altLang="es-ES" sz="1300" smtClean="0">
                <a:latin typeface="Tahoma" panose="020B0604030504040204" pitchFamily="34" charset="0"/>
              </a:rPr>
              <a:pPr>
                <a:spcBef>
                  <a:spcPct val="0"/>
                </a:spcBef>
              </a:pPr>
              <a:t>9</a:t>
            </a:fld>
            <a:endParaRPr lang="es-AR" altLang="es-ES" sz="1300">
              <a:latin typeface="Tahoma" panose="020B0604030504040204" pitchFamily="34" charset="0"/>
            </a:endParaRPr>
          </a:p>
        </p:txBody>
      </p:sp>
      <p:sp>
        <p:nvSpPr>
          <p:cNvPr id="20483" name="Rectangle 2">
            <a:extLst>
              <a:ext uri="{FF2B5EF4-FFF2-40B4-BE49-F238E27FC236}">
                <a16:creationId xmlns:a16="http://schemas.microsoft.com/office/drawing/2014/main" id="{99707119-28D7-4279-B2C2-C1151C2F536C}"/>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D9E99AA2-C508-4302-93E6-F200B7143B5C}"/>
              </a:ext>
            </a:extLst>
          </p:cNvPr>
          <p:cNvSpPr>
            <a:spLocks noGrp="1" noChangeArrowheads="1"/>
          </p:cNvSpPr>
          <p:nvPr>
            <p:ph type="body" idx="1"/>
          </p:nvPr>
        </p:nvSpPr>
        <p:spPr>
          <a:noFill/>
        </p:spPr>
        <p:txBody>
          <a:bodyPr/>
          <a:lstStyle/>
          <a:p>
            <a:pPr eaLnBrk="1" hangingPunct="1"/>
            <a:r>
              <a:rPr lang="es-ES" altLang="es-ES"/>
              <a:t>4 – 19 minutos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31">
            <a:extLst>
              <a:ext uri="{FF2B5EF4-FFF2-40B4-BE49-F238E27FC236}">
                <a16:creationId xmlns:a16="http://schemas.microsoft.com/office/drawing/2014/main" id="{BE435A2D-B04E-4996-A236-F81A101A32C7}"/>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56E7CB0-7C9B-4DFA-875C-D6015CCD798E}" type="slidenum">
              <a:rPr lang="es-AR" altLang="es-ES" sz="1300" smtClean="0">
                <a:latin typeface="Tahoma" panose="020B0604030504040204" pitchFamily="34" charset="0"/>
              </a:rPr>
              <a:pPr>
                <a:spcBef>
                  <a:spcPct val="0"/>
                </a:spcBef>
              </a:pPr>
              <a:t>10</a:t>
            </a:fld>
            <a:endParaRPr lang="es-AR" altLang="es-ES" sz="1300">
              <a:latin typeface="Tahoma" panose="020B0604030504040204" pitchFamily="34" charset="0"/>
            </a:endParaRPr>
          </a:p>
        </p:txBody>
      </p:sp>
      <p:sp>
        <p:nvSpPr>
          <p:cNvPr id="22531" name="Rectangle 2">
            <a:extLst>
              <a:ext uri="{FF2B5EF4-FFF2-40B4-BE49-F238E27FC236}">
                <a16:creationId xmlns:a16="http://schemas.microsoft.com/office/drawing/2014/main" id="{636EC830-8DFC-4784-81F5-DA133A346417}"/>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1D0734E7-0EB1-41D7-BB39-5DF2688E5044}"/>
              </a:ext>
            </a:extLst>
          </p:cNvPr>
          <p:cNvSpPr>
            <a:spLocks noGrp="1" noChangeArrowheads="1"/>
          </p:cNvSpPr>
          <p:nvPr>
            <p:ph type="body" idx="1"/>
          </p:nvPr>
        </p:nvSpPr>
        <p:spPr>
          <a:noFill/>
        </p:spPr>
        <p:txBody>
          <a:bodyPr/>
          <a:lstStyle/>
          <a:p>
            <a:pPr eaLnBrk="1" hangingPunct="1"/>
            <a:r>
              <a:rPr lang="es-ES" altLang="es-ES"/>
              <a:t>3 – 22minutos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31">
            <a:extLst>
              <a:ext uri="{FF2B5EF4-FFF2-40B4-BE49-F238E27FC236}">
                <a16:creationId xmlns:a16="http://schemas.microsoft.com/office/drawing/2014/main" id="{FCB4BE40-CCAA-47D8-A582-513847BC2EF5}"/>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1492D2E-BED5-4B0D-AFF6-E0FBB286443C}" type="slidenum">
              <a:rPr lang="es-AR" altLang="es-ES" sz="1300" smtClean="0">
                <a:latin typeface="Tahoma" panose="020B0604030504040204" pitchFamily="34" charset="0"/>
              </a:rPr>
              <a:pPr>
                <a:spcBef>
                  <a:spcPct val="0"/>
                </a:spcBef>
              </a:pPr>
              <a:t>11</a:t>
            </a:fld>
            <a:endParaRPr lang="es-AR" altLang="es-ES" sz="1300">
              <a:latin typeface="Tahoma" panose="020B0604030504040204" pitchFamily="34" charset="0"/>
            </a:endParaRPr>
          </a:p>
        </p:txBody>
      </p:sp>
      <p:sp>
        <p:nvSpPr>
          <p:cNvPr id="24579" name="Rectangle 2">
            <a:extLst>
              <a:ext uri="{FF2B5EF4-FFF2-40B4-BE49-F238E27FC236}">
                <a16:creationId xmlns:a16="http://schemas.microsoft.com/office/drawing/2014/main" id="{D74AA38F-3CC4-43E4-B19C-DAFA6996332B}"/>
              </a:ext>
            </a:extLst>
          </p:cNvPr>
          <p:cNvSpPr>
            <a:spLocks noGrp="1" noRot="1" noChangeAspect="1" noChangeArrowheads="1" noTextEdit="1"/>
          </p:cNvSpPr>
          <p:nvPr>
            <p:ph type="sldImg"/>
          </p:nvPr>
        </p:nvSpPr>
        <p:spPr>
          <a:ln/>
        </p:spPr>
      </p:sp>
      <p:sp>
        <p:nvSpPr>
          <p:cNvPr id="24580" name="Rectangle 3">
            <a:extLst>
              <a:ext uri="{FF2B5EF4-FFF2-40B4-BE49-F238E27FC236}">
                <a16:creationId xmlns:a16="http://schemas.microsoft.com/office/drawing/2014/main" id="{E348F803-B250-4F52-9DF8-A71EC56960DC}"/>
              </a:ext>
            </a:extLst>
          </p:cNvPr>
          <p:cNvSpPr>
            <a:spLocks noGrp="1" noChangeArrowheads="1"/>
          </p:cNvSpPr>
          <p:nvPr>
            <p:ph type="body" idx="1"/>
          </p:nvPr>
        </p:nvSpPr>
        <p:spPr>
          <a:noFill/>
        </p:spPr>
        <p:txBody>
          <a:bodyPr/>
          <a:lstStyle/>
          <a:p>
            <a:pPr eaLnBrk="1" hangingPunct="1"/>
            <a:r>
              <a:rPr lang="es-ES" altLang="es-ES"/>
              <a:t>5 minutos - 31</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Marcador de imagen de diapositiva">
            <a:extLst>
              <a:ext uri="{FF2B5EF4-FFF2-40B4-BE49-F238E27FC236}">
                <a16:creationId xmlns:a16="http://schemas.microsoft.com/office/drawing/2014/main" id="{CB268799-1225-4CCA-97CF-28BEDF333436}"/>
              </a:ext>
            </a:extLst>
          </p:cNvPr>
          <p:cNvSpPr>
            <a:spLocks noGrp="1" noRot="1" noChangeAspect="1" noTextEdit="1"/>
          </p:cNvSpPr>
          <p:nvPr>
            <p:ph type="sldImg"/>
          </p:nvPr>
        </p:nvSpPr>
        <p:spPr>
          <a:ln/>
        </p:spPr>
      </p:sp>
      <p:sp>
        <p:nvSpPr>
          <p:cNvPr id="26627" name="2 Marcador de notas">
            <a:extLst>
              <a:ext uri="{FF2B5EF4-FFF2-40B4-BE49-F238E27FC236}">
                <a16:creationId xmlns:a16="http://schemas.microsoft.com/office/drawing/2014/main" id="{1E1708CC-B362-43DD-A803-04AFC8DF4BFB}"/>
              </a:ext>
            </a:extLst>
          </p:cNvPr>
          <p:cNvSpPr>
            <a:spLocks noGrp="1"/>
          </p:cNvSpPr>
          <p:nvPr>
            <p:ph type="body" idx="1"/>
          </p:nvPr>
        </p:nvSpPr>
        <p:spPr>
          <a:noFill/>
        </p:spPr>
        <p:txBody>
          <a:bodyPr/>
          <a:lstStyle/>
          <a:p>
            <a:r>
              <a:rPr lang="es-ES" altLang="es-AR"/>
              <a:t>3 minutos - 34</a:t>
            </a:r>
          </a:p>
        </p:txBody>
      </p:sp>
      <p:sp>
        <p:nvSpPr>
          <p:cNvPr id="26628" name="3 Marcador de número de diapositiva">
            <a:extLst>
              <a:ext uri="{FF2B5EF4-FFF2-40B4-BE49-F238E27FC236}">
                <a16:creationId xmlns:a16="http://schemas.microsoft.com/office/drawing/2014/main" id="{900C9F4E-AF09-4AC3-AE50-2E8DB6892883}"/>
              </a:ext>
            </a:extLst>
          </p:cNvPr>
          <p:cNvSpPr>
            <a:spLocks noGrp="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512AAF4-D80A-40B3-8AFE-597BAB32ECD4}" type="slidenum">
              <a:rPr lang="es-AR" altLang="es-AR" sz="1300" smtClean="0">
                <a:latin typeface="Tahoma" panose="020B0604030504040204" pitchFamily="34" charset="0"/>
              </a:rPr>
              <a:pPr>
                <a:spcBef>
                  <a:spcPct val="0"/>
                </a:spcBef>
              </a:pPr>
              <a:t>12</a:t>
            </a:fld>
            <a:endParaRPr lang="es-AR" altLang="es-AR" sz="1300">
              <a:latin typeface="Tahoma" panose="020B060403050404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Marcador de imagen de diapositiva">
            <a:extLst>
              <a:ext uri="{FF2B5EF4-FFF2-40B4-BE49-F238E27FC236}">
                <a16:creationId xmlns:a16="http://schemas.microsoft.com/office/drawing/2014/main" id="{D60E566E-B680-4E4E-A3E1-20F573BD45F6}"/>
              </a:ext>
            </a:extLst>
          </p:cNvPr>
          <p:cNvSpPr>
            <a:spLocks noGrp="1" noRot="1" noChangeAspect="1" noTextEdit="1"/>
          </p:cNvSpPr>
          <p:nvPr>
            <p:ph type="sldImg"/>
          </p:nvPr>
        </p:nvSpPr>
        <p:spPr>
          <a:ln/>
        </p:spPr>
      </p:sp>
      <p:sp>
        <p:nvSpPr>
          <p:cNvPr id="28675" name="2 Marcador de notas">
            <a:extLst>
              <a:ext uri="{FF2B5EF4-FFF2-40B4-BE49-F238E27FC236}">
                <a16:creationId xmlns:a16="http://schemas.microsoft.com/office/drawing/2014/main" id="{3F8A6DE3-230D-49AE-8065-B6AB1360670A}"/>
              </a:ext>
            </a:extLst>
          </p:cNvPr>
          <p:cNvSpPr>
            <a:spLocks noGrp="1"/>
          </p:cNvSpPr>
          <p:nvPr>
            <p:ph type="body" idx="1"/>
          </p:nvPr>
        </p:nvSpPr>
        <p:spPr>
          <a:noFill/>
        </p:spPr>
        <p:txBody>
          <a:bodyPr/>
          <a:lstStyle/>
          <a:p>
            <a:endParaRPr lang="es-ES" altLang="es-AR"/>
          </a:p>
        </p:txBody>
      </p:sp>
      <p:sp>
        <p:nvSpPr>
          <p:cNvPr id="28676" name="3 Marcador de número de diapositiva">
            <a:extLst>
              <a:ext uri="{FF2B5EF4-FFF2-40B4-BE49-F238E27FC236}">
                <a16:creationId xmlns:a16="http://schemas.microsoft.com/office/drawing/2014/main" id="{8694A4E7-0A5B-4E47-B728-0C606250BE13}"/>
              </a:ext>
            </a:extLst>
          </p:cNvPr>
          <p:cNvSpPr>
            <a:spLocks noGrp="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2FD4023-B5AF-49E6-B8EC-6955F87A531C}" type="slidenum">
              <a:rPr lang="es-AR" altLang="es-AR" sz="1300" smtClean="0">
                <a:latin typeface="Tahoma" panose="020B0604030504040204" pitchFamily="34" charset="0"/>
              </a:rPr>
              <a:pPr>
                <a:spcBef>
                  <a:spcPct val="0"/>
                </a:spcBef>
              </a:pPr>
              <a:t>13</a:t>
            </a:fld>
            <a:endParaRPr lang="es-AR" altLang="es-AR" sz="1300">
              <a:latin typeface="Tahom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1 Marcador de imagen de diapositiva">
            <a:extLst>
              <a:ext uri="{FF2B5EF4-FFF2-40B4-BE49-F238E27FC236}">
                <a16:creationId xmlns:a16="http://schemas.microsoft.com/office/drawing/2014/main" id="{D60E566E-B680-4E4E-A3E1-20F573BD45F6}"/>
              </a:ext>
            </a:extLst>
          </p:cNvPr>
          <p:cNvSpPr>
            <a:spLocks noGrp="1" noRot="1" noChangeAspect="1" noTextEdit="1"/>
          </p:cNvSpPr>
          <p:nvPr>
            <p:ph type="sldImg"/>
          </p:nvPr>
        </p:nvSpPr>
        <p:spPr>
          <a:ln/>
        </p:spPr>
      </p:sp>
      <p:sp>
        <p:nvSpPr>
          <p:cNvPr id="28675" name="2 Marcador de notas">
            <a:extLst>
              <a:ext uri="{FF2B5EF4-FFF2-40B4-BE49-F238E27FC236}">
                <a16:creationId xmlns:a16="http://schemas.microsoft.com/office/drawing/2014/main" id="{3F8A6DE3-230D-49AE-8065-B6AB1360670A}"/>
              </a:ext>
            </a:extLst>
          </p:cNvPr>
          <p:cNvSpPr>
            <a:spLocks noGrp="1"/>
          </p:cNvSpPr>
          <p:nvPr>
            <p:ph type="body" idx="1"/>
          </p:nvPr>
        </p:nvSpPr>
        <p:spPr>
          <a:noFill/>
        </p:spPr>
        <p:txBody>
          <a:bodyPr/>
          <a:lstStyle/>
          <a:p>
            <a:endParaRPr lang="es-ES" altLang="es-AR"/>
          </a:p>
        </p:txBody>
      </p:sp>
      <p:sp>
        <p:nvSpPr>
          <p:cNvPr id="28676" name="3 Marcador de número de diapositiva">
            <a:extLst>
              <a:ext uri="{FF2B5EF4-FFF2-40B4-BE49-F238E27FC236}">
                <a16:creationId xmlns:a16="http://schemas.microsoft.com/office/drawing/2014/main" id="{8694A4E7-0A5B-4E47-B728-0C606250BE13}"/>
              </a:ext>
            </a:extLst>
          </p:cNvPr>
          <p:cNvSpPr>
            <a:spLocks noGrp="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2FD4023-B5AF-49E6-B8EC-6955F87A531C}" type="slidenum">
              <a:rPr lang="es-AR" altLang="es-AR" sz="1300" smtClean="0">
                <a:latin typeface="Tahoma" panose="020B0604030504040204" pitchFamily="34" charset="0"/>
              </a:rPr>
              <a:pPr>
                <a:spcBef>
                  <a:spcPct val="0"/>
                </a:spcBef>
              </a:pPr>
              <a:t>14</a:t>
            </a:fld>
            <a:endParaRPr lang="es-AR" altLang="es-AR" sz="1300">
              <a:latin typeface="Tahom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1 Marcador de imagen de diapositiva">
            <a:extLst>
              <a:ext uri="{FF2B5EF4-FFF2-40B4-BE49-F238E27FC236}">
                <a16:creationId xmlns:a16="http://schemas.microsoft.com/office/drawing/2014/main" id="{7691F278-41F7-47C7-AD43-CABE9C3C75D9}"/>
              </a:ext>
            </a:extLst>
          </p:cNvPr>
          <p:cNvSpPr>
            <a:spLocks noGrp="1" noRot="1" noChangeAspect="1" noTextEdit="1"/>
          </p:cNvSpPr>
          <p:nvPr>
            <p:ph type="sldImg"/>
          </p:nvPr>
        </p:nvSpPr>
        <p:spPr>
          <a:ln/>
        </p:spPr>
      </p:sp>
      <p:sp>
        <p:nvSpPr>
          <p:cNvPr id="31747" name="2 Marcador de notas">
            <a:extLst>
              <a:ext uri="{FF2B5EF4-FFF2-40B4-BE49-F238E27FC236}">
                <a16:creationId xmlns:a16="http://schemas.microsoft.com/office/drawing/2014/main" id="{EF2D5050-6CA8-41A6-ACD2-6E8D5BD18697}"/>
              </a:ext>
            </a:extLst>
          </p:cNvPr>
          <p:cNvSpPr>
            <a:spLocks noGrp="1"/>
          </p:cNvSpPr>
          <p:nvPr>
            <p:ph type="body" idx="1"/>
          </p:nvPr>
        </p:nvSpPr>
        <p:spPr>
          <a:noFill/>
        </p:spPr>
        <p:txBody>
          <a:bodyPr/>
          <a:lstStyle/>
          <a:p>
            <a:endParaRPr lang="es-ES" altLang="es-AR"/>
          </a:p>
        </p:txBody>
      </p:sp>
      <p:sp>
        <p:nvSpPr>
          <p:cNvPr id="31748" name="3 Marcador de número de diapositiva">
            <a:extLst>
              <a:ext uri="{FF2B5EF4-FFF2-40B4-BE49-F238E27FC236}">
                <a16:creationId xmlns:a16="http://schemas.microsoft.com/office/drawing/2014/main" id="{85A51A40-0FB4-4E68-B37E-4830FEC26520}"/>
              </a:ext>
            </a:extLst>
          </p:cNvPr>
          <p:cNvSpPr>
            <a:spLocks noGrp="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05CF621-3CDC-47B6-B5ED-81328B140AF6}" type="slidenum">
              <a:rPr lang="es-AR" altLang="es-AR" sz="1300" smtClean="0">
                <a:latin typeface="Tahoma" panose="020B0604030504040204" pitchFamily="34" charset="0"/>
              </a:rPr>
              <a:pPr>
                <a:spcBef>
                  <a:spcPct val="0"/>
                </a:spcBef>
              </a:pPr>
              <a:t>16</a:t>
            </a:fld>
            <a:endParaRPr lang="es-AR" altLang="es-AR" sz="1300">
              <a:latin typeface="Tahoma" panose="020B060403050404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031">
            <a:extLst>
              <a:ext uri="{FF2B5EF4-FFF2-40B4-BE49-F238E27FC236}">
                <a16:creationId xmlns:a16="http://schemas.microsoft.com/office/drawing/2014/main" id="{61CD3884-913E-43A2-BA76-79EC0528AB38}"/>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07027C8-8C3D-4B07-AEC8-F0151E4E6E7B}" type="slidenum">
              <a:rPr lang="es-AR" altLang="es-ES" sz="1300" smtClean="0">
                <a:latin typeface="Tahoma" panose="020B0604030504040204" pitchFamily="34" charset="0"/>
              </a:rPr>
              <a:pPr>
                <a:spcBef>
                  <a:spcPct val="0"/>
                </a:spcBef>
              </a:pPr>
              <a:t>17</a:t>
            </a:fld>
            <a:endParaRPr lang="es-AR" altLang="es-ES" sz="1300">
              <a:latin typeface="Tahoma" panose="020B0604030504040204" pitchFamily="34" charset="0"/>
            </a:endParaRPr>
          </a:p>
        </p:txBody>
      </p:sp>
      <p:sp>
        <p:nvSpPr>
          <p:cNvPr id="33795" name="Rectangle 2">
            <a:extLst>
              <a:ext uri="{FF2B5EF4-FFF2-40B4-BE49-F238E27FC236}">
                <a16:creationId xmlns:a16="http://schemas.microsoft.com/office/drawing/2014/main" id="{B0D602A2-0653-469B-9A4B-23892301771C}"/>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688CE197-3376-470C-AC71-26533B284C6D}"/>
              </a:ext>
            </a:extLst>
          </p:cNvPr>
          <p:cNvSpPr>
            <a:spLocks noGrp="1" noChangeArrowheads="1"/>
          </p:cNvSpPr>
          <p:nvPr>
            <p:ph type="body" idx="1"/>
          </p:nvPr>
        </p:nvSpPr>
        <p:spPr>
          <a:noFill/>
        </p:spPr>
        <p:txBody>
          <a:bodyPr/>
          <a:lstStyle/>
          <a:p>
            <a:pPr eaLnBrk="1" hangingPunct="1"/>
            <a:r>
              <a:rPr lang="es-ES" altLang="es-ES"/>
              <a:t>4 – 26 minutos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31">
            <a:extLst>
              <a:ext uri="{FF2B5EF4-FFF2-40B4-BE49-F238E27FC236}">
                <a16:creationId xmlns:a16="http://schemas.microsoft.com/office/drawing/2014/main" id="{B5446B6A-80BA-4650-963B-C4F2CA3BCCC2}"/>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C1BA365-824D-45EC-A40A-C4E7F2751260}" type="slidenum">
              <a:rPr lang="es-AR" altLang="es-ES" sz="1300" smtClean="0">
                <a:latin typeface="Tahoma" panose="020B0604030504040204" pitchFamily="34" charset="0"/>
              </a:rPr>
              <a:pPr>
                <a:spcBef>
                  <a:spcPct val="0"/>
                </a:spcBef>
              </a:pPr>
              <a:t>18</a:t>
            </a:fld>
            <a:endParaRPr lang="es-AR" altLang="es-ES" sz="1300">
              <a:latin typeface="Tahoma" panose="020B0604030504040204" pitchFamily="34" charset="0"/>
            </a:endParaRPr>
          </a:p>
        </p:txBody>
      </p:sp>
      <p:sp>
        <p:nvSpPr>
          <p:cNvPr id="35843" name="Rectangle 2">
            <a:extLst>
              <a:ext uri="{FF2B5EF4-FFF2-40B4-BE49-F238E27FC236}">
                <a16:creationId xmlns:a16="http://schemas.microsoft.com/office/drawing/2014/main" id="{6FADFCDD-37D9-4144-B030-37EB69336CBD}"/>
              </a:ext>
            </a:extLst>
          </p:cNvPr>
          <p:cNvSpPr>
            <a:spLocks noGrp="1" noRot="1" noChangeAspect="1" noChangeArrowheads="1" noTextEdit="1"/>
          </p:cNvSpPr>
          <p:nvPr>
            <p:ph type="sldImg"/>
          </p:nvPr>
        </p:nvSpPr>
        <p:spPr>
          <a:ln/>
        </p:spPr>
      </p:sp>
      <p:sp>
        <p:nvSpPr>
          <p:cNvPr id="35844" name="Rectangle 3">
            <a:extLst>
              <a:ext uri="{FF2B5EF4-FFF2-40B4-BE49-F238E27FC236}">
                <a16:creationId xmlns:a16="http://schemas.microsoft.com/office/drawing/2014/main" id="{AAFADFB0-7C3B-4927-9677-76419C37FAC9}"/>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a:extLst>
              <a:ext uri="{FF2B5EF4-FFF2-40B4-BE49-F238E27FC236}">
                <a16:creationId xmlns:a16="http://schemas.microsoft.com/office/drawing/2014/main" id="{736D094E-E024-4FEA-BABF-2F604671D427}"/>
              </a:ext>
            </a:extLst>
          </p:cNvPr>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115" tIns="49058" rIns="98115" bIns="49058" anchor="b"/>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B15EED21-2EBC-4D49-B840-09AEBCC09B10}" type="slidenum">
              <a:rPr lang="es-AR" altLang="es-ES" sz="1300">
                <a:latin typeface="Tahoma" panose="020B0604030504040204" pitchFamily="34" charset="0"/>
              </a:rPr>
              <a:pPr algn="r" eaLnBrk="1" hangingPunct="1">
                <a:spcBef>
                  <a:spcPct val="0"/>
                </a:spcBef>
              </a:pPr>
              <a:t>19</a:t>
            </a:fld>
            <a:endParaRPr lang="es-AR" altLang="es-ES" sz="1300">
              <a:latin typeface="Tahoma" panose="020B0604030504040204" pitchFamily="34" charset="0"/>
            </a:endParaRPr>
          </a:p>
        </p:txBody>
      </p:sp>
      <p:sp>
        <p:nvSpPr>
          <p:cNvPr id="37891" name="Rectangle 2">
            <a:extLst>
              <a:ext uri="{FF2B5EF4-FFF2-40B4-BE49-F238E27FC236}">
                <a16:creationId xmlns:a16="http://schemas.microsoft.com/office/drawing/2014/main" id="{C4C235A8-A75A-4B74-A084-E032FEE79D43}"/>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2C34654C-F3C5-4491-80C1-86FC36A4A47F}"/>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a:extLst>
              <a:ext uri="{FF2B5EF4-FFF2-40B4-BE49-F238E27FC236}">
                <a16:creationId xmlns:a16="http://schemas.microsoft.com/office/drawing/2014/main" id="{F1DE91C9-BCDD-4275-A649-29D69F7E5D57}"/>
              </a:ext>
            </a:extLst>
          </p:cNvPr>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115" tIns="49058" rIns="98115" bIns="49058" anchor="b"/>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5E151BC7-3A31-4F15-B5A3-91F961D2306B}" type="slidenum">
              <a:rPr lang="es-AR" altLang="es-ES" sz="1300">
                <a:latin typeface="Tahoma" panose="020B0604030504040204" pitchFamily="34" charset="0"/>
              </a:rPr>
              <a:pPr algn="r" eaLnBrk="1" hangingPunct="1">
                <a:spcBef>
                  <a:spcPct val="0"/>
                </a:spcBef>
              </a:pPr>
              <a:t>20</a:t>
            </a:fld>
            <a:endParaRPr lang="es-AR" altLang="es-ES" sz="1300">
              <a:latin typeface="Tahoma" panose="020B0604030504040204" pitchFamily="34" charset="0"/>
            </a:endParaRPr>
          </a:p>
        </p:txBody>
      </p:sp>
      <p:sp>
        <p:nvSpPr>
          <p:cNvPr id="39939" name="Rectangle 2">
            <a:extLst>
              <a:ext uri="{FF2B5EF4-FFF2-40B4-BE49-F238E27FC236}">
                <a16:creationId xmlns:a16="http://schemas.microsoft.com/office/drawing/2014/main" id="{C983B0B1-DB9B-44F7-8508-C67EB9F570AF}"/>
              </a:ext>
            </a:extLst>
          </p:cNvPr>
          <p:cNvSpPr>
            <a:spLocks noGrp="1" noRot="1" noChangeAspect="1" noChangeArrowheads="1" noTextEdit="1"/>
          </p:cNvSpPr>
          <p:nvPr>
            <p:ph type="sldImg"/>
          </p:nvPr>
        </p:nvSpPr>
        <p:spPr>
          <a:ln/>
        </p:spPr>
      </p:sp>
      <p:sp>
        <p:nvSpPr>
          <p:cNvPr id="39940" name="Rectangle 3">
            <a:extLst>
              <a:ext uri="{FF2B5EF4-FFF2-40B4-BE49-F238E27FC236}">
                <a16:creationId xmlns:a16="http://schemas.microsoft.com/office/drawing/2014/main" id="{45039C72-36EA-4AA2-BFD5-DAE96166F28F}"/>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a:extLst>
              <a:ext uri="{FF2B5EF4-FFF2-40B4-BE49-F238E27FC236}">
                <a16:creationId xmlns:a16="http://schemas.microsoft.com/office/drawing/2014/main" id="{568D462C-2547-48CD-B5E5-3FF9985788B6}"/>
              </a:ext>
            </a:extLst>
          </p:cNvPr>
          <p:cNvSpPr txBox="1">
            <a:spLocks noGrp="1" noChangeArrowheads="1"/>
          </p:cNvSpPr>
          <p:nvPr/>
        </p:nvSpPr>
        <p:spPr bwMode="auto">
          <a:xfrm>
            <a:off x="4022725" y="9721850"/>
            <a:ext cx="3076575"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115" tIns="49058" rIns="98115" bIns="49058" anchor="b"/>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lgn="r" eaLnBrk="1" hangingPunct="1">
              <a:spcBef>
                <a:spcPct val="0"/>
              </a:spcBef>
            </a:pPr>
            <a:fld id="{D886A0D4-CA28-47DD-9E39-C3A23AC5AE3B}" type="slidenum">
              <a:rPr lang="es-AR" altLang="es-ES" sz="1300">
                <a:latin typeface="Tahoma" panose="020B0604030504040204" pitchFamily="34" charset="0"/>
              </a:rPr>
              <a:pPr algn="r" eaLnBrk="1" hangingPunct="1">
                <a:spcBef>
                  <a:spcPct val="0"/>
                </a:spcBef>
              </a:pPr>
              <a:t>21</a:t>
            </a:fld>
            <a:endParaRPr lang="es-AR" altLang="es-ES" sz="1300">
              <a:latin typeface="Tahoma" panose="020B0604030504040204" pitchFamily="34" charset="0"/>
            </a:endParaRPr>
          </a:p>
        </p:txBody>
      </p:sp>
      <p:sp>
        <p:nvSpPr>
          <p:cNvPr id="41987" name="Rectangle 2">
            <a:extLst>
              <a:ext uri="{FF2B5EF4-FFF2-40B4-BE49-F238E27FC236}">
                <a16:creationId xmlns:a16="http://schemas.microsoft.com/office/drawing/2014/main" id="{C5B3C7CF-0A54-49D8-B8BD-9D393350EE87}"/>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638B1F26-A1BC-4BE2-9CA8-E25DAE99465C}"/>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31">
            <a:extLst>
              <a:ext uri="{FF2B5EF4-FFF2-40B4-BE49-F238E27FC236}">
                <a16:creationId xmlns:a16="http://schemas.microsoft.com/office/drawing/2014/main" id="{4E2AE0DB-AE8A-4C99-AE6E-3E9A252CE580}"/>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1E9531-915D-4CC7-80E2-95F75EA14DEE}" type="slidenum">
              <a:rPr lang="es-AR" altLang="es-ES" sz="1300" smtClean="0">
                <a:latin typeface="Tahoma" panose="020B0604030504040204" pitchFamily="34" charset="0"/>
              </a:rPr>
              <a:pPr>
                <a:spcBef>
                  <a:spcPct val="0"/>
                </a:spcBef>
              </a:pPr>
              <a:t>22</a:t>
            </a:fld>
            <a:endParaRPr lang="es-AR" altLang="es-ES" sz="1300">
              <a:latin typeface="Tahoma" panose="020B0604030504040204" pitchFamily="34" charset="0"/>
            </a:endParaRPr>
          </a:p>
        </p:txBody>
      </p:sp>
      <p:sp>
        <p:nvSpPr>
          <p:cNvPr id="10243" name="Rectangle 2">
            <a:extLst>
              <a:ext uri="{FF2B5EF4-FFF2-40B4-BE49-F238E27FC236}">
                <a16:creationId xmlns:a16="http://schemas.microsoft.com/office/drawing/2014/main" id="{CB8923CC-1F9B-4F90-9AD3-AADFD8424EC8}"/>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AD4FD07B-4588-464E-96BA-EE40F8DB5040}"/>
              </a:ext>
            </a:extLst>
          </p:cNvPr>
          <p:cNvSpPr>
            <a:spLocks noGrp="1" noChangeArrowheads="1"/>
          </p:cNvSpPr>
          <p:nvPr>
            <p:ph type="body" idx="1"/>
          </p:nvPr>
        </p:nvSpPr>
        <p:spPr>
          <a:noFill/>
        </p:spPr>
        <p:txBody>
          <a:bodyPr/>
          <a:lstStyle/>
          <a:p>
            <a:pPr eaLnBrk="1" hangingPunct="1"/>
            <a:endParaRPr lang="es-ES" altLang="es-ES"/>
          </a:p>
        </p:txBody>
      </p:sp>
    </p:spTree>
    <p:extLst>
      <p:ext uri="{BB962C8B-B14F-4D97-AF65-F5344CB8AC3E}">
        <p14:creationId xmlns:p14="http://schemas.microsoft.com/office/powerpoint/2010/main" val="3003191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31">
            <a:extLst>
              <a:ext uri="{FF2B5EF4-FFF2-40B4-BE49-F238E27FC236}">
                <a16:creationId xmlns:a16="http://schemas.microsoft.com/office/drawing/2014/main" id="{4E2AE0DB-AE8A-4C99-AE6E-3E9A252CE580}"/>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11E9531-915D-4CC7-80E2-95F75EA14DEE}" type="slidenum">
              <a:rPr lang="es-AR" altLang="es-ES" sz="1300" smtClean="0">
                <a:latin typeface="Tahoma" panose="020B0604030504040204" pitchFamily="34" charset="0"/>
              </a:rPr>
              <a:pPr>
                <a:spcBef>
                  <a:spcPct val="0"/>
                </a:spcBef>
              </a:pPr>
              <a:t>23</a:t>
            </a:fld>
            <a:endParaRPr lang="es-AR" altLang="es-ES" sz="1300">
              <a:latin typeface="Tahoma" panose="020B0604030504040204" pitchFamily="34" charset="0"/>
            </a:endParaRPr>
          </a:p>
        </p:txBody>
      </p:sp>
      <p:sp>
        <p:nvSpPr>
          <p:cNvPr id="10243" name="Rectangle 2">
            <a:extLst>
              <a:ext uri="{FF2B5EF4-FFF2-40B4-BE49-F238E27FC236}">
                <a16:creationId xmlns:a16="http://schemas.microsoft.com/office/drawing/2014/main" id="{CB8923CC-1F9B-4F90-9AD3-AADFD8424EC8}"/>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AD4FD07B-4588-464E-96BA-EE40F8DB5040}"/>
              </a:ext>
            </a:extLst>
          </p:cNvPr>
          <p:cNvSpPr>
            <a:spLocks noGrp="1" noChangeArrowheads="1"/>
          </p:cNvSpPr>
          <p:nvPr>
            <p:ph type="body" idx="1"/>
          </p:nvPr>
        </p:nvSpPr>
        <p:spPr>
          <a:noFill/>
        </p:spPr>
        <p:txBody>
          <a:bodyPr/>
          <a:lstStyle/>
          <a:p>
            <a:pPr eaLnBrk="1" hangingPunct="1"/>
            <a:endParaRPr lang="es-ES" altLang="es-ES"/>
          </a:p>
        </p:txBody>
      </p:sp>
    </p:spTree>
    <p:extLst>
      <p:ext uri="{BB962C8B-B14F-4D97-AF65-F5344CB8AC3E}">
        <p14:creationId xmlns:p14="http://schemas.microsoft.com/office/powerpoint/2010/main" val="34152807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a:extLst>
              <a:ext uri="{FF2B5EF4-FFF2-40B4-BE49-F238E27FC236}">
                <a16:creationId xmlns:a16="http://schemas.microsoft.com/office/drawing/2014/main" id="{D5EE75C6-F8BC-4675-9EA1-19C80CC05106}"/>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C8A31A-18D4-4DBB-BD08-579BDBFEA04C}" type="slidenum">
              <a:rPr lang="es-AR" altLang="es-ES" sz="1300" smtClean="0">
                <a:latin typeface="Tahoma" panose="020B0604030504040204" pitchFamily="34" charset="0"/>
              </a:rPr>
              <a:pPr>
                <a:spcBef>
                  <a:spcPct val="0"/>
                </a:spcBef>
              </a:pPr>
              <a:t>24</a:t>
            </a:fld>
            <a:endParaRPr lang="es-AR" altLang="es-ES" sz="1300">
              <a:latin typeface="Tahoma" panose="020B0604030504040204" pitchFamily="34" charset="0"/>
            </a:endParaRPr>
          </a:p>
        </p:txBody>
      </p:sp>
      <p:sp>
        <p:nvSpPr>
          <p:cNvPr id="44035" name="Rectangle 2">
            <a:extLst>
              <a:ext uri="{FF2B5EF4-FFF2-40B4-BE49-F238E27FC236}">
                <a16:creationId xmlns:a16="http://schemas.microsoft.com/office/drawing/2014/main" id="{11B0618B-F022-4EE7-9531-1DC37F0ADC7E}"/>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593E469D-D67F-40AE-9C0C-2D87084413EE}"/>
              </a:ext>
            </a:extLst>
          </p:cNvPr>
          <p:cNvSpPr>
            <a:spLocks noGrp="1" noChangeArrowheads="1"/>
          </p:cNvSpPr>
          <p:nvPr>
            <p:ph type="body" idx="1"/>
          </p:nvPr>
        </p:nvSpPr>
        <p:spPr>
          <a:noFill/>
        </p:spPr>
        <p:txBody>
          <a:bodyPr/>
          <a:lstStyle/>
          <a:p>
            <a:pPr eaLnBrk="1" hangingPunct="1"/>
            <a:r>
              <a:rPr lang="es-ES" altLang="es-ES"/>
              <a:t>4 – 26 minutos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a:extLst>
              <a:ext uri="{FF2B5EF4-FFF2-40B4-BE49-F238E27FC236}">
                <a16:creationId xmlns:a16="http://schemas.microsoft.com/office/drawing/2014/main" id="{C23C891D-FD97-4FA7-B5D6-85517B18C25D}"/>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DF8B58F-9265-4E6F-9F33-913314B9559C}" type="slidenum">
              <a:rPr lang="es-AR" altLang="es-ES" sz="1300" smtClean="0">
                <a:latin typeface="Tahoma" panose="020B0604030504040204" pitchFamily="34" charset="0"/>
              </a:rPr>
              <a:pPr>
                <a:spcBef>
                  <a:spcPct val="0"/>
                </a:spcBef>
              </a:pPr>
              <a:t>25</a:t>
            </a:fld>
            <a:endParaRPr lang="es-AR" altLang="es-ES" sz="1300">
              <a:latin typeface="Tahoma" panose="020B0604030504040204" pitchFamily="34" charset="0"/>
            </a:endParaRPr>
          </a:p>
        </p:txBody>
      </p:sp>
      <p:sp>
        <p:nvSpPr>
          <p:cNvPr id="46083" name="Rectangle 2">
            <a:extLst>
              <a:ext uri="{FF2B5EF4-FFF2-40B4-BE49-F238E27FC236}">
                <a16:creationId xmlns:a16="http://schemas.microsoft.com/office/drawing/2014/main" id="{69C729A8-5AFC-4433-AF9C-A23ABCB0C81C}"/>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9180B213-D4F6-4BE1-9E5D-C3153234BD2C}"/>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a:extLst>
              <a:ext uri="{FF2B5EF4-FFF2-40B4-BE49-F238E27FC236}">
                <a16:creationId xmlns:a16="http://schemas.microsoft.com/office/drawing/2014/main" id="{64B8F5C1-08D7-4310-A7A9-CFEAA6F5AEB7}"/>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007619F-DF1D-492C-BB19-C46A82D9718F}" type="slidenum">
              <a:rPr lang="es-AR" altLang="es-ES" sz="1300" smtClean="0">
                <a:latin typeface="Tahoma" panose="020B0604030504040204" pitchFamily="34" charset="0"/>
              </a:rPr>
              <a:pPr>
                <a:spcBef>
                  <a:spcPct val="0"/>
                </a:spcBef>
              </a:pPr>
              <a:t>26</a:t>
            </a:fld>
            <a:endParaRPr lang="es-AR" altLang="es-ES" sz="1300">
              <a:latin typeface="Tahoma" panose="020B0604030504040204" pitchFamily="34" charset="0"/>
            </a:endParaRPr>
          </a:p>
        </p:txBody>
      </p:sp>
      <p:sp>
        <p:nvSpPr>
          <p:cNvPr id="48131" name="Rectangle 2">
            <a:extLst>
              <a:ext uri="{FF2B5EF4-FFF2-40B4-BE49-F238E27FC236}">
                <a16:creationId xmlns:a16="http://schemas.microsoft.com/office/drawing/2014/main" id="{1B638428-D583-4CEA-A0CD-0728D9417846}"/>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25548549-7DDD-47CA-A9CA-571C890BC034}"/>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31">
            <a:extLst>
              <a:ext uri="{FF2B5EF4-FFF2-40B4-BE49-F238E27FC236}">
                <a16:creationId xmlns:a16="http://schemas.microsoft.com/office/drawing/2014/main" id="{72559895-5E05-440D-AAE2-A53D5E52D3BB}"/>
              </a:ext>
            </a:extLst>
          </p:cNvPr>
          <p:cNvSpPr>
            <a:spLocks noGrp="1" noChangeArrowheads="1"/>
          </p:cNvSpPr>
          <p:nvPr>
            <p:ph type="sldNum" sz="quarter" idx="5"/>
          </p:nvPr>
        </p:nvSpPr>
        <p:spPr>
          <a:noFill/>
        </p:spPr>
        <p:txBody>
          <a:bodyPr/>
          <a:lstStyle>
            <a:lvl1pPr defTabSz="981075">
              <a:spcBef>
                <a:spcPct val="30000"/>
              </a:spcBef>
              <a:defRPr sz="1200">
                <a:solidFill>
                  <a:schemeClr val="tx1"/>
                </a:solidFill>
                <a:latin typeface="Times New Roman" panose="02020603050405020304" pitchFamily="18" charset="0"/>
              </a:defRPr>
            </a:lvl1pPr>
            <a:lvl2pPr marL="742950" indent="-285750" defTabSz="981075">
              <a:spcBef>
                <a:spcPct val="30000"/>
              </a:spcBef>
              <a:defRPr sz="1200">
                <a:solidFill>
                  <a:schemeClr val="tx1"/>
                </a:solidFill>
                <a:latin typeface="Times New Roman" panose="02020603050405020304" pitchFamily="18" charset="0"/>
              </a:defRPr>
            </a:lvl2pPr>
            <a:lvl3pPr marL="1143000" indent="-228600" defTabSz="981075">
              <a:spcBef>
                <a:spcPct val="30000"/>
              </a:spcBef>
              <a:defRPr sz="1200">
                <a:solidFill>
                  <a:schemeClr val="tx1"/>
                </a:solidFill>
                <a:latin typeface="Times New Roman" panose="02020603050405020304" pitchFamily="18" charset="0"/>
              </a:defRPr>
            </a:lvl3pPr>
            <a:lvl4pPr marL="1600200" indent="-228600" defTabSz="981075">
              <a:spcBef>
                <a:spcPct val="30000"/>
              </a:spcBef>
              <a:defRPr sz="1200">
                <a:solidFill>
                  <a:schemeClr val="tx1"/>
                </a:solidFill>
                <a:latin typeface="Times New Roman" panose="02020603050405020304" pitchFamily="18" charset="0"/>
              </a:defRPr>
            </a:lvl4pPr>
            <a:lvl5pPr marL="2057400" indent="-228600" defTabSz="981075">
              <a:spcBef>
                <a:spcPct val="30000"/>
              </a:spcBef>
              <a:defRPr sz="1200">
                <a:solidFill>
                  <a:schemeClr val="tx1"/>
                </a:solidFill>
                <a:latin typeface="Times New Roman" panose="02020603050405020304" pitchFamily="18" charset="0"/>
              </a:defRPr>
            </a:lvl5pPr>
            <a:lvl6pPr marL="2514600" indent="-228600" defTabSz="981075"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81075"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81075"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81075"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094AAF0-13D2-4F30-9D1C-44A93476F687}" type="slidenum">
              <a:rPr lang="es-AR" altLang="es-ES" sz="1300" smtClean="0">
                <a:latin typeface="Tahoma" panose="020B0604030504040204" pitchFamily="34" charset="0"/>
              </a:rPr>
              <a:pPr>
                <a:spcBef>
                  <a:spcPct val="0"/>
                </a:spcBef>
              </a:pPr>
              <a:t>31</a:t>
            </a:fld>
            <a:endParaRPr lang="es-AR" altLang="es-ES" sz="1300">
              <a:latin typeface="Tahoma" panose="020B0604030504040204" pitchFamily="34" charset="0"/>
            </a:endParaRPr>
          </a:p>
        </p:txBody>
      </p:sp>
      <p:sp>
        <p:nvSpPr>
          <p:cNvPr id="54275" name="Rectangle 2">
            <a:extLst>
              <a:ext uri="{FF2B5EF4-FFF2-40B4-BE49-F238E27FC236}">
                <a16:creationId xmlns:a16="http://schemas.microsoft.com/office/drawing/2014/main" id="{496D76E5-3C2B-4572-A357-AE6E4DB06331}"/>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683A0500-4D62-44B6-A249-34836C9F34F9}"/>
              </a:ext>
            </a:extLst>
          </p:cNvPr>
          <p:cNvSpPr>
            <a:spLocks noGrp="1" noChangeArrowheads="1"/>
          </p:cNvSpPr>
          <p:nvPr>
            <p:ph type="body" idx="1"/>
          </p:nvPr>
        </p:nvSpPr>
        <p:spPr>
          <a:noFill/>
        </p:spPr>
        <p:txBody>
          <a:bodyPr/>
          <a:lstStyle/>
          <a:p>
            <a:pPr eaLnBrk="1" hangingPunct="1"/>
            <a:endParaRPr lang="es-ES" altLang="es-E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5F36E414-72E4-402F-99BC-93592F8BB5CC}"/>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17B0B1EB-AAF9-41AD-A40D-678E17DB025A}"/>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2DE6DE68-3B0C-4188-835C-533516A05D76}"/>
                  </a:ext>
                </a:extLst>
              </p:cNvPr>
              <p:cNvSpPr>
                <a:spLocks noChangeArrowheads="1"/>
              </p:cNvSpPr>
              <p:nvPr/>
            </p:nvSpPr>
            <p:spPr bwMode="auto">
              <a:xfrm>
                <a:off x="720" y="336"/>
                <a:ext cx="384" cy="43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ES" altLang="es-ES"/>
              </a:p>
            </p:txBody>
          </p:sp>
          <p:sp>
            <p:nvSpPr>
              <p:cNvPr id="13" name="Rectangle 5">
                <a:extLst>
                  <a:ext uri="{FF2B5EF4-FFF2-40B4-BE49-F238E27FC236}">
                    <a16:creationId xmlns:a16="http://schemas.microsoft.com/office/drawing/2014/main" id="{8054B852-249E-4DEB-BA1D-584A30A280C8}"/>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ES" altLang="es-ES"/>
              </a:p>
            </p:txBody>
          </p:sp>
        </p:grpSp>
        <p:grpSp>
          <p:nvGrpSpPr>
            <p:cNvPr id="6" name="Group 6">
              <a:extLst>
                <a:ext uri="{FF2B5EF4-FFF2-40B4-BE49-F238E27FC236}">
                  <a16:creationId xmlns:a16="http://schemas.microsoft.com/office/drawing/2014/main" id="{9314877B-46F1-4DC5-A0CC-89B40C492EFD}"/>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C3162049-932F-452D-BB5C-237751D27C15}"/>
                  </a:ext>
                </a:extLst>
              </p:cNvPr>
              <p:cNvSpPr>
                <a:spLocks noChangeArrowheads="1"/>
              </p:cNvSpPr>
              <p:nvPr/>
            </p:nvSpPr>
            <p:spPr bwMode="auto">
              <a:xfrm>
                <a:off x="912" y="2640"/>
                <a:ext cx="384" cy="432"/>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ES" altLang="es-ES"/>
              </a:p>
            </p:txBody>
          </p:sp>
          <p:sp>
            <p:nvSpPr>
              <p:cNvPr id="11" name="Rectangle 8">
                <a:extLst>
                  <a:ext uri="{FF2B5EF4-FFF2-40B4-BE49-F238E27FC236}">
                    <a16:creationId xmlns:a16="http://schemas.microsoft.com/office/drawing/2014/main" id="{F9F8C30B-7D18-4C27-9C25-532E6326626F}"/>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ES" altLang="es-ES"/>
              </a:p>
            </p:txBody>
          </p:sp>
        </p:grpSp>
        <p:sp>
          <p:nvSpPr>
            <p:cNvPr id="7" name="Rectangle 9">
              <a:extLst>
                <a:ext uri="{FF2B5EF4-FFF2-40B4-BE49-F238E27FC236}">
                  <a16:creationId xmlns:a16="http://schemas.microsoft.com/office/drawing/2014/main" id="{01A3A579-06A5-4873-86CD-F1A5E3ED9463}"/>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ES" altLang="es-ES"/>
            </a:p>
          </p:txBody>
        </p:sp>
        <p:sp>
          <p:nvSpPr>
            <p:cNvPr id="8" name="Rectangle 10">
              <a:extLst>
                <a:ext uri="{FF2B5EF4-FFF2-40B4-BE49-F238E27FC236}">
                  <a16:creationId xmlns:a16="http://schemas.microsoft.com/office/drawing/2014/main" id="{857F785B-B64E-4243-AB55-DE43CAAD4B69}"/>
                </a:ext>
              </a:extLst>
            </p:cNvPr>
            <p:cNvSpPr>
              <a:spLocks noChangeArrowheads="1"/>
            </p:cNvSpPr>
            <p:nvPr/>
          </p:nvSpPr>
          <p:spPr bwMode="auto">
            <a:xfrm>
              <a:off x="400" y="1536"/>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ES" altLang="es-ES"/>
            </a:p>
          </p:txBody>
        </p:sp>
        <p:sp>
          <p:nvSpPr>
            <p:cNvPr id="9" name="Rectangle 11">
              <a:extLst>
                <a:ext uri="{FF2B5EF4-FFF2-40B4-BE49-F238E27FC236}">
                  <a16:creationId xmlns:a16="http://schemas.microsoft.com/office/drawing/2014/main" id="{0E064A38-A56A-448B-B3A4-18694B0516D6}"/>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eaLnBrk="1" hangingPunct="1">
                <a:defRPr/>
              </a:pPr>
              <a:endParaRPr lang="es-ES" altLang="es-ES"/>
            </a:p>
          </p:txBody>
        </p:sp>
      </p:grpSp>
      <p:sp>
        <p:nvSpPr>
          <p:cNvPr id="4108" name="Rectangle 12"/>
          <p:cNvSpPr>
            <a:spLocks noGrp="1" noChangeArrowheads="1"/>
          </p:cNvSpPr>
          <p:nvPr>
            <p:ph type="ctrTitle"/>
          </p:nvPr>
        </p:nvSpPr>
        <p:spPr>
          <a:xfrm>
            <a:off x="990600" y="1828800"/>
            <a:ext cx="7772400" cy="1143000"/>
          </a:xfrm>
        </p:spPr>
        <p:txBody>
          <a:bodyPr/>
          <a:lstStyle>
            <a:lvl1pPr>
              <a:defRPr/>
            </a:lvl1pPr>
          </a:lstStyle>
          <a:p>
            <a:r>
              <a:rPr lang="en-US"/>
              <a:t>Click to edit Master title style</a:t>
            </a:r>
          </a:p>
        </p:txBody>
      </p:sp>
      <p:sp>
        <p:nvSpPr>
          <p:cNvPr id="4109" name="Rectangle 13"/>
          <p:cNvSpPr>
            <a:spLocks noGrp="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14" name="Rectangle 14">
            <a:extLst>
              <a:ext uri="{FF2B5EF4-FFF2-40B4-BE49-F238E27FC236}">
                <a16:creationId xmlns:a16="http://schemas.microsoft.com/office/drawing/2014/main" id="{8541E04E-CDEB-4AF0-AD2C-5CE6C256C3B8}"/>
              </a:ext>
            </a:extLst>
          </p:cNvPr>
          <p:cNvSpPr>
            <a:spLocks noGrp="1" noChangeArrowheads="1"/>
          </p:cNvSpPr>
          <p:nvPr>
            <p:ph type="dt" sz="half" idx="10"/>
          </p:nvPr>
        </p:nvSpPr>
        <p:spPr>
          <a:xfrm>
            <a:off x="990600" y="6248400"/>
            <a:ext cx="1905000" cy="457200"/>
          </a:xfrm>
        </p:spPr>
        <p:txBody>
          <a:bodyPr/>
          <a:lstStyle>
            <a:lvl1pPr>
              <a:defRPr>
                <a:solidFill>
                  <a:schemeClr val="bg2"/>
                </a:solidFill>
              </a:defRPr>
            </a:lvl1pPr>
          </a:lstStyle>
          <a:p>
            <a:pPr>
              <a:defRPr/>
            </a:pPr>
            <a:endParaRPr lang="en-US"/>
          </a:p>
        </p:txBody>
      </p:sp>
      <p:sp>
        <p:nvSpPr>
          <p:cNvPr id="15" name="Rectangle 15">
            <a:extLst>
              <a:ext uri="{FF2B5EF4-FFF2-40B4-BE49-F238E27FC236}">
                <a16:creationId xmlns:a16="http://schemas.microsoft.com/office/drawing/2014/main" id="{8DB7192F-58BF-4275-94EE-1E9E773A5E9B}"/>
              </a:ext>
            </a:extLst>
          </p:cNvPr>
          <p:cNvSpPr>
            <a:spLocks noGrp="1" noChangeArrowheads="1"/>
          </p:cNvSpPr>
          <p:nvPr>
            <p:ph type="ftr" sz="quarter" idx="11"/>
          </p:nvPr>
        </p:nvSpPr>
        <p:spPr>
          <a:xfrm>
            <a:off x="3429000" y="6248400"/>
            <a:ext cx="2895600" cy="457200"/>
          </a:xfrm>
        </p:spPr>
        <p:txBody>
          <a:bodyPr/>
          <a:lstStyle>
            <a:lvl1pPr>
              <a:defRPr>
                <a:solidFill>
                  <a:schemeClr val="bg2"/>
                </a:solidFill>
              </a:defRPr>
            </a:lvl1pPr>
          </a:lstStyle>
          <a:p>
            <a:pPr>
              <a:defRPr/>
            </a:pPr>
            <a:endParaRPr lang="en-US"/>
          </a:p>
        </p:txBody>
      </p:sp>
      <p:sp>
        <p:nvSpPr>
          <p:cNvPr id="16" name="Rectangle 16">
            <a:extLst>
              <a:ext uri="{FF2B5EF4-FFF2-40B4-BE49-F238E27FC236}">
                <a16:creationId xmlns:a16="http://schemas.microsoft.com/office/drawing/2014/main" id="{65AABA0D-8E6F-481B-ABA1-D8DD706BE7E3}"/>
              </a:ext>
            </a:extLst>
          </p:cNvPr>
          <p:cNvSpPr>
            <a:spLocks noGrp="1" noChangeArrowheads="1"/>
          </p:cNvSpPr>
          <p:nvPr>
            <p:ph type="sldNum" sz="quarter" idx="12"/>
          </p:nvPr>
        </p:nvSpPr>
        <p:spPr>
          <a:xfrm>
            <a:off x="6858000" y="6248400"/>
            <a:ext cx="1905000" cy="457200"/>
          </a:xfrm>
        </p:spPr>
        <p:txBody>
          <a:bodyPr/>
          <a:lstStyle>
            <a:lvl1pPr>
              <a:defRPr>
                <a:solidFill>
                  <a:schemeClr val="bg2"/>
                </a:solidFill>
              </a:defRPr>
            </a:lvl1pPr>
          </a:lstStyle>
          <a:p>
            <a:pPr>
              <a:defRPr/>
            </a:pPr>
            <a:fld id="{98864470-A09E-4652-8D3B-522213DD7704}" type="slidenum">
              <a:rPr lang="en-US" altLang="es-AR"/>
              <a:pPr>
                <a:defRPr/>
              </a:pPr>
              <a:t>‹Nº›</a:t>
            </a:fld>
            <a:endParaRPr lang="en-US" altLang="es-AR"/>
          </a:p>
        </p:txBody>
      </p:sp>
    </p:spTree>
    <p:extLst>
      <p:ext uri="{BB962C8B-B14F-4D97-AF65-F5344CB8AC3E}">
        <p14:creationId xmlns:p14="http://schemas.microsoft.com/office/powerpoint/2010/main" val="4217495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1187624" y="525952"/>
            <a:ext cx="7793037" cy="1143000"/>
          </a:xfrm>
        </p:spPr>
        <p:txBody>
          <a:bodyPr/>
          <a:lstStyle/>
          <a:p>
            <a:r>
              <a:rPr lang="es-ES"/>
              <a:t>Haga clic para modificar el estilo de título del patrón</a:t>
            </a:r>
            <a:endParaRPr lang="es-AR"/>
          </a:p>
        </p:txBody>
      </p:sp>
      <p:sp>
        <p:nvSpPr>
          <p:cNvPr id="3" name="2 Marcador de contenido"/>
          <p:cNvSpPr>
            <a:spLocks noGrp="1"/>
          </p:cNvSpPr>
          <p:nvPr>
            <p:ph idx="1"/>
          </p:nvPr>
        </p:nvSpPr>
        <p:spPr>
          <a:xfrm>
            <a:off x="827584" y="1412776"/>
            <a:ext cx="7772400" cy="4953000"/>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11">
            <a:extLst>
              <a:ext uri="{FF2B5EF4-FFF2-40B4-BE49-F238E27FC236}">
                <a16:creationId xmlns:a16="http://schemas.microsoft.com/office/drawing/2014/main" id="{1D7EB22B-304D-4CBC-8EE5-19C0B1F6B2B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C2DFADB9-CF9B-4926-B8AA-02AC3B62B74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1FBA3B90-53B6-41C0-805B-89C46D8C36D2}"/>
              </a:ext>
            </a:extLst>
          </p:cNvPr>
          <p:cNvSpPr>
            <a:spLocks noGrp="1" noChangeArrowheads="1"/>
          </p:cNvSpPr>
          <p:nvPr>
            <p:ph type="sldNum" sz="quarter" idx="12"/>
          </p:nvPr>
        </p:nvSpPr>
        <p:spPr>
          <a:ln/>
        </p:spPr>
        <p:txBody>
          <a:bodyPr/>
          <a:lstStyle>
            <a:lvl1pPr>
              <a:defRPr/>
            </a:lvl1pPr>
          </a:lstStyle>
          <a:p>
            <a:pPr>
              <a:defRPr/>
            </a:pPr>
            <a:fld id="{83E88A8C-1C2C-4AE9-99E2-F0345AF2A930}" type="slidenum">
              <a:rPr lang="en-US" altLang="es-AR"/>
              <a:pPr>
                <a:defRPr/>
              </a:pPr>
              <a:t>‹Nº›</a:t>
            </a:fld>
            <a:endParaRPr lang="en-US" altLang="es-AR"/>
          </a:p>
        </p:txBody>
      </p:sp>
    </p:spTree>
    <p:extLst>
      <p:ext uri="{BB962C8B-B14F-4D97-AF65-F5344CB8AC3E}">
        <p14:creationId xmlns:p14="http://schemas.microsoft.com/office/powerpoint/2010/main" val="1600358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11">
            <a:extLst>
              <a:ext uri="{FF2B5EF4-FFF2-40B4-BE49-F238E27FC236}">
                <a16:creationId xmlns:a16="http://schemas.microsoft.com/office/drawing/2014/main" id="{A8C615E2-C519-4C80-B351-53DE08FD743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57CF164C-6B86-426E-8077-A156D57B0D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9C7F5792-A7BE-41B5-976F-BF08026B4FA8}"/>
              </a:ext>
            </a:extLst>
          </p:cNvPr>
          <p:cNvSpPr>
            <a:spLocks noGrp="1" noChangeArrowheads="1"/>
          </p:cNvSpPr>
          <p:nvPr>
            <p:ph type="sldNum" sz="quarter" idx="12"/>
          </p:nvPr>
        </p:nvSpPr>
        <p:spPr>
          <a:ln/>
        </p:spPr>
        <p:txBody>
          <a:bodyPr/>
          <a:lstStyle>
            <a:lvl1pPr>
              <a:defRPr/>
            </a:lvl1pPr>
          </a:lstStyle>
          <a:p>
            <a:pPr>
              <a:defRPr/>
            </a:pPr>
            <a:fld id="{D4629DA2-759C-4583-8121-CB8289891CAB}" type="slidenum">
              <a:rPr lang="en-US" altLang="es-AR"/>
              <a:pPr>
                <a:defRPr/>
              </a:pPr>
              <a:t>‹Nº›</a:t>
            </a:fld>
            <a:endParaRPr lang="en-US" altLang="es-AR"/>
          </a:p>
        </p:txBody>
      </p:sp>
    </p:spTree>
    <p:extLst>
      <p:ext uri="{BB962C8B-B14F-4D97-AF65-F5344CB8AC3E}">
        <p14:creationId xmlns:p14="http://schemas.microsoft.com/office/powerpoint/2010/main" val="1858574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1182688" y="411731"/>
            <a:ext cx="7793037" cy="1143000"/>
          </a:xfrm>
        </p:spPr>
        <p:txBody>
          <a:bodyPr/>
          <a:lstStyle/>
          <a:p>
            <a:r>
              <a:rPr lang="es-ES"/>
              <a:t>Haga clic para modificar el estilo de título del patrón</a:t>
            </a:r>
            <a:endParaRPr lang="es-AR"/>
          </a:p>
        </p:txBody>
      </p:sp>
      <p:sp>
        <p:nvSpPr>
          <p:cNvPr id="3" name="2 Marcador de contenido"/>
          <p:cNvSpPr>
            <a:spLocks noGrp="1"/>
          </p:cNvSpPr>
          <p:nvPr>
            <p:ph sz="half" idx="1"/>
          </p:nvPr>
        </p:nvSpPr>
        <p:spPr>
          <a:xfrm>
            <a:off x="1182688" y="1676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contenido"/>
          <p:cNvSpPr>
            <a:spLocks noGrp="1"/>
          </p:cNvSpPr>
          <p:nvPr>
            <p:ph sz="half" idx="2"/>
          </p:nvPr>
        </p:nvSpPr>
        <p:spPr>
          <a:xfrm>
            <a:off x="5145088" y="16764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Rectangle 11">
            <a:extLst>
              <a:ext uri="{FF2B5EF4-FFF2-40B4-BE49-F238E27FC236}">
                <a16:creationId xmlns:a16="http://schemas.microsoft.com/office/drawing/2014/main" id="{3680CC5D-18BF-4436-9D07-4F7FA97315EA}"/>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87441A42-4AF8-4087-A556-AC357F40CBE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0296B7E7-E4C2-46AD-A045-CF671F33EED4}"/>
              </a:ext>
            </a:extLst>
          </p:cNvPr>
          <p:cNvSpPr>
            <a:spLocks noGrp="1" noChangeArrowheads="1"/>
          </p:cNvSpPr>
          <p:nvPr>
            <p:ph type="sldNum" sz="quarter" idx="12"/>
          </p:nvPr>
        </p:nvSpPr>
        <p:spPr>
          <a:ln/>
        </p:spPr>
        <p:txBody>
          <a:bodyPr/>
          <a:lstStyle>
            <a:lvl1pPr>
              <a:defRPr/>
            </a:lvl1pPr>
          </a:lstStyle>
          <a:p>
            <a:pPr>
              <a:defRPr/>
            </a:pPr>
            <a:fld id="{83A2812A-2036-4C37-9B98-8ED19749873E}" type="slidenum">
              <a:rPr lang="en-US" altLang="es-AR"/>
              <a:pPr>
                <a:defRPr/>
              </a:pPr>
              <a:t>‹Nº›</a:t>
            </a:fld>
            <a:endParaRPr lang="en-US" altLang="es-AR"/>
          </a:p>
        </p:txBody>
      </p:sp>
    </p:spTree>
    <p:extLst>
      <p:ext uri="{BB962C8B-B14F-4D97-AF65-F5344CB8AC3E}">
        <p14:creationId xmlns:p14="http://schemas.microsoft.com/office/powerpoint/2010/main" val="517996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Rectangle 11">
            <a:extLst>
              <a:ext uri="{FF2B5EF4-FFF2-40B4-BE49-F238E27FC236}">
                <a16:creationId xmlns:a16="http://schemas.microsoft.com/office/drawing/2014/main" id="{6611A96E-13EC-4966-84BF-B785A5FB48EA}"/>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12">
            <a:extLst>
              <a:ext uri="{FF2B5EF4-FFF2-40B4-BE49-F238E27FC236}">
                <a16:creationId xmlns:a16="http://schemas.microsoft.com/office/drawing/2014/main" id="{E61BC76C-1A37-4792-9615-0049D12A045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13">
            <a:extLst>
              <a:ext uri="{FF2B5EF4-FFF2-40B4-BE49-F238E27FC236}">
                <a16:creationId xmlns:a16="http://schemas.microsoft.com/office/drawing/2014/main" id="{91FE0E7A-3739-4F26-8FFD-012174FA66FE}"/>
              </a:ext>
            </a:extLst>
          </p:cNvPr>
          <p:cNvSpPr>
            <a:spLocks noGrp="1" noChangeArrowheads="1"/>
          </p:cNvSpPr>
          <p:nvPr>
            <p:ph type="sldNum" sz="quarter" idx="12"/>
          </p:nvPr>
        </p:nvSpPr>
        <p:spPr>
          <a:ln/>
        </p:spPr>
        <p:txBody>
          <a:bodyPr/>
          <a:lstStyle>
            <a:lvl1pPr>
              <a:defRPr/>
            </a:lvl1pPr>
          </a:lstStyle>
          <a:p>
            <a:pPr>
              <a:defRPr/>
            </a:pPr>
            <a:fld id="{82559E33-DA0D-4FC8-A83A-5CBF74B24F20}" type="slidenum">
              <a:rPr lang="en-US" altLang="es-AR"/>
              <a:pPr>
                <a:defRPr/>
              </a:pPr>
              <a:t>‹Nº›</a:t>
            </a:fld>
            <a:endParaRPr lang="en-US" altLang="es-AR"/>
          </a:p>
        </p:txBody>
      </p:sp>
    </p:spTree>
    <p:extLst>
      <p:ext uri="{BB962C8B-B14F-4D97-AF65-F5344CB8AC3E}">
        <p14:creationId xmlns:p14="http://schemas.microsoft.com/office/powerpoint/2010/main" val="2788578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Rectangle 11">
            <a:extLst>
              <a:ext uri="{FF2B5EF4-FFF2-40B4-BE49-F238E27FC236}">
                <a16:creationId xmlns:a16="http://schemas.microsoft.com/office/drawing/2014/main" id="{99B2C304-070E-4ED4-8D6B-85A816C4EA6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12">
            <a:extLst>
              <a:ext uri="{FF2B5EF4-FFF2-40B4-BE49-F238E27FC236}">
                <a16:creationId xmlns:a16="http://schemas.microsoft.com/office/drawing/2014/main" id="{1BCCCCC9-6A05-4152-8231-B357046AABC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13">
            <a:extLst>
              <a:ext uri="{FF2B5EF4-FFF2-40B4-BE49-F238E27FC236}">
                <a16:creationId xmlns:a16="http://schemas.microsoft.com/office/drawing/2014/main" id="{B3F039FC-DC64-4FF5-B141-DF5D76679821}"/>
              </a:ext>
            </a:extLst>
          </p:cNvPr>
          <p:cNvSpPr>
            <a:spLocks noGrp="1" noChangeArrowheads="1"/>
          </p:cNvSpPr>
          <p:nvPr>
            <p:ph type="sldNum" sz="quarter" idx="12"/>
          </p:nvPr>
        </p:nvSpPr>
        <p:spPr>
          <a:ln/>
        </p:spPr>
        <p:txBody>
          <a:bodyPr/>
          <a:lstStyle>
            <a:lvl1pPr>
              <a:defRPr/>
            </a:lvl1pPr>
          </a:lstStyle>
          <a:p>
            <a:pPr>
              <a:defRPr/>
            </a:pPr>
            <a:fld id="{DFD23A26-4897-4AE2-90A7-FBE6416F835C}" type="slidenum">
              <a:rPr lang="en-US" altLang="es-AR"/>
              <a:pPr>
                <a:defRPr/>
              </a:pPr>
              <a:t>‹Nº›</a:t>
            </a:fld>
            <a:endParaRPr lang="en-US" altLang="es-AR"/>
          </a:p>
        </p:txBody>
      </p:sp>
    </p:spTree>
    <p:extLst>
      <p:ext uri="{BB962C8B-B14F-4D97-AF65-F5344CB8AC3E}">
        <p14:creationId xmlns:p14="http://schemas.microsoft.com/office/powerpoint/2010/main" val="1298667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536BE5DA-9418-4F5B-A37E-17A7B03A6553}"/>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12">
            <a:extLst>
              <a:ext uri="{FF2B5EF4-FFF2-40B4-BE49-F238E27FC236}">
                <a16:creationId xmlns:a16="http://schemas.microsoft.com/office/drawing/2014/main" id="{3D828D3A-4710-497E-B400-89DDAE91C4B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13">
            <a:extLst>
              <a:ext uri="{FF2B5EF4-FFF2-40B4-BE49-F238E27FC236}">
                <a16:creationId xmlns:a16="http://schemas.microsoft.com/office/drawing/2014/main" id="{94B3FE25-53BF-41A6-A49E-43A8A61F2E0F}"/>
              </a:ext>
            </a:extLst>
          </p:cNvPr>
          <p:cNvSpPr>
            <a:spLocks noGrp="1" noChangeArrowheads="1"/>
          </p:cNvSpPr>
          <p:nvPr>
            <p:ph type="sldNum" sz="quarter" idx="12"/>
          </p:nvPr>
        </p:nvSpPr>
        <p:spPr>
          <a:ln/>
        </p:spPr>
        <p:txBody>
          <a:bodyPr/>
          <a:lstStyle>
            <a:lvl1pPr>
              <a:defRPr/>
            </a:lvl1pPr>
          </a:lstStyle>
          <a:p>
            <a:pPr>
              <a:defRPr/>
            </a:pPr>
            <a:fld id="{B9B63781-59CD-4E42-9A97-F7813E09716B}" type="slidenum">
              <a:rPr lang="en-US" altLang="es-AR"/>
              <a:pPr>
                <a:defRPr/>
              </a:pPr>
              <a:t>‹Nº›</a:t>
            </a:fld>
            <a:endParaRPr lang="en-US" altLang="es-AR"/>
          </a:p>
        </p:txBody>
      </p:sp>
    </p:spTree>
    <p:extLst>
      <p:ext uri="{BB962C8B-B14F-4D97-AF65-F5344CB8AC3E}">
        <p14:creationId xmlns:p14="http://schemas.microsoft.com/office/powerpoint/2010/main" val="567584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lstStyle>
            <a:lvl1pPr algn="l">
              <a:defRPr sz="2000" b="1"/>
            </a:lvl1pPr>
          </a:lstStyle>
          <a:p>
            <a:r>
              <a:rPr lang="es-ES"/>
              <a:t>Haga clic para modificar el estilo de título del patrón</a:t>
            </a:r>
            <a:endParaRPr lang="es-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11">
            <a:extLst>
              <a:ext uri="{FF2B5EF4-FFF2-40B4-BE49-F238E27FC236}">
                <a16:creationId xmlns:a16="http://schemas.microsoft.com/office/drawing/2014/main" id="{354B3EC1-2A01-4972-B5EB-75E3D3228151}"/>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3B382572-340E-4D55-8268-C9F574E68BD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77587666-EB8C-4B87-8631-DD70F44FDD2F}"/>
              </a:ext>
            </a:extLst>
          </p:cNvPr>
          <p:cNvSpPr>
            <a:spLocks noGrp="1" noChangeArrowheads="1"/>
          </p:cNvSpPr>
          <p:nvPr>
            <p:ph type="sldNum" sz="quarter" idx="12"/>
          </p:nvPr>
        </p:nvSpPr>
        <p:spPr>
          <a:ln/>
        </p:spPr>
        <p:txBody>
          <a:bodyPr/>
          <a:lstStyle>
            <a:lvl1pPr>
              <a:defRPr/>
            </a:lvl1pPr>
          </a:lstStyle>
          <a:p>
            <a:pPr>
              <a:defRPr/>
            </a:pPr>
            <a:fld id="{5E7A11EF-D340-488D-B16B-44E12D8B2D84}" type="slidenum">
              <a:rPr lang="en-US" altLang="es-AR"/>
              <a:pPr>
                <a:defRPr/>
              </a:pPr>
              <a:t>‹Nº›</a:t>
            </a:fld>
            <a:endParaRPr lang="en-US" altLang="es-AR"/>
          </a:p>
        </p:txBody>
      </p:sp>
    </p:spTree>
    <p:extLst>
      <p:ext uri="{BB962C8B-B14F-4D97-AF65-F5344CB8AC3E}">
        <p14:creationId xmlns:p14="http://schemas.microsoft.com/office/powerpoint/2010/main" val="3702144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lstStyle>
            <a:lvl1pPr algn="l">
              <a:defRPr sz="2000" b="1"/>
            </a:lvl1pPr>
          </a:lstStyle>
          <a:p>
            <a:r>
              <a:rPr lang="es-ES"/>
              <a:t>Haga clic para modificar el estilo de título del patrón</a:t>
            </a:r>
            <a:endParaRPr lang="es-AR"/>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AR"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11">
            <a:extLst>
              <a:ext uri="{FF2B5EF4-FFF2-40B4-BE49-F238E27FC236}">
                <a16:creationId xmlns:a16="http://schemas.microsoft.com/office/drawing/2014/main" id="{13CCFE3A-2B62-4319-A9AE-392E952E8D8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12">
            <a:extLst>
              <a:ext uri="{FF2B5EF4-FFF2-40B4-BE49-F238E27FC236}">
                <a16:creationId xmlns:a16="http://schemas.microsoft.com/office/drawing/2014/main" id="{7F1A8FB5-4140-477C-9F11-D48E2DCF60F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13">
            <a:extLst>
              <a:ext uri="{FF2B5EF4-FFF2-40B4-BE49-F238E27FC236}">
                <a16:creationId xmlns:a16="http://schemas.microsoft.com/office/drawing/2014/main" id="{35557B98-B424-489E-BBCC-AF5306189ECE}"/>
              </a:ext>
            </a:extLst>
          </p:cNvPr>
          <p:cNvSpPr>
            <a:spLocks noGrp="1" noChangeArrowheads="1"/>
          </p:cNvSpPr>
          <p:nvPr>
            <p:ph type="sldNum" sz="quarter" idx="12"/>
          </p:nvPr>
        </p:nvSpPr>
        <p:spPr>
          <a:ln/>
        </p:spPr>
        <p:txBody>
          <a:bodyPr/>
          <a:lstStyle>
            <a:lvl1pPr>
              <a:defRPr/>
            </a:lvl1pPr>
          </a:lstStyle>
          <a:p>
            <a:pPr>
              <a:defRPr/>
            </a:pPr>
            <a:fld id="{4F9076EC-AACB-4A04-A5EB-A07A9E10DC66}" type="slidenum">
              <a:rPr lang="en-US" altLang="es-AR"/>
              <a:pPr>
                <a:defRPr/>
              </a:pPr>
              <a:t>‹Nº›</a:t>
            </a:fld>
            <a:endParaRPr lang="en-US" altLang="es-AR"/>
          </a:p>
        </p:txBody>
      </p:sp>
    </p:spTree>
    <p:extLst>
      <p:ext uri="{BB962C8B-B14F-4D97-AF65-F5344CB8AC3E}">
        <p14:creationId xmlns:p14="http://schemas.microsoft.com/office/powerpoint/2010/main" val="3307959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AR"/>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11">
            <a:extLst>
              <a:ext uri="{FF2B5EF4-FFF2-40B4-BE49-F238E27FC236}">
                <a16:creationId xmlns:a16="http://schemas.microsoft.com/office/drawing/2014/main" id="{A95C33B4-6DAF-4CF5-83BC-93640CADF4B2}"/>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3C308D28-3C83-4CF7-9EE0-F068BCFFB0F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D393496E-2FA6-4000-B8BF-6375BF48959D}"/>
              </a:ext>
            </a:extLst>
          </p:cNvPr>
          <p:cNvSpPr>
            <a:spLocks noGrp="1" noChangeArrowheads="1"/>
          </p:cNvSpPr>
          <p:nvPr>
            <p:ph type="sldNum" sz="quarter" idx="12"/>
          </p:nvPr>
        </p:nvSpPr>
        <p:spPr>
          <a:ln/>
        </p:spPr>
        <p:txBody>
          <a:bodyPr/>
          <a:lstStyle>
            <a:lvl1pPr>
              <a:defRPr/>
            </a:lvl1pPr>
          </a:lstStyle>
          <a:p>
            <a:pPr>
              <a:defRPr/>
            </a:pPr>
            <a:fld id="{8CFF0883-E752-457F-9F54-DBBD0D2F04B0}" type="slidenum">
              <a:rPr lang="en-US" altLang="es-AR"/>
              <a:pPr>
                <a:defRPr/>
              </a:pPr>
              <a:t>‹Nº›</a:t>
            </a:fld>
            <a:endParaRPr lang="en-US" altLang="es-AR"/>
          </a:p>
        </p:txBody>
      </p:sp>
    </p:spTree>
    <p:extLst>
      <p:ext uri="{BB962C8B-B14F-4D97-AF65-F5344CB8AC3E}">
        <p14:creationId xmlns:p14="http://schemas.microsoft.com/office/powerpoint/2010/main" val="2568796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7004050" y="304800"/>
            <a:ext cx="1951038" cy="6324600"/>
          </a:xfrm>
        </p:spPr>
        <p:txBody>
          <a:bodyPr vert="eaVert"/>
          <a:lstStyle/>
          <a:p>
            <a:r>
              <a:rPr lang="es-ES"/>
              <a:t>Haga clic para modificar el estilo de título del patrón</a:t>
            </a:r>
            <a:endParaRPr lang="es-AR"/>
          </a:p>
        </p:txBody>
      </p:sp>
      <p:sp>
        <p:nvSpPr>
          <p:cNvPr id="3" name="2 Marcador de texto vertical"/>
          <p:cNvSpPr>
            <a:spLocks noGrp="1"/>
          </p:cNvSpPr>
          <p:nvPr>
            <p:ph type="body" orient="vert" idx="1"/>
          </p:nvPr>
        </p:nvSpPr>
        <p:spPr>
          <a:xfrm>
            <a:off x="1150938" y="304800"/>
            <a:ext cx="5700712" cy="632460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Rectangle 11">
            <a:extLst>
              <a:ext uri="{FF2B5EF4-FFF2-40B4-BE49-F238E27FC236}">
                <a16:creationId xmlns:a16="http://schemas.microsoft.com/office/drawing/2014/main" id="{D471AC8B-7CD8-4C0C-B422-ADBFEA7CBF6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12">
            <a:extLst>
              <a:ext uri="{FF2B5EF4-FFF2-40B4-BE49-F238E27FC236}">
                <a16:creationId xmlns:a16="http://schemas.microsoft.com/office/drawing/2014/main" id="{D5F1DD92-F5C5-488F-BBD2-7ADE73E49B4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13">
            <a:extLst>
              <a:ext uri="{FF2B5EF4-FFF2-40B4-BE49-F238E27FC236}">
                <a16:creationId xmlns:a16="http://schemas.microsoft.com/office/drawing/2014/main" id="{16D51F34-F18E-44C3-AD06-78D8A455CFFD}"/>
              </a:ext>
            </a:extLst>
          </p:cNvPr>
          <p:cNvSpPr>
            <a:spLocks noGrp="1" noChangeArrowheads="1"/>
          </p:cNvSpPr>
          <p:nvPr>
            <p:ph type="sldNum" sz="quarter" idx="12"/>
          </p:nvPr>
        </p:nvSpPr>
        <p:spPr>
          <a:ln/>
        </p:spPr>
        <p:txBody>
          <a:bodyPr/>
          <a:lstStyle>
            <a:lvl1pPr>
              <a:defRPr/>
            </a:lvl1pPr>
          </a:lstStyle>
          <a:p>
            <a:pPr>
              <a:defRPr/>
            </a:pPr>
            <a:fld id="{24A56ECF-A6B1-447F-B08B-2FD356F199F6}" type="slidenum">
              <a:rPr lang="en-US" altLang="es-AR"/>
              <a:pPr>
                <a:defRPr/>
              </a:pPr>
              <a:t>‹Nº›</a:t>
            </a:fld>
            <a:endParaRPr lang="en-US" altLang="es-AR"/>
          </a:p>
        </p:txBody>
      </p:sp>
    </p:spTree>
    <p:extLst>
      <p:ext uri="{BB962C8B-B14F-4D97-AF65-F5344CB8AC3E}">
        <p14:creationId xmlns:p14="http://schemas.microsoft.com/office/powerpoint/2010/main" val="1461377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9">
            <a:extLst>
              <a:ext uri="{FF2B5EF4-FFF2-40B4-BE49-F238E27FC236}">
                <a16:creationId xmlns:a16="http://schemas.microsoft.com/office/drawing/2014/main" id="{B462A6C0-8167-4DDD-973E-EBFD332581C7}"/>
              </a:ext>
            </a:extLst>
          </p:cNvPr>
          <p:cNvGrpSpPr>
            <a:grpSpLocks/>
          </p:cNvGrpSpPr>
          <p:nvPr userDrawn="1"/>
        </p:nvGrpSpPr>
        <p:grpSpPr bwMode="auto">
          <a:xfrm>
            <a:off x="127000" y="609600"/>
            <a:ext cx="8542338" cy="1052513"/>
            <a:chOff x="80" y="624"/>
            <a:chExt cx="5381" cy="663"/>
          </a:xfrm>
        </p:grpSpPr>
        <p:sp>
          <p:nvSpPr>
            <p:cNvPr id="1038" name="Rectangle 2">
              <a:extLst>
                <a:ext uri="{FF2B5EF4-FFF2-40B4-BE49-F238E27FC236}">
                  <a16:creationId xmlns:a16="http://schemas.microsoft.com/office/drawing/2014/main" id="{EAF4D699-854E-42EA-824D-6177673B7DB8}"/>
                </a:ext>
              </a:extLst>
            </p:cNvPr>
            <p:cNvSpPr>
              <a:spLocks noChangeArrowheads="1"/>
            </p:cNvSpPr>
            <p:nvPr/>
          </p:nvSpPr>
          <p:spPr bwMode="ltGray">
            <a:xfrm>
              <a:off x="263" y="692"/>
              <a:ext cx="27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ES" sz="2400">
                <a:solidFill>
                  <a:schemeClr val="tx1"/>
                </a:solidFill>
              </a:endParaRPr>
            </a:p>
          </p:txBody>
        </p:sp>
        <p:sp>
          <p:nvSpPr>
            <p:cNvPr id="1039" name="Rectangle 3">
              <a:extLst>
                <a:ext uri="{FF2B5EF4-FFF2-40B4-BE49-F238E27FC236}">
                  <a16:creationId xmlns:a16="http://schemas.microsoft.com/office/drawing/2014/main" id="{9E485ABE-3045-49A5-8548-D33BF05CEA9F}"/>
                </a:ext>
              </a:extLst>
            </p:cNvPr>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ES" sz="2400">
                <a:solidFill>
                  <a:schemeClr val="tx1"/>
                </a:solidFill>
              </a:endParaRPr>
            </a:p>
          </p:txBody>
        </p:sp>
        <p:sp>
          <p:nvSpPr>
            <p:cNvPr id="1040" name="Rectangle 4">
              <a:extLst>
                <a:ext uri="{FF2B5EF4-FFF2-40B4-BE49-F238E27FC236}">
                  <a16:creationId xmlns:a16="http://schemas.microsoft.com/office/drawing/2014/main" id="{AFBF37A9-F823-4378-A476-61C12173308E}"/>
                </a:ext>
              </a:extLst>
            </p:cNvPr>
            <p:cNvSpPr>
              <a:spLocks noChangeArrowheads="1"/>
            </p:cNvSpPr>
            <p:nvPr/>
          </p:nvSpPr>
          <p:spPr bwMode="ltGray">
            <a:xfrm>
              <a:off x="341" y="958"/>
              <a:ext cx="26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ES" sz="2400">
                <a:solidFill>
                  <a:schemeClr val="tx1"/>
                </a:solidFill>
              </a:endParaRPr>
            </a:p>
          </p:txBody>
        </p:sp>
        <p:sp>
          <p:nvSpPr>
            <p:cNvPr id="1041" name="Rectangle 5">
              <a:extLst>
                <a:ext uri="{FF2B5EF4-FFF2-40B4-BE49-F238E27FC236}">
                  <a16:creationId xmlns:a16="http://schemas.microsoft.com/office/drawing/2014/main" id="{4463EC3D-F44D-4FAC-94F7-18279E08C743}"/>
                </a:ext>
              </a:extLst>
            </p:cNvPr>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ES" sz="2400">
                <a:solidFill>
                  <a:schemeClr val="tx1"/>
                </a:solidFill>
              </a:endParaRPr>
            </a:p>
          </p:txBody>
        </p:sp>
        <p:sp>
          <p:nvSpPr>
            <p:cNvPr id="1042" name="Rectangle 6">
              <a:extLst>
                <a:ext uri="{FF2B5EF4-FFF2-40B4-BE49-F238E27FC236}">
                  <a16:creationId xmlns:a16="http://schemas.microsoft.com/office/drawing/2014/main" id="{ED6B5361-D04A-4074-87D6-6848F6F83957}"/>
                </a:ext>
              </a:extLst>
            </p:cNvPr>
            <p:cNvSpPr>
              <a:spLocks noChangeArrowheads="1"/>
            </p:cNvSpPr>
            <p:nvPr/>
          </p:nvSpPr>
          <p:spPr bwMode="ltGray">
            <a:xfrm>
              <a:off x="80" y="912"/>
              <a:ext cx="353"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ES" sz="2400">
                <a:solidFill>
                  <a:schemeClr val="tx1"/>
                </a:solidFill>
              </a:endParaRPr>
            </a:p>
          </p:txBody>
        </p:sp>
        <p:sp>
          <p:nvSpPr>
            <p:cNvPr id="1043" name="Rectangle 7">
              <a:extLst>
                <a:ext uri="{FF2B5EF4-FFF2-40B4-BE49-F238E27FC236}">
                  <a16:creationId xmlns:a16="http://schemas.microsoft.com/office/drawing/2014/main" id="{5BAC2227-5FAC-4103-8638-1490187139FB}"/>
                </a:ext>
              </a:extLst>
            </p:cNvPr>
            <p:cNvSpPr>
              <a:spLocks noChangeArrowheads="1"/>
            </p:cNvSpPr>
            <p:nvPr/>
          </p:nvSpPr>
          <p:spPr bwMode="gray">
            <a:xfrm>
              <a:off x="480" y="624"/>
              <a:ext cx="20"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ES" sz="2400">
                <a:solidFill>
                  <a:schemeClr val="tx1"/>
                </a:solidFill>
              </a:endParaRPr>
            </a:p>
          </p:txBody>
        </p:sp>
        <p:sp>
          <p:nvSpPr>
            <p:cNvPr id="1044" name="Rectangle 8">
              <a:extLst>
                <a:ext uri="{FF2B5EF4-FFF2-40B4-BE49-F238E27FC236}">
                  <a16:creationId xmlns:a16="http://schemas.microsoft.com/office/drawing/2014/main" id="{52667C9F-2665-4CCF-802A-C795D912A547}"/>
                </a:ext>
              </a:extLst>
            </p:cNvPr>
            <p:cNvSpPr>
              <a:spLocks noChangeArrowheads="1"/>
            </p:cNvSpPr>
            <p:nvPr/>
          </p:nvSpPr>
          <p:spPr bwMode="gray">
            <a:xfrm>
              <a:off x="279" y="1122"/>
              <a:ext cx="5182" cy="2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1400">
                  <a:solidFill>
                    <a:schemeClr val="folHlink"/>
                  </a:solidFill>
                  <a:latin typeface="Tahoma" pitchFamily="34" charset="0"/>
                </a:defRPr>
              </a:lvl1pPr>
              <a:lvl2pPr marL="742950" indent="-285750" eaLnBrk="0" hangingPunct="0">
                <a:defRPr sz="1400">
                  <a:solidFill>
                    <a:schemeClr val="folHlink"/>
                  </a:solidFill>
                  <a:latin typeface="Tahoma" pitchFamily="34" charset="0"/>
                </a:defRPr>
              </a:lvl2pPr>
              <a:lvl3pPr marL="1143000" indent="-228600" eaLnBrk="0" hangingPunct="0">
                <a:defRPr sz="1400">
                  <a:solidFill>
                    <a:schemeClr val="folHlink"/>
                  </a:solidFill>
                  <a:latin typeface="Tahoma" pitchFamily="34" charset="0"/>
                </a:defRPr>
              </a:lvl3pPr>
              <a:lvl4pPr marL="1600200" indent="-228600" eaLnBrk="0" hangingPunct="0">
                <a:defRPr sz="1400">
                  <a:solidFill>
                    <a:schemeClr val="folHlink"/>
                  </a:solidFill>
                  <a:latin typeface="Tahoma" pitchFamily="34" charset="0"/>
                </a:defRPr>
              </a:lvl4pPr>
              <a:lvl5pPr marL="2057400" indent="-228600" eaLnBrk="0" hangingPunct="0">
                <a:defRPr sz="1400">
                  <a:solidFill>
                    <a:schemeClr val="folHlink"/>
                  </a:solidFill>
                  <a:latin typeface="Tahoma" pitchFamily="34" charset="0"/>
                </a:defRPr>
              </a:lvl5pPr>
              <a:lvl6pPr marL="2514600" indent="-228600" eaLnBrk="0" fontAlgn="base" hangingPunct="0">
                <a:spcBef>
                  <a:spcPct val="0"/>
                </a:spcBef>
                <a:spcAft>
                  <a:spcPct val="0"/>
                </a:spcAft>
                <a:defRPr sz="1400">
                  <a:solidFill>
                    <a:schemeClr val="folHlink"/>
                  </a:solidFill>
                  <a:latin typeface="Tahoma" pitchFamily="34" charset="0"/>
                </a:defRPr>
              </a:lvl6pPr>
              <a:lvl7pPr marL="2971800" indent="-228600" eaLnBrk="0" fontAlgn="base" hangingPunct="0">
                <a:spcBef>
                  <a:spcPct val="0"/>
                </a:spcBef>
                <a:spcAft>
                  <a:spcPct val="0"/>
                </a:spcAft>
                <a:defRPr sz="1400">
                  <a:solidFill>
                    <a:schemeClr val="folHlink"/>
                  </a:solidFill>
                  <a:latin typeface="Tahoma" pitchFamily="34" charset="0"/>
                </a:defRPr>
              </a:lvl7pPr>
              <a:lvl8pPr marL="3429000" indent="-228600" eaLnBrk="0" fontAlgn="base" hangingPunct="0">
                <a:spcBef>
                  <a:spcPct val="0"/>
                </a:spcBef>
                <a:spcAft>
                  <a:spcPct val="0"/>
                </a:spcAft>
                <a:defRPr sz="1400">
                  <a:solidFill>
                    <a:schemeClr val="folHlink"/>
                  </a:solidFill>
                  <a:latin typeface="Tahoma" pitchFamily="34" charset="0"/>
                </a:defRPr>
              </a:lvl8pPr>
              <a:lvl9pPr marL="3886200" indent="-228600" eaLnBrk="0" fontAlgn="base" hangingPunct="0">
                <a:spcBef>
                  <a:spcPct val="0"/>
                </a:spcBef>
                <a:spcAft>
                  <a:spcPct val="0"/>
                </a:spcAft>
                <a:defRPr sz="1400">
                  <a:solidFill>
                    <a:schemeClr val="folHlink"/>
                  </a:solidFill>
                  <a:latin typeface="Tahoma" pitchFamily="34" charset="0"/>
                </a:defRPr>
              </a:lvl9pPr>
            </a:lstStyle>
            <a:p>
              <a:pPr algn="ctr" eaLnBrk="1" hangingPunct="1">
                <a:defRPr/>
              </a:pPr>
              <a:endParaRPr kumimoji="1" lang="es-ES" altLang="es-ES" sz="2400">
                <a:solidFill>
                  <a:schemeClr val="tx1"/>
                </a:solidFill>
              </a:endParaRPr>
            </a:p>
          </p:txBody>
        </p:sp>
      </p:grpSp>
      <p:sp>
        <p:nvSpPr>
          <p:cNvPr id="1027" name="Rectangle 9">
            <a:extLst>
              <a:ext uri="{FF2B5EF4-FFF2-40B4-BE49-F238E27FC236}">
                <a16:creationId xmlns:a16="http://schemas.microsoft.com/office/drawing/2014/main" id="{49F108FA-5241-4E96-928D-D121761E0D43}"/>
              </a:ext>
            </a:extLst>
          </p:cNvPr>
          <p:cNvSpPr>
            <a:spLocks noGrp="1" noChangeArrowheads="1"/>
          </p:cNvSpPr>
          <p:nvPr>
            <p:ph type="title"/>
          </p:nvPr>
        </p:nvSpPr>
        <p:spPr bwMode="auto">
          <a:xfrm>
            <a:off x="1150938" y="304800"/>
            <a:ext cx="77930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s-ES"/>
              <a:t>Click to edit Master title style</a:t>
            </a:r>
          </a:p>
        </p:txBody>
      </p:sp>
      <p:sp>
        <p:nvSpPr>
          <p:cNvPr id="1028" name="Rectangle 10">
            <a:extLst>
              <a:ext uri="{FF2B5EF4-FFF2-40B4-BE49-F238E27FC236}">
                <a16:creationId xmlns:a16="http://schemas.microsoft.com/office/drawing/2014/main" id="{2E896E52-68B7-4E65-8753-C16C58A49AFA}"/>
              </a:ext>
            </a:extLst>
          </p:cNvPr>
          <p:cNvSpPr>
            <a:spLocks noGrp="1" noChangeArrowheads="1"/>
          </p:cNvSpPr>
          <p:nvPr>
            <p:ph type="body" idx="1"/>
          </p:nvPr>
        </p:nvSpPr>
        <p:spPr bwMode="auto">
          <a:xfrm>
            <a:off x="1182688" y="167640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s-ES"/>
              <a:t>Click to edit Master text styles</a:t>
            </a:r>
          </a:p>
          <a:p>
            <a:pPr lvl="1"/>
            <a:r>
              <a:rPr lang="en-US" altLang="es-ES"/>
              <a:t>Second level</a:t>
            </a:r>
          </a:p>
          <a:p>
            <a:pPr lvl="2"/>
            <a:r>
              <a:rPr lang="en-US" altLang="es-ES"/>
              <a:t>Third level</a:t>
            </a:r>
          </a:p>
          <a:p>
            <a:pPr lvl="3"/>
            <a:r>
              <a:rPr lang="en-US" altLang="es-ES"/>
              <a:t>Fourth level</a:t>
            </a:r>
          </a:p>
          <a:p>
            <a:pPr lvl="4"/>
            <a:r>
              <a:rPr lang="en-US" altLang="es-ES"/>
              <a:t>Fifth level</a:t>
            </a:r>
          </a:p>
        </p:txBody>
      </p:sp>
      <p:sp>
        <p:nvSpPr>
          <p:cNvPr id="3083" name="Rectangle 11">
            <a:extLst>
              <a:ext uri="{FF2B5EF4-FFF2-40B4-BE49-F238E27FC236}">
                <a16:creationId xmlns:a16="http://schemas.microsoft.com/office/drawing/2014/main" id="{9E5EA905-AE87-4386-9C07-7B31CF3669F0}"/>
              </a:ext>
            </a:extLst>
          </p:cNvPr>
          <p:cNvSpPr>
            <a:spLocks noGrp="1" noChangeArrowheads="1"/>
          </p:cNvSpPr>
          <p:nvPr>
            <p:ph type="dt" sz="half" idx="2"/>
          </p:nvPr>
        </p:nvSpPr>
        <p:spPr bwMode="auto">
          <a:xfrm>
            <a:off x="9144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a:solidFill>
                  <a:schemeClr val="tx1"/>
                </a:solidFill>
              </a:defRPr>
            </a:lvl1pPr>
          </a:lstStyle>
          <a:p>
            <a:pPr>
              <a:defRPr/>
            </a:pPr>
            <a:endParaRPr lang="en-US"/>
          </a:p>
        </p:txBody>
      </p:sp>
      <p:sp>
        <p:nvSpPr>
          <p:cNvPr id="3084" name="Rectangle 12">
            <a:extLst>
              <a:ext uri="{FF2B5EF4-FFF2-40B4-BE49-F238E27FC236}">
                <a16:creationId xmlns:a16="http://schemas.microsoft.com/office/drawing/2014/main" id="{9CCA13B5-4962-42CB-A48E-96FB40CBB652}"/>
              </a:ext>
            </a:extLst>
          </p:cNvPr>
          <p:cNvSpPr>
            <a:spLocks noGrp="1" noChangeArrowheads="1"/>
          </p:cNvSpPr>
          <p:nvPr>
            <p:ph type="ftr" sz="quarter" idx="3"/>
          </p:nvPr>
        </p:nvSpPr>
        <p:spPr bwMode="auto">
          <a:xfrm>
            <a:off x="3352800" y="63246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a:solidFill>
                  <a:schemeClr val="tx1"/>
                </a:solidFill>
              </a:defRPr>
            </a:lvl1pPr>
          </a:lstStyle>
          <a:p>
            <a:pPr>
              <a:defRPr/>
            </a:pPr>
            <a:endParaRPr lang="en-US"/>
          </a:p>
        </p:txBody>
      </p:sp>
      <p:sp>
        <p:nvSpPr>
          <p:cNvPr id="3085" name="Rectangle 13">
            <a:extLst>
              <a:ext uri="{FF2B5EF4-FFF2-40B4-BE49-F238E27FC236}">
                <a16:creationId xmlns:a16="http://schemas.microsoft.com/office/drawing/2014/main" id="{2500443C-EA58-4F82-824E-E8DA3E9884EE}"/>
              </a:ext>
            </a:extLst>
          </p:cNvPr>
          <p:cNvSpPr>
            <a:spLocks noGrp="1" noChangeArrowheads="1"/>
          </p:cNvSpPr>
          <p:nvPr>
            <p:ph type="sldNum" sz="quarter" idx="4"/>
          </p:nvPr>
        </p:nvSpPr>
        <p:spPr bwMode="auto">
          <a:xfrm>
            <a:off x="6781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a:solidFill>
                  <a:schemeClr val="tx1"/>
                </a:solidFill>
              </a:defRPr>
            </a:lvl1pPr>
          </a:lstStyle>
          <a:p>
            <a:pPr>
              <a:defRPr/>
            </a:pPr>
            <a:fld id="{262D226F-8F9C-43E2-8DAB-CE10F3FFB5AA}" type="slidenum">
              <a:rPr lang="en-US" altLang="es-AR"/>
              <a:pPr>
                <a:defRPr/>
              </a:pPr>
              <a:t>‹Nº›</a:t>
            </a:fld>
            <a:endParaRPr lang="en-US" altLang="es-AR"/>
          </a:p>
        </p:txBody>
      </p:sp>
    </p:spTree>
  </p:cSld>
  <p:clrMap bg1="lt1" tx1="dk1" bg2="lt2" tx2="dk2" accent1="accent1" accent2="accent2" accent3="accent3" accent4="accent4" accent5="accent5" accent6="accent6" hlink="hlink" folHlink="folHlink"/>
  <p:sldLayoutIdLst>
    <p:sldLayoutId id="2147483816"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notesSlide" Target="../notesSlides/notesSlide3.xml"/><Relationship Id="rId7" Type="http://schemas.openxmlformats.org/officeDocument/2006/relationships/image" Target="../media/image7.jpe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image" Target="../media/image5.jpeg"/><Relationship Id="rId10" Type="http://schemas.openxmlformats.org/officeDocument/2006/relationships/image" Target="../media/image10.jpeg"/><Relationship Id="rId4" Type="http://schemas.openxmlformats.org/officeDocument/2006/relationships/image" Target="../media/image4.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hyperlink" Target="https://www.luciamonterorodriguez.com/crea-eventos-periodicos-outlook/" TargetMode="Externa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3.jpeg"/><Relationship Id="rId5" Type="http://schemas.openxmlformats.org/officeDocument/2006/relationships/image" Target="../media/image10.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990600" y="2057400"/>
            <a:ext cx="7772400" cy="1143000"/>
          </a:xfrm>
        </p:spPr>
        <p:txBody>
          <a:bodyPr/>
          <a:lstStyle/>
          <a:p>
            <a:pPr algn="ctr" eaLnBrk="1" hangingPunct="1"/>
            <a:r>
              <a:rPr lang="es-AR" altLang="es-AR" dirty="0"/>
              <a:t>Diseño y gestión de Bases de Datos</a:t>
            </a:r>
          </a:p>
        </p:txBody>
      </p:sp>
      <p:sp>
        <p:nvSpPr>
          <p:cNvPr id="5123" name="Rectangle 3"/>
          <p:cNvSpPr>
            <a:spLocks noGrp="1" noChangeArrowheads="1"/>
          </p:cNvSpPr>
          <p:nvPr>
            <p:ph type="subTitle" idx="1"/>
          </p:nvPr>
        </p:nvSpPr>
        <p:spPr>
          <a:xfrm>
            <a:off x="395288" y="3886200"/>
            <a:ext cx="8208962" cy="1558925"/>
          </a:xfrm>
        </p:spPr>
        <p:txBody>
          <a:bodyPr/>
          <a:lstStyle/>
          <a:p>
            <a:pPr eaLnBrk="1" hangingPunct="1"/>
            <a:r>
              <a:rPr lang="es-AR" altLang="es-AR" b="1" i="1" dirty="0">
                <a:solidFill>
                  <a:srgbClr val="920000"/>
                </a:solidFill>
              </a:rPr>
              <a:t>UT2:La actividad de diseño (conceptual y lógico) para generar el modelo de datos. </a:t>
            </a:r>
          </a:p>
        </p:txBody>
      </p:sp>
      <p:grpSp>
        <p:nvGrpSpPr>
          <p:cNvPr id="5124" name="Group 7"/>
          <p:cNvGrpSpPr>
            <a:grpSpLocks/>
          </p:cNvGrpSpPr>
          <p:nvPr/>
        </p:nvGrpSpPr>
        <p:grpSpPr bwMode="auto">
          <a:xfrm>
            <a:off x="1295400" y="152400"/>
            <a:ext cx="6324600" cy="1219200"/>
            <a:chOff x="384" y="288"/>
            <a:chExt cx="3984" cy="768"/>
          </a:xfrm>
        </p:grpSpPr>
        <p:pic>
          <p:nvPicPr>
            <p:cNvPr id="5125" name="Picture 4" descr="logoviej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4" y="288"/>
              <a:ext cx="720"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6" name="Picture 5" descr="index_r03_c0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 y="384"/>
              <a:ext cx="2657"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6" descr="logofacu-c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8" y="336"/>
              <a:ext cx="59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A1B0E42-AE51-4071-8BD3-CA5AB8AA7F39}"/>
              </a:ext>
            </a:extLst>
          </p:cNvPr>
          <p:cNvSpPr>
            <a:spLocks noGrp="1" noChangeArrowheads="1"/>
          </p:cNvSpPr>
          <p:nvPr>
            <p:ph type="title"/>
          </p:nvPr>
        </p:nvSpPr>
        <p:spPr>
          <a:xfrm>
            <a:off x="863030" y="232569"/>
            <a:ext cx="8010525" cy="1143000"/>
          </a:xfrm>
        </p:spPr>
        <p:txBody>
          <a:bodyPr/>
          <a:lstStyle/>
          <a:p>
            <a:pPr algn="ctr" eaLnBrk="1" hangingPunct="1"/>
            <a:r>
              <a:rPr lang="es-AR" altLang="es-ES" sz="4800"/>
              <a:t>Esquema</a:t>
            </a:r>
          </a:p>
        </p:txBody>
      </p:sp>
      <p:sp>
        <p:nvSpPr>
          <p:cNvPr id="28" name="AutoShape 7">
            <a:extLst>
              <a:ext uri="{FF2B5EF4-FFF2-40B4-BE49-F238E27FC236}">
                <a16:creationId xmlns:a16="http://schemas.microsoft.com/office/drawing/2014/main" id="{62D9C782-6B44-14EA-5304-D5C7984F6E2B}"/>
              </a:ext>
            </a:extLst>
          </p:cNvPr>
          <p:cNvSpPr>
            <a:spLocks noChangeArrowheads="1"/>
          </p:cNvSpPr>
          <p:nvPr/>
        </p:nvSpPr>
        <p:spPr bwMode="auto">
          <a:xfrm>
            <a:off x="468313" y="2060848"/>
            <a:ext cx="3886200" cy="720725"/>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marL="285750" indent="-285750"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dirty="0">
                <a:solidFill>
                  <a:srgbClr val="C0C0C0"/>
                </a:solidFill>
              </a:rPr>
              <a:t>1.</a:t>
            </a:r>
            <a:r>
              <a:rPr lang="es-AR" altLang="es-ES" sz="2000" dirty="0">
                <a:solidFill>
                  <a:srgbClr val="C0C0C0"/>
                </a:solidFill>
              </a:rPr>
              <a:t> Qué es el diseño conceptual y lógico</a:t>
            </a:r>
            <a:endParaRPr lang="es-ES" altLang="es-ES" sz="2000" dirty="0">
              <a:solidFill>
                <a:srgbClr val="C0C0C0"/>
              </a:solidFill>
            </a:endParaRPr>
          </a:p>
        </p:txBody>
      </p:sp>
      <p:sp>
        <p:nvSpPr>
          <p:cNvPr id="29" name="AutoShape 8">
            <a:extLst>
              <a:ext uri="{FF2B5EF4-FFF2-40B4-BE49-F238E27FC236}">
                <a16:creationId xmlns:a16="http://schemas.microsoft.com/office/drawing/2014/main" id="{FB7895EA-BAAF-BF14-163D-9DDB0B746981}"/>
              </a:ext>
            </a:extLst>
          </p:cNvPr>
          <p:cNvSpPr>
            <a:spLocks noChangeArrowheads="1"/>
          </p:cNvSpPr>
          <p:nvPr/>
        </p:nvSpPr>
        <p:spPr bwMode="auto">
          <a:xfrm>
            <a:off x="5316865" y="1663700"/>
            <a:ext cx="2087562" cy="541338"/>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marL="285750" indent="-285750"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2.</a:t>
            </a:r>
            <a:r>
              <a:rPr lang="es-AR" altLang="es-ES" sz="2000">
                <a:solidFill>
                  <a:srgbClr val="C0C0C0"/>
                </a:solidFill>
              </a:rPr>
              <a:t> Entidades</a:t>
            </a:r>
            <a:endParaRPr lang="es-ES" altLang="es-ES" sz="2000">
              <a:solidFill>
                <a:srgbClr val="C0C0C0"/>
              </a:solidFill>
            </a:endParaRPr>
          </a:p>
        </p:txBody>
      </p:sp>
      <p:sp>
        <p:nvSpPr>
          <p:cNvPr id="30" name="AutoShape 9">
            <a:extLst>
              <a:ext uri="{FF2B5EF4-FFF2-40B4-BE49-F238E27FC236}">
                <a16:creationId xmlns:a16="http://schemas.microsoft.com/office/drawing/2014/main" id="{E2C464B5-5EDE-EC28-EDD9-60311E0EA374}"/>
              </a:ext>
            </a:extLst>
          </p:cNvPr>
          <p:cNvSpPr>
            <a:spLocks noChangeArrowheads="1"/>
          </p:cNvSpPr>
          <p:nvPr/>
        </p:nvSpPr>
        <p:spPr bwMode="auto">
          <a:xfrm>
            <a:off x="5292725" y="2256483"/>
            <a:ext cx="2159000" cy="452437"/>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3.</a:t>
            </a:r>
            <a:r>
              <a:rPr lang="es-AR" altLang="es-ES" sz="2000">
                <a:solidFill>
                  <a:srgbClr val="C0C0C0"/>
                </a:solidFill>
              </a:rPr>
              <a:t> Relaciones</a:t>
            </a:r>
            <a:endParaRPr lang="es-ES" altLang="es-ES" sz="2000">
              <a:solidFill>
                <a:srgbClr val="C0C0C0"/>
              </a:solidFill>
            </a:endParaRPr>
          </a:p>
        </p:txBody>
      </p:sp>
      <p:sp>
        <p:nvSpPr>
          <p:cNvPr id="31" name="AutoShape 10">
            <a:extLst>
              <a:ext uri="{FF2B5EF4-FFF2-40B4-BE49-F238E27FC236}">
                <a16:creationId xmlns:a16="http://schemas.microsoft.com/office/drawing/2014/main" id="{BCDDE015-30B6-DA25-59A2-B6E380D3D5BC}"/>
              </a:ext>
            </a:extLst>
          </p:cNvPr>
          <p:cNvSpPr>
            <a:spLocks noChangeArrowheads="1"/>
          </p:cNvSpPr>
          <p:nvPr/>
        </p:nvSpPr>
        <p:spPr bwMode="auto">
          <a:xfrm>
            <a:off x="5292725" y="2765162"/>
            <a:ext cx="2159000" cy="431800"/>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dirty="0">
                <a:solidFill>
                  <a:srgbClr val="C0C0C0"/>
                </a:solidFill>
              </a:rPr>
              <a:t>4.</a:t>
            </a:r>
            <a:r>
              <a:rPr lang="es-AR" altLang="es-ES" sz="2000" dirty="0">
                <a:solidFill>
                  <a:srgbClr val="C0C0C0"/>
                </a:solidFill>
              </a:rPr>
              <a:t> Restricciones </a:t>
            </a:r>
            <a:endParaRPr lang="es-ES" altLang="es-ES" sz="2000" dirty="0">
              <a:solidFill>
                <a:srgbClr val="C0C0C0"/>
              </a:solidFill>
            </a:endParaRPr>
          </a:p>
        </p:txBody>
      </p:sp>
      <p:sp>
        <p:nvSpPr>
          <p:cNvPr id="32" name="Line 12">
            <a:extLst>
              <a:ext uri="{FF2B5EF4-FFF2-40B4-BE49-F238E27FC236}">
                <a16:creationId xmlns:a16="http://schemas.microsoft.com/office/drawing/2014/main" id="{4F495B51-B4B4-533D-B89C-4E53CD46B858}"/>
              </a:ext>
            </a:extLst>
          </p:cNvPr>
          <p:cNvSpPr>
            <a:spLocks noChangeShapeType="1"/>
          </p:cNvSpPr>
          <p:nvPr/>
        </p:nvSpPr>
        <p:spPr bwMode="auto">
          <a:xfrm>
            <a:off x="4356100" y="2574925"/>
            <a:ext cx="863600" cy="34925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AR"/>
          </a:p>
        </p:txBody>
      </p:sp>
      <p:sp>
        <p:nvSpPr>
          <p:cNvPr id="33" name="Line 13">
            <a:extLst>
              <a:ext uri="{FF2B5EF4-FFF2-40B4-BE49-F238E27FC236}">
                <a16:creationId xmlns:a16="http://schemas.microsoft.com/office/drawing/2014/main" id="{749AF0F6-6FBC-745E-C051-16FB9FDFB678}"/>
              </a:ext>
            </a:extLst>
          </p:cNvPr>
          <p:cNvSpPr>
            <a:spLocks noChangeShapeType="1"/>
          </p:cNvSpPr>
          <p:nvPr/>
        </p:nvSpPr>
        <p:spPr bwMode="auto">
          <a:xfrm flipH="1">
            <a:off x="4356100" y="1916113"/>
            <a:ext cx="936625" cy="576262"/>
          </a:xfrm>
          <a:prstGeom prst="line">
            <a:avLst/>
          </a:prstGeom>
          <a:noFill/>
          <a:ln w="190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es-AR"/>
          </a:p>
        </p:txBody>
      </p:sp>
      <p:sp>
        <p:nvSpPr>
          <p:cNvPr id="34" name="Line 22">
            <a:extLst>
              <a:ext uri="{FF2B5EF4-FFF2-40B4-BE49-F238E27FC236}">
                <a16:creationId xmlns:a16="http://schemas.microsoft.com/office/drawing/2014/main" id="{59E645C2-0679-7B37-BCFE-908ABB5787BA}"/>
              </a:ext>
            </a:extLst>
          </p:cNvPr>
          <p:cNvSpPr>
            <a:spLocks noChangeShapeType="1"/>
          </p:cNvSpPr>
          <p:nvPr/>
        </p:nvSpPr>
        <p:spPr bwMode="auto">
          <a:xfrm flipH="1" flipV="1">
            <a:off x="4356100" y="2492375"/>
            <a:ext cx="863600" cy="0"/>
          </a:xfrm>
          <a:prstGeom prst="line">
            <a:avLst/>
          </a:prstGeom>
          <a:noFill/>
          <a:ln w="190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es-AR"/>
          </a:p>
        </p:txBody>
      </p:sp>
      <p:sp>
        <p:nvSpPr>
          <p:cNvPr id="35" name="AutoShape 23">
            <a:extLst>
              <a:ext uri="{FF2B5EF4-FFF2-40B4-BE49-F238E27FC236}">
                <a16:creationId xmlns:a16="http://schemas.microsoft.com/office/drawing/2014/main" id="{3EB642D2-CC13-B9C3-3AD2-FBA4741AED82}"/>
              </a:ext>
            </a:extLst>
          </p:cNvPr>
          <p:cNvSpPr>
            <a:spLocks noChangeArrowheads="1"/>
          </p:cNvSpPr>
          <p:nvPr/>
        </p:nvSpPr>
        <p:spPr bwMode="auto">
          <a:xfrm>
            <a:off x="323529" y="5949280"/>
            <a:ext cx="4032571" cy="503039"/>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266700" indent="-266700" eaLnBrk="1" hangingPunct="1">
              <a:spcBef>
                <a:spcPct val="0"/>
              </a:spcBef>
              <a:buClrTx/>
              <a:buSzTx/>
              <a:buFontTx/>
              <a:buNone/>
              <a:defRPr/>
            </a:pPr>
            <a:r>
              <a:rPr lang="es-AR" altLang="es-ES" sz="2000" b="1" dirty="0">
                <a:solidFill>
                  <a:srgbClr val="C0C0C0"/>
                </a:solidFill>
              </a:rPr>
              <a:t>9.</a:t>
            </a:r>
            <a:r>
              <a:rPr lang="es-AR" altLang="es-ES" sz="2000" dirty="0">
                <a:solidFill>
                  <a:srgbClr val="C0C0C0"/>
                </a:solidFill>
              </a:rPr>
              <a:t> Criterios del buen diseño</a:t>
            </a:r>
            <a:endParaRPr lang="es-ES" altLang="es-ES" sz="2000" dirty="0">
              <a:solidFill>
                <a:srgbClr val="C0C0C0"/>
              </a:solidFill>
            </a:endParaRPr>
          </a:p>
        </p:txBody>
      </p:sp>
      <p:sp>
        <p:nvSpPr>
          <p:cNvPr id="36" name="AutoShape 25">
            <a:extLst>
              <a:ext uri="{FF2B5EF4-FFF2-40B4-BE49-F238E27FC236}">
                <a16:creationId xmlns:a16="http://schemas.microsoft.com/office/drawing/2014/main" id="{339E5AE6-AE18-A2AC-6F93-F916B5132D0D}"/>
              </a:ext>
            </a:extLst>
          </p:cNvPr>
          <p:cNvSpPr>
            <a:spLocks noChangeArrowheads="1"/>
          </p:cNvSpPr>
          <p:nvPr/>
        </p:nvSpPr>
        <p:spPr bwMode="auto">
          <a:xfrm>
            <a:off x="863030" y="3933030"/>
            <a:ext cx="2665412" cy="616892"/>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dirty="0">
                <a:solidFill>
                  <a:srgbClr val="C0C0C0"/>
                </a:solidFill>
              </a:rPr>
              <a:t>8.</a:t>
            </a:r>
            <a:r>
              <a:rPr lang="es-AR" altLang="es-ES" sz="2000" dirty="0">
                <a:solidFill>
                  <a:srgbClr val="C0C0C0"/>
                </a:solidFill>
              </a:rPr>
              <a:t> La normalización</a:t>
            </a:r>
            <a:endParaRPr lang="es-AR" altLang="es-ES" sz="1600" dirty="0">
              <a:solidFill>
                <a:srgbClr val="C0C0C0"/>
              </a:solidFill>
            </a:endParaRPr>
          </a:p>
          <a:p>
            <a:pPr algn="ctr" eaLnBrk="1" hangingPunct="1">
              <a:spcBef>
                <a:spcPct val="0"/>
              </a:spcBef>
              <a:buClrTx/>
              <a:buSzTx/>
              <a:buFontTx/>
              <a:buNone/>
              <a:defRPr/>
            </a:pPr>
            <a:r>
              <a:rPr lang="es-AR" altLang="es-ES" sz="1600" dirty="0">
                <a:solidFill>
                  <a:srgbClr val="C0C0C0"/>
                </a:solidFill>
              </a:rPr>
              <a:t>1FN, 2FN y 3FN</a:t>
            </a:r>
            <a:r>
              <a:rPr lang="es-AR" altLang="es-ES" sz="2000" dirty="0">
                <a:solidFill>
                  <a:srgbClr val="C0C0C0"/>
                </a:solidFill>
              </a:rPr>
              <a:t> </a:t>
            </a:r>
            <a:endParaRPr lang="es-ES" altLang="es-ES" sz="2000" dirty="0">
              <a:solidFill>
                <a:srgbClr val="C0C0C0"/>
              </a:solidFill>
            </a:endParaRPr>
          </a:p>
        </p:txBody>
      </p:sp>
      <p:sp>
        <p:nvSpPr>
          <p:cNvPr id="37" name="Line 27">
            <a:extLst>
              <a:ext uri="{FF2B5EF4-FFF2-40B4-BE49-F238E27FC236}">
                <a16:creationId xmlns:a16="http://schemas.microsoft.com/office/drawing/2014/main" id="{1D88E020-99BE-8BC6-4719-FBEF02B2F953}"/>
              </a:ext>
            </a:extLst>
          </p:cNvPr>
          <p:cNvSpPr>
            <a:spLocks noChangeShapeType="1"/>
          </p:cNvSpPr>
          <p:nvPr/>
        </p:nvSpPr>
        <p:spPr bwMode="auto">
          <a:xfrm>
            <a:off x="2771775" y="2924175"/>
            <a:ext cx="2305050" cy="936625"/>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AR"/>
          </a:p>
        </p:txBody>
      </p:sp>
      <p:sp>
        <p:nvSpPr>
          <p:cNvPr id="38" name="AutoShape 28">
            <a:extLst>
              <a:ext uri="{FF2B5EF4-FFF2-40B4-BE49-F238E27FC236}">
                <a16:creationId xmlns:a16="http://schemas.microsoft.com/office/drawing/2014/main" id="{DE820961-EF8D-B4DC-B5FF-8DC4EEC94812}"/>
              </a:ext>
            </a:extLst>
          </p:cNvPr>
          <p:cNvSpPr>
            <a:spLocks noChangeArrowheads="1"/>
          </p:cNvSpPr>
          <p:nvPr/>
        </p:nvSpPr>
        <p:spPr bwMode="auto">
          <a:xfrm>
            <a:off x="4927228" y="4917727"/>
            <a:ext cx="3816052" cy="671513"/>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dirty="0">
                <a:solidFill>
                  <a:srgbClr val="C0C0C0"/>
                </a:solidFill>
              </a:rPr>
              <a:t>7.</a:t>
            </a:r>
            <a:r>
              <a:rPr lang="es-AR" altLang="es-ES" sz="2000" dirty="0">
                <a:solidFill>
                  <a:srgbClr val="C0C0C0"/>
                </a:solidFill>
              </a:rPr>
              <a:t> Modelo arriba-abajo: </a:t>
            </a:r>
          </a:p>
          <a:p>
            <a:pPr eaLnBrk="1" hangingPunct="1">
              <a:spcBef>
                <a:spcPct val="0"/>
              </a:spcBef>
              <a:buClrTx/>
              <a:buSzTx/>
              <a:buFontTx/>
              <a:buNone/>
              <a:defRPr/>
            </a:pPr>
            <a:r>
              <a:rPr lang="es-AR" altLang="es-ES" sz="1600" dirty="0">
                <a:solidFill>
                  <a:srgbClr val="C0C0C0"/>
                </a:solidFill>
              </a:rPr>
              <a:t>El MER y las reglas de transformación</a:t>
            </a:r>
            <a:endParaRPr lang="es-ES" altLang="es-ES" sz="1600" dirty="0">
              <a:solidFill>
                <a:srgbClr val="C0C0C0"/>
              </a:solidFill>
            </a:endParaRPr>
          </a:p>
        </p:txBody>
      </p:sp>
      <p:sp>
        <p:nvSpPr>
          <p:cNvPr id="39" name="AutoShape 29">
            <a:extLst>
              <a:ext uri="{FF2B5EF4-FFF2-40B4-BE49-F238E27FC236}">
                <a16:creationId xmlns:a16="http://schemas.microsoft.com/office/drawing/2014/main" id="{A4D9128A-60F6-BB0C-49FF-19AEA1D14833}"/>
              </a:ext>
            </a:extLst>
          </p:cNvPr>
          <p:cNvSpPr>
            <a:spLocks noChangeArrowheads="1"/>
          </p:cNvSpPr>
          <p:nvPr/>
        </p:nvSpPr>
        <p:spPr bwMode="auto">
          <a:xfrm>
            <a:off x="1618456" y="5036790"/>
            <a:ext cx="1368425" cy="503238"/>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a:solidFill>
                  <a:srgbClr val="C0C0C0"/>
                </a:solidFill>
              </a:rPr>
              <a:t>El DER</a:t>
            </a:r>
            <a:endParaRPr lang="es-ES" altLang="es-ES" sz="2000">
              <a:solidFill>
                <a:srgbClr val="C0C0C0"/>
              </a:solidFill>
            </a:endParaRPr>
          </a:p>
        </p:txBody>
      </p:sp>
      <p:sp>
        <p:nvSpPr>
          <p:cNvPr id="40" name="Line 30">
            <a:extLst>
              <a:ext uri="{FF2B5EF4-FFF2-40B4-BE49-F238E27FC236}">
                <a16:creationId xmlns:a16="http://schemas.microsoft.com/office/drawing/2014/main" id="{6005D8F9-37B2-1FA0-2AE2-8FD6E6F4C4B6}"/>
              </a:ext>
            </a:extLst>
          </p:cNvPr>
          <p:cNvSpPr>
            <a:spLocks noChangeShapeType="1"/>
          </p:cNvSpPr>
          <p:nvPr/>
        </p:nvSpPr>
        <p:spPr bwMode="auto">
          <a:xfrm>
            <a:off x="2195513" y="4581525"/>
            <a:ext cx="0" cy="4318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AR"/>
          </a:p>
        </p:txBody>
      </p:sp>
      <p:sp>
        <p:nvSpPr>
          <p:cNvPr id="43" name="Line 34">
            <a:extLst>
              <a:ext uri="{FF2B5EF4-FFF2-40B4-BE49-F238E27FC236}">
                <a16:creationId xmlns:a16="http://schemas.microsoft.com/office/drawing/2014/main" id="{677EEAEE-4DFC-E606-EE59-7DDA0492B901}"/>
              </a:ext>
            </a:extLst>
          </p:cNvPr>
          <p:cNvSpPr>
            <a:spLocks noChangeShapeType="1"/>
          </p:cNvSpPr>
          <p:nvPr/>
        </p:nvSpPr>
        <p:spPr bwMode="auto">
          <a:xfrm flipH="1">
            <a:off x="684213" y="2924175"/>
            <a:ext cx="0" cy="2881313"/>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AR"/>
          </a:p>
        </p:txBody>
      </p:sp>
      <p:sp>
        <p:nvSpPr>
          <p:cNvPr id="44" name="Line 35">
            <a:extLst>
              <a:ext uri="{FF2B5EF4-FFF2-40B4-BE49-F238E27FC236}">
                <a16:creationId xmlns:a16="http://schemas.microsoft.com/office/drawing/2014/main" id="{0E58D195-B4C6-52D6-4432-C0BE07476067}"/>
              </a:ext>
            </a:extLst>
          </p:cNvPr>
          <p:cNvSpPr>
            <a:spLocks noChangeShapeType="1"/>
          </p:cNvSpPr>
          <p:nvPr/>
        </p:nvSpPr>
        <p:spPr bwMode="auto">
          <a:xfrm flipH="1">
            <a:off x="3635375" y="4241800"/>
            <a:ext cx="1570038"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AR"/>
          </a:p>
        </p:txBody>
      </p:sp>
      <p:sp>
        <p:nvSpPr>
          <p:cNvPr id="45" name="AutoShape 29">
            <a:extLst>
              <a:ext uri="{FF2B5EF4-FFF2-40B4-BE49-F238E27FC236}">
                <a16:creationId xmlns:a16="http://schemas.microsoft.com/office/drawing/2014/main" id="{1F850A8F-C7AE-333D-0CAE-0F483108CC55}"/>
              </a:ext>
            </a:extLst>
          </p:cNvPr>
          <p:cNvSpPr>
            <a:spLocks noChangeArrowheads="1"/>
          </p:cNvSpPr>
          <p:nvPr/>
        </p:nvSpPr>
        <p:spPr bwMode="auto">
          <a:xfrm>
            <a:off x="5205040" y="3900165"/>
            <a:ext cx="3538240" cy="608955"/>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266700" indent="-266700" eaLnBrk="1" hangingPunct="1">
              <a:spcBef>
                <a:spcPct val="0"/>
              </a:spcBef>
              <a:buClrTx/>
              <a:buSzTx/>
              <a:buFontTx/>
              <a:buNone/>
              <a:defRPr/>
            </a:pPr>
            <a:r>
              <a:rPr lang="es-AR" altLang="es-ES" sz="2000" dirty="0">
                <a:solidFill>
                  <a:srgbClr val="C0C0C0"/>
                </a:solidFill>
              </a:rPr>
              <a:t>6. Los métodos </a:t>
            </a:r>
          </a:p>
          <a:p>
            <a:pPr marL="266700" indent="-266700" eaLnBrk="1" hangingPunct="1">
              <a:spcBef>
                <a:spcPct val="0"/>
              </a:spcBef>
              <a:buClrTx/>
              <a:buSzTx/>
              <a:buFontTx/>
              <a:buNone/>
              <a:defRPr/>
            </a:pPr>
            <a:r>
              <a:rPr lang="es-AR" altLang="es-ES" sz="2000" dirty="0">
                <a:solidFill>
                  <a:srgbClr val="C0C0C0"/>
                </a:solidFill>
              </a:rPr>
              <a:t>abajo-arriba y arriba-abajo.</a:t>
            </a:r>
            <a:endParaRPr lang="es-ES" altLang="es-ES" sz="2000" dirty="0">
              <a:solidFill>
                <a:srgbClr val="C0C0C0"/>
              </a:solidFill>
            </a:endParaRPr>
          </a:p>
        </p:txBody>
      </p:sp>
      <p:sp>
        <p:nvSpPr>
          <p:cNvPr id="46" name="Line 35">
            <a:extLst>
              <a:ext uri="{FF2B5EF4-FFF2-40B4-BE49-F238E27FC236}">
                <a16:creationId xmlns:a16="http://schemas.microsoft.com/office/drawing/2014/main" id="{DF35715C-8F52-7A56-E19E-6AC46FDF7584}"/>
              </a:ext>
            </a:extLst>
          </p:cNvPr>
          <p:cNvSpPr>
            <a:spLocks noChangeShapeType="1"/>
          </p:cNvSpPr>
          <p:nvPr/>
        </p:nvSpPr>
        <p:spPr bwMode="auto">
          <a:xfrm flipH="1">
            <a:off x="7451725" y="4491038"/>
            <a:ext cx="0" cy="3937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AR"/>
          </a:p>
        </p:txBody>
      </p:sp>
      <p:sp>
        <p:nvSpPr>
          <p:cNvPr id="48" name="AutoShape 10">
            <a:extLst>
              <a:ext uri="{FF2B5EF4-FFF2-40B4-BE49-F238E27FC236}">
                <a16:creationId xmlns:a16="http://schemas.microsoft.com/office/drawing/2014/main" id="{B8081621-55D6-259F-DECC-5074B225AAAE}"/>
              </a:ext>
            </a:extLst>
          </p:cNvPr>
          <p:cNvSpPr>
            <a:spLocks noChangeArrowheads="1"/>
          </p:cNvSpPr>
          <p:nvPr/>
        </p:nvSpPr>
        <p:spPr bwMode="auto">
          <a:xfrm>
            <a:off x="6943856" y="3300797"/>
            <a:ext cx="2159000" cy="431800"/>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dirty="0">
                <a:solidFill>
                  <a:srgbClr val="C0C0C0"/>
                </a:solidFill>
              </a:rPr>
              <a:t>5.</a:t>
            </a:r>
            <a:r>
              <a:rPr lang="es-AR" altLang="es-ES" sz="2000" dirty="0">
                <a:solidFill>
                  <a:srgbClr val="C0C0C0"/>
                </a:solidFill>
              </a:rPr>
              <a:t> Modelo - ER </a:t>
            </a:r>
            <a:endParaRPr lang="es-ES" altLang="es-ES" sz="2000" dirty="0">
              <a:solidFill>
                <a:srgbClr val="C0C0C0"/>
              </a:solidFill>
            </a:endParaRPr>
          </a:p>
        </p:txBody>
      </p:sp>
      <p:cxnSp>
        <p:nvCxnSpPr>
          <p:cNvPr id="49" name="2 Conector angular">
            <a:extLst>
              <a:ext uri="{FF2B5EF4-FFF2-40B4-BE49-F238E27FC236}">
                <a16:creationId xmlns:a16="http://schemas.microsoft.com/office/drawing/2014/main" id="{334C131E-5556-1242-D8CA-5E1D9BB1D642}"/>
              </a:ext>
            </a:extLst>
          </p:cNvPr>
          <p:cNvCxnSpPr>
            <a:cxnSpLocks noChangeShapeType="1"/>
          </p:cNvCxnSpPr>
          <p:nvPr/>
        </p:nvCxnSpPr>
        <p:spPr bwMode="auto">
          <a:xfrm>
            <a:off x="7404100" y="1935163"/>
            <a:ext cx="619125" cy="1365250"/>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0" name="4 Conector angular">
            <a:extLst>
              <a:ext uri="{FF2B5EF4-FFF2-40B4-BE49-F238E27FC236}">
                <a16:creationId xmlns:a16="http://schemas.microsoft.com/office/drawing/2014/main" id="{5277DEFA-A026-AFDF-7B9D-64F3BB465050}"/>
              </a:ext>
            </a:extLst>
          </p:cNvPr>
          <p:cNvCxnSpPr>
            <a:cxnSpLocks noChangeShapeType="1"/>
          </p:cNvCxnSpPr>
          <p:nvPr/>
        </p:nvCxnSpPr>
        <p:spPr bwMode="auto">
          <a:xfrm rot="16200000" flipH="1">
            <a:off x="7297737" y="2574926"/>
            <a:ext cx="879475" cy="571500"/>
          </a:xfrm>
          <a:prstGeom prst="bentConnector3">
            <a:avLst>
              <a:gd name="adj1" fmla="val 1606"/>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1" name="7 Conector angular">
            <a:extLst>
              <a:ext uri="{FF2B5EF4-FFF2-40B4-BE49-F238E27FC236}">
                <a16:creationId xmlns:a16="http://schemas.microsoft.com/office/drawing/2014/main" id="{669E29DB-2728-F2BE-C58E-1FFC561456EF}"/>
              </a:ext>
            </a:extLst>
          </p:cNvPr>
          <p:cNvCxnSpPr>
            <a:cxnSpLocks noChangeShapeType="1"/>
          </p:cNvCxnSpPr>
          <p:nvPr/>
        </p:nvCxnSpPr>
        <p:spPr bwMode="auto">
          <a:xfrm>
            <a:off x="7451725" y="2981325"/>
            <a:ext cx="571500" cy="319088"/>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60 Grupo">
            <a:extLst>
              <a:ext uri="{FF2B5EF4-FFF2-40B4-BE49-F238E27FC236}">
                <a16:creationId xmlns:a16="http://schemas.microsoft.com/office/drawing/2014/main" id="{DBC8A02B-68F7-4567-AD39-13582AACFB12}"/>
              </a:ext>
            </a:extLst>
          </p:cNvPr>
          <p:cNvGrpSpPr>
            <a:grpSpLocks/>
          </p:cNvGrpSpPr>
          <p:nvPr/>
        </p:nvGrpSpPr>
        <p:grpSpPr bwMode="auto">
          <a:xfrm>
            <a:off x="9324975" y="1951038"/>
            <a:ext cx="2160588" cy="2322512"/>
            <a:chOff x="7055664" y="1988840"/>
            <a:chExt cx="2160348" cy="2322009"/>
          </a:xfrm>
        </p:grpSpPr>
        <p:pic>
          <p:nvPicPr>
            <p:cNvPr id="11304" name="Picture 45">
              <a:extLst>
                <a:ext uri="{FF2B5EF4-FFF2-40B4-BE49-F238E27FC236}">
                  <a16:creationId xmlns:a16="http://schemas.microsoft.com/office/drawing/2014/main" id="{45797906-5381-48E0-A20F-CFD5F2A8F7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4328" y="1988840"/>
              <a:ext cx="122872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305" name="59 Rectángulo">
              <a:extLst>
                <a:ext uri="{FF2B5EF4-FFF2-40B4-BE49-F238E27FC236}">
                  <a16:creationId xmlns:a16="http://schemas.microsoft.com/office/drawing/2014/main" id="{6FFE46CF-FAD8-41F6-BE4C-155917B4EBCF}"/>
                </a:ext>
              </a:extLst>
            </p:cNvPr>
            <p:cNvSpPr>
              <a:spLocks noChangeArrowheads="1"/>
            </p:cNvSpPr>
            <p:nvPr/>
          </p:nvSpPr>
          <p:spPr bwMode="auto">
            <a:xfrm>
              <a:off x="7055664" y="3356845"/>
              <a:ext cx="2160348" cy="954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400"/>
                <a:t>Son necesarias</a:t>
              </a:r>
            </a:p>
            <a:p>
              <a:pPr algn="ctr" eaLnBrk="1" hangingPunct="1">
                <a:spcBef>
                  <a:spcPct val="0"/>
                </a:spcBef>
                <a:buClrTx/>
                <a:buSzTx/>
                <a:buFontTx/>
                <a:buNone/>
              </a:pPr>
              <a:r>
                <a:rPr lang="es-AR" altLang="es-AR" sz="1400"/>
                <a:t>diferentes habilidades y conocimientos para resolverlos</a:t>
              </a:r>
            </a:p>
          </p:txBody>
        </p:sp>
      </p:grpSp>
      <p:grpSp>
        <p:nvGrpSpPr>
          <p:cNvPr id="5123" name="57 Grupo">
            <a:extLst>
              <a:ext uri="{FF2B5EF4-FFF2-40B4-BE49-F238E27FC236}">
                <a16:creationId xmlns:a16="http://schemas.microsoft.com/office/drawing/2014/main" id="{0C2CBE29-2DA1-46DA-AC32-662532192405}"/>
              </a:ext>
            </a:extLst>
          </p:cNvPr>
          <p:cNvGrpSpPr>
            <a:grpSpLocks/>
          </p:cNvGrpSpPr>
          <p:nvPr/>
        </p:nvGrpSpPr>
        <p:grpSpPr bwMode="auto">
          <a:xfrm>
            <a:off x="-34925" y="2068513"/>
            <a:ext cx="4733925" cy="2244725"/>
            <a:chOff x="0" y="2060848"/>
            <a:chExt cx="4734656" cy="2244018"/>
          </a:xfrm>
        </p:grpSpPr>
        <p:sp>
          <p:nvSpPr>
            <p:cNvPr id="11293" name="Text Box 82">
              <a:extLst>
                <a:ext uri="{FF2B5EF4-FFF2-40B4-BE49-F238E27FC236}">
                  <a16:creationId xmlns:a16="http://schemas.microsoft.com/office/drawing/2014/main" id="{AEBA9F3E-3725-431D-ABEC-3675F5EB7E38}"/>
                </a:ext>
              </a:extLst>
            </p:cNvPr>
            <p:cNvSpPr txBox="1">
              <a:spLocks noChangeArrowheads="1"/>
            </p:cNvSpPr>
            <p:nvPr/>
          </p:nvSpPr>
          <p:spPr bwMode="auto">
            <a:xfrm>
              <a:off x="0" y="2060848"/>
              <a:ext cx="17331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b="1">
                  <a:solidFill>
                    <a:srgbClr val="4D6800"/>
                  </a:solidFill>
                </a:rPr>
                <a:t>Sistema objeto</a:t>
              </a:r>
            </a:p>
          </p:txBody>
        </p:sp>
        <p:grpSp>
          <p:nvGrpSpPr>
            <p:cNvPr id="11294" name="32 Grupo">
              <a:extLst>
                <a:ext uri="{FF2B5EF4-FFF2-40B4-BE49-F238E27FC236}">
                  <a16:creationId xmlns:a16="http://schemas.microsoft.com/office/drawing/2014/main" id="{8E01B7EE-0299-410F-9AD6-CAB743B9BC66}"/>
                </a:ext>
              </a:extLst>
            </p:cNvPr>
            <p:cNvGrpSpPr>
              <a:grpSpLocks/>
            </p:cNvGrpSpPr>
            <p:nvPr/>
          </p:nvGrpSpPr>
          <p:grpSpPr bwMode="auto">
            <a:xfrm>
              <a:off x="611560" y="2556646"/>
              <a:ext cx="1008609" cy="883954"/>
              <a:chOff x="539552" y="2124598"/>
              <a:chExt cx="1008609" cy="883954"/>
            </a:xfrm>
          </p:grpSpPr>
          <p:pic>
            <p:nvPicPr>
              <p:cNvPr id="11302" name="Picture 31">
                <a:extLst>
                  <a:ext uri="{FF2B5EF4-FFF2-40B4-BE49-F238E27FC236}">
                    <a16:creationId xmlns:a16="http://schemas.microsoft.com/office/drawing/2014/main" id="{57254F50-C472-4E27-900D-C101918980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9183" y="2124598"/>
                <a:ext cx="723157" cy="55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303" name="31 Rectángulo">
                <a:extLst>
                  <a:ext uri="{FF2B5EF4-FFF2-40B4-BE49-F238E27FC236}">
                    <a16:creationId xmlns:a16="http://schemas.microsoft.com/office/drawing/2014/main" id="{96D43394-EB60-4DB6-B2D7-0AFE5745CD10}"/>
                  </a:ext>
                </a:extLst>
              </p:cNvPr>
              <p:cNvSpPr>
                <a:spLocks noChangeArrowheads="1"/>
              </p:cNvSpPr>
              <p:nvPr/>
            </p:nvSpPr>
            <p:spPr bwMode="auto">
              <a:xfrm>
                <a:off x="539552" y="2700775"/>
                <a:ext cx="100860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AR" sz="1400" b="1"/>
                  <a:t>Personas</a:t>
                </a:r>
                <a:endParaRPr lang="es-AR" altLang="es-AR" sz="1400">
                  <a:solidFill>
                    <a:schemeClr val="folHlink"/>
                  </a:solidFill>
                </a:endParaRPr>
              </a:p>
            </p:txBody>
          </p:sp>
        </p:grpSp>
        <p:grpSp>
          <p:nvGrpSpPr>
            <p:cNvPr id="11295" name="36 Grupo">
              <a:extLst>
                <a:ext uri="{FF2B5EF4-FFF2-40B4-BE49-F238E27FC236}">
                  <a16:creationId xmlns:a16="http://schemas.microsoft.com/office/drawing/2014/main" id="{C97CD9AF-4962-4360-8C4F-5AA968FE09F8}"/>
                </a:ext>
              </a:extLst>
            </p:cNvPr>
            <p:cNvGrpSpPr>
              <a:grpSpLocks/>
            </p:cNvGrpSpPr>
            <p:nvPr/>
          </p:nvGrpSpPr>
          <p:grpSpPr bwMode="auto">
            <a:xfrm>
              <a:off x="1182903" y="3348890"/>
              <a:ext cx="1588897" cy="955976"/>
              <a:chOff x="1835696" y="2720563"/>
              <a:chExt cx="1588897" cy="955976"/>
            </a:xfrm>
          </p:grpSpPr>
          <p:pic>
            <p:nvPicPr>
              <p:cNvPr id="11300" name="Picture 32">
                <a:extLst>
                  <a:ext uri="{FF2B5EF4-FFF2-40B4-BE49-F238E27FC236}">
                    <a16:creationId xmlns:a16="http://schemas.microsoft.com/office/drawing/2014/main" id="{5169ABC3-CAC7-4123-A641-C54DA91C1B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48118" y="2720563"/>
                <a:ext cx="1053118"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301" name="34 Rectángulo">
                <a:extLst>
                  <a:ext uri="{FF2B5EF4-FFF2-40B4-BE49-F238E27FC236}">
                    <a16:creationId xmlns:a16="http://schemas.microsoft.com/office/drawing/2014/main" id="{DAF1BC98-6E7A-47E6-8E91-397AFBBCDAD2}"/>
                  </a:ext>
                </a:extLst>
              </p:cNvPr>
              <p:cNvSpPr>
                <a:spLocks noChangeArrowheads="1"/>
              </p:cNvSpPr>
              <p:nvPr/>
            </p:nvSpPr>
            <p:spPr bwMode="auto">
              <a:xfrm>
                <a:off x="1835696" y="3368762"/>
                <a:ext cx="15888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AR" sz="1400" b="1"/>
                  <a:t>Procedimientos</a:t>
                </a:r>
              </a:p>
            </p:txBody>
          </p:sp>
        </p:grpSp>
        <p:grpSp>
          <p:nvGrpSpPr>
            <p:cNvPr id="11296" name="41 Grupo">
              <a:extLst>
                <a:ext uri="{FF2B5EF4-FFF2-40B4-BE49-F238E27FC236}">
                  <a16:creationId xmlns:a16="http://schemas.microsoft.com/office/drawing/2014/main" id="{42788472-549D-469E-BE77-9FC677F5F7E4}"/>
                </a:ext>
              </a:extLst>
            </p:cNvPr>
            <p:cNvGrpSpPr>
              <a:grpSpLocks/>
            </p:cNvGrpSpPr>
            <p:nvPr/>
          </p:nvGrpSpPr>
          <p:grpSpPr bwMode="auto">
            <a:xfrm>
              <a:off x="3419872" y="2412602"/>
              <a:ext cx="1314784" cy="1036143"/>
              <a:chOff x="3347864" y="2412602"/>
              <a:chExt cx="1314784" cy="1036143"/>
            </a:xfrm>
          </p:grpSpPr>
          <p:pic>
            <p:nvPicPr>
              <p:cNvPr id="11298" name="Picture 35">
                <a:extLst>
                  <a:ext uri="{FF2B5EF4-FFF2-40B4-BE49-F238E27FC236}">
                    <a16:creationId xmlns:a16="http://schemas.microsoft.com/office/drawing/2014/main" id="{8B587AAA-439D-4D6C-A9D9-991D934E201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08415" y="2412602"/>
                <a:ext cx="625697" cy="737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299" name="40 Rectángulo">
                <a:extLst>
                  <a:ext uri="{FF2B5EF4-FFF2-40B4-BE49-F238E27FC236}">
                    <a16:creationId xmlns:a16="http://schemas.microsoft.com/office/drawing/2014/main" id="{D6425D4B-0305-45A5-BF4F-D4075A2ADCFD}"/>
                  </a:ext>
                </a:extLst>
              </p:cNvPr>
              <p:cNvSpPr>
                <a:spLocks noChangeArrowheads="1"/>
              </p:cNvSpPr>
              <p:nvPr/>
            </p:nvSpPr>
            <p:spPr bwMode="auto">
              <a:xfrm>
                <a:off x="3347864" y="3140968"/>
                <a:ext cx="13147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AR" sz="1400" b="1"/>
                  <a:t>Documentos</a:t>
                </a:r>
                <a:endParaRPr lang="es-AR" altLang="es-AR" sz="1400">
                  <a:solidFill>
                    <a:schemeClr val="folHlink"/>
                  </a:solidFill>
                </a:endParaRPr>
              </a:p>
            </p:txBody>
          </p:sp>
        </p:grpSp>
        <p:sp>
          <p:nvSpPr>
            <p:cNvPr id="11297" name="44 Rectángulo">
              <a:extLst>
                <a:ext uri="{FF2B5EF4-FFF2-40B4-BE49-F238E27FC236}">
                  <a16:creationId xmlns:a16="http://schemas.microsoft.com/office/drawing/2014/main" id="{D9FE28FD-052F-4B7F-8BC2-B517C2B60A0A}"/>
                </a:ext>
              </a:extLst>
            </p:cNvPr>
            <p:cNvSpPr>
              <a:spLocks noChangeArrowheads="1"/>
            </p:cNvSpPr>
            <p:nvPr/>
          </p:nvSpPr>
          <p:spPr bwMode="auto">
            <a:xfrm>
              <a:off x="2458865" y="3185097"/>
              <a:ext cx="708957" cy="307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AR" sz="1400" b="1"/>
                <a:t>Cosas</a:t>
              </a:r>
              <a:endParaRPr lang="es-AR" altLang="es-AR" sz="1400">
                <a:solidFill>
                  <a:schemeClr val="folHlink"/>
                </a:solidFill>
              </a:endParaRPr>
            </a:p>
          </p:txBody>
        </p:sp>
      </p:grpSp>
      <p:sp>
        <p:nvSpPr>
          <p:cNvPr id="11268" name="Rectangle 3">
            <a:extLst>
              <a:ext uri="{FF2B5EF4-FFF2-40B4-BE49-F238E27FC236}">
                <a16:creationId xmlns:a16="http://schemas.microsoft.com/office/drawing/2014/main" id="{CB43DAC1-6B6D-4CFA-B825-906625CB5055}"/>
              </a:ext>
            </a:extLst>
          </p:cNvPr>
          <p:cNvSpPr>
            <a:spLocks noGrp="1" noChangeArrowheads="1"/>
          </p:cNvSpPr>
          <p:nvPr>
            <p:ph type="title"/>
          </p:nvPr>
        </p:nvSpPr>
        <p:spPr>
          <a:xfrm>
            <a:off x="611188" y="260350"/>
            <a:ext cx="8424862" cy="1143000"/>
          </a:xfrm>
        </p:spPr>
        <p:txBody>
          <a:bodyPr/>
          <a:lstStyle/>
          <a:p>
            <a:pPr algn="ctr" eaLnBrk="1" hangingPunct="1"/>
            <a:r>
              <a:rPr lang="es-AR" altLang="es-AR" sz="2800"/>
              <a:t>El problema infológico y el diseño conceptual</a:t>
            </a:r>
          </a:p>
        </p:txBody>
      </p:sp>
      <p:sp>
        <p:nvSpPr>
          <p:cNvPr id="11269" name="Oval 90">
            <a:extLst>
              <a:ext uri="{FF2B5EF4-FFF2-40B4-BE49-F238E27FC236}">
                <a16:creationId xmlns:a16="http://schemas.microsoft.com/office/drawing/2014/main" id="{4BA6DE01-C0E3-4A91-8615-A257F644D970}"/>
              </a:ext>
            </a:extLst>
          </p:cNvPr>
          <p:cNvSpPr>
            <a:spLocks noChangeArrowheads="1"/>
          </p:cNvSpPr>
          <p:nvPr/>
        </p:nvSpPr>
        <p:spPr bwMode="auto">
          <a:xfrm>
            <a:off x="1763713" y="5661025"/>
            <a:ext cx="914400" cy="914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79971" name="Line 99">
            <a:extLst>
              <a:ext uri="{FF2B5EF4-FFF2-40B4-BE49-F238E27FC236}">
                <a16:creationId xmlns:a16="http://schemas.microsoft.com/office/drawing/2014/main" id="{FD57C1CA-6E79-4430-A4E4-D0ADA3FA0F78}"/>
              </a:ext>
            </a:extLst>
          </p:cNvPr>
          <p:cNvSpPr>
            <a:spLocks noChangeShapeType="1"/>
          </p:cNvSpPr>
          <p:nvPr/>
        </p:nvSpPr>
        <p:spPr bwMode="auto">
          <a:xfrm>
            <a:off x="3563938" y="3429000"/>
            <a:ext cx="1751012" cy="576263"/>
          </a:xfrm>
          <a:prstGeom prst="line">
            <a:avLst/>
          </a:prstGeom>
          <a:noFill/>
          <a:ln w="38100">
            <a:solidFill>
              <a:srgbClr val="4D6800"/>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9247" name="Line 103">
            <a:extLst>
              <a:ext uri="{FF2B5EF4-FFF2-40B4-BE49-F238E27FC236}">
                <a16:creationId xmlns:a16="http://schemas.microsoft.com/office/drawing/2014/main" id="{6C0DACAE-3F79-4165-A77A-1D5C0952B806}"/>
              </a:ext>
            </a:extLst>
          </p:cNvPr>
          <p:cNvSpPr>
            <a:spLocks noChangeShapeType="1"/>
          </p:cNvSpPr>
          <p:nvPr/>
        </p:nvSpPr>
        <p:spPr bwMode="auto">
          <a:xfrm>
            <a:off x="2916238" y="4508500"/>
            <a:ext cx="2528887" cy="1296988"/>
          </a:xfrm>
          <a:prstGeom prst="line">
            <a:avLst/>
          </a:prstGeom>
          <a:noFill/>
          <a:ln w="28575">
            <a:solidFill>
              <a:srgbClr val="4D6800"/>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9226" name="Oval 91">
            <a:extLst>
              <a:ext uri="{FF2B5EF4-FFF2-40B4-BE49-F238E27FC236}">
                <a16:creationId xmlns:a16="http://schemas.microsoft.com/office/drawing/2014/main" id="{AB884E36-CD1C-4F55-829F-A77D033BE064}"/>
              </a:ext>
            </a:extLst>
          </p:cNvPr>
          <p:cNvSpPr>
            <a:spLocks noChangeArrowheads="1"/>
          </p:cNvSpPr>
          <p:nvPr/>
        </p:nvSpPr>
        <p:spPr bwMode="auto">
          <a:xfrm>
            <a:off x="5230813" y="3716338"/>
            <a:ext cx="1782762" cy="1304925"/>
          </a:xfrm>
          <a:prstGeom prst="ellipse">
            <a:avLst/>
          </a:prstGeom>
          <a:solidFill>
            <a:schemeClr val="accent2"/>
          </a:solidFill>
          <a:ln w="9525" algn="ctr">
            <a:solidFill>
              <a:schemeClr val="tx1"/>
            </a:solidFill>
            <a:round/>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AR" sz="1400" b="1"/>
              <a:t>Sistema</a:t>
            </a:r>
          </a:p>
          <a:p>
            <a:pPr algn="ctr" eaLnBrk="1" hangingPunct="1">
              <a:spcBef>
                <a:spcPct val="0"/>
              </a:spcBef>
              <a:buClrTx/>
              <a:buSzTx/>
              <a:buFontTx/>
              <a:buNone/>
            </a:pPr>
            <a:r>
              <a:rPr lang="en-US" altLang="es-AR" sz="1400" b="1"/>
              <a:t>de</a:t>
            </a:r>
          </a:p>
          <a:p>
            <a:pPr algn="ctr" eaLnBrk="1" hangingPunct="1">
              <a:spcBef>
                <a:spcPct val="0"/>
              </a:spcBef>
              <a:buClrTx/>
              <a:buSzTx/>
              <a:buFontTx/>
              <a:buNone/>
            </a:pPr>
            <a:r>
              <a:rPr lang="en-US" altLang="es-AR" sz="1400" b="1"/>
              <a:t> información</a:t>
            </a:r>
          </a:p>
          <a:p>
            <a:pPr algn="ctr" eaLnBrk="1" hangingPunct="1">
              <a:spcBef>
                <a:spcPct val="0"/>
              </a:spcBef>
              <a:buClrTx/>
              <a:buSzTx/>
              <a:buFontTx/>
              <a:buNone/>
            </a:pPr>
            <a:endParaRPr lang="en-US" altLang="es-AR" sz="1400" b="1"/>
          </a:p>
        </p:txBody>
      </p:sp>
      <p:grpSp>
        <p:nvGrpSpPr>
          <p:cNvPr id="11" name="62 Grupo">
            <a:extLst>
              <a:ext uri="{FF2B5EF4-FFF2-40B4-BE49-F238E27FC236}">
                <a16:creationId xmlns:a16="http://schemas.microsoft.com/office/drawing/2014/main" id="{D3F0650C-DBEB-49D6-B419-3142D35477BC}"/>
              </a:ext>
            </a:extLst>
          </p:cNvPr>
          <p:cNvGrpSpPr>
            <a:grpSpLocks/>
          </p:cNvGrpSpPr>
          <p:nvPr/>
        </p:nvGrpSpPr>
        <p:grpSpPr bwMode="auto">
          <a:xfrm>
            <a:off x="4067175" y="4292600"/>
            <a:ext cx="1152525" cy="304800"/>
            <a:chOff x="4067175" y="4292600"/>
            <a:chExt cx="1152526" cy="304800"/>
          </a:xfrm>
        </p:grpSpPr>
        <p:sp>
          <p:nvSpPr>
            <p:cNvPr id="11291" name="Line 92">
              <a:extLst>
                <a:ext uri="{FF2B5EF4-FFF2-40B4-BE49-F238E27FC236}">
                  <a16:creationId xmlns:a16="http://schemas.microsoft.com/office/drawing/2014/main" id="{5788A3AD-A22C-4175-AB33-E8783A94CD55}"/>
                </a:ext>
              </a:extLst>
            </p:cNvPr>
            <p:cNvSpPr>
              <a:spLocks noChangeShapeType="1"/>
            </p:cNvSpPr>
            <p:nvPr/>
          </p:nvSpPr>
          <p:spPr bwMode="auto">
            <a:xfrm>
              <a:off x="4643438" y="4508500"/>
              <a:ext cx="5762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11292" name="Text Box 96">
              <a:extLst>
                <a:ext uri="{FF2B5EF4-FFF2-40B4-BE49-F238E27FC236}">
                  <a16:creationId xmlns:a16="http://schemas.microsoft.com/office/drawing/2014/main" id="{57218A55-7489-405F-B822-1D3179076C74}"/>
                </a:ext>
              </a:extLst>
            </p:cNvPr>
            <p:cNvSpPr txBox="1">
              <a:spLocks noChangeArrowheads="1"/>
            </p:cNvSpPr>
            <p:nvPr/>
          </p:nvSpPr>
          <p:spPr bwMode="auto">
            <a:xfrm>
              <a:off x="4067175" y="4292600"/>
              <a:ext cx="633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AR" sz="1400">
                  <a:solidFill>
                    <a:schemeClr val="folHlink"/>
                  </a:solidFill>
                </a:rPr>
                <a:t>Datos</a:t>
              </a:r>
            </a:p>
          </p:txBody>
        </p:sp>
      </p:grpSp>
      <p:grpSp>
        <p:nvGrpSpPr>
          <p:cNvPr id="12" name="63 Grupo">
            <a:extLst>
              <a:ext uri="{FF2B5EF4-FFF2-40B4-BE49-F238E27FC236}">
                <a16:creationId xmlns:a16="http://schemas.microsoft.com/office/drawing/2014/main" id="{BD4B50CA-9981-4C66-972B-D679DCCE7B1A}"/>
              </a:ext>
            </a:extLst>
          </p:cNvPr>
          <p:cNvGrpSpPr>
            <a:grpSpLocks/>
          </p:cNvGrpSpPr>
          <p:nvPr/>
        </p:nvGrpSpPr>
        <p:grpSpPr bwMode="auto">
          <a:xfrm>
            <a:off x="7029450" y="4292600"/>
            <a:ext cx="1719263" cy="304800"/>
            <a:chOff x="7029450" y="4292600"/>
            <a:chExt cx="1719263" cy="304800"/>
          </a:xfrm>
        </p:grpSpPr>
        <p:sp>
          <p:nvSpPr>
            <p:cNvPr id="11289" name="Line 93">
              <a:extLst>
                <a:ext uri="{FF2B5EF4-FFF2-40B4-BE49-F238E27FC236}">
                  <a16:creationId xmlns:a16="http://schemas.microsoft.com/office/drawing/2014/main" id="{F9ACFA55-07EC-4AD5-95C2-0F76AB7A0B93}"/>
                </a:ext>
              </a:extLst>
            </p:cNvPr>
            <p:cNvSpPr>
              <a:spLocks noChangeShapeType="1"/>
            </p:cNvSpPr>
            <p:nvPr/>
          </p:nvSpPr>
          <p:spPr bwMode="auto">
            <a:xfrm>
              <a:off x="7029450" y="4508500"/>
              <a:ext cx="5762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11290" name="Text Box 97">
              <a:extLst>
                <a:ext uri="{FF2B5EF4-FFF2-40B4-BE49-F238E27FC236}">
                  <a16:creationId xmlns:a16="http://schemas.microsoft.com/office/drawing/2014/main" id="{044694FD-9382-4014-A9FB-F6836E6AA9AD}"/>
                </a:ext>
              </a:extLst>
            </p:cNvPr>
            <p:cNvSpPr txBox="1">
              <a:spLocks noChangeArrowheads="1"/>
            </p:cNvSpPr>
            <p:nvPr/>
          </p:nvSpPr>
          <p:spPr bwMode="auto">
            <a:xfrm>
              <a:off x="7620000" y="4292600"/>
              <a:ext cx="11287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AR" sz="1400">
                  <a:solidFill>
                    <a:schemeClr val="folHlink"/>
                  </a:solidFill>
                </a:rPr>
                <a:t>Información</a:t>
              </a:r>
            </a:p>
          </p:txBody>
        </p:sp>
      </p:grpSp>
      <p:grpSp>
        <p:nvGrpSpPr>
          <p:cNvPr id="13" name="64 Grupo">
            <a:extLst>
              <a:ext uri="{FF2B5EF4-FFF2-40B4-BE49-F238E27FC236}">
                <a16:creationId xmlns:a16="http://schemas.microsoft.com/office/drawing/2014/main" id="{F99F2F1F-219F-41FD-9BB3-358C455E1CD6}"/>
              </a:ext>
            </a:extLst>
          </p:cNvPr>
          <p:cNvGrpSpPr>
            <a:grpSpLocks/>
          </p:cNvGrpSpPr>
          <p:nvPr/>
        </p:nvGrpSpPr>
        <p:grpSpPr bwMode="auto">
          <a:xfrm>
            <a:off x="5445125" y="5013325"/>
            <a:ext cx="1431925" cy="1087438"/>
            <a:chOff x="5445125" y="5211763"/>
            <a:chExt cx="1431926" cy="1087438"/>
          </a:xfrm>
        </p:grpSpPr>
        <p:sp>
          <p:nvSpPr>
            <p:cNvPr id="11286" name="Text Box 98">
              <a:extLst>
                <a:ext uri="{FF2B5EF4-FFF2-40B4-BE49-F238E27FC236}">
                  <a16:creationId xmlns:a16="http://schemas.microsoft.com/office/drawing/2014/main" id="{9CAA77B6-1C26-4F74-9E2F-49D584BFE1F1}"/>
                </a:ext>
              </a:extLst>
            </p:cNvPr>
            <p:cNvSpPr txBox="1">
              <a:spLocks noChangeArrowheads="1"/>
            </p:cNvSpPr>
            <p:nvPr/>
          </p:nvSpPr>
          <p:spPr bwMode="auto">
            <a:xfrm>
              <a:off x="6243638" y="5211763"/>
              <a:ext cx="6334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AR" sz="1400">
                  <a:solidFill>
                    <a:schemeClr val="folHlink"/>
                  </a:solidFill>
                </a:rPr>
                <a:t>Datos</a:t>
              </a:r>
            </a:p>
          </p:txBody>
        </p:sp>
        <p:sp>
          <p:nvSpPr>
            <p:cNvPr id="11287" name="AutoShape 95">
              <a:extLst>
                <a:ext uri="{FF2B5EF4-FFF2-40B4-BE49-F238E27FC236}">
                  <a16:creationId xmlns:a16="http://schemas.microsoft.com/office/drawing/2014/main" id="{C02AF33A-77E3-42BC-B13D-1C72E3D8FA80}"/>
                </a:ext>
              </a:extLst>
            </p:cNvPr>
            <p:cNvSpPr>
              <a:spLocks noChangeArrowheads="1"/>
            </p:cNvSpPr>
            <p:nvPr/>
          </p:nvSpPr>
          <p:spPr bwMode="auto">
            <a:xfrm>
              <a:off x="5445125" y="5516563"/>
              <a:ext cx="1214438" cy="782638"/>
            </a:xfrm>
            <a:prstGeom prst="can">
              <a:avLst>
                <a:gd name="adj" fmla="val 25000"/>
              </a:avLst>
            </a:prstGeom>
            <a:solidFill>
              <a:srgbClr val="5B82FF"/>
            </a:solidFill>
            <a:ln w="9525">
              <a:solidFill>
                <a:schemeClr val="tx1"/>
              </a:solidFill>
              <a:round/>
              <a:headEnd/>
              <a:tailEnd/>
            </a:ln>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AR" sz="1400">
                  <a:solidFill>
                    <a:schemeClr val="folHlink"/>
                  </a:solidFill>
                </a:rPr>
                <a:t>Datos</a:t>
              </a:r>
            </a:p>
            <a:p>
              <a:pPr algn="ctr" eaLnBrk="1" hangingPunct="1">
                <a:spcBef>
                  <a:spcPct val="0"/>
                </a:spcBef>
                <a:buClrTx/>
                <a:buSzTx/>
                <a:buFontTx/>
                <a:buNone/>
              </a:pPr>
              <a:r>
                <a:rPr lang="en-US" altLang="es-AR" sz="1400">
                  <a:solidFill>
                    <a:schemeClr val="folHlink"/>
                  </a:solidFill>
                </a:rPr>
                <a:t>almacenados</a:t>
              </a:r>
            </a:p>
          </p:txBody>
        </p:sp>
        <p:sp>
          <p:nvSpPr>
            <p:cNvPr id="11288" name="Line 94">
              <a:extLst>
                <a:ext uri="{FF2B5EF4-FFF2-40B4-BE49-F238E27FC236}">
                  <a16:creationId xmlns:a16="http://schemas.microsoft.com/office/drawing/2014/main" id="{654933E3-BC2B-43A9-9E9D-158507A04EFF}"/>
                </a:ext>
              </a:extLst>
            </p:cNvPr>
            <p:cNvSpPr>
              <a:spLocks noChangeShapeType="1"/>
            </p:cNvSpPr>
            <p:nvPr/>
          </p:nvSpPr>
          <p:spPr bwMode="auto">
            <a:xfrm>
              <a:off x="6084888" y="5229225"/>
              <a:ext cx="0" cy="4318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grpSp>
      <p:sp>
        <p:nvSpPr>
          <p:cNvPr id="3" name="Oval 50">
            <a:extLst>
              <a:ext uri="{FF2B5EF4-FFF2-40B4-BE49-F238E27FC236}">
                <a16:creationId xmlns:a16="http://schemas.microsoft.com/office/drawing/2014/main" id="{51E281DF-4BAC-4A01-B084-99F1A12DE8A3}"/>
              </a:ext>
            </a:extLst>
          </p:cNvPr>
          <p:cNvSpPr>
            <a:spLocks noChangeArrowheads="1"/>
          </p:cNvSpPr>
          <p:nvPr/>
        </p:nvSpPr>
        <p:spPr bwMode="auto">
          <a:xfrm>
            <a:off x="395288" y="1484313"/>
            <a:ext cx="4321175" cy="519112"/>
          </a:xfrm>
          <a:prstGeom prst="ellipse">
            <a:avLst/>
          </a:prstGeom>
          <a:solidFill>
            <a:schemeClr val="tx2"/>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800" b="1">
                <a:solidFill>
                  <a:schemeClr val="bg1"/>
                </a:solidFill>
              </a:rPr>
              <a:t>Problema infológico</a:t>
            </a:r>
            <a:endParaRPr lang="es-ES" altLang="es-AR" sz="1800" b="1">
              <a:solidFill>
                <a:schemeClr val="bg1"/>
              </a:solidFill>
            </a:endParaRPr>
          </a:p>
        </p:txBody>
      </p:sp>
      <p:sp>
        <p:nvSpPr>
          <p:cNvPr id="5132" name="Oval 50">
            <a:extLst>
              <a:ext uri="{FF2B5EF4-FFF2-40B4-BE49-F238E27FC236}">
                <a16:creationId xmlns:a16="http://schemas.microsoft.com/office/drawing/2014/main" id="{87889A50-3308-4BB7-88A2-EEFB3B25EC9F}"/>
              </a:ext>
            </a:extLst>
          </p:cNvPr>
          <p:cNvSpPr>
            <a:spLocks noChangeArrowheads="1"/>
          </p:cNvSpPr>
          <p:nvPr/>
        </p:nvSpPr>
        <p:spPr bwMode="auto">
          <a:xfrm>
            <a:off x="2124075" y="6237288"/>
            <a:ext cx="4032250" cy="519112"/>
          </a:xfrm>
          <a:prstGeom prst="ellipse">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800" b="1">
                <a:solidFill>
                  <a:schemeClr val="bg1"/>
                </a:solidFill>
              </a:rPr>
              <a:t>Problema datalógico</a:t>
            </a:r>
            <a:endParaRPr lang="es-ES" altLang="es-AR" sz="1800" b="1">
              <a:solidFill>
                <a:schemeClr val="bg1"/>
              </a:solidFill>
            </a:endParaRPr>
          </a:p>
        </p:txBody>
      </p:sp>
      <p:grpSp>
        <p:nvGrpSpPr>
          <p:cNvPr id="14" name="29 Grupo">
            <a:extLst>
              <a:ext uri="{FF2B5EF4-FFF2-40B4-BE49-F238E27FC236}">
                <a16:creationId xmlns:a16="http://schemas.microsoft.com/office/drawing/2014/main" id="{606553F3-2E0A-41DE-9991-58A5937BDAF8}"/>
              </a:ext>
            </a:extLst>
          </p:cNvPr>
          <p:cNvGrpSpPr>
            <a:grpSpLocks/>
          </p:cNvGrpSpPr>
          <p:nvPr/>
        </p:nvGrpSpPr>
        <p:grpSpPr bwMode="auto">
          <a:xfrm>
            <a:off x="4932363" y="1412875"/>
            <a:ext cx="3455987" cy="995363"/>
            <a:chOff x="467544" y="5373216"/>
            <a:chExt cx="3672408" cy="1098515"/>
          </a:xfrm>
        </p:grpSpPr>
        <p:sp>
          <p:nvSpPr>
            <p:cNvPr id="11284" name="27 Rectángulo">
              <a:extLst>
                <a:ext uri="{FF2B5EF4-FFF2-40B4-BE49-F238E27FC236}">
                  <a16:creationId xmlns:a16="http://schemas.microsoft.com/office/drawing/2014/main" id="{76D339A1-1A9D-4172-919B-8F8D49E17F3E}"/>
                </a:ext>
              </a:extLst>
            </p:cNvPr>
            <p:cNvSpPr>
              <a:spLocks noChangeArrowheads="1"/>
            </p:cNvSpPr>
            <p:nvPr/>
          </p:nvSpPr>
          <p:spPr bwMode="auto">
            <a:xfrm>
              <a:off x="1259632" y="5517232"/>
              <a:ext cx="2880320" cy="954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b="1">
                  <a:solidFill>
                    <a:schemeClr val="folHlink"/>
                  </a:solidFill>
                </a:rPr>
                <a:t>Definición de la información necesaria para los usuarios </a:t>
              </a:r>
              <a:r>
                <a:rPr lang="es-AR" altLang="es-AR" sz="1400">
                  <a:solidFill>
                    <a:schemeClr val="folHlink"/>
                  </a:solidFill>
                </a:rPr>
                <a:t>(necesidades actuales y potenciales).</a:t>
              </a:r>
            </a:p>
          </p:txBody>
        </p:sp>
        <p:pic>
          <p:nvPicPr>
            <p:cNvPr id="11285" name="Picture 84">
              <a:extLst>
                <a:ext uri="{FF2B5EF4-FFF2-40B4-BE49-F238E27FC236}">
                  <a16:creationId xmlns:a16="http://schemas.microsoft.com/office/drawing/2014/main" id="{AAAFA32D-683F-4577-ADF2-A3087BFC08E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544" y="5373216"/>
              <a:ext cx="816052" cy="1089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15" name="34 Grupo">
            <a:extLst>
              <a:ext uri="{FF2B5EF4-FFF2-40B4-BE49-F238E27FC236}">
                <a16:creationId xmlns:a16="http://schemas.microsoft.com/office/drawing/2014/main" id="{39D4028D-3971-4C5A-8242-0F5186BC7EB0}"/>
              </a:ext>
            </a:extLst>
          </p:cNvPr>
          <p:cNvGrpSpPr>
            <a:grpSpLocks/>
          </p:cNvGrpSpPr>
          <p:nvPr/>
        </p:nvGrpSpPr>
        <p:grpSpPr bwMode="auto">
          <a:xfrm>
            <a:off x="6156325" y="5013325"/>
            <a:ext cx="3095625" cy="1819275"/>
            <a:chOff x="3318443" y="4495822"/>
            <a:chExt cx="3096344" cy="1818969"/>
          </a:xfrm>
        </p:grpSpPr>
        <p:sp>
          <p:nvSpPr>
            <p:cNvPr id="11282" name="31 Rectángulo">
              <a:extLst>
                <a:ext uri="{FF2B5EF4-FFF2-40B4-BE49-F238E27FC236}">
                  <a16:creationId xmlns:a16="http://schemas.microsoft.com/office/drawing/2014/main" id="{8210130B-C717-4493-8E4D-680929FD3DAF}"/>
                </a:ext>
              </a:extLst>
            </p:cNvPr>
            <p:cNvSpPr>
              <a:spLocks noChangeArrowheads="1"/>
            </p:cNvSpPr>
            <p:nvPr/>
          </p:nvSpPr>
          <p:spPr bwMode="auto">
            <a:xfrm>
              <a:off x="3318443" y="5576127"/>
              <a:ext cx="3096344" cy="73866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b="1">
                  <a:solidFill>
                    <a:schemeClr val="folHlink"/>
                  </a:solidFill>
                </a:rPr>
                <a:t>Hacer un uso eficiente de la tecnología disponible para representar  esta información.</a:t>
              </a:r>
              <a:endParaRPr lang="es-AR" altLang="es-AR" sz="1400">
                <a:solidFill>
                  <a:schemeClr val="folHlink"/>
                </a:solidFill>
              </a:endParaRPr>
            </a:p>
          </p:txBody>
        </p:sp>
        <p:pic>
          <p:nvPicPr>
            <p:cNvPr id="11283" name="Picture 85">
              <a:extLst>
                <a:ext uri="{FF2B5EF4-FFF2-40B4-BE49-F238E27FC236}">
                  <a16:creationId xmlns:a16="http://schemas.microsoft.com/office/drawing/2014/main" id="{93075AAB-CBBD-444B-ACD8-FDE4D84E13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92282" y="4495822"/>
              <a:ext cx="1462465" cy="1035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sp>
        <p:nvSpPr>
          <p:cNvPr id="4" name="3 Rectángulo redondeado">
            <a:extLst>
              <a:ext uri="{FF2B5EF4-FFF2-40B4-BE49-F238E27FC236}">
                <a16:creationId xmlns:a16="http://schemas.microsoft.com/office/drawing/2014/main" id="{4ABCD0F9-40CB-4B08-B113-F2836E3B5E8A}"/>
              </a:ext>
            </a:extLst>
          </p:cNvPr>
          <p:cNvSpPr>
            <a:spLocks noChangeArrowheads="1"/>
          </p:cNvSpPr>
          <p:nvPr/>
        </p:nvSpPr>
        <p:spPr bwMode="auto">
          <a:xfrm>
            <a:off x="90488" y="1884363"/>
            <a:ext cx="4678362" cy="2424112"/>
          </a:xfrm>
          <a:prstGeom prst="roundRect">
            <a:avLst>
              <a:gd name="adj" fmla="val 16667"/>
            </a:avLst>
          </a:prstGeom>
          <a:solidFill>
            <a:srgbClr val="C0C0C0">
              <a:alpha val="30196"/>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pic>
        <p:nvPicPr>
          <p:cNvPr id="11281" name="Picture 2" descr="C:\Users\UBA\AppData\Local\Microsoft\Windows\Temporary Internet Files\Content.IE5\IWSGRANU\1230230504xf92Xl[1].jpg">
            <a:extLst>
              <a:ext uri="{FF2B5EF4-FFF2-40B4-BE49-F238E27FC236}">
                <a16:creationId xmlns:a16="http://schemas.microsoft.com/office/drawing/2014/main" id="{DFE859E8-29B1-4EA0-9953-363C01BC9E1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08175" y="2039938"/>
            <a:ext cx="1295400" cy="1173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26"/>
                                        </p:tgtEl>
                                        <p:attrNameLst>
                                          <p:attrName>style.visibility</p:attrName>
                                        </p:attrNameLst>
                                      </p:cBhvr>
                                      <p:to>
                                        <p:strVal val="visible"/>
                                      </p:to>
                                    </p:set>
                                  </p:childTnLst>
                                </p:cTn>
                              </p:par>
                              <p:par>
                                <p:cTn id="7" presetID="5" presetClass="entr" presetSubtype="10" fill="hold" nodeType="withEffect">
                                  <p:stCondLst>
                                    <p:cond delay="0"/>
                                  </p:stCondLst>
                                  <p:childTnLst>
                                    <p:set>
                                      <p:cBhvr>
                                        <p:cTn id="8" dur="1" fill="hold">
                                          <p:stCondLst>
                                            <p:cond delay="0"/>
                                          </p:stCondLst>
                                        </p:cTn>
                                        <p:tgtEl>
                                          <p:spTgt spid="79971"/>
                                        </p:tgtEl>
                                        <p:attrNameLst>
                                          <p:attrName>style.visibility</p:attrName>
                                        </p:attrNameLst>
                                      </p:cBhvr>
                                      <p:to>
                                        <p:strVal val="visible"/>
                                      </p:to>
                                    </p:set>
                                    <p:animEffect transition="in" filter="checkerboard(across)">
                                      <p:cBhvr>
                                        <p:cTn id="9" dur="500"/>
                                        <p:tgtEl>
                                          <p:spTgt spid="79971"/>
                                        </p:tgtEl>
                                      </p:cBhvr>
                                    </p:animEffect>
                                  </p:childTnLst>
                                </p:cTn>
                              </p:par>
                            </p:childTnLst>
                          </p:cTn>
                        </p:par>
                        <p:par>
                          <p:cTn id="10" fill="hold" nodeType="afterGroup">
                            <p:stCondLst>
                              <p:cond delay="500"/>
                            </p:stCondLst>
                            <p:childTnLst>
                              <p:par>
                                <p:cTn id="11" presetID="22" presetClass="entr" presetSubtype="4" fill="hold" nodeType="afterEffect">
                                  <p:stCondLst>
                                    <p:cond delay="0"/>
                                  </p:stCondLst>
                                  <p:childTnLst>
                                    <p:set>
                                      <p:cBhvr>
                                        <p:cTn id="12" dur="1" fill="hold">
                                          <p:stCondLst>
                                            <p:cond delay="0"/>
                                          </p:stCondLst>
                                        </p:cTn>
                                        <p:tgtEl>
                                          <p:spTgt spid="5123"/>
                                        </p:tgtEl>
                                        <p:attrNameLst>
                                          <p:attrName>style.visibility</p:attrName>
                                        </p:attrNameLst>
                                      </p:cBhvr>
                                      <p:to>
                                        <p:strVal val="visible"/>
                                      </p:to>
                                    </p:set>
                                    <p:animEffect transition="in" filter="wipe(down)">
                                      <p:cBhvr>
                                        <p:cTn id="13" dur="500"/>
                                        <p:tgtEl>
                                          <p:spTgt spid="5123"/>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nodeType="after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par>
                          <p:cTn id="19" fill="hold" nodeType="afterGroup">
                            <p:stCondLst>
                              <p:cond delay="1000"/>
                            </p:stCondLst>
                            <p:childTnLst>
                              <p:par>
                                <p:cTn id="20" presetID="1" presetClass="entr" presetSubtype="0"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par>
                          <p:cTn id="24" fill="hold" nodeType="afterGroup">
                            <p:stCondLst>
                              <p:cond delay="1000"/>
                            </p:stCondLst>
                            <p:childTnLst>
                              <p:par>
                                <p:cTn id="25" presetID="6" presetClass="entr" presetSubtype="16" fill="hold" nodeType="afterEffect">
                                  <p:stCondLst>
                                    <p:cond delay="0"/>
                                  </p:stCondLst>
                                  <p:childTnLst>
                                    <p:set>
                                      <p:cBhvr>
                                        <p:cTn id="26" dur="1" fill="hold">
                                          <p:stCondLst>
                                            <p:cond delay="0"/>
                                          </p:stCondLst>
                                        </p:cTn>
                                        <p:tgtEl>
                                          <p:spTgt spid="9247"/>
                                        </p:tgtEl>
                                        <p:attrNameLst>
                                          <p:attrName>style.visibility</p:attrName>
                                        </p:attrNameLst>
                                      </p:cBhvr>
                                      <p:to>
                                        <p:strVal val="visible"/>
                                      </p:to>
                                    </p:set>
                                    <p:animEffect transition="in" filter="circle(in)">
                                      <p:cBhvr>
                                        <p:cTn id="27" dur="2000"/>
                                        <p:tgtEl>
                                          <p:spTgt spid="9247"/>
                                        </p:tgtEl>
                                      </p:cBhvr>
                                    </p:animEffect>
                                  </p:childTnLst>
                                </p:cTn>
                              </p:par>
                            </p:childTnLst>
                          </p:cTn>
                        </p:par>
                        <p:par>
                          <p:cTn id="28" fill="hold" nodeType="afterGroup">
                            <p:stCondLst>
                              <p:cond delay="3000"/>
                            </p:stCondLst>
                            <p:childTnLst>
                              <p:par>
                                <p:cTn id="29" presetID="1" presetClass="entr" presetSubtype="0" fill="hold" grpId="0" nodeType="afterEffect">
                                  <p:stCondLst>
                                    <p:cond delay="0"/>
                                  </p:stCondLst>
                                  <p:childTnLst>
                                    <p:set>
                                      <p:cBhvr>
                                        <p:cTn id="30" dur="1" fill="hold">
                                          <p:stCondLst>
                                            <p:cond delay="0"/>
                                          </p:stCondLst>
                                        </p:cTn>
                                        <p:tgtEl>
                                          <p:spTgt spid="3"/>
                                        </p:tgtEl>
                                        <p:attrNameLst>
                                          <p:attrName>style.visibility</p:attrName>
                                        </p:attrNameLst>
                                      </p:cBhvr>
                                      <p:to>
                                        <p:strVal val="visible"/>
                                      </p:to>
                                    </p:set>
                                  </p:childTnLst>
                                </p:cTn>
                              </p:par>
                            </p:childTnLst>
                          </p:cTn>
                        </p:par>
                        <p:par>
                          <p:cTn id="31" fill="hold" nodeType="afterGroup">
                            <p:stCondLst>
                              <p:cond delay="300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5132"/>
                                        </p:tgtEl>
                                        <p:attrNameLst>
                                          <p:attrName>style.visibility</p:attrName>
                                        </p:attrNameLst>
                                      </p:cBhvr>
                                      <p:to>
                                        <p:strVal val="visible"/>
                                      </p:to>
                                    </p:set>
                                  </p:childTnLst>
                                </p:cTn>
                              </p:par>
                            </p:childTnLst>
                          </p:cTn>
                        </p:par>
                        <p:par>
                          <p:cTn id="36" fill="hold" nodeType="afterGroup">
                            <p:stCondLst>
                              <p:cond delay="3000"/>
                            </p:stCondLst>
                            <p:childTnLst>
                              <p:par>
                                <p:cTn id="37" presetID="1" presetClass="entr" presetSubtype="0"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6" presetClass="emph" presetSubtype="0" fill="hold" grpId="1" nodeType="clickEffect">
                                  <p:stCondLst>
                                    <p:cond delay="0"/>
                                  </p:stCondLst>
                                  <p:childTnLst>
                                    <p:animEffect transition="out" filter="fade">
                                      <p:cBhvr>
                                        <p:cTn id="42" dur="500" tmFilter="0, 0; .2, .5; .8, .5; 1, 0"/>
                                        <p:tgtEl>
                                          <p:spTgt spid="3"/>
                                        </p:tgtEl>
                                      </p:cBhvr>
                                    </p:animEffect>
                                    <p:animScale>
                                      <p:cBhvr>
                                        <p:cTn id="43" dur="250" autoRev="1" fill="hold"/>
                                        <p:tgtEl>
                                          <p:spTgt spid="3"/>
                                        </p:tgtEl>
                                      </p:cBhvr>
                                      <p:by x="105000" y="105000"/>
                                    </p:animScale>
                                  </p:childTnLst>
                                </p:cTn>
                              </p:par>
                              <p:par>
                                <p:cTn id="44" presetID="26" presetClass="emph" presetSubtype="0" fill="hold" nodeType="withEffect">
                                  <p:stCondLst>
                                    <p:cond delay="0"/>
                                  </p:stCondLst>
                                  <p:childTnLst>
                                    <p:animEffect transition="out" filter="fade">
                                      <p:cBhvr>
                                        <p:cTn id="45" dur="500" tmFilter="0, 0; .2, .5; .8, .5; 1, 0"/>
                                        <p:tgtEl>
                                          <p:spTgt spid="14"/>
                                        </p:tgtEl>
                                      </p:cBhvr>
                                    </p:animEffect>
                                    <p:animScale>
                                      <p:cBhvr>
                                        <p:cTn id="46"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 grpId="0" animBg="1"/>
      <p:bldP spid="3" grpId="0" animBg="1"/>
      <p:bldP spid="3" grpId="1" animBg="1"/>
      <p:bldP spid="5132"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ítulo 1">
            <a:extLst>
              <a:ext uri="{FF2B5EF4-FFF2-40B4-BE49-F238E27FC236}">
                <a16:creationId xmlns:a16="http://schemas.microsoft.com/office/drawing/2014/main" id="{F335AFD6-57DD-0BD7-B1D3-D903DD85E006}"/>
              </a:ext>
            </a:extLst>
          </p:cNvPr>
          <p:cNvSpPr>
            <a:spLocks noGrp="1" noChangeArrowheads="1"/>
          </p:cNvSpPr>
          <p:nvPr>
            <p:ph type="title"/>
          </p:nvPr>
        </p:nvSpPr>
        <p:spPr>
          <a:xfrm>
            <a:off x="1187450" y="404813"/>
            <a:ext cx="7793038" cy="1143000"/>
          </a:xfrm>
        </p:spPr>
        <p:txBody>
          <a:bodyPr/>
          <a:lstStyle/>
          <a:p>
            <a:endParaRPr lang="es-AR" altLang="es-AR"/>
          </a:p>
        </p:txBody>
      </p:sp>
      <p:pic>
        <p:nvPicPr>
          <p:cNvPr id="13315" name="Marcador de contenido 4" descr="Diagrama&#10;&#10;Descripción generada automáticamente">
            <a:extLst>
              <a:ext uri="{FF2B5EF4-FFF2-40B4-BE49-F238E27FC236}">
                <a16:creationId xmlns:a16="http://schemas.microsoft.com/office/drawing/2014/main" id="{679A18C2-1E9F-9300-37AA-55A49F4397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187450" y="620713"/>
            <a:ext cx="7416800" cy="5745162"/>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715EA9E5-C64B-4234-9516-7EB7D9712749}"/>
              </a:ext>
            </a:extLst>
          </p:cNvPr>
          <p:cNvSpPr>
            <a:spLocks noGrp="1" noChangeArrowheads="1"/>
          </p:cNvSpPr>
          <p:nvPr>
            <p:ph type="title"/>
          </p:nvPr>
        </p:nvSpPr>
        <p:spPr>
          <a:xfrm>
            <a:off x="1116013" y="115888"/>
            <a:ext cx="7793037" cy="1143000"/>
          </a:xfrm>
        </p:spPr>
        <p:txBody>
          <a:bodyPr/>
          <a:lstStyle/>
          <a:p>
            <a:pPr algn="ctr" eaLnBrk="1" hangingPunct="1"/>
            <a:r>
              <a:rPr lang="es-AR" altLang="es-AR" sz="3200"/>
              <a:t>Proceso: Diseño conceptual y Lógico</a:t>
            </a:r>
          </a:p>
        </p:txBody>
      </p:sp>
      <p:sp>
        <p:nvSpPr>
          <p:cNvPr id="13315" name="Rectangle 144">
            <a:extLst>
              <a:ext uri="{FF2B5EF4-FFF2-40B4-BE49-F238E27FC236}">
                <a16:creationId xmlns:a16="http://schemas.microsoft.com/office/drawing/2014/main" id="{F2794139-6863-4A46-A7FF-B666EB43CA05}"/>
              </a:ext>
            </a:extLst>
          </p:cNvPr>
          <p:cNvSpPr>
            <a:spLocks noChangeArrowheads="1"/>
          </p:cNvSpPr>
          <p:nvPr/>
        </p:nvSpPr>
        <p:spPr bwMode="auto">
          <a:xfrm>
            <a:off x="6523038" y="2817465"/>
            <a:ext cx="1800225" cy="1108075"/>
          </a:xfrm>
          <a:prstGeom prst="rect">
            <a:avLst/>
          </a:prstGeom>
          <a:solidFill>
            <a:srgbClr val="002060"/>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endParaRPr lang="es-AR" altLang="es-AR" sz="1600">
              <a:solidFill>
                <a:schemeClr val="bg1"/>
              </a:solidFill>
            </a:endParaRPr>
          </a:p>
          <a:p>
            <a:pPr algn="ctr" eaLnBrk="1" hangingPunct="1">
              <a:spcBef>
                <a:spcPct val="0"/>
              </a:spcBef>
              <a:buClrTx/>
              <a:buSzTx/>
              <a:buFontTx/>
              <a:buNone/>
            </a:pPr>
            <a:r>
              <a:rPr lang="es-AR" altLang="es-AR" sz="1600">
                <a:solidFill>
                  <a:schemeClr val="bg1"/>
                </a:solidFill>
              </a:rPr>
              <a:t>Modelo de datos</a:t>
            </a:r>
          </a:p>
          <a:p>
            <a:pPr algn="ctr" eaLnBrk="1" hangingPunct="1">
              <a:spcBef>
                <a:spcPct val="0"/>
              </a:spcBef>
              <a:buClrTx/>
              <a:buSzTx/>
              <a:buFontTx/>
              <a:buNone/>
            </a:pPr>
            <a:r>
              <a:rPr lang="es-AR" altLang="es-AR" sz="1800" b="1">
                <a:solidFill>
                  <a:schemeClr val="bg1"/>
                </a:solidFill>
              </a:rPr>
              <a:t>Conceptual</a:t>
            </a:r>
          </a:p>
          <a:p>
            <a:pPr algn="ctr" eaLnBrk="1" hangingPunct="1">
              <a:spcBef>
                <a:spcPct val="0"/>
              </a:spcBef>
              <a:buClrTx/>
              <a:buSzTx/>
              <a:buFontTx/>
              <a:buNone/>
            </a:pPr>
            <a:endParaRPr lang="es-AR" altLang="es-AR" sz="1600">
              <a:solidFill>
                <a:schemeClr val="bg1"/>
              </a:solidFill>
            </a:endParaRPr>
          </a:p>
        </p:txBody>
      </p:sp>
      <p:sp>
        <p:nvSpPr>
          <p:cNvPr id="56465" name="Line 145">
            <a:extLst>
              <a:ext uri="{FF2B5EF4-FFF2-40B4-BE49-F238E27FC236}">
                <a16:creationId xmlns:a16="http://schemas.microsoft.com/office/drawing/2014/main" id="{108649A6-3BF6-468A-960B-771D8C3DC58C}"/>
              </a:ext>
            </a:extLst>
          </p:cNvPr>
          <p:cNvSpPr>
            <a:spLocks noChangeShapeType="1"/>
          </p:cNvSpPr>
          <p:nvPr/>
        </p:nvSpPr>
        <p:spPr bwMode="auto">
          <a:xfrm>
            <a:off x="5659438" y="2636490"/>
            <a:ext cx="792162" cy="7921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56466" name="Line 146">
            <a:extLst>
              <a:ext uri="{FF2B5EF4-FFF2-40B4-BE49-F238E27FC236}">
                <a16:creationId xmlns:a16="http://schemas.microsoft.com/office/drawing/2014/main" id="{CFDF3CA7-5102-4DFE-BAB6-B4FA6F70E3AF}"/>
              </a:ext>
            </a:extLst>
          </p:cNvPr>
          <p:cNvSpPr>
            <a:spLocks noChangeShapeType="1"/>
          </p:cNvSpPr>
          <p:nvPr/>
        </p:nvSpPr>
        <p:spPr bwMode="auto">
          <a:xfrm>
            <a:off x="5659438" y="3428653"/>
            <a:ext cx="7921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56467" name="Line 147">
            <a:extLst>
              <a:ext uri="{FF2B5EF4-FFF2-40B4-BE49-F238E27FC236}">
                <a16:creationId xmlns:a16="http://schemas.microsoft.com/office/drawing/2014/main" id="{98B3D89F-274D-4A6D-B9EE-86538988B289}"/>
              </a:ext>
            </a:extLst>
          </p:cNvPr>
          <p:cNvSpPr>
            <a:spLocks noChangeShapeType="1"/>
          </p:cNvSpPr>
          <p:nvPr/>
        </p:nvSpPr>
        <p:spPr bwMode="auto">
          <a:xfrm flipV="1">
            <a:off x="5659438" y="3501678"/>
            <a:ext cx="720725" cy="7191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17425" name="Text Box 155">
            <a:extLst>
              <a:ext uri="{FF2B5EF4-FFF2-40B4-BE49-F238E27FC236}">
                <a16:creationId xmlns:a16="http://schemas.microsoft.com/office/drawing/2014/main" id="{EFC9EE21-BF2B-41FA-9585-D92C8C002566}"/>
              </a:ext>
            </a:extLst>
          </p:cNvPr>
          <p:cNvSpPr txBox="1">
            <a:spLocks noChangeArrowheads="1"/>
          </p:cNvSpPr>
          <p:nvPr/>
        </p:nvSpPr>
        <p:spPr bwMode="auto">
          <a:xfrm>
            <a:off x="384175" y="5741988"/>
            <a:ext cx="25622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182563" indent="-182563">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Char char="•"/>
            </a:pPr>
            <a:r>
              <a:rPr lang="es-AR" altLang="es-AR" sz="1600"/>
              <a:t>Modelo implementable.</a:t>
            </a:r>
          </a:p>
          <a:p>
            <a:pPr eaLnBrk="1" hangingPunct="1">
              <a:spcBef>
                <a:spcPct val="0"/>
              </a:spcBef>
              <a:buClrTx/>
              <a:buSzTx/>
              <a:buFontTx/>
              <a:buChar char="•"/>
            </a:pPr>
            <a:r>
              <a:rPr lang="es-AR" altLang="es-AR" sz="1600"/>
              <a:t>Normalización y otros criterios de diseño</a:t>
            </a:r>
            <a:endParaRPr lang="es-ES" altLang="es-AR" sz="1600"/>
          </a:p>
        </p:txBody>
      </p:sp>
      <p:sp>
        <p:nvSpPr>
          <p:cNvPr id="52" name="Oval 344">
            <a:extLst>
              <a:ext uri="{FF2B5EF4-FFF2-40B4-BE49-F238E27FC236}">
                <a16:creationId xmlns:a16="http://schemas.microsoft.com/office/drawing/2014/main" id="{5B451FBC-099F-422F-9EEC-FC17ECD103C1}"/>
              </a:ext>
            </a:extLst>
          </p:cNvPr>
          <p:cNvSpPr>
            <a:spLocks noChangeArrowheads="1"/>
          </p:cNvSpPr>
          <p:nvPr/>
        </p:nvSpPr>
        <p:spPr bwMode="auto">
          <a:xfrm>
            <a:off x="5399088" y="5678488"/>
            <a:ext cx="3167062" cy="908050"/>
          </a:xfrm>
          <a:prstGeom prst="ellipse">
            <a:avLst/>
          </a:prstGeom>
          <a:solidFill>
            <a:srgbClr val="5B82FF"/>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800"/>
              <a:t>Esquema de la Base de Datos</a:t>
            </a:r>
            <a:endParaRPr lang="es-ES" altLang="es-AR" sz="1800"/>
          </a:p>
        </p:txBody>
      </p:sp>
      <p:sp>
        <p:nvSpPr>
          <p:cNvPr id="53" name="Rectangle 144">
            <a:extLst>
              <a:ext uri="{FF2B5EF4-FFF2-40B4-BE49-F238E27FC236}">
                <a16:creationId xmlns:a16="http://schemas.microsoft.com/office/drawing/2014/main" id="{1ADFDCB3-1E0E-443E-B5D0-FA87ECAE7B09}"/>
              </a:ext>
            </a:extLst>
          </p:cNvPr>
          <p:cNvSpPr>
            <a:spLocks noChangeArrowheads="1"/>
          </p:cNvSpPr>
          <p:nvPr/>
        </p:nvSpPr>
        <p:spPr bwMode="auto">
          <a:xfrm>
            <a:off x="3011488" y="5710238"/>
            <a:ext cx="1800225" cy="860425"/>
          </a:xfrm>
          <a:prstGeom prst="rect">
            <a:avLst/>
          </a:prstGeom>
          <a:solidFill>
            <a:srgbClr val="002060"/>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endParaRPr lang="es-AR" altLang="es-AR" sz="1600">
              <a:solidFill>
                <a:schemeClr val="bg1"/>
              </a:solidFill>
            </a:endParaRPr>
          </a:p>
          <a:p>
            <a:pPr algn="ctr" eaLnBrk="1" hangingPunct="1">
              <a:spcBef>
                <a:spcPct val="0"/>
              </a:spcBef>
              <a:buClrTx/>
              <a:buSzTx/>
              <a:buFontTx/>
              <a:buNone/>
            </a:pPr>
            <a:r>
              <a:rPr lang="es-AR" altLang="es-AR" sz="1600">
                <a:solidFill>
                  <a:schemeClr val="bg1"/>
                </a:solidFill>
              </a:rPr>
              <a:t>Modelo de datos</a:t>
            </a:r>
          </a:p>
          <a:p>
            <a:pPr algn="ctr" eaLnBrk="1" hangingPunct="1">
              <a:spcBef>
                <a:spcPct val="0"/>
              </a:spcBef>
              <a:buClrTx/>
              <a:buSzTx/>
              <a:buFontTx/>
              <a:buNone/>
            </a:pPr>
            <a:r>
              <a:rPr lang="es-AR" altLang="es-AR" sz="1800" b="1">
                <a:solidFill>
                  <a:schemeClr val="bg1"/>
                </a:solidFill>
              </a:rPr>
              <a:t>Lógico</a:t>
            </a:r>
            <a:endParaRPr lang="es-AR" altLang="es-AR" sz="1600" b="1">
              <a:solidFill>
                <a:schemeClr val="bg1"/>
              </a:solidFill>
            </a:endParaRPr>
          </a:p>
        </p:txBody>
      </p:sp>
      <p:cxnSp>
        <p:nvCxnSpPr>
          <p:cNvPr id="3" name="2 Conector recto de flecha">
            <a:extLst>
              <a:ext uri="{FF2B5EF4-FFF2-40B4-BE49-F238E27FC236}">
                <a16:creationId xmlns:a16="http://schemas.microsoft.com/office/drawing/2014/main" id="{6B4A2F9D-1946-43DB-AE8F-98C48325AB26}"/>
              </a:ext>
            </a:extLst>
          </p:cNvPr>
          <p:cNvCxnSpPr>
            <a:cxnSpLocks noChangeShapeType="1"/>
            <a:stCxn id="53" idx="3"/>
            <a:endCxn id="52" idx="2"/>
          </p:cNvCxnSpPr>
          <p:nvPr/>
        </p:nvCxnSpPr>
        <p:spPr bwMode="auto">
          <a:xfrm flipV="1">
            <a:off x="4811713" y="6132513"/>
            <a:ext cx="587375" cy="7937"/>
          </a:xfrm>
          <a:prstGeom prst="straightConnector1">
            <a:avLst/>
          </a:prstGeom>
          <a:noFill/>
          <a:ln w="38100" algn="ctr">
            <a:solidFill>
              <a:srgbClr val="5B82FF"/>
            </a:solidFill>
            <a:round/>
            <a:headEnd/>
            <a:tailEnd type="arrow" w="med" len="med"/>
          </a:ln>
          <a:extLst>
            <a:ext uri="{909E8E84-426E-40DD-AFC4-6F175D3DCCD1}">
              <a14:hiddenFill xmlns:a14="http://schemas.microsoft.com/office/drawing/2010/main">
                <a:noFill/>
              </a14:hiddenFill>
            </a:ext>
          </a:extLst>
        </p:spPr>
      </p:cxnSp>
      <p:sp>
        <p:nvSpPr>
          <p:cNvPr id="5" name="4 Flecha abajo">
            <a:extLst>
              <a:ext uri="{FF2B5EF4-FFF2-40B4-BE49-F238E27FC236}">
                <a16:creationId xmlns:a16="http://schemas.microsoft.com/office/drawing/2014/main" id="{D9BBC5D2-2136-4F50-B751-2237C77A26FC}"/>
              </a:ext>
            </a:extLst>
          </p:cNvPr>
          <p:cNvSpPr>
            <a:spLocks noChangeArrowheads="1"/>
          </p:cNvSpPr>
          <p:nvPr/>
        </p:nvSpPr>
        <p:spPr bwMode="auto">
          <a:xfrm rot="3104296">
            <a:off x="4879182" y="5139531"/>
            <a:ext cx="366712" cy="396875"/>
          </a:xfrm>
          <a:prstGeom prst="downArrow">
            <a:avLst>
              <a:gd name="adj1" fmla="val 50000"/>
              <a:gd name="adj2" fmla="val 50009"/>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p>
        </p:txBody>
      </p:sp>
      <p:grpSp>
        <p:nvGrpSpPr>
          <p:cNvPr id="13" name="12 Grupo">
            <a:extLst>
              <a:ext uri="{FF2B5EF4-FFF2-40B4-BE49-F238E27FC236}">
                <a16:creationId xmlns:a16="http://schemas.microsoft.com/office/drawing/2014/main" id="{1F2457C0-8627-4F7F-AB8F-8E82148C0EB2}"/>
              </a:ext>
            </a:extLst>
          </p:cNvPr>
          <p:cNvGrpSpPr>
            <a:grpSpLocks/>
          </p:cNvGrpSpPr>
          <p:nvPr/>
        </p:nvGrpSpPr>
        <p:grpSpPr bwMode="auto">
          <a:xfrm>
            <a:off x="107950" y="1709390"/>
            <a:ext cx="2465388" cy="1903413"/>
            <a:chOff x="107582" y="1565017"/>
            <a:chExt cx="2465849" cy="1904202"/>
          </a:xfrm>
        </p:grpSpPr>
        <p:grpSp>
          <p:nvGrpSpPr>
            <p:cNvPr id="13361" name="Group 106">
              <a:extLst>
                <a:ext uri="{FF2B5EF4-FFF2-40B4-BE49-F238E27FC236}">
                  <a16:creationId xmlns:a16="http://schemas.microsoft.com/office/drawing/2014/main" id="{151EEC2F-5A02-424F-ABCB-FF298B07CA1B}"/>
                </a:ext>
              </a:extLst>
            </p:cNvPr>
            <p:cNvGrpSpPr>
              <a:grpSpLocks/>
            </p:cNvGrpSpPr>
            <p:nvPr/>
          </p:nvGrpSpPr>
          <p:grpSpPr bwMode="auto">
            <a:xfrm>
              <a:off x="107582" y="1565017"/>
              <a:ext cx="311150" cy="673100"/>
              <a:chOff x="930" y="1026"/>
              <a:chExt cx="196" cy="424"/>
            </a:xfrm>
          </p:grpSpPr>
          <p:sp>
            <p:nvSpPr>
              <p:cNvPr id="13364" name="Oval 107">
                <a:extLst>
                  <a:ext uri="{FF2B5EF4-FFF2-40B4-BE49-F238E27FC236}">
                    <a16:creationId xmlns:a16="http://schemas.microsoft.com/office/drawing/2014/main" id="{BABB7531-0DAD-4D11-8C43-460F6DF58211}"/>
                  </a:ext>
                </a:extLst>
              </p:cNvPr>
              <p:cNvSpPr>
                <a:spLocks noChangeArrowheads="1"/>
              </p:cNvSpPr>
              <p:nvPr/>
            </p:nvSpPr>
            <p:spPr bwMode="auto">
              <a:xfrm>
                <a:off x="957" y="1026"/>
                <a:ext cx="154" cy="136"/>
              </a:xfrm>
              <a:prstGeom prst="ellipse">
                <a:avLst/>
              </a:prstGeom>
              <a:solidFill>
                <a:srgbClr val="00B050"/>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13365" name="Line 108">
                <a:extLst>
                  <a:ext uri="{FF2B5EF4-FFF2-40B4-BE49-F238E27FC236}">
                    <a16:creationId xmlns:a16="http://schemas.microsoft.com/office/drawing/2014/main" id="{3D1485D9-BBF3-465F-BE26-44D397EBCC73}"/>
                  </a:ext>
                </a:extLst>
              </p:cNvPr>
              <p:cNvSpPr>
                <a:spLocks noChangeShapeType="1"/>
              </p:cNvSpPr>
              <p:nvPr/>
            </p:nvSpPr>
            <p:spPr bwMode="auto">
              <a:xfrm flipH="1">
                <a:off x="930" y="1207"/>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66" name="Line 109">
                <a:extLst>
                  <a:ext uri="{FF2B5EF4-FFF2-40B4-BE49-F238E27FC236}">
                    <a16:creationId xmlns:a16="http://schemas.microsoft.com/office/drawing/2014/main" id="{04B20122-C199-4DCD-B571-C0525C3D5767}"/>
                  </a:ext>
                </a:extLst>
              </p:cNvPr>
              <p:cNvSpPr>
                <a:spLocks noChangeShapeType="1"/>
              </p:cNvSpPr>
              <p:nvPr/>
            </p:nvSpPr>
            <p:spPr bwMode="auto">
              <a:xfrm flipH="1" flipV="1">
                <a:off x="1024" y="1201"/>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67" name="Line 110">
                <a:extLst>
                  <a:ext uri="{FF2B5EF4-FFF2-40B4-BE49-F238E27FC236}">
                    <a16:creationId xmlns:a16="http://schemas.microsoft.com/office/drawing/2014/main" id="{0BFC1D10-2549-44E8-9BDF-CC384318C437}"/>
                  </a:ext>
                </a:extLst>
              </p:cNvPr>
              <p:cNvSpPr>
                <a:spLocks noChangeShapeType="1"/>
              </p:cNvSpPr>
              <p:nvPr/>
            </p:nvSpPr>
            <p:spPr bwMode="auto">
              <a:xfrm flipH="1">
                <a:off x="948" y="1344"/>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68" name="Line 111">
                <a:extLst>
                  <a:ext uri="{FF2B5EF4-FFF2-40B4-BE49-F238E27FC236}">
                    <a16:creationId xmlns:a16="http://schemas.microsoft.com/office/drawing/2014/main" id="{68242145-EBB6-469F-9AB4-B55A8441DE5D}"/>
                  </a:ext>
                </a:extLst>
              </p:cNvPr>
              <p:cNvSpPr>
                <a:spLocks noChangeShapeType="1"/>
              </p:cNvSpPr>
              <p:nvPr/>
            </p:nvSpPr>
            <p:spPr bwMode="auto">
              <a:xfrm flipH="1" flipV="1">
                <a:off x="1020" y="1344"/>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69" name="Line 112">
                <a:extLst>
                  <a:ext uri="{FF2B5EF4-FFF2-40B4-BE49-F238E27FC236}">
                    <a16:creationId xmlns:a16="http://schemas.microsoft.com/office/drawing/2014/main" id="{08536068-EC0E-45CF-8865-6D726ED616A7}"/>
                  </a:ext>
                </a:extLst>
              </p:cNvPr>
              <p:cNvSpPr>
                <a:spLocks noChangeShapeType="1"/>
              </p:cNvSpPr>
              <p:nvPr/>
            </p:nvSpPr>
            <p:spPr bwMode="auto">
              <a:xfrm>
                <a:off x="1020" y="1162"/>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sp>
          <p:nvSpPr>
            <p:cNvPr id="13362" name="Rectangle 141">
              <a:extLst>
                <a:ext uri="{FF2B5EF4-FFF2-40B4-BE49-F238E27FC236}">
                  <a16:creationId xmlns:a16="http://schemas.microsoft.com/office/drawing/2014/main" id="{FC7FC7C0-A5E4-4818-BBD8-5465144B9042}"/>
                </a:ext>
              </a:extLst>
            </p:cNvPr>
            <p:cNvSpPr>
              <a:spLocks noChangeArrowheads="1"/>
            </p:cNvSpPr>
            <p:nvPr/>
          </p:nvSpPr>
          <p:spPr bwMode="auto">
            <a:xfrm>
              <a:off x="539552" y="1722294"/>
              <a:ext cx="2033879" cy="338554"/>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rgbClr val="00B050"/>
                  </a:solidFill>
                </a:rPr>
                <a:t>Visión Usuario </a:t>
              </a:r>
              <a:r>
                <a:rPr lang="es-AR" altLang="es-AR" sz="1600" b="1">
                  <a:solidFill>
                    <a:srgbClr val="00B050"/>
                  </a:solidFill>
                </a:rPr>
                <a:t>A</a:t>
              </a:r>
              <a:endParaRPr lang="es-ES" altLang="es-AR" sz="1600" b="1">
                <a:solidFill>
                  <a:srgbClr val="00B050"/>
                </a:solidFill>
              </a:endParaRPr>
            </a:p>
          </p:txBody>
        </p:sp>
        <p:sp>
          <p:nvSpPr>
            <p:cNvPr id="13363" name="11 Elipse">
              <a:extLst>
                <a:ext uri="{FF2B5EF4-FFF2-40B4-BE49-F238E27FC236}">
                  <a16:creationId xmlns:a16="http://schemas.microsoft.com/office/drawing/2014/main" id="{02E8FD94-4C8A-4A94-A835-E7496DC19D97}"/>
                </a:ext>
              </a:extLst>
            </p:cNvPr>
            <p:cNvSpPr>
              <a:spLocks noChangeArrowheads="1"/>
            </p:cNvSpPr>
            <p:nvPr/>
          </p:nvSpPr>
          <p:spPr bwMode="auto">
            <a:xfrm>
              <a:off x="418732" y="2060848"/>
              <a:ext cx="1793106" cy="1408371"/>
            </a:xfrm>
            <a:prstGeom prst="ellipse">
              <a:avLst/>
            </a:prstGeom>
            <a:solidFill>
              <a:srgbClr val="00B050">
                <a:alpha val="3294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grpSp>
      <p:grpSp>
        <p:nvGrpSpPr>
          <p:cNvPr id="16" name="15 Grupo">
            <a:extLst>
              <a:ext uri="{FF2B5EF4-FFF2-40B4-BE49-F238E27FC236}">
                <a16:creationId xmlns:a16="http://schemas.microsoft.com/office/drawing/2014/main" id="{0A2693E1-7767-469A-961F-817EDC7C4374}"/>
              </a:ext>
            </a:extLst>
          </p:cNvPr>
          <p:cNvGrpSpPr>
            <a:grpSpLocks/>
          </p:cNvGrpSpPr>
          <p:nvPr/>
        </p:nvGrpSpPr>
        <p:grpSpPr bwMode="auto">
          <a:xfrm>
            <a:off x="827088" y="3058046"/>
            <a:ext cx="2119312" cy="2027237"/>
            <a:chOff x="827584" y="2697539"/>
            <a:chExt cx="2118396" cy="2027605"/>
          </a:xfrm>
        </p:grpSpPr>
        <p:grpSp>
          <p:nvGrpSpPr>
            <p:cNvPr id="13352" name="Group 114">
              <a:extLst>
                <a:ext uri="{FF2B5EF4-FFF2-40B4-BE49-F238E27FC236}">
                  <a16:creationId xmlns:a16="http://schemas.microsoft.com/office/drawing/2014/main" id="{1150F50D-8494-4FAE-A4C6-8739EB51CDC2}"/>
                </a:ext>
              </a:extLst>
            </p:cNvPr>
            <p:cNvGrpSpPr>
              <a:grpSpLocks/>
            </p:cNvGrpSpPr>
            <p:nvPr/>
          </p:nvGrpSpPr>
          <p:grpSpPr bwMode="auto">
            <a:xfrm>
              <a:off x="827584" y="4052044"/>
              <a:ext cx="311150" cy="673100"/>
              <a:chOff x="930" y="1026"/>
              <a:chExt cx="196" cy="424"/>
            </a:xfrm>
          </p:grpSpPr>
          <p:sp>
            <p:nvSpPr>
              <p:cNvPr id="13355" name="Oval 115">
                <a:extLst>
                  <a:ext uri="{FF2B5EF4-FFF2-40B4-BE49-F238E27FC236}">
                    <a16:creationId xmlns:a16="http://schemas.microsoft.com/office/drawing/2014/main" id="{E1562B0F-77A3-48D7-A1F1-3A6A47C7080B}"/>
                  </a:ext>
                </a:extLst>
              </p:cNvPr>
              <p:cNvSpPr>
                <a:spLocks noChangeArrowheads="1"/>
              </p:cNvSpPr>
              <p:nvPr/>
            </p:nvSpPr>
            <p:spPr bwMode="auto">
              <a:xfrm>
                <a:off x="957" y="1026"/>
                <a:ext cx="154" cy="136"/>
              </a:xfrm>
              <a:prstGeom prst="ellipse">
                <a:avLst/>
              </a:prstGeom>
              <a:solidFill>
                <a:srgbClr val="7030A0"/>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13356" name="Line 116">
                <a:extLst>
                  <a:ext uri="{FF2B5EF4-FFF2-40B4-BE49-F238E27FC236}">
                    <a16:creationId xmlns:a16="http://schemas.microsoft.com/office/drawing/2014/main" id="{7DFC2D32-2BCC-4D59-A409-C454BBD8F75B}"/>
                  </a:ext>
                </a:extLst>
              </p:cNvPr>
              <p:cNvSpPr>
                <a:spLocks noChangeShapeType="1"/>
              </p:cNvSpPr>
              <p:nvPr/>
            </p:nvSpPr>
            <p:spPr bwMode="auto">
              <a:xfrm flipH="1">
                <a:off x="930" y="1207"/>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57" name="Line 117">
                <a:extLst>
                  <a:ext uri="{FF2B5EF4-FFF2-40B4-BE49-F238E27FC236}">
                    <a16:creationId xmlns:a16="http://schemas.microsoft.com/office/drawing/2014/main" id="{59915412-24B3-4874-953B-B5B462D4DC8F}"/>
                  </a:ext>
                </a:extLst>
              </p:cNvPr>
              <p:cNvSpPr>
                <a:spLocks noChangeShapeType="1"/>
              </p:cNvSpPr>
              <p:nvPr/>
            </p:nvSpPr>
            <p:spPr bwMode="auto">
              <a:xfrm flipH="1" flipV="1">
                <a:off x="1024" y="1201"/>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58" name="Line 118">
                <a:extLst>
                  <a:ext uri="{FF2B5EF4-FFF2-40B4-BE49-F238E27FC236}">
                    <a16:creationId xmlns:a16="http://schemas.microsoft.com/office/drawing/2014/main" id="{B8B404EB-2BF7-4B76-B2B2-52ED5A07D9DE}"/>
                  </a:ext>
                </a:extLst>
              </p:cNvPr>
              <p:cNvSpPr>
                <a:spLocks noChangeShapeType="1"/>
              </p:cNvSpPr>
              <p:nvPr/>
            </p:nvSpPr>
            <p:spPr bwMode="auto">
              <a:xfrm flipH="1">
                <a:off x="948" y="1344"/>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59" name="Line 119">
                <a:extLst>
                  <a:ext uri="{FF2B5EF4-FFF2-40B4-BE49-F238E27FC236}">
                    <a16:creationId xmlns:a16="http://schemas.microsoft.com/office/drawing/2014/main" id="{16A5728F-4C97-4919-918F-836859ECF131}"/>
                  </a:ext>
                </a:extLst>
              </p:cNvPr>
              <p:cNvSpPr>
                <a:spLocks noChangeShapeType="1"/>
              </p:cNvSpPr>
              <p:nvPr/>
            </p:nvSpPr>
            <p:spPr bwMode="auto">
              <a:xfrm flipH="1" flipV="1">
                <a:off x="1020" y="1344"/>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60" name="Line 120">
                <a:extLst>
                  <a:ext uri="{FF2B5EF4-FFF2-40B4-BE49-F238E27FC236}">
                    <a16:creationId xmlns:a16="http://schemas.microsoft.com/office/drawing/2014/main" id="{996D540C-008A-43FB-B947-22085AF07CFE}"/>
                  </a:ext>
                </a:extLst>
              </p:cNvPr>
              <p:cNvSpPr>
                <a:spLocks noChangeShapeType="1"/>
              </p:cNvSpPr>
              <p:nvPr/>
            </p:nvSpPr>
            <p:spPr bwMode="auto">
              <a:xfrm>
                <a:off x="1020" y="1162"/>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sp>
          <p:nvSpPr>
            <p:cNvPr id="13353" name="Rectangle 143">
              <a:extLst>
                <a:ext uri="{FF2B5EF4-FFF2-40B4-BE49-F238E27FC236}">
                  <a16:creationId xmlns:a16="http://schemas.microsoft.com/office/drawing/2014/main" id="{46C03F10-F583-4220-9A94-3FA4F17C2661}"/>
                </a:ext>
              </a:extLst>
            </p:cNvPr>
            <p:cNvSpPr>
              <a:spLocks noChangeArrowheads="1"/>
            </p:cNvSpPr>
            <p:nvPr/>
          </p:nvSpPr>
          <p:spPr bwMode="auto">
            <a:xfrm>
              <a:off x="1258590" y="4267944"/>
              <a:ext cx="16873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rgbClr val="7030A0"/>
                  </a:solidFill>
                </a:rPr>
                <a:t>Visión Usuario </a:t>
              </a:r>
              <a:r>
                <a:rPr lang="es-AR" altLang="es-AR" sz="1600" b="1">
                  <a:solidFill>
                    <a:srgbClr val="7030A0"/>
                  </a:solidFill>
                </a:rPr>
                <a:t>N</a:t>
              </a:r>
              <a:endParaRPr lang="es-ES" altLang="es-AR" sz="1600" b="1">
                <a:solidFill>
                  <a:srgbClr val="7030A0"/>
                </a:solidFill>
              </a:endParaRPr>
            </a:p>
          </p:txBody>
        </p:sp>
        <p:sp>
          <p:nvSpPr>
            <p:cNvPr id="13354" name="83 Elipse">
              <a:extLst>
                <a:ext uri="{FF2B5EF4-FFF2-40B4-BE49-F238E27FC236}">
                  <a16:creationId xmlns:a16="http://schemas.microsoft.com/office/drawing/2014/main" id="{34876B6F-19EC-478C-9AD6-0DCFA39ED2C7}"/>
                </a:ext>
              </a:extLst>
            </p:cNvPr>
            <p:cNvSpPr>
              <a:spLocks noChangeArrowheads="1"/>
            </p:cNvSpPr>
            <p:nvPr/>
          </p:nvSpPr>
          <p:spPr bwMode="auto">
            <a:xfrm>
              <a:off x="1115616" y="2697539"/>
              <a:ext cx="1793106" cy="1408371"/>
            </a:xfrm>
            <a:prstGeom prst="ellipse">
              <a:avLst/>
            </a:prstGeom>
            <a:solidFill>
              <a:srgbClr val="7030A0">
                <a:alpha val="3294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grpSp>
      <p:grpSp>
        <p:nvGrpSpPr>
          <p:cNvPr id="14" name="13 Grupo">
            <a:extLst>
              <a:ext uri="{FF2B5EF4-FFF2-40B4-BE49-F238E27FC236}">
                <a16:creationId xmlns:a16="http://schemas.microsoft.com/office/drawing/2014/main" id="{6A425DF4-2876-4F8F-ABDC-0843B02CFD0E}"/>
              </a:ext>
            </a:extLst>
          </p:cNvPr>
          <p:cNvGrpSpPr>
            <a:grpSpLocks/>
          </p:cNvGrpSpPr>
          <p:nvPr/>
        </p:nvGrpSpPr>
        <p:grpSpPr bwMode="auto">
          <a:xfrm>
            <a:off x="2059088" y="1484883"/>
            <a:ext cx="3737048" cy="2088232"/>
            <a:chOff x="1788790" y="1519949"/>
            <a:chExt cx="3737620" cy="2086838"/>
          </a:xfrm>
        </p:grpSpPr>
        <p:grpSp>
          <p:nvGrpSpPr>
            <p:cNvPr id="13343" name="Group 122">
              <a:extLst>
                <a:ext uri="{FF2B5EF4-FFF2-40B4-BE49-F238E27FC236}">
                  <a16:creationId xmlns:a16="http://schemas.microsoft.com/office/drawing/2014/main" id="{BB9AAFEA-5B81-41B9-872A-2DAF1E294DED}"/>
                </a:ext>
              </a:extLst>
            </p:cNvPr>
            <p:cNvGrpSpPr>
              <a:grpSpLocks/>
            </p:cNvGrpSpPr>
            <p:nvPr/>
          </p:nvGrpSpPr>
          <p:grpSpPr bwMode="auto">
            <a:xfrm>
              <a:off x="3203848" y="1596149"/>
              <a:ext cx="311150" cy="673100"/>
              <a:chOff x="930" y="1026"/>
              <a:chExt cx="196" cy="424"/>
            </a:xfrm>
          </p:grpSpPr>
          <p:sp>
            <p:nvSpPr>
              <p:cNvPr id="13346" name="Oval 123">
                <a:extLst>
                  <a:ext uri="{FF2B5EF4-FFF2-40B4-BE49-F238E27FC236}">
                    <a16:creationId xmlns:a16="http://schemas.microsoft.com/office/drawing/2014/main" id="{65D5E688-28E4-4925-A960-48915F13E038}"/>
                  </a:ext>
                </a:extLst>
              </p:cNvPr>
              <p:cNvSpPr>
                <a:spLocks noChangeArrowheads="1"/>
              </p:cNvSpPr>
              <p:nvPr/>
            </p:nvSpPr>
            <p:spPr bwMode="auto">
              <a:xfrm>
                <a:off x="957" y="1026"/>
                <a:ext cx="154" cy="136"/>
              </a:xfrm>
              <a:prstGeom prst="ellipse">
                <a:avLst/>
              </a:prstGeom>
              <a:solidFill>
                <a:srgbClr val="CC0000"/>
              </a:solidFill>
              <a:ln w="9525" algn="ctr">
                <a:solidFill>
                  <a:schemeClr val="tx1"/>
                </a:solidFill>
                <a:round/>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13347" name="Line 124">
                <a:extLst>
                  <a:ext uri="{FF2B5EF4-FFF2-40B4-BE49-F238E27FC236}">
                    <a16:creationId xmlns:a16="http://schemas.microsoft.com/office/drawing/2014/main" id="{2BA7EB41-ACCC-48E0-BFC4-1DC1C13BDBC5}"/>
                  </a:ext>
                </a:extLst>
              </p:cNvPr>
              <p:cNvSpPr>
                <a:spLocks noChangeShapeType="1"/>
              </p:cNvSpPr>
              <p:nvPr/>
            </p:nvSpPr>
            <p:spPr bwMode="auto">
              <a:xfrm flipH="1">
                <a:off x="930" y="1207"/>
                <a:ext cx="90"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48" name="Line 125">
                <a:extLst>
                  <a:ext uri="{FF2B5EF4-FFF2-40B4-BE49-F238E27FC236}">
                    <a16:creationId xmlns:a16="http://schemas.microsoft.com/office/drawing/2014/main" id="{723F08F5-3CFD-47D4-9105-7CE60BEB5326}"/>
                  </a:ext>
                </a:extLst>
              </p:cNvPr>
              <p:cNvSpPr>
                <a:spLocks noChangeShapeType="1"/>
              </p:cNvSpPr>
              <p:nvPr/>
            </p:nvSpPr>
            <p:spPr bwMode="auto">
              <a:xfrm flipH="1" flipV="1">
                <a:off x="1024" y="1201"/>
                <a:ext cx="102" cy="4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49" name="Line 126">
                <a:extLst>
                  <a:ext uri="{FF2B5EF4-FFF2-40B4-BE49-F238E27FC236}">
                    <a16:creationId xmlns:a16="http://schemas.microsoft.com/office/drawing/2014/main" id="{A1D9DCA6-85B1-4E5C-9CD6-BF3AC4957FFA}"/>
                  </a:ext>
                </a:extLst>
              </p:cNvPr>
              <p:cNvSpPr>
                <a:spLocks noChangeShapeType="1"/>
              </p:cNvSpPr>
              <p:nvPr/>
            </p:nvSpPr>
            <p:spPr bwMode="auto">
              <a:xfrm flipH="1">
                <a:off x="948" y="1344"/>
                <a:ext cx="72" cy="1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50" name="Line 127">
                <a:extLst>
                  <a:ext uri="{FF2B5EF4-FFF2-40B4-BE49-F238E27FC236}">
                    <a16:creationId xmlns:a16="http://schemas.microsoft.com/office/drawing/2014/main" id="{11409CE2-76DF-4E4F-8614-13E504BE02AF}"/>
                  </a:ext>
                </a:extLst>
              </p:cNvPr>
              <p:cNvSpPr>
                <a:spLocks noChangeShapeType="1"/>
              </p:cNvSpPr>
              <p:nvPr/>
            </p:nvSpPr>
            <p:spPr bwMode="auto">
              <a:xfrm flipH="1" flipV="1">
                <a:off x="1020" y="1344"/>
                <a:ext cx="46"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51" name="Line 128">
                <a:extLst>
                  <a:ext uri="{FF2B5EF4-FFF2-40B4-BE49-F238E27FC236}">
                    <a16:creationId xmlns:a16="http://schemas.microsoft.com/office/drawing/2014/main" id="{3FF648ED-6238-4579-A6B6-F40875B7D144}"/>
                  </a:ext>
                </a:extLst>
              </p:cNvPr>
              <p:cNvSpPr>
                <a:spLocks noChangeShapeType="1"/>
              </p:cNvSpPr>
              <p:nvPr/>
            </p:nvSpPr>
            <p:spPr bwMode="auto">
              <a:xfrm>
                <a:off x="1020" y="1162"/>
                <a:ext cx="0" cy="18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sp>
          <p:nvSpPr>
            <p:cNvPr id="13344" name="Rectangle 142">
              <a:extLst>
                <a:ext uri="{FF2B5EF4-FFF2-40B4-BE49-F238E27FC236}">
                  <a16:creationId xmlns:a16="http://schemas.microsoft.com/office/drawing/2014/main" id="{BE2DF995-DA67-4171-B87A-B4973DB88E6F}"/>
                </a:ext>
              </a:extLst>
            </p:cNvPr>
            <p:cNvSpPr>
              <a:spLocks noChangeArrowheads="1"/>
            </p:cNvSpPr>
            <p:nvPr/>
          </p:nvSpPr>
          <p:spPr bwMode="auto">
            <a:xfrm>
              <a:off x="3700797" y="1519949"/>
              <a:ext cx="18256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rgbClr val="FF0000"/>
                  </a:solidFill>
                </a:rPr>
                <a:t>Visión Usuario </a:t>
              </a:r>
              <a:r>
                <a:rPr lang="es-AR" altLang="es-AR" sz="1600" b="1">
                  <a:solidFill>
                    <a:srgbClr val="FF0000"/>
                  </a:solidFill>
                </a:rPr>
                <a:t>B</a:t>
              </a:r>
              <a:endParaRPr lang="es-ES" altLang="es-AR" sz="1600" b="1">
                <a:solidFill>
                  <a:srgbClr val="FF0000"/>
                </a:solidFill>
              </a:endParaRPr>
            </a:p>
          </p:txBody>
        </p:sp>
        <p:sp>
          <p:nvSpPr>
            <p:cNvPr id="13345" name="84 Elipse">
              <a:extLst>
                <a:ext uri="{FF2B5EF4-FFF2-40B4-BE49-F238E27FC236}">
                  <a16:creationId xmlns:a16="http://schemas.microsoft.com/office/drawing/2014/main" id="{683A02B9-5F0B-4F14-ABED-320E347854E9}"/>
                </a:ext>
              </a:extLst>
            </p:cNvPr>
            <p:cNvSpPr>
              <a:spLocks noChangeArrowheads="1"/>
            </p:cNvSpPr>
            <p:nvPr/>
          </p:nvSpPr>
          <p:spPr bwMode="auto">
            <a:xfrm>
              <a:off x="1788790" y="2198416"/>
              <a:ext cx="1793106" cy="1408371"/>
            </a:xfrm>
            <a:prstGeom prst="ellipse">
              <a:avLst/>
            </a:prstGeom>
            <a:solidFill>
              <a:srgbClr val="FF0000">
                <a:alpha val="32941"/>
              </a:srgbClr>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grpSp>
      <p:sp>
        <p:nvSpPr>
          <p:cNvPr id="17" name="16 Rectángulo redondeado">
            <a:extLst>
              <a:ext uri="{FF2B5EF4-FFF2-40B4-BE49-F238E27FC236}">
                <a16:creationId xmlns:a16="http://schemas.microsoft.com/office/drawing/2014/main" id="{FF0BB07E-F1B3-4F8A-9057-2F8AB320DD14}"/>
              </a:ext>
            </a:extLst>
          </p:cNvPr>
          <p:cNvSpPr>
            <a:spLocks noChangeArrowheads="1"/>
          </p:cNvSpPr>
          <p:nvPr/>
        </p:nvSpPr>
        <p:spPr bwMode="auto">
          <a:xfrm>
            <a:off x="6588125" y="4385915"/>
            <a:ext cx="1720850"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1. Entidades</a:t>
            </a:r>
          </a:p>
        </p:txBody>
      </p:sp>
      <p:sp>
        <p:nvSpPr>
          <p:cNvPr id="91" name="90 Rectángulo redondeado">
            <a:extLst>
              <a:ext uri="{FF2B5EF4-FFF2-40B4-BE49-F238E27FC236}">
                <a16:creationId xmlns:a16="http://schemas.microsoft.com/office/drawing/2014/main" id="{7A7B5201-0E5B-46A5-8A56-726B9C1377AB}"/>
              </a:ext>
            </a:extLst>
          </p:cNvPr>
          <p:cNvSpPr>
            <a:spLocks noChangeArrowheads="1"/>
          </p:cNvSpPr>
          <p:nvPr/>
        </p:nvSpPr>
        <p:spPr bwMode="auto">
          <a:xfrm>
            <a:off x="6588125" y="4795490"/>
            <a:ext cx="1720850"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2. Relaciones</a:t>
            </a:r>
          </a:p>
        </p:txBody>
      </p:sp>
      <p:sp>
        <p:nvSpPr>
          <p:cNvPr id="92" name="91 Rectángulo redondeado">
            <a:extLst>
              <a:ext uri="{FF2B5EF4-FFF2-40B4-BE49-F238E27FC236}">
                <a16:creationId xmlns:a16="http://schemas.microsoft.com/office/drawing/2014/main" id="{CE4982D6-2A56-472D-BBA7-451B367AFADF}"/>
              </a:ext>
            </a:extLst>
          </p:cNvPr>
          <p:cNvSpPr>
            <a:spLocks noChangeArrowheads="1"/>
          </p:cNvSpPr>
          <p:nvPr/>
        </p:nvSpPr>
        <p:spPr bwMode="auto">
          <a:xfrm>
            <a:off x="6596063" y="5214590"/>
            <a:ext cx="1720850"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3. Restricciones</a:t>
            </a:r>
          </a:p>
        </p:txBody>
      </p:sp>
      <p:sp>
        <p:nvSpPr>
          <p:cNvPr id="18" name="17 Flecha abajo">
            <a:extLst>
              <a:ext uri="{FF2B5EF4-FFF2-40B4-BE49-F238E27FC236}">
                <a16:creationId xmlns:a16="http://schemas.microsoft.com/office/drawing/2014/main" id="{29564079-13E7-4A0C-B142-553F2E132892}"/>
              </a:ext>
            </a:extLst>
          </p:cNvPr>
          <p:cNvSpPr>
            <a:spLocks noChangeArrowheads="1"/>
          </p:cNvSpPr>
          <p:nvPr/>
        </p:nvSpPr>
        <p:spPr bwMode="auto">
          <a:xfrm>
            <a:off x="7164388" y="3966815"/>
            <a:ext cx="511175" cy="398463"/>
          </a:xfrm>
          <a:prstGeom prst="downArrow">
            <a:avLst>
              <a:gd name="adj1" fmla="val 50000"/>
              <a:gd name="adj2" fmla="val 50000"/>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grpSp>
        <p:nvGrpSpPr>
          <p:cNvPr id="25" name="24 Grupo">
            <a:extLst>
              <a:ext uri="{FF2B5EF4-FFF2-40B4-BE49-F238E27FC236}">
                <a16:creationId xmlns:a16="http://schemas.microsoft.com/office/drawing/2014/main" id="{E164FF19-0580-4FA0-AE0F-1CB00733AC8F}"/>
              </a:ext>
            </a:extLst>
          </p:cNvPr>
          <p:cNvGrpSpPr>
            <a:grpSpLocks/>
          </p:cNvGrpSpPr>
          <p:nvPr/>
        </p:nvGrpSpPr>
        <p:grpSpPr bwMode="auto">
          <a:xfrm>
            <a:off x="2211388" y="2252315"/>
            <a:ext cx="3732212" cy="2730500"/>
            <a:chOff x="2211838" y="2108796"/>
            <a:chExt cx="3732405" cy="2729957"/>
          </a:xfrm>
        </p:grpSpPr>
        <p:sp>
          <p:nvSpPr>
            <p:cNvPr id="13336" name="Line 135">
              <a:extLst>
                <a:ext uri="{FF2B5EF4-FFF2-40B4-BE49-F238E27FC236}">
                  <a16:creationId xmlns:a16="http://schemas.microsoft.com/office/drawing/2014/main" id="{D678377E-FD09-42CF-9D99-3E83095C6C7C}"/>
                </a:ext>
              </a:extLst>
            </p:cNvPr>
            <p:cNvSpPr>
              <a:spLocks noChangeShapeType="1"/>
            </p:cNvSpPr>
            <p:nvPr/>
          </p:nvSpPr>
          <p:spPr bwMode="auto">
            <a:xfrm flipV="1">
              <a:off x="2211838" y="2492375"/>
              <a:ext cx="2072131" cy="0"/>
            </a:xfrm>
            <a:prstGeom prst="line">
              <a:avLst/>
            </a:prstGeom>
            <a:noFill/>
            <a:ln w="9525">
              <a:solidFill>
                <a:srgbClr val="00B05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37" name="Rectangle 138">
              <a:extLst>
                <a:ext uri="{FF2B5EF4-FFF2-40B4-BE49-F238E27FC236}">
                  <a16:creationId xmlns:a16="http://schemas.microsoft.com/office/drawing/2014/main" id="{8482486A-7B8D-4B50-B70B-065ADDEF6DEC}"/>
                </a:ext>
              </a:extLst>
            </p:cNvPr>
            <p:cNvSpPr>
              <a:spLocks noChangeArrowheads="1"/>
            </p:cNvSpPr>
            <p:nvPr/>
          </p:nvSpPr>
          <p:spPr bwMode="auto">
            <a:xfrm>
              <a:off x="4355976" y="2108796"/>
              <a:ext cx="1303338" cy="59055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600">
                  <a:solidFill>
                    <a:srgbClr val="00B050"/>
                  </a:solidFill>
                </a:rPr>
                <a:t>Sub Modelo </a:t>
              </a:r>
            </a:p>
            <a:p>
              <a:pPr algn="ctr" eaLnBrk="1" hangingPunct="1">
                <a:spcBef>
                  <a:spcPct val="0"/>
                </a:spcBef>
                <a:buClrTx/>
                <a:buSzTx/>
                <a:buFontTx/>
                <a:buNone/>
              </a:pPr>
              <a:r>
                <a:rPr lang="es-AR" altLang="es-AR" sz="1600">
                  <a:solidFill>
                    <a:srgbClr val="00B050"/>
                  </a:solidFill>
                </a:rPr>
                <a:t>de datos A</a:t>
              </a:r>
              <a:endParaRPr lang="es-ES" altLang="es-AR" sz="1600">
                <a:solidFill>
                  <a:srgbClr val="00B050"/>
                </a:solidFill>
              </a:endParaRPr>
            </a:p>
          </p:txBody>
        </p:sp>
        <p:sp>
          <p:nvSpPr>
            <p:cNvPr id="13338" name="Line 136">
              <a:extLst>
                <a:ext uri="{FF2B5EF4-FFF2-40B4-BE49-F238E27FC236}">
                  <a16:creationId xmlns:a16="http://schemas.microsoft.com/office/drawing/2014/main" id="{B2FA9B53-81C5-476F-BB05-8F09AC31D1BA}"/>
                </a:ext>
              </a:extLst>
            </p:cNvPr>
            <p:cNvSpPr>
              <a:spLocks noChangeShapeType="1"/>
            </p:cNvSpPr>
            <p:nvPr/>
          </p:nvSpPr>
          <p:spPr bwMode="auto">
            <a:xfrm>
              <a:off x="3090864" y="3325814"/>
              <a:ext cx="1193105"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39" name="Rectangle 139">
              <a:extLst>
                <a:ext uri="{FF2B5EF4-FFF2-40B4-BE49-F238E27FC236}">
                  <a16:creationId xmlns:a16="http://schemas.microsoft.com/office/drawing/2014/main" id="{EFBA0A6C-52B6-46EA-A967-0710719AF919}"/>
                </a:ext>
              </a:extLst>
            </p:cNvPr>
            <p:cNvSpPr>
              <a:spLocks noChangeArrowheads="1"/>
            </p:cNvSpPr>
            <p:nvPr/>
          </p:nvSpPr>
          <p:spPr bwMode="auto">
            <a:xfrm>
              <a:off x="4356223" y="3030538"/>
              <a:ext cx="1303338" cy="59055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600">
                  <a:solidFill>
                    <a:srgbClr val="FF0000"/>
                  </a:solidFill>
                </a:rPr>
                <a:t>Sub Modelo </a:t>
              </a:r>
            </a:p>
            <a:p>
              <a:pPr algn="ctr" eaLnBrk="1" hangingPunct="1">
                <a:spcBef>
                  <a:spcPct val="0"/>
                </a:spcBef>
                <a:buClrTx/>
                <a:buSzTx/>
                <a:buFontTx/>
                <a:buNone/>
              </a:pPr>
              <a:r>
                <a:rPr lang="es-AR" altLang="es-AR" sz="1600">
                  <a:solidFill>
                    <a:srgbClr val="FF0000"/>
                  </a:solidFill>
                </a:rPr>
                <a:t>de datos B</a:t>
              </a:r>
              <a:endParaRPr lang="es-ES" altLang="es-AR" sz="1600">
                <a:solidFill>
                  <a:srgbClr val="FF0000"/>
                </a:solidFill>
              </a:endParaRPr>
            </a:p>
          </p:txBody>
        </p:sp>
        <p:sp>
          <p:nvSpPr>
            <p:cNvPr id="13340" name="Line 137">
              <a:extLst>
                <a:ext uri="{FF2B5EF4-FFF2-40B4-BE49-F238E27FC236}">
                  <a16:creationId xmlns:a16="http://schemas.microsoft.com/office/drawing/2014/main" id="{D826C15B-AEE8-4FB9-8514-6F752F26D9F3}"/>
                </a:ext>
              </a:extLst>
            </p:cNvPr>
            <p:cNvSpPr>
              <a:spLocks noChangeShapeType="1"/>
            </p:cNvSpPr>
            <p:nvPr/>
          </p:nvSpPr>
          <p:spPr bwMode="auto">
            <a:xfrm>
              <a:off x="2548682" y="4181475"/>
              <a:ext cx="1735287" cy="0"/>
            </a:xfrm>
            <a:prstGeom prst="line">
              <a:avLst/>
            </a:prstGeom>
            <a:noFill/>
            <a:ln w="9525">
              <a:solidFill>
                <a:srgbClr val="7030A0"/>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3341" name="Rectangle 140">
              <a:extLst>
                <a:ext uri="{FF2B5EF4-FFF2-40B4-BE49-F238E27FC236}">
                  <a16:creationId xmlns:a16="http://schemas.microsoft.com/office/drawing/2014/main" id="{0DAD213B-61C9-4582-8255-CD14A31608FD}"/>
                </a:ext>
              </a:extLst>
            </p:cNvPr>
            <p:cNvSpPr>
              <a:spLocks noChangeArrowheads="1"/>
            </p:cNvSpPr>
            <p:nvPr/>
          </p:nvSpPr>
          <p:spPr bwMode="auto">
            <a:xfrm>
              <a:off x="4356223" y="3822700"/>
              <a:ext cx="1303338" cy="59055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600">
                  <a:solidFill>
                    <a:srgbClr val="7030A0"/>
                  </a:solidFill>
                </a:rPr>
                <a:t>Sub Modelo </a:t>
              </a:r>
            </a:p>
            <a:p>
              <a:pPr algn="ctr" eaLnBrk="1" hangingPunct="1">
                <a:spcBef>
                  <a:spcPct val="0"/>
                </a:spcBef>
                <a:buClrTx/>
                <a:buSzTx/>
                <a:buFontTx/>
                <a:buNone/>
              </a:pPr>
              <a:r>
                <a:rPr lang="es-AR" altLang="es-AR" sz="1600">
                  <a:solidFill>
                    <a:srgbClr val="7030A0"/>
                  </a:solidFill>
                </a:rPr>
                <a:t>de datos N</a:t>
              </a:r>
              <a:endParaRPr lang="es-ES" altLang="es-AR" sz="1600">
                <a:solidFill>
                  <a:srgbClr val="7030A0"/>
                </a:solidFill>
              </a:endParaRPr>
            </a:p>
          </p:txBody>
        </p:sp>
        <p:cxnSp>
          <p:nvCxnSpPr>
            <p:cNvPr id="13342" name="19 Conector recto de flecha">
              <a:extLst>
                <a:ext uri="{FF2B5EF4-FFF2-40B4-BE49-F238E27FC236}">
                  <a16:creationId xmlns:a16="http://schemas.microsoft.com/office/drawing/2014/main" id="{5D5E6909-40D1-4035-86D7-27D7BB3ECD4D}"/>
                </a:ext>
              </a:extLst>
            </p:cNvPr>
            <p:cNvCxnSpPr>
              <a:cxnSpLocks noChangeShapeType="1"/>
            </p:cNvCxnSpPr>
            <p:nvPr/>
          </p:nvCxnSpPr>
          <p:spPr bwMode="auto">
            <a:xfrm>
              <a:off x="4932040" y="4606498"/>
              <a:ext cx="1012203" cy="232255"/>
            </a:xfrm>
            <a:prstGeom prst="bentConnector3">
              <a:avLst>
                <a:gd name="adj1" fmla="val 1356"/>
              </a:avLst>
            </a:prstGeom>
            <a:noFill/>
            <a:ln w="57150" algn="ctr">
              <a:solidFill>
                <a:srgbClr val="002060"/>
              </a:solidFill>
              <a:round/>
              <a:headEnd/>
              <a:tailEnd type="arrow" w="med" len="med"/>
            </a:ln>
            <a:extLst>
              <a:ext uri="{909E8E84-426E-40DD-AFC4-6F175D3DCCD1}">
                <a14:hiddenFill xmlns:a14="http://schemas.microsoft.com/office/drawing/2010/main">
                  <a:noFill/>
                </a14:hiddenFill>
              </a:ext>
            </a:extLst>
          </p:spPr>
        </p:cxnSp>
      </p:grpSp>
      <p:sp>
        <p:nvSpPr>
          <p:cNvPr id="101" name="AutoShape 51">
            <a:extLst>
              <a:ext uri="{FF2B5EF4-FFF2-40B4-BE49-F238E27FC236}">
                <a16:creationId xmlns:a16="http://schemas.microsoft.com/office/drawing/2014/main" id="{7BD86EAC-C124-4CC1-9866-8DDD4D9E2F17}"/>
              </a:ext>
            </a:extLst>
          </p:cNvPr>
          <p:cNvSpPr>
            <a:spLocks noChangeArrowheads="1"/>
          </p:cNvSpPr>
          <p:nvPr/>
        </p:nvSpPr>
        <p:spPr bwMode="auto">
          <a:xfrm>
            <a:off x="8027988" y="6237288"/>
            <a:ext cx="1076325" cy="439737"/>
          </a:xfrm>
          <a:prstGeom prst="can">
            <a:avLst>
              <a:gd name="adj" fmla="val 25000"/>
            </a:avLst>
          </a:prstGeom>
          <a:solidFill>
            <a:srgbClr val="5B82FF"/>
          </a:solidFill>
          <a:ln w="9525">
            <a:solidFill>
              <a:schemeClr val="tx1"/>
            </a:solidFill>
            <a:round/>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endParaRPr lang="es-ES" altLang="es-AR" sz="1200"/>
          </a:p>
        </p:txBody>
      </p:sp>
      <p:cxnSp>
        <p:nvCxnSpPr>
          <p:cNvPr id="4" name="3 Conector recto de flecha">
            <a:extLst>
              <a:ext uri="{FF2B5EF4-FFF2-40B4-BE49-F238E27FC236}">
                <a16:creationId xmlns:a16="http://schemas.microsoft.com/office/drawing/2014/main" id="{8A59756F-3CD6-4FAF-B65C-34FFDCCD9B68}"/>
              </a:ext>
            </a:extLst>
          </p:cNvPr>
          <p:cNvCxnSpPr>
            <a:cxnSpLocks noChangeShapeType="1"/>
          </p:cNvCxnSpPr>
          <p:nvPr/>
        </p:nvCxnSpPr>
        <p:spPr bwMode="auto">
          <a:xfrm>
            <a:off x="4355415" y="3031778"/>
            <a:ext cx="2096185" cy="0"/>
          </a:xfrm>
          <a:prstGeom prst="straightConnector1">
            <a:avLst/>
          </a:prstGeom>
          <a:noFill/>
          <a:ln w="38100" algn="ctr">
            <a:solidFill>
              <a:srgbClr val="002060"/>
            </a:solidFill>
            <a:prstDash val="dashDot"/>
            <a:round/>
            <a:headEnd/>
            <a:tailEnd type="arrow" w="med" len="med"/>
          </a:ln>
          <a:extLst>
            <a:ext uri="{909E8E84-426E-40DD-AFC4-6F175D3DCCD1}">
              <a14:hiddenFill xmlns:a14="http://schemas.microsoft.com/office/drawing/2010/main">
                <a:noFill/>
              </a14:hiddenFill>
            </a:ext>
          </a:extLst>
        </p:spPr>
      </p:cxnSp>
      <p:sp>
        <p:nvSpPr>
          <p:cNvPr id="6" name="5 CuadroTexto">
            <a:extLst>
              <a:ext uri="{FF2B5EF4-FFF2-40B4-BE49-F238E27FC236}">
                <a16:creationId xmlns:a16="http://schemas.microsoft.com/office/drawing/2014/main" id="{C9ABF608-8304-4BC3-A24C-283C0BB7D45C}"/>
              </a:ext>
            </a:extLst>
          </p:cNvPr>
          <p:cNvSpPr txBox="1">
            <a:spLocks noChangeArrowheads="1"/>
          </p:cNvSpPr>
          <p:nvPr/>
        </p:nvSpPr>
        <p:spPr bwMode="auto">
          <a:xfrm>
            <a:off x="4716016" y="2468677"/>
            <a:ext cx="1849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b="1">
                <a:solidFill>
                  <a:srgbClr val="002060"/>
                </a:solidFill>
              </a:rPr>
              <a:t>Diseño Conceptual</a:t>
            </a:r>
          </a:p>
        </p:txBody>
      </p:sp>
      <p:pic>
        <p:nvPicPr>
          <p:cNvPr id="7" name="Imagen 6">
            <a:extLst>
              <a:ext uri="{FF2B5EF4-FFF2-40B4-BE49-F238E27FC236}">
                <a16:creationId xmlns:a16="http://schemas.microsoft.com/office/drawing/2014/main" id="{4812896A-70F0-4A36-A652-CDBA623EBDED}"/>
              </a:ext>
            </a:extLst>
          </p:cNvPr>
          <p:cNvPicPr>
            <a:picLocks noChangeAspect="1"/>
          </p:cNvPicPr>
          <p:nvPr/>
        </p:nvPicPr>
        <p:blipFill>
          <a:blip r:embed="rId4"/>
          <a:stretch>
            <a:fillRect/>
          </a:stretch>
        </p:blipFill>
        <p:spPr>
          <a:xfrm>
            <a:off x="217695" y="2276971"/>
            <a:ext cx="3634225" cy="1907516"/>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1000"/>
                                        <p:tgtEl>
                                          <p:spTgt spid="18"/>
                                        </p:tgtEl>
                                      </p:cBhvr>
                                    </p:animEffect>
                                    <p:anim calcmode="lin" valueType="num">
                                      <p:cBhvr>
                                        <p:cTn id="16" dur="1000" fill="hold"/>
                                        <p:tgtEl>
                                          <p:spTgt spid="18"/>
                                        </p:tgtEl>
                                        <p:attrNameLst>
                                          <p:attrName>ppt_x</p:attrName>
                                        </p:attrNameLst>
                                      </p:cBhvr>
                                      <p:tavLst>
                                        <p:tav tm="0">
                                          <p:val>
                                            <p:strVal val="#ppt_x"/>
                                          </p:val>
                                        </p:tav>
                                        <p:tav tm="100000">
                                          <p:val>
                                            <p:strVal val="#ppt_x"/>
                                          </p:val>
                                        </p:tav>
                                      </p:tavLst>
                                    </p:anim>
                                    <p:anim calcmode="lin" valueType="num">
                                      <p:cBhvr>
                                        <p:cTn id="17" dur="1000" fill="hold"/>
                                        <p:tgtEl>
                                          <p:spTgt spid="18"/>
                                        </p:tgtEl>
                                        <p:attrNameLst>
                                          <p:attrName>ppt_y</p:attrName>
                                        </p:attrNameLst>
                                      </p:cBhvr>
                                      <p:tavLst>
                                        <p:tav tm="0">
                                          <p:val>
                                            <p:strVal val="#ppt_y+.1"/>
                                          </p:val>
                                        </p:tav>
                                        <p:tav tm="100000">
                                          <p:val>
                                            <p:strVal val="#ppt_y"/>
                                          </p:val>
                                        </p:tav>
                                      </p:tavLst>
                                    </p:anim>
                                  </p:childTnLst>
                                </p:cTn>
                              </p:par>
                              <p:par>
                                <p:cTn id="18" presetID="14" presetClass="exit" presetSubtype="10" fill="hold" grpId="1" nodeType="withEffect">
                                  <p:stCondLst>
                                    <p:cond delay="0"/>
                                  </p:stCondLst>
                                  <p:childTnLst>
                                    <p:animEffect transition="out" filter="randombar(horizontal)">
                                      <p:cBhvr>
                                        <p:cTn id="19" dur="500"/>
                                        <p:tgtEl>
                                          <p:spTgt spid="6"/>
                                        </p:tgtEl>
                                      </p:cBhvr>
                                    </p:animEffect>
                                    <p:set>
                                      <p:cBhvr>
                                        <p:cTn id="20" dur="1" fill="hold">
                                          <p:stCondLst>
                                            <p:cond delay="499"/>
                                          </p:stCondLst>
                                        </p:cTn>
                                        <p:tgtEl>
                                          <p:spTgt spid="6"/>
                                        </p:tgtEl>
                                        <p:attrNameLst>
                                          <p:attrName>style.visibility</p:attrName>
                                        </p:attrNameLst>
                                      </p:cBhvr>
                                      <p:to>
                                        <p:strVal val="hidden"/>
                                      </p:to>
                                    </p:set>
                                  </p:childTnLst>
                                </p:cTn>
                              </p:par>
                              <p:par>
                                <p:cTn id="21" presetID="42"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1000"/>
                                        <p:tgtEl>
                                          <p:spTgt spid="17"/>
                                        </p:tgtEl>
                                      </p:cBhvr>
                                    </p:animEffect>
                                    <p:anim calcmode="lin" valueType="num">
                                      <p:cBhvr>
                                        <p:cTn id="24" dur="1000" fill="hold"/>
                                        <p:tgtEl>
                                          <p:spTgt spid="17"/>
                                        </p:tgtEl>
                                        <p:attrNameLst>
                                          <p:attrName>ppt_x</p:attrName>
                                        </p:attrNameLst>
                                      </p:cBhvr>
                                      <p:tavLst>
                                        <p:tav tm="0">
                                          <p:val>
                                            <p:strVal val="#ppt_x"/>
                                          </p:val>
                                        </p:tav>
                                        <p:tav tm="100000">
                                          <p:val>
                                            <p:strVal val="#ppt_x"/>
                                          </p:val>
                                        </p:tav>
                                      </p:tavLst>
                                    </p:anim>
                                    <p:anim calcmode="lin" valueType="num">
                                      <p:cBhvr>
                                        <p:cTn id="25" dur="1000" fill="hold"/>
                                        <p:tgtEl>
                                          <p:spTgt spid="17"/>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91"/>
                                        </p:tgtEl>
                                        <p:attrNameLst>
                                          <p:attrName>style.visibility</p:attrName>
                                        </p:attrNameLst>
                                      </p:cBhvr>
                                      <p:to>
                                        <p:strVal val="visible"/>
                                      </p:to>
                                    </p:set>
                                    <p:animEffect transition="in" filter="fade">
                                      <p:cBhvr>
                                        <p:cTn id="28" dur="1000"/>
                                        <p:tgtEl>
                                          <p:spTgt spid="91"/>
                                        </p:tgtEl>
                                      </p:cBhvr>
                                    </p:animEffect>
                                    <p:anim calcmode="lin" valueType="num">
                                      <p:cBhvr>
                                        <p:cTn id="29" dur="1000" fill="hold"/>
                                        <p:tgtEl>
                                          <p:spTgt spid="91"/>
                                        </p:tgtEl>
                                        <p:attrNameLst>
                                          <p:attrName>ppt_x</p:attrName>
                                        </p:attrNameLst>
                                      </p:cBhvr>
                                      <p:tavLst>
                                        <p:tav tm="0">
                                          <p:val>
                                            <p:strVal val="#ppt_x"/>
                                          </p:val>
                                        </p:tav>
                                        <p:tav tm="100000">
                                          <p:val>
                                            <p:strVal val="#ppt_x"/>
                                          </p:val>
                                        </p:tav>
                                      </p:tavLst>
                                    </p:anim>
                                    <p:anim calcmode="lin" valueType="num">
                                      <p:cBhvr>
                                        <p:cTn id="30" dur="1000" fill="hold"/>
                                        <p:tgtEl>
                                          <p:spTgt spid="91"/>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92"/>
                                        </p:tgtEl>
                                        <p:attrNameLst>
                                          <p:attrName>style.visibility</p:attrName>
                                        </p:attrNameLst>
                                      </p:cBhvr>
                                      <p:to>
                                        <p:strVal val="visible"/>
                                      </p:to>
                                    </p:set>
                                    <p:animEffect transition="in" filter="fade">
                                      <p:cBhvr>
                                        <p:cTn id="33" dur="1000"/>
                                        <p:tgtEl>
                                          <p:spTgt spid="92"/>
                                        </p:tgtEl>
                                      </p:cBhvr>
                                    </p:animEffect>
                                    <p:anim calcmode="lin" valueType="num">
                                      <p:cBhvr>
                                        <p:cTn id="34" dur="1000" fill="hold"/>
                                        <p:tgtEl>
                                          <p:spTgt spid="92"/>
                                        </p:tgtEl>
                                        <p:attrNameLst>
                                          <p:attrName>ppt_x</p:attrName>
                                        </p:attrNameLst>
                                      </p:cBhvr>
                                      <p:tavLst>
                                        <p:tav tm="0">
                                          <p:val>
                                            <p:strVal val="#ppt_x"/>
                                          </p:val>
                                        </p:tav>
                                        <p:tav tm="100000">
                                          <p:val>
                                            <p:strVal val="#ppt_x"/>
                                          </p:val>
                                        </p:tav>
                                      </p:tavLst>
                                    </p:anim>
                                    <p:anim calcmode="lin" valueType="num">
                                      <p:cBhvr>
                                        <p:cTn id="35"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par>
                          <p:cTn id="41" fill="hold" nodeType="afterGroup">
                            <p:stCondLst>
                              <p:cond delay="500"/>
                            </p:stCondLst>
                            <p:childTnLst>
                              <p:par>
                                <p:cTn id="42" presetID="10" presetClass="entr" presetSubtype="0" fill="hold" nodeType="after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par>
                          <p:cTn id="45" fill="hold" nodeType="afterGroup">
                            <p:stCondLst>
                              <p:cond delay="1000"/>
                            </p:stCondLst>
                            <p:childTnLst>
                              <p:par>
                                <p:cTn id="46" presetID="10" presetClass="entr" presetSubtype="0" fill="hold"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6" presetClass="entr" presetSubtype="16" fill="hold" nodeType="click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circle(in)">
                                      <p:cBhvr>
                                        <p:cTn id="53" dur="2000"/>
                                        <p:tgtEl>
                                          <p:spTgt spid="2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1" presetClass="entr" presetSubtype="0" fill="hold" nodeType="clickEffect">
                                  <p:stCondLst>
                                    <p:cond delay="0"/>
                                  </p:stCondLst>
                                  <p:childTnLst>
                                    <p:set>
                                      <p:cBhvr>
                                        <p:cTn id="57" dur="1" fill="hold">
                                          <p:stCondLst>
                                            <p:cond delay="499"/>
                                          </p:stCondLst>
                                        </p:cTn>
                                        <p:tgtEl>
                                          <p:spTgt spid="56466"/>
                                        </p:tgtEl>
                                        <p:attrNameLst>
                                          <p:attrName>style.visibility</p:attrName>
                                        </p:attrNameLst>
                                      </p:cBhvr>
                                      <p:to>
                                        <p:strVal val="visible"/>
                                      </p:to>
                                    </p:set>
                                  </p:childTnLst>
                                </p:cTn>
                              </p:par>
                            </p:childTnLst>
                          </p:cTn>
                        </p:par>
                        <p:par>
                          <p:cTn id="58" fill="hold" nodeType="afterGroup">
                            <p:stCondLst>
                              <p:cond delay="500"/>
                            </p:stCondLst>
                            <p:childTnLst>
                              <p:par>
                                <p:cTn id="59" presetID="1" presetClass="entr" presetSubtype="0" fill="hold" nodeType="afterEffect">
                                  <p:stCondLst>
                                    <p:cond delay="0"/>
                                  </p:stCondLst>
                                  <p:childTnLst>
                                    <p:set>
                                      <p:cBhvr>
                                        <p:cTn id="60" dur="1" fill="hold">
                                          <p:stCondLst>
                                            <p:cond delay="499"/>
                                          </p:stCondLst>
                                        </p:cTn>
                                        <p:tgtEl>
                                          <p:spTgt spid="56465"/>
                                        </p:tgtEl>
                                        <p:attrNameLst>
                                          <p:attrName>style.visibility</p:attrName>
                                        </p:attrNameLst>
                                      </p:cBhvr>
                                      <p:to>
                                        <p:strVal val="visible"/>
                                      </p:to>
                                    </p:set>
                                  </p:childTnLst>
                                </p:cTn>
                              </p:par>
                            </p:childTnLst>
                          </p:cTn>
                        </p:par>
                        <p:par>
                          <p:cTn id="61" fill="hold" nodeType="afterGroup">
                            <p:stCondLst>
                              <p:cond delay="1000"/>
                            </p:stCondLst>
                            <p:childTnLst>
                              <p:par>
                                <p:cTn id="62" presetID="1" presetClass="entr" presetSubtype="0" fill="hold" nodeType="afterEffect">
                                  <p:stCondLst>
                                    <p:cond delay="0"/>
                                  </p:stCondLst>
                                  <p:childTnLst>
                                    <p:set>
                                      <p:cBhvr>
                                        <p:cTn id="63" dur="1" fill="hold">
                                          <p:stCondLst>
                                            <p:cond delay="499"/>
                                          </p:stCondLst>
                                        </p:cTn>
                                        <p:tgtEl>
                                          <p:spTgt spid="56467"/>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53"/>
                                        </p:tgtEl>
                                        <p:attrNameLst>
                                          <p:attrName>style.visibility</p:attrName>
                                        </p:attrNameLst>
                                      </p:cBhvr>
                                      <p:to>
                                        <p:strVal val="visible"/>
                                      </p:to>
                                    </p:set>
                                    <p:animEffect transition="in" filter="fade">
                                      <p:cBhvr>
                                        <p:cTn id="68" dur="500"/>
                                        <p:tgtEl>
                                          <p:spTgt spid="5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5"/>
                                        </p:tgtEl>
                                        <p:attrNameLst>
                                          <p:attrName>style.visibility</p:attrName>
                                        </p:attrNameLst>
                                      </p:cBhvr>
                                      <p:to>
                                        <p:strVal val="visible"/>
                                      </p:to>
                                    </p:set>
                                    <p:animEffect transition="in" filter="fade">
                                      <p:cBhvr>
                                        <p:cTn id="71" dur="500"/>
                                        <p:tgtEl>
                                          <p:spTgt spid="5"/>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500"/>
                                        <p:tgtEl>
                                          <p:spTgt spid="5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1"/>
                                        </p:tgtEl>
                                        <p:attrNameLst>
                                          <p:attrName>style.visibility</p:attrName>
                                        </p:attrNameLst>
                                      </p:cBhvr>
                                      <p:to>
                                        <p:strVal val="visible"/>
                                      </p:to>
                                    </p:set>
                                    <p:animEffect transition="in" filter="fade">
                                      <p:cBhvr>
                                        <p:cTn id="79" dur="500"/>
                                        <p:tgtEl>
                                          <p:spTgt spid="101"/>
                                        </p:tgtEl>
                                      </p:cBhvr>
                                    </p:animEffect>
                                  </p:childTnLst>
                                </p:cTn>
                              </p:par>
                              <p:par>
                                <p:cTn id="80" presetID="10" presetClass="entr" presetSubtype="0" fill="hold" nodeType="withEffect">
                                  <p:stCondLst>
                                    <p:cond delay="0"/>
                                  </p:stCondLst>
                                  <p:childTnLst>
                                    <p:set>
                                      <p:cBhvr>
                                        <p:cTn id="81" dur="1" fill="hold">
                                          <p:stCondLst>
                                            <p:cond delay="0"/>
                                          </p:stCondLst>
                                        </p:cTn>
                                        <p:tgtEl>
                                          <p:spTgt spid="3"/>
                                        </p:tgtEl>
                                        <p:attrNameLst>
                                          <p:attrName>style.visibility</p:attrName>
                                        </p:attrNameLst>
                                      </p:cBhvr>
                                      <p:to>
                                        <p:strVal val="visible"/>
                                      </p:to>
                                    </p:set>
                                    <p:animEffect transition="in" filter="fade">
                                      <p:cBhvr>
                                        <p:cTn id="82" dur="500"/>
                                        <p:tgtEl>
                                          <p:spTgt spid="3"/>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7425"/>
                                        </p:tgtEl>
                                        <p:attrNameLst>
                                          <p:attrName>style.visibility</p:attrName>
                                        </p:attrNameLst>
                                      </p:cBhvr>
                                      <p:to>
                                        <p:strVal val="visible"/>
                                      </p:to>
                                    </p:set>
                                    <p:animEffect transition="in" filter="fade">
                                      <p:cBhvr>
                                        <p:cTn id="85" dur="500"/>
                                        <p:tgtEl>
                                          <p:spTgt spid="174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5" grpId="0"/>
      <p:bldP spid="52" grpId="0" animBg="1"/>
      <p:bldP spid="53" grpId="0" animBg="1"/>
      <p:bldP spid="5" grpId="0" animBg="1"/>
      <p:bldP spid="17" grpId="0" animBg="1"/>
      <p:bldP spid="91" grpId="0" animBg="1"/>
      <p:bldP spid="92" grpId="0" animBg="1"/>
      <p:bldP spid="18" grpId="0" animBg="1"/>
      <p:bldP spid="101" grpId="0" animBg="1"/>
      <p:bldP spid="6" grpId="0"/>
      <p:bldP spid="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FF736639-28E0-4CCD-8297-105875767DA7}"/>
              </a:ext>
            </a:extLst>
          </p:cNvPr>
          <p:cNvSpPr>
            <a:spLocks noGrp="1" noChangeArrowheads="1"/>
          </p:cNvSpPr>
          <p:nvPr>
            <p:ph type="title"/>
          </p:nvPr>
        </p:nvSpPr>
        <p:spPr>
          <a:xfrm>
            <a:off x="1116013" y="115888"/>
            <a:ext cx="7793037" cy="1143000"/>
          </a:xfrm>
        </p:spPr>
        <p:txBody>
          <a:bodyPr/>
          <a:lstStyle/>
          <a:p>
            <a:pPr algn="ctr" eaLnBrk="1" hangingPunct="1"/>
            <a:r>
              <a:rPr lang="es-AR" altLang="es-AR" sz="3200"/>
              <a:t>Diseño conceptual</a:t>
            </a:r>
          </a:p>
        </p:txBody>
      </p:sp>
      <p:sp>
        <p:nvSpPr>
          <p:cNvPr id="15363" name="Rectangle 144">
            <a:extLst>
              <a:ext uri="{FF2B5EF4-FFF2-40B4-BE49-F238E27FC236}">
                <a16:creationId xmlns:a16="http://schemas.microsoft.com/office/drawing/2014/main" id="{B41CC7D6-F104-42B6-8709-511DE68B7FC6}"/>
              </a:ext>
            </a:extLst>
          </p:cNvPr>
          <p:cNvSpPr>
            <a:spLocks noChangeArrowheads="1"/>
          </p:cNvSpPr>
          <p:nvPr/>
        </p:nvSpPr>
        <p:spPr bwMode="auto">
          <a:xfrm>
            <a:off x="4356100" y="2714625"/>
            <a:ext cx="1800225" cy="1108075"/>
          </a:xfrm>
          <a:prstGeom prst="rect">
            <a:avLst/>
          </a:prstGeom>
          <a:solidFill>
            <a:srgbClr val="002060"/>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endParaRPr lang="es-AR" altLang="es-AR" sz="1600">
              <a:solidFill>
                <a:schemeClr val="bg1"/>
              </a:solidFill>
            </a:endParaRPr>
          </a:p>
          <a:p>
            <a:pPr algn="ctr" eaLnBrk="1" hangingPunct="1">
              <a:spcBef>
                <a:spcPct val="0"/>
              </a:spcBef>
              <a:buClrTx/>
              <a:buSzTx/>
              <a:buFontTx/>
              <a:buNone/>
            </a:pPr>
            <a:r>
              <a:rPr lang="es-AR" altLang="es-AR" sz="1600">
                <a:solidFill>
                  <a:schemeClr val="bg1"/>
                </a:solidFill>
              </a:rPr>
              <a:t>Modelo de datos</a:t>
            </a:r>
          </a:p>
          <a:p>
            <a:pPr algn="ctr" eaLnBrk="1" hangingPunct="1">
              <a:spcBef>
                <a:spcPct val="0"/>
              </a:spcBef>
              <a:buClrTx/>
              <a:buSzTx/>
              <a:buFontTx/>
              <a:buNone/>
            </a:pPr>
            <a:r>
              <a:rPr lang="es-AR" altLang="es-AR" sz="1800" b="1">
                <a:solidFill>
                  <a:schemeClr val="bg1"/>
                </a:solidFill>
              </a:rPr>
              <a:t>Conceptual</a:t>
            </a:r>
          </a:p>
          <a:p>
            <a:pPr algn="ctr" eaLnBrk="1" hangingPunct="1">
              <a:spcBef>
                <a:spcPct val="0"/>
              </a:spcBef>
              <a:buClrTx/>
              <a:buSzTx/>
              <a:buFontTx/>
              <a:buNone/>
            </a:pPr>
            <a:endParaRPr lang="es-AR" altLang="es-AR" sz="1600">
              <a:solidFill>
                <a:schemeClr val="bg1"/>
              </a:solidFill>
            </a:endParaRPr>
          </a:p>
        </p:txBody>
      </p:sp>
      <p:sp>
        <p:nvSpPr>
          <p:cNvPr id="15365" name="16 Rectángulo redondeado">
            <a:extLst>
              <a:ext uri="{FF2B5EF4-FFF2-40B4-BE49-F238E27FC236}">
                <a16:creationId xmlns:a16="http://schemas.microsoft.com/office/drawing/2014/main" id="{65D85728-FE19-4515-AE7B-B0AFDEC886ED}"/>
              </a:ext>
            </a:extLst>
          </p:cNvPr>
          <p:cNvSpPr>
            <a:spLocks noChangeArrowheads="1"/>
          </p:cNvSpPr>
          <p:nvPr/>
        </p:nvSpPr>
        <p:spPr bwMode="auto">
          <a:xfrm>
            <a:off x="4421188" y="4283075"/>
            <a:ext cx="1719262"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1. Entidades</a:t>
            </a:r>
          </a:p>
        </p:txBody>
      </p:sp>
      <p:sp>
        <p:nvSpPr>
          <p:cNvPr id="15366" name="90 Rectángulo redondeado">
            <a:extLst>
              <a:ext uri="{FF2B5EF4-FFF2-40B4-BE49-F238E27FC236}">
                <a16:creationId xmlns:a16="http://schemas.microsoft.com/office/drawing/2014/main" id="{AF74C001-51B4-49D7-B3D1-CD3B337710CA}"/>
              </a:ext>
            </a:extLst>
          </p:cNvPr>
          <p:cNvSpPr>
            <a:spLocks noChangeArrowheads="1"/>
          </p:cNvSpPr>
          <p:nvPr/>
        </p:nvSpPr>
        <p:spPr bwMode="auto">
          <a:xfrm>
            <a:off x="4421188" y="4692650"/>
            <a:ext cx="1719262"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2. Relaciones</a:t>
            </a:r>
          </a:p>
        </p:txBody>
      </p:sp>
      <p:sp>
        <p:nvSpPr>
          <p:cNvPr id="15367" name="91 Rectángulo redondeado">
            <a:extLst>
              <a:ext uri="{FF2B5EF4-FFF2-40B4-BE49-F238E27FC236}">
                <a16:creationId xmlns:a16="http://schemas.microsoft.com/office/drawing/2014/main" id="{C56BE7C4-03BB-48D0-89C1-9ADB5C811FA6}"/>
              </a:ext>
            </a:extLst>
          </p:cNvPr>
          <p:cNvSpPr>
            <a:spLocks noChangeArrowheads="1"/>
          </p:cNvSpPr>
          <p:nvPr/>
        </p:nvSpPr>
        <p:spPr bwMode="auto">
          <a:xfrm>
            <a:off x="4429125" y="5111750"/>
            <a:ext cx="1719263"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3. Restricciones</a:t>
            </a:r>
          </a:p>
        </p:txBody>
      </p:sp>
      <p:sp>
        <p:nvSpPr>
          <p:cNvPr id="15368" name="17 Flecha abajo">
            <a:extLst>
              <a:ext uri="{FF2B5EF4-FFF2-40B4-BE49-F238E27FC236}">
                <a16:creationId xmlns:a16="http://schemas.microsoft.com/office/drawing/2014/main" id="{19BF94BF-2003-4686-9379-05B360C36C1E}"/>
              </a:ext>
            </a:extLst>
          </p:cNvPr>
          <p:cNvSpPr>
            <a:spLocks noChangeArrowheads="1"/>
          </p:cNvSpPr>
          <p:nvPr/>
        </p:nvSpPr>
        <p:spPr bwMode="auto">
          <a:xfrm>
            <a:off x="4995863" y="3863975"/>
            <a:ext cx="512762" cy="398463"/>
          </a:xfrm>
          <a:prstGeom prst="downArrow">
            <a:avLst>
              <a:gd name="adj1" fmla="val 50000"/>
              <a:gd name="adj2" fmla="val 50000"/>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grpSp>
        <p:nvGrpSpPr>
          <p:cNvPr id="56" name="Group 139">
            <a:extLst>
              <a:ext uri="{FF2B5EF4-FFF2-40B4-BE49-F238E27FC236}">
                <a16:creationId xmlns:a16="http://schemas.microsoft.com/office/drawing/2014/main" id="{74A6CB93-E90A-4EC8-B32D-ED347709A310}"/>
              </a:ext>
            </a:extLst>
          </p:cNvPr>
          <p:cNvGrpSpPr>
            <a:grpSpLocks/>
          </p:cNvGrpSpPr>
          <p:nvPr/>
        </p:nvGrpSpPr>
        <p:grpSpPr bwMode="auto">
          <a:xfrm>
            <a:off x="6156325" y="2590800"/>
            <a:ext cx="2447925" cy="1414463"/>
            <a:chOff x="271" y="2826"/>
            <a:chExt cx="1542" cy="806"/>
          </a:xfrm>
        </p:grpSpPr>
        <p:sp>
          <p:nvSpPr>
            <p:cNvPr id="15375" name="Line 134">
              <a:extLst>
                <a:ext uri="{FF2B5EF4-FFF2-40B4-BE49-F238E27FC236}">
                  <a16:creationId xmlns:a16="http://schemas.microsoft.com/office/drawing/2014/main" id="{652D0ABA-AC3A-4A4E-AC28-CB334D1F4B3A}"/>
                </a:ext>
              </a:extLst>
            </p:cNvPr>
            <p:cNvSpPr>
              <a:spLocks noChangeShapeType="1"/>
            </p:cNvSpPr>
            <p:nvPr/>
          </p:nvSpPr>
          <p:spPr bwMode="auto">
            <a:xfrm>
              <a:off x="271" y="3184"/>
              <a:ext cx="945" cy="264"/>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15376" name="Line 136">
              <a:extLst>
                <a:ext uri="{FF2B5EF4-FFF2-40B4-BE49-F238E27FC236}">
                  <a16:creationId xmlns:a16="http://schemas.microsoft.com/office/drawing/2014/main" id="{DAB62EE7-CC84-4615-BA39-898DE61E37EF}"/>
                </a:ext>
              </a:extLst>
            </p:cNvPr>
            <p:cNvSpPr>
              <a:spLocks noChangeShapeType="1"/>
            </p:cNvSpPr>
            <p:nvPr/>
          </p:nvSpPr>
          <p:spPr bwMode="auto">
            <a:xfrm flipV="1">
              <a:off x="271" y="3010"/>
              <a:ext cx="945" cy="148"/>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15377" name="Text Box 137">
              <a:extLst>
                <a:ext uri="{FF2B5EF4-FFF2-40B4-BE49-F238E27FC236}">
                  <a16:creationId xmlns:a16="http://schemas.microsoft.com/office/drawing/2014/main" id="{5AEF7C56-43AD-4ECC-803E-0F4CF6B745B3}"/>
                </a:ext>
              </a:extLst>
            </p:cNvPr>
            <p:cNvSpPr txBox="1">
              <a:spLocks noChangeArrowheads="1"/>
            </p:cNvSpPr>
            <p:nvPr/>
          </p:nvSpPr>
          <p:spPr bwMode="auto">
            <a:xfrm>
              <a:off x="1248" y="2826"/>
              <a:ext cx="565" cy="368"/>
            </a:xfrm>
            <a:prstGeom prst="rect">
              <a:avLst/>
            </a:prstGeom>
            <a:solidFill>
              <a:srgbClr val="5B82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s-ES" altLang="es-ES" sz="1600">
                  <a:solidFill>
                    <a:schemeClr val="bg1"/>
                  </a:solidFill>
                </a:rPr>
                <a:t>Visión </a:t>
              </a:r>
              <a:r>
                <a:rPr lang="es-ES" altLang="es-ES" sz="1600" b="1">
                  <a:solidFill>
                    <a:schemeClr val="bg1"/>
                  </a:solidFill>
                </a:rPr>
                <a:t>actual</a:t>
              </a:r>
            </a:p>
          </p:txBody>
        </p:sp>
        <p:sp>
          <p:nvSpPr>
            <p:cNvPr id="15378" name="Text Box 138">
              <a:extLst>
                <a:ext uri="{FF2B5EF4-FFF2-40B4-BE49-F238E27FC236}">
                  <a16:creationId xmlns:a16="http://schemas.microsoft.com/office/drawing/2014/main" id="{75259F91-703F-4239-B59C-69DB10166C3B}"/>
                </a:ext>
              </a:extLst>
            </p:cNvPr>
            <p:cNvSpPr txBox="1">
              <a:spLocks noChangeArrowheads="1"/>
            </p:cNvSpPr>
            <p:nvPr/>
          </p:nvSpPr>
          <p:spPr bwMode="auto">
            <a:xfrm>
              <a:off x="1248" y="3264"/>
              <a:ext cx="565" cy="368"/>
            </a:xfrm>
            <a:prstGeom prst="rect">
              <a:avLst/>
            </a:prstGeom>
            <a:solidFill>
              <a:srgbClr val="5B82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s-ES" altLang="es-ES" sz="1600">
                  <a:solidFill>
                    <a:schemeClr val="bg1"/>
                  </a:solidFill>
                </a:rPr>
                <a:t>Visión </a:t>
              </a:r>
              <a:r>
                <a:rPr lang="es-ES" altLang="es-ES" sz="1600" b="1">
                  <a:solidFill>
                    <a:schemeClr val="bg1"/>
                  </a:solidFill>
                </a:rPr>
                <a:t>futura</a:t>
              </a:r>
            </a:p>
          </p:txBody>
        </p:sp>
      </p:grpSp>
      <p:grpSp>
        <p:nvGrpSpPr>
          <p:cNvPr id="61" name="Group 143">
            <a:extLst>
              <a:ext uri="{FF2B5EF4-FFF2-40B4-BE49-F238E27FC236}">
                <a16:creationId xmlns:a16="http://schemas.microsoft.com/office/drawing/2014/main" id="{7289CEEF-57F6-4BB8-962E-296D090D1555}"/>
              </a:ext>
            </a:extLst>
          </p:cNvPr>
          <p:cNvGrpSpPr>
            <a:grpSpLocks/>
          </p:cNvGrpSpPr>
          <p:nvPr/>
        </p:nvGrpSpPr>
        <p:grpSpPr bwMode="auto">
          <a:xfrm>
            <a:off x="6399213" y="4489450"/>
            <a:ext cx="1844675" cy="338138"/>
            <a:chOff x="4560" y="2980"/>
            <a:chExt cx="1162" cy="213"/>
          </a:xfrm>
        </p:grpSpPr>
        <p:sp>
          <p:nvSpPr>
            <p:cNvPr id="15372" name="Line 140">
              <a:extLst>
                <a:ext uri="{FF2B5EF4-FFF2-40B4-BE49-F238E27FC236}">
                  <a16:creationId xmlns:a16="http://schemas.microsoft.com/office/drawing/2014/main" id="{9FD685F2-C15B-4BAB-9D81-585CE47C98C8}"/>
                </a:ext>
              </a:extLst>
            </p:cNvPr>
            <p:cNvSpPr>
              <a:spLocks noChangeShapeType="1"/>
            </p:cNvSpPr>
            <p:nvPr/>
          </p:nvSpPr>
          <p:spPr bwMode="auto">
            <a:xfrm>
              <a:off x="4560" y="3006"/>
              <a:ext cx="336" cy="48"/>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15373" name="Line 141">
              <a:extLst>
                <a:ext uri="{FF2B5EF4-FFF2-40B4-BE49-F238E27FC236}">
                  <a16:creationId xmlns:a16="http://schemas.microsoft.com/office/drawing/2014/main" id="{C9D9BC05-5EDD-4CAA-8E9E-8256A2DD9B29}"/>
                </a:ext>
              </a:extLst>
            </p:cNvPr>
            <p:cNvSpPr>
              <a:spLocks noChangeShapeType="1"/>
            </p:cNvSpPr>
            <p:nvPr/>
          </p:nvSpPr>
          <p:spPr bwMode="auto">
            <a:xfrm flipV="1">
              <a:off x="4560" y="3086"/>
              <a:ext cx="336" cy="82"/>
            </a:xfrm>
            <a:prstGeom prst="line">
              <a:avLst/>
            </a:prstGeom>
            <a:noFill/>
            <a:ln w="28575">
              <a:solidFill>
                <a:srgbClr val="990033"/>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15374" name="Text Box 142">
              <a:extLst>
                <a:ext uri="{FF2B5EF4-FFF2-40B4-BE49-F238E27FC236}">
                  <a16:creationId xmlns:a16="http://schemas.microsoft.com/office/drawing/2014/main" id="{0F2732BC-5CE7-40E9-995C-BF084F34B545}"/>
                </a:ext>
              </a:extLst>
            </p:cNvPr>
            <p:cNvSpPr txBox="1">
              <a:spLocks noChangeArrowheads="1"/>
            </p:cNvSpPr>
            <p:nvPr/>
          </p:nvSpPr>
          <p:spPr bwMode="auto">
            <a:xfrm>
              <a:off x="4982" y="2980"/>
              <a:ext cx="740" cy="21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600"/>
                <a:t>Relevantes</a:t>
              </a:r>
            </a:p>
          </p:txBody>
        </p:sp>
      </p:grpSp>
      <p:sp>
        <p:nvSpPr>
          <p:cNvPr id="2" name="1 CuadroTexto">
            <a:extLst>
              <a:ext uri="{FF2B5EF4-FFF2-40B4-BE49-F238E27FC236}">
                <a16:creationId xmlns:a16="http://schemas.microsoft.com/office/drawing/2014/main" id="{ECE56E34-43A9-4AA7-9EC0-7D2D1A791E5A}"/>
              </a:ext>
            </a:extLst>
          </p:cNvPr>
          <p:cNvSpPr txBox="1">
            <a:spLocks noChangeArrowheads="1"/>
          </p:cNvSpPr>
          <p:nvPr/>
        </p:nvSpPr>
        <p:spPr bwMode="auto">
          <a:xfrm>
            <a:off x="7451725" y="2060575"/>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b="1"/>
              <a:t>Necesidades </a:t>
            </a:r>
          </a:p>
          <a:p>
            <a:pPr eaLnBrk="1" hangingPunct="1">
              <a:spcBef>
                <a:spcPct val="0"/>
              </a:spcBef>
              <a:buClrTx/>
              <a:buSzTx/>
              <a:buFontTx/>
              <a:buNone/>
            </a:pPr>
            <a:r>
              <a:rPr lang="es-AR" altLang="es-AR" sz="1400" b="1"/>
              <a:t>de información</a:t>
            </a:r>
          </a:p>
        </p:txBody>
      </p:sp>
      <p:grpSp>
        <p:nvGrpSpPr>
          <p:cNvPr id="19" name="32 Grupo">
            <a:extLst>
              <a:ext uri="{FF2B5EF4-FFF2-40B4-BE49-F238E27FC236}">
                <a16:creationId xmlns:a16="http://schemas.microsoft.com/office/drawing/2014/main" id="{ED8CEE8B-888C-43B7-BCA1-E35E1DC10283}"/>
              </a:ext>
            </a:extLst>
          </p:cNvPr>
          <p:cNvGrpSpPr>
            <a:grpSpLocks/>
          </p:cNvGrpSpPr>
          <p:nvPr/>
        </p:nvGrpSpPr>
        <p:grpSpPr bwMode="auto">
          <a:xfrm>
            <a:off x="1897876" y="3672479"/>
            <a:ext cx="1411131" cy="821147"/>
            <a:chOff x="719183" y="1860723"/>
            <a:chExt cx="1411349" cy="821309"/>
          </a:xfrm>
        </p:grpSpPr>
        <p:pic>
          <p:nvPicPr>
            <p:cNvPr id="20" name="Picture 31">
              <a:extLst>
                <a:ext uri="{FF2B5EF4-FFF2-40B4-BE49-F238E27FC236}">
                  <a16:creationId xmlns:a16="http://schemas.microsoft.com/office/drawing/2014/main" id="{298166B8-F151-492F-82AE-EB115000ACC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9183" y="2124598"/>
              <a:ext cx="723157" cy="557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1" name="31 Rectángulo">
              <a:extLst>
                <a:ext uri="{FF2B5EF4-FFF2-40B4-BE49-F238E27FC236}">
                  <a16:creationId xmlns:a16="http://schemas.microsoft.com/office/drawing/2014/main" id="{1E9349FF-AFF6-4F78-9537-6C1E09DB9A41}"/>
                </a:ext>
              </a:extLst>
            </p:cNvPr>
            <p:cNvSpPr>
              <a:spLocks noChangeArrowheads="1"/>
            </p:cNvSpPr>
            <p:nvPr/>
          </p:nvSpPr>
          <p:spPr bwMode="auto">
            <a:xfrm>
              <a:off x="1006332" y="1860723"/>
              <a:ext cx="1124200" cy="33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ES" altLang="es-AR" sz="1600" b="1"/>
                <a:t>Personas</a:t>
              </a:r>
              <a:endParaRPr lang="es-AR" altLang="es-AR" sz="1600">
                <a:solidFill>
                  <a:schemeClr val="folHlink"/>
                </a:solidFill>
              </a:endParaRPr>
            </a:p>
          </p:txBody>
        </p:sp>
      </p:grpSp>
      <p:pic>
        <p:nvPicPr>
          <p:cNvPr id="23" name="Picture 2" descr="C:\Users\UBA\AppData\Local\Microsoft\Windows\Temporary Internet Files\Content.IE5\IWSGRANU\1230230504xf92Xl[1].jpg">
            <a:extLst>
              <a:ext uri="{FF2B5EF4-FFF2-40B4-BE49-F238E27FC236}">
                <a16:creationId xmlns:a16="http://schemas.microsoft.com/office/drawing/2014/main" id="{6F81ABA9-21CF-4404-BD1E-202A901C7C4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7853" y="1954883"/>
            <a:ext cx="1296319" cy="1173169"/>
          </a:xfrm>
          <a:prstGeom prst="rect">
            <a:avLst/>
          </a:prstGeom>
          <a:noFill/>
          <a:extLst>
            <a:ext uri="{909E8E84-426E-40DD-AFC4-6F175D3DCCD1}">
              <a14:hiddenFill xmlns:a14="http://schemas.microsoft.com/office/drawing/2010/main">
                <a:solidFill>
                  <a:srgbClr val="FFFFFF"/>
                </a:solidFill>
              </a14:hiddenFill>
            </a:ext>
          </a:extLst>
        </p:spPr>
      </p:pic>
      <p:pic>
        <p:nvPicPr>
          <p:cNvPr id="24" name="Imagen 23" descr="Calendario&#10;&#10;Descripción generada automáticamente">
            <a:extLst>
              <a:ext uri="{FF2B5EF4-FFF2-40B4-BE49-F238E27FC236}">
                <a16:creationId xmlns:a16="http://schemas.microsoft.com/office/drawing/2014/main" id="{A1C0DE26-5BE3-4069-8FEC-B1CCB4F6ED7B}"/>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2626344" y="2537597"/>
            <a:ext cx="993260" cy="661948"/>
          </a:xfrm>
          <a:prstGeom prst="rect">
            <a:avLst/>
          </a:prstGeom>
        </p:spPr>
      </p:pic>
      <p:sp>
        <p:nvSpPr>
          <p:cNvPr id="25" name="CuadroTexto 24">
            <a:extLst>
              <a:ext uri="{FF2B5EF4-FFF2-40B4-BE49-F238E27FC236}">
                <a16:creationId xmlns:a16="http://schemas.microsoft.com/office/drawing/2014/main" id="{E9151066-233C-4A90-B65B-32F3012AEA31}"/>
              </a:ext>
            </a:extLst>
          </p:cNvPr>
          <p:cNvSpPr txBox="1"/>
          <p:nvPr/>
        </p:nvSpPr>
        <p:spPr>
          <a:xfrm>
            <a:off x="2821980" y="3058794"/>
            <a:ext cx="1205442" cy="338554"/>
          </a:xfrm>
          <a:prstGeom prst="rect">
            <a:avLst/>
          </a:prstGeom>
          <a:noFill/>
        </p:spPr>
        <p:txBody>
          <a:bodyPr wrap="square" rtlCol="0">
            <a:spAutoFit/>
          </a:bodyPr>
          <a:lstStyle/>
          <a:p>
            <a:r>
              <a:rPr lang="es-AR" sz="1600" b="1">
                <a:solidFill>
                  <a:schemeClr val="tx1"/>
                </a:solidFill>
              </a:rPr>
              <a:t>Eventos</a:t>
            </a:r>
          </a:p>
        </p:txBody>
      </p:sp>
      <p:sp>
        <p:nvSpPr>
          <p:cNvPr id="3" name="CuadroTexto 2">
            <a:extLst>
              <a:ext uri="{FF2B5EF4-FFF2-40B4-BE49-F238E27FC236}">
                <a16:creationId xmlns:a16="http://schemas.microsoft.com/office/drawing/2014/main" id="{2048BF09-997C-4A0B-AC21-EBA7A70F8B60}"/>
              </a:ext>
            </a:extLst>
          </p:cNvPr>
          <p:cNvSpPr txBox="1"/>
          <p:nvPr/>
        </p:nvSpPr>
        <p:spPr>
          <a:xfrm>
            <a:off x="1379489" y="4449727"/>
            <a:ext cx="668773" cy="261610"/>
          </a:xfrm>
          <a:prstGeom prst="rect">
            <a:avLst/>
          </a:prstGeom>
          <a:noFill/>
        </p:spPr>
        <p:txBody>
          <a:bodyPr wrap="none" rtlCol="0">
            <a:spAutoFit/>
          </a:bodyPr>
          <a:lstStyle/>
          <a:p>
            <a:r>
              <a:rPr lang="es-AR" sz="1100"/>
              <a:t>Clientes</a:t>
            </a:r>
          </a:p>
        </p:txBody>
      </p:sp>
      <p:sp>
        <p:nvSpPr>
          <p:cNvPr id="27" name="CuadroTexto 26">
            <a:extLst>
              <a:ext uri="{FF2B5EF4-FFF2-40B4-BE49-F238E27FC236}">
                <a16:creationId xmlns:a16="http://schemas.microsoft.com/office/drawing/2014/main" id="{12884BE4-36C5-489C-943F-00857A29D3DC}"/>
              </a:ext>
            </a:extLst>
          </p:cNvPr>
          <p:cNvSpPr txBox="1"/>
          <p:nvPr/>
        </p:nvSpPr>
        <p:spPr>
          <a:xfrm>
            <a:off x="1849711" y="4757504"/>
            <a:ext cx="857927" cy="261610"/>
          </a:xfrm>
          <a:prstGeom prst="rect">
            <a:avLst/>
          </a:prstGeom>
          <a:noFill/>
        </p:spPr>
        <p:txBody>
          <a:bodyPr wrap="none" rtlCol="0">
            <a:spAutoFit/>
          </a:bodyPr>
          <a:lstStyle/>
          <a:p>
            <a:r>
              <a:rPr lang="es-AR" sz="1100"/>
              <a:t>Empleados</a:t>
            </a:r>
          </a:p>
        </p:txBody>
      </p:sp>
      <p:sp>
        <p:nvSpPr>
          <p:cNvPr id="28" name="CuadroTexto 27">
            <a:extLst>
              <a:ext uri="{FF2B5EF4-FFF2-40B4-BE49-F238E27FC236}">
                <a16:creationId xmlns:a16="http://schemas.microsoft.com/office/drawing/2014/main" id="{6094862A-5210-435B-8411-1CE0CEDA7ADB}"/>
              </a:ext>
            </a:extLst>
          </p:cNvPr>
          <p:cNvSpPr txBox="1"/>
          <p:nvPr/>
        </p:nvSpPr>
        <p:spPr>
          <a:xfrm>
            <a:off x="2460532" y="4431048"/>
            <a:ext cx="952505" cy="261610"/>
          </a:xfrm>
          <a:prstGeom prst="rect">
            <a:avLst/>
          </a:prstGeom>
          <a:noFill/>
        </p:spPr>
        <p:txBody>
          <a:bodyPr wrap="none" rtlCol="0">
            <a:spAutoFit/>
          </a:bodyPr>
          <a:lstStyle/>
          <a:p>
            <a:r>
              <a:rPr lang="es-AR" sz="1100"/>
              <a:t>Proveedores</a:t>
            </a:r>
          </a:p>
        </p:txBody>
      </p:sp>
      <p:sp>
        <p:nvSpPr>
          <p:cNvPr id="29" name="CuadroTexto 28">
            <a:extLst>
              <a:ext uri="{FF2B5EF4-FFF2-40B4-BE49-F238E27FC236}">
                <a16:creationId xmlns:a16="http://schemas.microsoft.com/office/drawing/2014/main" id="{D7156A4D-7AAB-4DB2-9E94-6D8B88623147}"/>
              </a:ext>
            </a:extLst>
          </p:cNvPr>
          <p:cNvSpPr txBox="1"/>
          <p:nvPr/>
        </p:nvSpPr>
        <p:spPr>
          <a:xfrm>
            <a:off x="2383171" y="2044405"/>
            <a:ext cx="604653" cy="261610"/>
          </a:xfrm>
          <a:prstGeom prst="rect">
            <a:avLst/>
          </a:prstGeom>
          <a:noFill/>
        </p:spPr>
        <p:txBody>
          <a:bodyPr wrap="none" rtlCol="0">
            <a:spAutoFit/>
          </a:bodyPr>
          <a:lstStyle/>
          <a:p>
            <a:r>
              <a:rPr lang="es-AR" sz="1100"/>
              <a:t>Ventas</a:t>
            </a:r>
          </a:p>
        </p:txBody>
      </p:sp>
      <p:sp>
        <p:nvSpPr>
          <p:cNvPr id="30" name="CuadroTexto 29">
            <a:extLst>
              <a:ext uri="{FF2B5EF4-FFF2-40B4-BE49-F238E27FC236}">
                <a16:creationId xmlns:a16="http://schemas.microsoft.com/office/drawing/2014/main" id="{D770D37B-88E2-46CF-BCC1-4D3DB5DB396B}"/>
              </a:ext>
            </a:extLst>
          </p:cNvPr>
          <p:cNvSpPr txBox="1"/>
          <p:nvPr/>
        </p:nvSpPr>
        <p:spPr>
          <a:xfrm>
            <a:off x="2533240" y="2322840"/>
            <a:ext cx="1326004" cy="261610"/>
          </a:xfrm>
          <a:prstGeom prst="rect">
            <a:avLst/>
          </a:prstGeom>
          <a:noFill/>
        </p:spPr>
        <p:txBody>
          <a:bodyPr wrap="none" rtlCol="0">
            <a:spAutoFit/>
          </a:bodyPr>
          <a:lstStyle/>
          <a:p>
            <a:r>
              <a:rPr lang="es-AR" sz="1100"/>
              <a:t>Visitas al sitio web</a:t>
            </a:r>
          </a:p>
        </p:txBody>
      </p:sp>
      <p:sp>
        <p:nvSpPr>
          <p:cNvPr id="31" name="CuadroTexto 30">
            <a:extLst>
              <a:ext uri="{FF2B5EF4-FFF2-40B4-BE49-F238E27FC236}">
                <a16:creationId xmlns:a16="http://schemas.microsoft.com/office/drawing/2014/main" id="{9A0587F7-09BF-4DE5-82DA-0479ACD28627}"/>
              </a:ext>
            </a:extLst>
          </p:cNvPr>
          <p:cNvSpPr txBox="1"/>
          <p:nvPr/>
        </p:nvSpPr>
        <p:spPr>
          <a:xfrm>
            <a:off x="2898799" y="1892840"/>
            <a:ext cx="731290" cy="261610"/>
          </a:xfrm>
          <a:prstGeom prst="rect">
            <a:avLst/>
          </a:prstGeom>
          <a:noFill/>
        </p:spPr>
        <p:txBody>
          <a:bodyPr wrap="none" rtlCol="0">
            <a:spAutoFit/>
          </a:bodyPr>
          <a:lstStyle/>
          <a:p>
            <a:r>
              <a:rPr lang="es-AR" sz="1100"/>
              <a:t>Compras</a:t>
            </a:r>
          </a:p>
        </p:txBody>
      </p:sp>
      <p:sp>
        <p:nvSpPr>
          <p:cNvPr id="32" name="CuadroTexto 31">
            <a:extLst>
              <a:ext uri="{FF2B5EF4-FFF2-40B4-BE49-F238E27FC236}">
                <a16:creationId xmlns:a16="http://schemas.microsoft.com/office/drawing/2014/main" id="{B6A3C863-A44F-45D2-B1A2-163E959EA3C2}"/>
              </a:ext>
            </a:extLst>
          </p:cNvPr>
          <p:cNvSpPr txBox="1"/>
          <p:nvPr/>
        </p:nvSpPr>
        <p:spPr>
          <a:xfrm>
            <a:off x="453982" y="3050506"/>
            <a:ext cx="800219" cy="261610"/>
          </a:xfrm>
          <a:prstGeom prst="rect">
            <a:avLst/>
          </a:prstGeom>
          <a:noFill/>
        </p:spPr>
        <p:txBody>
          <a:bodyPr wrap="none" rtlCol="0">
            <a:spAutoFit/>
          </a:bodyPr>
          <a:lstStyle/>
          <a:p>
            <a:r>
              <a:rPr lang="es-AR" sz="1100"/>
              <a:t>Productos</a:t>
            </a:r>
          </a:p>
        </p:txBody>
      </p:sp>
      <p:sp>
        <p:nvSpPr>
          <p:cNvPr id="33" name="CuadroTexto 32">
            <a:extLst>
              <a:ext uri="{FF2B5EF4-FFF2-40B4-BE49-F238E27FC236}">
                <a16:creationId xmlns:a16="http://schemas.microsoft.com/office/drawing/2014/main" id="{DBB0161E-1D22-4AF5-9622-588A2F8733BD}"/>
              </a:ext>
            </a:extLst>
          </p:cNvPr>
          <p:cNvSpPr txBox="1"/>
          <p:nvPr/>
        </p:nvSpPr>
        <p:spPr>
          <a:xfrm>
            <a:off x="591910" y="3336884"/>
            <a:ext cx="857927" cy="261610"/>
          </a:xfrm>
          <a:prstGeom prst="rect">
            <a:avLst/>
          </a:prstGeom>
          <a:noFill/>
        </p:spPr>
        <p:txBody>
          <a:bodyPr wrap="none" rtlCol="0">
            <a:spAutoFit/>
          </a:bodyPr>
          <a:lstStyle/>
          <a:p>
            <a:r>
              <a:rPr lang="es-AR" sz="1100"/>
              <a:t>Empleados</a:t>
            </a:r>
          </a:p>
        </p:txBody>
      </p:sp>
      <p:sp>
        <p:nvSpPr>
          <p:cNvPr id="34" name="CuadroTexto 33">
            <a:extLst>
              <a:ext uri="{FF2B5EF4-FFF2-40B4-BE49-F238E27FC236}">
                <a16:creationId xmlns:a16="http://schemas.microsoft.com/office/drawing/2014/main" id="{7FBC1EEF-E11E-49C1-94F4-C555EB3CCBF5}"/>
              </a:ext>
            </a:extLst>
          </p:cNvPr>
          <p:cNvSpPr txBox="1"/>
          <p:nvPr/>
        </p:nvSpPr>
        <p:spPr>
          <a:xfrm>
            <a:off x="1341878" y="3149831"/>
            <a:ext cx="1048685" cy="261610"/>
          </a:xfrm>
          <a:prstGeom prst="rect">
            <a:avLst/>
          </a:prstGeom>
          <a:noFill/>
        </p:spPr>
        <p:txBody>
          <a:bodyPr wrap="none" rtlCol="0">
            <a:spAutoFit/>
          </a:bodyPr>
          <a:lstStyle/>
          <a:p>
            <a:r>
              <a:rPr lang="es-AR" sz="1100"/>
              <a:t>Bienes de uso</a:t>
            </a:r>
          </a:p>
        </p:txBody>
      </p:sp>
      <p:sp>
        <p:nvSpPr>
          <p:cNvPr id="22" name="44 Rectángulo">
            <a:extLst>
              <a:ext uri="{FF2B5EF4-FFF2-40B4-BE49-F238E27FC236}">
                <a16:creationId xmlns:a16="http://schemas.microsoft.com/office/drawing/2014/main" id="{C056897F-E45A-43C3-801E-C885DE9DC799}"/>
              </a:ext>
            </a:extLst>
          </p:cNvPr>
          <p:cNvSpPr>
            <a:spLocks noChangeArrowheads="1"/>
          </p:cNvSpPr>
          <p:nvPr/>
        </p:nvSpPr>
        <p:spPr bwMode="auto">
          <a:xfrm>
            <a:off x="551219" y="1725241"/>
            <a:ext cx="7825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pPr>
            <a:r>
              <a:rPr lang="es-ES" altLang="es-AR" sz="1600" b="1"/>
              <a:t>Cosas</a:t>
            </a:r>
            <a:endParaRPr lang="es-AR" altLang="es-AR" sz="1600">
              <a:solidFill>
                <a:schemeClr val="folHlink"/>
              </a:solidFill>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circle(in)">
                                      <p:cBhvr>
                                        <p:cTn id="7" dur="2000"/>
                                        <p:tgtEl>
                                          <p:spTgt spid="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par>
                                <p:cTn id="12" presetID="6" presetClass="entr" presetSubtype="16" fill="hold" nodeType="withEffect">
                                  <p:stCondLst>
                                    <p:cond delay="0"/>
                                  </p:stCondLst>
                                  <p:childTnLst>
                                    <p:set>
                                      <p:cBhvr>
                                        <p:cTn id="13" dur="1" fill="hold">
                                          <p:stCondLst>
                                            <p:cond delay="0"/>
                                          </p:stCondLst>
                                        </p:cTn>
                                        <p:tgtEl>
                                          <p:spTgt spid="56"/>
                                        </p:tgtEl>
                                        <p:attrNameLst>
                                          <p:attrName>style.visibility</p:attrName>
                                        </p:attrNameLst>
                                      </p:cBhvr>
                                      <p:to>
                                        <p:strVal val="visible"/>
                                      </p:to>
                                    </p:set>
                                    <p:animEffect transition="in" filter="circle(in)">
                                      <p:cBhvr>
                                        <p:cTn id="14" dur="2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68CC03-341B-1B30-32BF-97EA9912FF5F}"/>
              </a:ext>
            </a:extLst>
          </p:cNvPr>
          <p:cNvSpPr>
            <a:spLocks noGrp="1"/>
          </p:cNvSpPr>
          <p:nvPr>
            <p:ph type="title"/>
          </p:nvPr>
        </p:nvSpPr>
        <p:spPr>
          <a:xfrm>
            <a:off x="1172875" y="250723"/>
            <a:ext cx="7793037" cy="1143000"/>
          </a:xfrm>
        </p:spPr>
        <p:txBody>
          <a:bodyPr/>
          <a:lstStyle/>
          <a:p>
            <a:r>
              <a:rPr lang="es-AR" dirty="0"/>
              <a:t>Caso -  </a:t>
            </a:r>
            <a:r>
              <a:rPr lang="es-AR" dirty="0" err="1"/>
              <a:t>ImpoCheck</a:t>
            </a:r>
            <a:endParaRPr lang="es-AR" dirty="0"/>
          </a:p>
        </p:txBody>
      </p:sp>
      <p:sp>
        <p:nvSpPr>
          <p:cNvPr id="3" name="Marcador de contenido 2">
            <a:extLst>
              <a:ext uri="{FF2B5EF4-FFF2-40B4-BE49-F238E27FC236}">
                <a16:creationId xmlns:a16="http://schemas.microsoft.com/office/drawing/2014/main" id="{BCD84085-C38E-0BE8-517E-948D9F77708D}"/>
              </a:ext>
            </a:extLst>
          </p:cNvPr>
          <p:cNvSpPr>
            <a:spLocks noGrp="1"/>
          </p:cNvSpPr>
          <p:nvPr>
            <p:ph idx="1"/>
          </p:nvPr>
        </p:nvSpPr>
        <p:spPr>
          <a:xfrm>
            <a:off x="812835" y="2091202"/>
            <a:ext cx="7793037" cy="4516075"/>
          </a:xfrm>
        </p:spPr>
        <p:txBody>
          <a:bodyPr/>
          <a:lstStyle/>
          <a:p>
            <a:r>
              <a:rPr lang="es-AR" sz="1600" dirty="0"/>
              <a:t>La empresa </a:t>
            </a:r>
            <a:r>
              <a:rPr lang="es-AR" sz="1600" dirty="0" err="1"/>
              <a:t>ImpoCheck</a:t>
            </a:r>
            <a:r>
              <a:rPr lang="es-AR" sz="1600" dirty="0"/>
              <a:t> se dedica a la importación y venta de artículos electrónicos en todo el país a través de su RED de distribuidores mayoristas oficiales. Con más de 5 años en el mercado a logrado posicionarse como un proveedor de confianza y calidad en su rubro. </a:t>
            </a:r>
          </a:p>
          <a:p>
            <a:r>
              <a:rPr lang="es-AR" sz="1600" dirty="0"/>
              <a:t>Proceso de registro de empleados </a:t>
            </a:r>
          </a:p>
          <a:p>
            <a:pPr marL="0" indent="0">
              <a:buNone/>
            </a:pPr>
            <a:r>
              <a:rPr lang="es-AR" sz="1600" dirty="0"/>
              <a:t> La empresa </a:t>
            </a:r>
            <a:r>
              <a:rPr lang="es-AR" sz="1600" dirty="0" err="1"/>
              <a:t>ImpoCheck</a:t>
            </a:r>
            <a:r>
              <a:rPr lang="es-AR" sz="1600" dirty="0"/>
              <a:t> requiere registrar cada uno de los empleados y personas con potencial de nuevos empleados que tiene, para lo cual cada uno completa un formulario con los siguientes datos: Nombre, apellido, edad, dirección y DNI. Adicionalmente debe indicar si tiene hijos, y en caso de tenerlos debe indicar los </a:t>
            </a:r>
            <a:r>
              <a:rPr lang="es-AR" sz="1600" dirty="0" err="1"/>
              <a:t>DNIs</a:t>
            </a:r>
            <a:r>
              <a:rPr lang="es-AR" sz="1600" dirty="0"/>
              <a:t> de cada uno. Si efectivamente se convierten en empleados, se debe registrar su CUIL y legajo dentro de la empresa, y cada empleado puede trabajar en una única área de la compañía, las cuales se encuentran registradas con su nombre y un identificador único. </a:t>
            </a:r>
          </a:p>
          <a:p>
            <a:pPr marL="0" indent="0">
              <a:buNone/>
            </a:pPr>
            <a:r>
              <a:rPr lang="es-AR" sz="1600" dirty="0"/>
              <a:t>La empresa debe registrar cada vez que un empleado toma una licencia, indicando para cada caso su ID, su fecha de inicio, su fecha de fin, el tipo de licencia y el empleado que esta haciendo uso de ella. Los tipos de licencias están </a:t>
            </a:r>
            <a:r>
              <a:rPr lang="es-AR" sz="1600" dirty="0" err="1"/>
              <a:t>pre-establecidos</a:t>
            </a:r>
            <a:r>
              <a:rPr lang="es-AR" sz="1600" dirty="0"/>
              <a:t> con su descripción y ID de tipo. </a:t>
            </a:r>
          </a:p>
          <a:p>
            <a:endParaRPr lang="es-AR" dirty="0"/>
          </a:p>
        </p:txBody>
      </p:sp>
    </p:spTree>
    <p:extLst>
      <p:ext uri="{BB962C8B-B14F-4D97-AF65-F5344CB8AC3E}">
        <p14:creationId xmlns:p14="http://schemas.microsoft.com/office/powerpoint/2010/main" val="4867611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F9B3DA3-265C-485C-8E77-DFCDF967C037}"/>
              </a:ext>
            </a:extLst>
          </p:cNvPr>
          <p:cNvSpPr>
            <a:spLocks noGrp="1" noChangeArrowheads="1"/>
          </p:cNvSpPr>
          <p:nvPr>
            <p:ph type="title"/>
          </p:nvPr>
        </p:nvSpPr>
        <p:spPr>
          <a:xfrm>
            <a:off x="900113" y="260350"/>
            <a:ext cx="8080375" cy="1143000"/>
          </a:xfrm>
        </p:spPr>
        <p:txBody>
          <a:bodyPr/>
          <a:lstStyle/>
          <a:p>
            <a:pPr algn="ctr" eaLnBrk="1" hangingPunct="1"/>
            <a:r>
              <a:rPr lang="es-AR" altLang="es-ES" sz="4000"/>
              <a:t>Entidad</a:t>
            </a:r>
          </a:p>
        </p:txBody>
      </p:sp>
      <p:sp>
        <p:nvSpPr>
          <p:cNvPr id="17411" name="Text Box 60">
            <a:extLst>
              <a:ext uri="{FF2B5EF4-FFF2-40B4-BE49-F238E27FC236}">
                <a16:creationId xmlns:a16="http://schemas.microsoft.com/office/drawing/2014/main" id="{5ED3F776-B57B-4D16-A983-20227AB07825}"/>
              </a:ext>
            </a:extLst>
          </p:cNvPr>
          <p:cNvSpPr txBox="1">
            <a:spLocks noChangeArrowheads="1"/>
          </p:cNvSpPr>
          <p:nvPr/>
        </p:nvSpPr>
        <p:spPr bwMode="auto">
          <a:xfrm>
            <a:off x="163513" y="2790825"/>
            <a:ext cx="1085850"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Atributo</a:t>
            </a:r>
          </a:p>
        </p:txBody>
      </p:sp>
      <p:grpSp>
        <p:nvGrpSpPr>
          <p:cNvPr id="2" name="Group 87">
            <a:extLst>
              <a:ext uri="{FF2B5EF4-FFF2-40B4-BE49-F238E27FC236}">
                <a16:creationId xmlns:a16="http://schemas.microsoft.com/office/drawing/2014/main" id="{1558BB0E-53D3-44B5-8628-F1160584FF50}"/>
              </a:ext>
            </a:extLst>
          </p:cNvPr>
          <p:cNvGrpSpPr>
            <a:grpSpLocks/>
          </p:cNvGrpSpPr>
          <p:nvPr/>
        </p:nvGrpSpPr>
        <p:grpSpPr bwMode="auto">
          <a:xfrm>
            <a:off x="1409700" y="2479675"/>
            <a:ext cx="4321175" cy="1216025"/>
            <a:chOff x="1200" y="964"/>
            <a:chExt cx="2722" cy="766"/>
          </a:xfrm>
        </p:grpSpPr>
        <p:sp>
          <p:nvSpPr>
            <p:cNvPr id="17507" name="Text Box 62">
              <a:extLst>
                <a:ext uri="{FF2B5EF4-FFF2-40B4-BE49-F238E27FC236}">
                  <a16:creationId xmlns:a16="http://schemas.microsoft.com/office/drawing/2014/main" id="{272777F7-6686-4FA5-A2EF-F517A6F3815D}"/>
                </a:ext>
              </a:extLst>
            </p:cNvPr>
            <p:cNvSpPr txBox="1">
              <a:spLocks noChangeArrowheads="1"/>
            </p:cNvSpPr>
            <p:nvPr/>
          </p:nvSpPr>
          <p:spPr bwMode="auto">
            <a:xfrm>
              <a:off x="1200" y="964"/>
              <a:ext cx="123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t>- Simple / Compuesto</a:t>
              </a:r>
            </a:p>
          </p:txBody>
        </p:sp>
        <p:sp>
          <p:nvSpPr>
            <p:cNvPr id="17508" name="Text Box 63">
              <a:extLst>
                <a:ext uri="{FF2B5EF4-FFF2-40B4-BE49-F238E27FC236}">
                  <a16:creationId xmlns:a16="http://schemas.microsoft.com/office/drawing/2014/main" id="{EA99F70D-2082-4CA1-AD97-3635837D3A2F}"/>
                </a:ext>
              </a:extLst>
            </p:cNvPr>
            <p:cNvSpPr txBox="1">
              <a:spLocks noChangeArrowheads="1"/>
            </p:cNvSpPr>
            <p:nvPr/>
          </p:nvSpPr>
          <p:spPr bwMode="auto">
            <a:xfrm>
              <a:off x="1200" y="1152"/>
              <a:ext cx="1708"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t>- Monovalorado / Multivalorado</a:t>
              </a:r>
            </a:p>
          </p:txBody>
        </p:sp>
        <p:sp>
          <p:nvSpPr>
            <p:cNvPr id="17509" name="Text Box 64">
              <a:extLst>
                <a:ext uri="{FF2B5EF4-FFF2-40B4-BE49-F238E27FC236}">
                  <a16:creationId xmlns:a16="http://schemas.microsoft.com/office/drawing/2014/main" id="{CEAE39EA-C505-4FBE-A7B9-621FE3E5C400}"/>
                </a:ext>
              </a:extLst>
            </p:cNvPr>
            <p:cNvSpPr txBox="1">
              <a:spLocks noChangeArrowheads="1"/>
            </p:cNvSpPr>
            <p:nvPr/>
          </p:nvSpPr>
          <p:spPr bwMode="auto">
            <a:xfrm>
              <a:off x="1200" y="1344"/>
              <a:ext cx="144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t>- Almacenados / Derivados</a:t>
              </a:r>
            </a:p>
          </p:txBody>
        </p:sp>
        <p:sp>
          <p:nvSpPr>
            <p:cNvPr id="17510" name="Text Box 65">
              <a:extLst>
                <a:ext uri="{FF2B5EF4-FFF2-40B4-BE49-F238E27FC236}">
                  <a16:creationId xmlns:a16="http://schemas.microsoft.com/office/drawing/2014/main" id="{A32F8194-BEB7-42E1-9F5A-80C465492DE4}"/>
                </a:ext>
              </a:extLst>
            </p:cNvPr>
            <p:cNvSpPr txBox="1">
              <a:spLocks noChangeArrowheads="1"/>
            </p:cNvSpPr>
            <p:nvPr/>
          </p:nvSpPr>
          <p:spPr bwMode="auto">
            <a:xfrm>
              <a:off x="1200" y="1536"/>
              <a:ext cx="272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t>- Obligatorios (2) / No obligatorios (valor indefinido)</a:t>
              </a:r>
            </a:p>
          </p:txBody>
        </p:sp>
      </p:grpSp>
      <p:grpSp>
        <p:nvGrpSpPr>
          <p:cNvPr id="4" name="Group 88">
            <a:extLst>
              <a:ext uri="{FF2B5EF4-FFF2-40B4-BE49-F238E27FC236}">
                <a16:creationId xmlns:a16="http://schemas.microsoft.com/office/drawing/2014/main" id="{D7032736-EC8D-4A1D-AB1B-507F235F62DD}"/>
              </a:ext>
            </a:extLst>
          </p:cNvPr>
          <p:cNvGrpSpPr>
            <a:grpSpLocks/>
          </p:cNvGrpSpPr>
          <p:nvPr/>
        </p:nvGrpSpPr>
        <p:grpSpPr bwMode="auto">
          <a:xfrm>
            <a:off x="828675" y="3027363"/>
            <a:ext cx="3233738" cy="1031875"/>
            <a:chOff x="745" y="1420"/>
            <a:chExt cx="2037" cy="650"/>
          </a:xfrm>
        </p:grpSpPr>
        <p:sp>
          <p:nvSpPr>
            <p:cNvPr id="17503" name="Freeform 72">
              <a:extLst>
                <a:ext uri="{FF2B5EF4-FFF2-40B4-BE49-F238E27FC236}">
                  <a16:creationId xmlns:a16="http://schemas.microsoft.com/office/drawing/2014/main" id="{86C1484D-0CC0-4CCE-BD7E-6C42F209025B}"/>
                </a:ext>
              </a:extLst>
            </p:cNvPr>
            <p:cNvSpPr>
              <a:spLocks/>
            </p:cNvSpPr>
            <p:nvPr/>
          </p:nvSpPr>
          <p:spPr bwMode="auto">
            <a:xfrm>
              <a:off x="745" y="1420"/>
              <a:ext cx="506" cy="586"/>
            </a:xfrm>
            <a:custGeom>
              <a:avLst/>
              <a:gdLst>
                <a:gd name="T0" fmla="*/ 0 w 506"/>
                <a:gd name="T1" fmla="*/ 0 h 586"/>
                <a:gd name="T2" fmla="*/ 0 w 506"/>
                <a:gd name="T3" fmla="*/ 586 h 586"/>
                <a:gd name="T4" fmla="*/ 506 w 506"/>
                <a:gd name="T5" fmla="*/ 586 h 586"/>
                <a:gd name="T6" fmla="*/ 0 60000 65536"/>
                <a:gd name="T7" fmla="*/ 0 60000 65536"/>
                <a:gd name="T8" fmla="*/ 0 60000 65536"/>
                <a:gd name="T9" fmla="*/ 0 w 506"/>
                <a:gd name="T10" fmla="*/ 0 h 586"/>
                <a:gd name="T11" fmla="*/ 506 w 506"/>
                <a:gd name="T12" fmla="*/ 586 h 586"/>
              </a:gdLst>
              <a:ahLst/>
              <a:cxnLst>
                <a:cxn ang="T6">
                  <a:pos x="T0" y="T1"/>
                </a:cxn>
                <a:cxn ang="T7">
                  <a:pos x="T2" y="T3"/>
                </a:cxn>
                <a:cxn ang="T8">
                  <a:pos x="T4" y="T5"/>
                </a:cxn>
              </a:cxnLst>
              <a:rect l="T9" t="T10" r="T11" b="T12"/>
              <a:pathLst>
                <a:path w="506" h="586">
                  <a:moveTo>
                    <a:pt x="0" y="0"/>
                  </a:moveTo>
                  <a:lnTo>
                    <a:pt x="0" y="586"/>
                  </a:lnTo>
                  <a:lnTo>
                    <a:pt x="506" y="586"/>
                  </a:lnTo>
                </a:path>
              </a:pathLst>
            </a:custGeom>
            <a:noFill/>
            <a:ln w="9525" cap="flat" cmpd="sng">
              <a:solidFill>
                <a:schemeClr val="tx1"/>
              </a:solidFill>
              <a:prstDash val="sysDot"/>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spAutoFit/>
            </a:bodyPr>
            <a:lstStyle/>
            <a:p>
              <a:endParaRPr lang="es-ES"/>
            </a:p>
          </p:txBody>
        </p:sp>
        <p:sp>
          <p:nvSpPr>
            <p:cNvPr id="17504" name="Text Box 73">
              <a:extLst>
                <a:ext uri="{FF2B5EF4-FFF2-40B4-BE49-F238E27FC236}">
                  <a16:creationId xmlns:a16="http://schemas.microsoft.com/office/drawing/2014/main" id="{C1451191-F617-444F-86A5-68AA52C22716}"/>
                </a:ext>
              </a:extLst>
            </p:cNvPr>
            <p:cNvSpPr txBox="1">
              <a:spLocks noChangeArrowheads="1"/>
            </p:cNvSpPr>
            <p:nvPr/>
          </p:nvSpPr>
          <p:spPr bwMode="auto">
            <a:xfrm>
              <a:off x="1382" y="1876"/>
              <a:ext cx="359"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solidFill>
                    <a:srgbClr val="002060"/>
                  </a:solidFill>
                </a:rPr>
                <a:t>valor</a:t>
              </a:r>
            </a:p>
          </p:txBody>
        </p:sp>
        <p:sp>
          <p:nvSpPr>
            <p:cNvPr id="17505" name="Line 74">
              <a:extLst>
                <a:ext uri="{FF2B5EF4-FFF2-40B4-BE49-F238E27FC236}">
                  <a16:creationId xmlns:a16="http://schemas.microsoft.com/office/drawing/2014/main" id="{BB86C8E5-9C40-4DF2-A6DA-3D50AC35CCEC}"/>
                </a:ext>
              </a:extLst>
            </p:cNvPr>
            <p:cNvSpPr>
              <a:spLocks noChangeShapeType="1"/>
            </p:cNvSpPr>
            <p:nvPr/>
          </p:nvSpPr>
          <p:spPr bwMode="auto">
            <a:xfrm>
              <a:off x="1746" y="1968"/>
              <a:ext cx="1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17506" name="Text Box 75">
              <a:extLst>
                <a:ext uri="{FF2B5EF4-FFF2-40B4-BE49-F238E27FC236}">
                  <a16:creationId xmlns:a16="http://schemas.microsoft.com/office/drawing/2014/main" id="{15EFD849-5023-4514-8A56-F518AE2D6C06}"/>
                </a:ext>
              </a:extLst>
            </p:cNvPr>
            <p:cNvSpPr txBox="1">
              <a:spLocks noChangeArrowheads="1"/>
            </p:cNvSpPr>
            <p:nvPr/>
          </p:nvSpPr>
          <p:spPr bwMode="auto">
            <a:xfrm>
              <a:off x="2072" y="1876"/>
              <a:ext cx="71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solidFill>
                    <a:srgbClr val="002060"/>
                  </a:solidFill>
                </a:rPr>
                <a:t>Dominio</a:t>
              </a:r>
              <a:r>
                <a:rPr lang="es-ES" altLang="es-ES" sz="1400">
                  <a:solidFill>
                    <a:schemeClr val="folHlink"/>
                  </a:solidFill>
                </a:rPr>
                <a:t> </a:t>
              </a:r>
              <a:r>
                <a:rPr lang="es-ES" altLang="es-ES" sz="1400"/>
                <a:t>(1)</a:t>
              </a:r>
            </a:p>
          </p:txBody>
        </p:sp>
      </p:grpSp>
      <p:sp>
        <p:nvSpPr>
          <p:cNvPr id="17414" name="Text Box 76">
            <a:extLst>
              <a:ext uri="{FF2B5EF4-FFF2-40B4-BE49-F238E27FC236}">
                <a16:creationId xmlns:a16="http://schemas.microsoft.com/office/drawing/2014/main" id="{EEB75E71-1639-4510-9E21-96AB9F896FE3}"/>
              </a:ext>
            </a:extLst>
          </p:cNvPr>
          <p:cNvSpPr txBox="1">
            <a:spLocks noChangeArrowheads="1"/>
          </p:cNvSpPr>
          <p:nvPr/>
        </p:nvSpPr>
        <p:spPr bwMode="auto">
          <a:xfrm>
            <a:off x="179388" y="1717675"/>
            <a:ext cx="1401762"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Ocurrencia</a:t>
            </a:r>
          </a:p>
        </p:txBody>
      </p:sp>
      <p:sp>
        <p:nvSpPr>
          <p:cNvPr id="17415" name="Text Box 78">
            <a:extLst>
              <a:ext uri="{FF2B5EF4-FFF2-40B4-BE49-F238E27FC236}">
                <a16:creationId xmlns:a16="http://schemas.microsoft.com/office/drawing/2014/main" id="{B85C45DC-D2D9-424F-8274-D7E077E35C09}"/>
              </a:ext>
            </a:extLst>
          </p:cNvPr>
          <p:cNvSpPr txBox="1">
            <a:spLocks noChangeArrowheads="1"/>
          </p:cNvSpPr>
          <p:nvPr/>
        </p:nvSpPr>
        <p:spPr bwMode="auto">
          <a:xfrm>
            <a:off x="179388" y="4835525"/>
            <a:ext cx="904875"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Claves</a:t>
            </a:r>
          </a:p>
        </p:txBody>
      </p:sp>
      <p:sp>
        <p:nvSpPr>
          <p:cNvPr id="79951" name="Text Box 79">
            <a:extLst>
              <a:ext uri="{FF2B5EF4-FFF2-40B4-BE49-F238E27FC236}">
                <a16:creationId xmlns:a16="http://schemas.microsoft.com/office/drawing/2014/main" id="{D4AACD18-46AE-400E-9139-8EC521E638E8}"/>
              </a:ext>
            </a:extLst>
          </p:cNvPr>
          <p:cNvSpPr txBox="1">
            <a:spLocks noChangeArrowheads="1"/>
          </p:cNvSpPr>
          <p:nvPr/>
        </p:nvSpPr>
        <p:spPr bwMode="auto">
          <a:xfrm>
            <a:off x="1474788" y="4683125"/>
            <a:ext cx="1730375"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Char char="-"/>
            </a:pPr>
            <a:r>
              <a:rPr lang="es-ES" altLang="es-ES" sz="1400"/>
              <a:t> Clave Primaria (3)</a:t>
            </a:r>
          </a:p>
          <a:p>
            <a:pPr eaLnBrk="1" hangingPunct="1">
              <a:spcBef>
                <a:spcPct val="0"/>
              </a:spcBef>
              <a:buClrTx/>
              <a:buSzTx/>
              <a:buFontTx/>
              <a:buChar char="-"/>
            </a:pPr>
            <a:r>
              <a:rPr lang="es-ES" altLang="es-ES" sz="1400"/>
              <a:t> Clave Alterna (4)</a:t>
            </a:r>
          </a:p>
          <a:p>
            <a:pPr eaLnBrk="1" hangingPunct="1">
              <a:spcBef>
                <a:spcPct val="0"/>
              </a:spcBef>
              <a:buClrTx/>
              <a:buSzTx/>
              <a:buFontTx/>
              <a:buNone/>
            </a:pPr>
            <a:endParaRPr lang="es-ES" altLang="es-ES" sz="1400"/>
          </a:p>
        </p:txBody>
      </p:sp>
      <p:grpSp>
        <p:nvGrpSpPr>
          <p:cNvPr id="5" name="Group 90">
            <a:extLst>
              <a:ext uri="{FF2B5EF4-FFF2-40B4-BE49-F238E27FC236}">
                <a16:creationId xmlns:a16="http://schemas.microsoft.com/office/drawing/2014/main" id="{8642AFE8-EFE8-40B2-B862-B2F5C6E1DBAD}"/>
              </a:ext>
            </a:extLst>
          </p:cNvPr>
          <p:cNvGrpSpPr>
            <a:grpSpLocks/>
          </p:cNvGrpSpPr>
          <p:nvPr/>
        </p:nvGrpSpPr>
        <p:grpSpPr bwMode="auto">
          <a:xfrm>
            <a:off x="3227388" y="4683125"/>
            <a:ext cx="1885950" cy="533400"/>
            <a:chOff x="2256" y="2688"/>
            <a:chExt cx="1188" cy="336"/>
          </a:xfrm>
        </p:grpSpPr>
        <p:sp>
          <p:nvSpPr>
            <p:cNvPr id="17501" name="AutoShape 80">
              <a:extLst>
                <a:ext uri="{FF2B5EF4-FFF2-40B4-BE49-F238E27FC236}">
                  <a16:creationId xmlns:a16="http://schemas.microsoft.com/office/drawing/2014/main" id="{AC7395B2-DE16-4B85-87A6-2BF6951B8097}"/>
                </a:ext>
              </a:extLst>
            </p:cNvPr>
            <p:cNvSpPr>
              <a:spLocks/>
            </p:cNvSpPr>
            <p:nvPr/>
          </p:nvSpPr>
          <p:spPr bwMode="auto">
            <a:xfrm>
              <a:off x="2256" y="2688"/>
              <a:ext cx="96" cy="336"/>
            </a:xfrm>
            <a:prstGeom prst="rightBrace">
              <a:avLst>
                <a:gd name="adj1" fmla="val 29167"/>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17502" name="Text Box 81">
              <a:extLst>
                <a:ext uri="{FF2B5EF4-FFF2-40B4-BE49-F238E27FC236}">
                  <a16:creationId xmlns:a16="http://schemas.microsoft.com/office/drawing/2014/main" id="{E923B4B5-C7CB-482A-B1A7-35C4A3E70BD0}"/>
                </a:ext>
              </a:extLst>
            </p:cNvPr>
            <p:cNvSpPr txBox="1">
              <a:spLocks noChangeArrowheads="1"/>
            </p:cNvSpPr>
            <p:nvPr/>
          </p:nvSpPr>
          <p:spPr bwMode="auto">
            <a:xfrm>
              <a:off x="2448" y="2736"/>
              <a:ext cx="99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t>Claves candidatas</a:t>
              </a:r>
            </a:p>
          </p:txBody>
        </p:sp>
      </p:grpSp>
      <p:grpSp>
        <p:nvGrpSpPr>
          <p:cNvPr id="6" name="Group 91">
            <a:extLst>
              <a:ext uri="{FF2B5EF4-FFF2-40B4-BE49-F238E27FC236}">
                <a16:creationId xmlns:a16="http://schemas.microsoft.com/office/drawing/2014/main" id="{02793ED5-01D5-4427-86BB-A699ACF3484C}"/>
              </a:ext>
            </a:extLst>
          </p:cNvPr>
          <p:cNvGrpSpPr>
            <a:grpSpLocks/>
          </p:cNvGrpSpPr>
          <p:nvPr/>
        </p:nvGrpSpPr>
        <p:grpSpPr bwMode="auto">
          <a:xfrm>
            <a:off x="3151188" y="4454525"/>
            <a:ext cx="3090862" cy="381000"/>
            <a:chOff x="2208" y="2544"/>
            <a:chExt cx="1947" cy="240"/>
          </a:xfrm>
        </p:grpSpPr>
        <p:sp>
          <p:nvSpPr>
            <p:cNvPr id="17499" name="Line 82">
              <a:extLst>
                <a:ext uri="{FF2B5EF4-FFF2-40B4-BE49-F238E27FC236}">
                  <a16:creationId xmlns:a16="http://schemas.microsoft.com/office/drawing/2014/main" id="{BA162296-958F-4409-9658-B93BA0B0F2B7}"/>
                </a:ext>
              </a:extLst>
            </p:cNvPr>
            <p:cNvSpPr>
              <a:spLocks noChangeShapeType="1"/>
            </p:cNvSpPr>
            <p:nvPr/>
          </p:nvSpPr>
          <p:spPr bwMode="auto">
            <a:xfrm flipV="1">
              <a:off x="2208" y="2640"/>
              <a:ext cx="864" cy="144"/>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17500" name="Rectangle 83">
              <a:extLst>
                <a:ext uri="{FF2B5EF4-FFF2-40B4-BE49-F238E27FC236}">
                  <a16:creationId xmlns:a16="http://schemas.microsoft.com/office/drawing/2014/main" id="{9BA68ACE-8AD3-47D1-82D7-018C9AEB53AC}"/>
                </a:ext>
              </a:extLst>
            </p:cNvPr>
            <p:cNvSpPr>
              <a:spLocks noChangeArrowheads="1"/>
            </p:cNvSpPr>
            <p:nvPr/>
          </p:nvSpPr>
          <p:spPr bwMode="auto">
            <a:xfrm>
              <a:off x="3120" y="2544"/>
              <a:ext cx="103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t>Claves subrogadas</a:t>
              </a:r>
            </a:p>
          </p:txBody>
        </p:sp>
      </p:grpSp>
      <p:sp>
        <p:nvSpPr>
          <p:cNvPr id="79956" name="Oval 84">
            <a:extLst>
              <a:ext uri="{FF2B5EF4-FFF2-40B4-BE49-F238E27FC236}">
                <a16:creationId xmlns:a16="http://schemas.microsoft.com/office/drawing/2014/main" id="{7B9F1516-D7C3-43F3-817B-C6B044621466}"/>
              </a:ext>
            </a:extLst>
          </p:cNvPr>
          <p:cNvSpPr>
            <a:spLocks noChangeArrowheads="1"/>
          </p:cNvSpPr>
          <p:nvPr/>
        </p:nvSpPr>
        <p:spPr bwMode="auto">
          <a:xfrm>
            <a:off x="1322388" y="4302125"/>
            <a:ext cx="5410200" cy="1371600"/>
          </a:xfrm>
          <a:prstGeom prst="ellipse">
            <a:avLst/>
          </a:prstGeom>
          <a:noFill/>
          <a:ln w="952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79957" name="Text Box 85">
            <a:extLst>
              <a:ext uri="{FF2B5EF4-FFF2-40B4-BE49-F238E27FC236}">
                <a16:creationId xmlns:a16="http://schemas.microsoft.com/office/drawing/2014/main" id="{D3459705-E873-4C49-A485-04E601A2FC1D}"/>
              </a:ext>
            </a:extLst>
          </p:cNvPr>
          <p:cNvSpPr txBox="1">
            <a:spLocks noChangeArrowheads="1"/>
          </p:cNvSpPr>
          <p:nvPr/>
        </p:nvSpPr>
        <p:spPr bwMode="auto">
          <a:xfrm>
            <a:off x="6443663" y="5210175"/>
            <a:ext cx="2449512"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solidFill>
                  <a:srgbClr val="002060"/>
                </a:solidFill>
              </a:rPr>
              <a:t>Identifican </a:t>
            </a:r>
          </a:p>
          <a:p>
            <a:pPr eaLnBrk="1" hangingPunct="1">
              <a:spcBef>
                <a:spcPct val="0"/>
              </a:spcBef>
              <a:buClrTx/>
              <a:buSzTx/>
              <a:buFontTx/>
              <a:buNone/>
            </a:pPr>
            <a:r>
              <a:rPr lang="es-ES" altLang="es-ES" sz="1400" b="1">
                <a:solidFill>
                  <a:srgbClr val="002060"/>
                </a:solidFill>
              </a:rPr>
              <a:t>unívocamente</a:t>
            </a:r>
            <a:r>
              <a:rPr lang="es-ES" altLang="es-ES" sz="1400">
                <a:solidFill>
                  <a:srgbClr val="002060"/>
                </a:solidFill>
              </a:rPr>
              <a:t> una ocurrencia</a:t>
            </a:r>
          </a:p>
        </p:txBody>
      </p:sp>
      <p:sp>
        <p:nvSpPr>
          <p:cNvPr id="79958" name="AutoShape 86">
            <a:extLst>
              <a:ext uri="{FF2B5EF4-FFF2-40B4-BE49-F238E27FC236}">
                <a16:creationId xmlns:a16="http://schemas.microsoft.com/office/drawing/2014/main" id="{42EB9028-B2B3-4777-88BD-AD3AA0AE9FF7}"/>
              </a:ext>
            </a:extLst>
          </p:cNvPr>
          <p:cNvSpPr>
            <a:spLocks/>
          </p:cNvSpPr>
          <p:nvPr/>
        </p:nvSpPr>
        <p:spPr bwMode="auto">
          <a:xfrm>
            <a:off x="3978275" y="5899150"/>
            <a:ext cx="3490913" cy="914400"/>
          </a:xfrm>
          <a:prstGeom prst="borderCallout1">
            <a:avLst>
              <a:gd name="adj1" fmla="val 87500"/>
              <a:gd name="adj2" fmla="val -1986"/>
              <a:gd name="adj3" fmla="val -109185"/>
              <a:gd name="adj4" fmla="val -27324"/>
            </a:avLst>
          </a:prstGeom>
          <a:noFill/>
          <a:ln w="9525">
            <a:solidFill>
              <a:srgbClr val="00206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Char char="-"/>
            </a:pPr>
            <a:r>
              <a:rPr lang="es-ES" altLang="es-ES" sz="1400">
                <a:solidFill>
                  <a:srgbClr val="002060"/>
                </a:solidFill>
              </a:rPr>
              <a:t>Nº mínimo de atributos</a:t>
            </a:r>
          </a:p>
          <a:p>
            <a:pPr eaLnBrk="1" hangingPunct="1">
              <a:spcBef>
                <a:spcPct val="0"/>
              </a:spcBef>
              <a:buClrTx/>
              <a:buSzTx/>
              <a:buFontTx/>
              <a:buChar char="-"/>
            </a:pPr>
            <a:r>
              <a:rPr lang="es-ES" altLang="es-ES" sz="1400">
                <a:solidFill>
                  <a:srgbClr val="002060"/>
                </a:solidFill>
              </a:rPr>
              <a:t>Menor frecuencia de cambios</a:t>
            </a:r>
          </a:p>
          <a:p>
            <a:pPr eaLnBrk="1" hangingPunct="1">
              <a:spcBef>
                <a:spcPct val="0"/>
              </a:spcBef>
              <a:buClrTx/>
              <a:buSzTx/>
              <a:buFontTx/>
              <a:buChar char="-"/>
            </a:pPr>
            <a:r>
              <a:rPr lang="es-ES" altLang="es-ES" sz="1400">
                <a:solidFill>
                  <a:srgbClr val="002060"/>
                </a:solidFill>
              </a:rPr>
              <a:t>Menor longitud</a:t>
            </a:r>
          </a:p>
          <a:p>
            <a:pPr eaLnBrk="1" hangingPunct="1">
              <a:spcBef>
                <a:spcPct val="0"/>
              </a:spcBef>
              <a:buClrTx/>
              <a:buSzTx/>
              <a:buFontTx/>
              <a:buChar char="-"/>
            </a:pPr>
            <a:r>
              <a:rPr lang="es-ES" altLang="es-ES" sz="1400">
                <a:solidFill>
                  <a:srgbClr val="002060"/>
                </a:solidFill>
              </a:rPr>
              <a:t>Más afin a la perspectiva del usuario</a:t>
            </a:r>
          </a:p>
        </p:txBody>
      </p:sp>
      <p:sp>
        <p:nvSpPr>
          <p:cNvPr id="79961" name="Rectangle 89">
            <a:extLst>
              <a:ext uri="{FF2B5EF4-FFF2-40B4-BE49-F238E27FC236}">
                <a16:creationId xmlns:a16="http://schemas.microsoft.com/office/drawing/2014/main" id="{F3F62F74-7FA0-49CE-A3F6-AC379674C01E}"/>
              </a:ext>
            </a:extLst>
          </p:cNvPr>
          <p:cNvSpPr>
            <a:spLocks noChangeArrowheads="1"/>
          </p:cNvSpPr>
          <p:nvPr/>
        </p:nvSpPr>
        <p:spPr bwMode="auto">
          <a:xfrm>
            <a:off x="1481138" y="5645150"/>
            <a:ext cx="13811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Char char="-"/>
            </a:pPr>
            <a:r>
              <a:rPr lang="es-ES" altLang="es-ES" sz="1400">
                <a:solidFill>
                  <a:schemeClr val="folHlink"/>
                </a:solidFill>
              </a:rPr>
              <a:t> </a:t>
            </a:r>
            <a:r>
              <a:rPr lang="es-ES" altLang="es-ES" sz="1400"/>
              <a:t>Clave foránea</a:t>
            </a:r>
          </a:p>
        </p:txBody>
      </p:sp>
      <p:graphicFrame>
        <p:nvGraphicFramePr>
          <p:cNvPr id="8" name="7 Tabla">
            <a:extLst>
              <a:ext uri="{FF2B5EF4-FFF2-40B4-BE49-F238E27FC236}">
                <a16:creationId xmlns:a16="http://schemas.microsoft.com/office/drawing/2014/main" id="{85724D7A-FF41-4C98-B6EE-C9846B8F3259}"/>
              </a:ext>
            </a:extLst>
          </p:cNvPr>
          <p:cNvGraphicFramePr>
            <a:graphicFrameLocks noGrp="1"/>
          </p:cNvGraphicFramePr>
          <p:nvPr/>
        </p:nvGraphicFramePr>
        <p:xfrm>
          <a:off x="4427538" y="1679575"/>
          <a:ext cx="4654549" cy="1501776"/>
        </p:xfrm>
        <a:graphic>
          <a:graphicData uri="http://schemas.openxmlformats.org/drawingml/2006/table">
            <a:tbl>
              <a:tblPr firstRow="1" bandRow="1">
                <a:tableStyleId>{5C22544A-7EE6-4342-B048-85BDC9FD1C3A}</a:tableStyleId>
              </a:tblPr>
              <a:tblGrid>
                <a:gridCol w="648200">
                  <a:extLst>
                    <a:ext uri="{9D8B030D-6E8A-4147-A177-3AD203B41FA5}">
                      <a16:colId xmlns:a16="http://schemas.microsoft.com/office/drawing/2014/main" val="20000"/>
                    </a:ext>
                  </a:extLst>
                </a:gridCol>
                <a:gridCol w="792247">
                  <a:extLst>
                    <a:ext uri="{9D8B030D-6E8A-4147-A177-3AD203B41FA5}">
                      <a16:colId xmlns:a16="http://schemas.microsoft.com/office/drawing/2014/main" val="20001"/>
                    </a:ext>
                  </a:extLst>
                </a:gridCol>
                <a:gridCol w="720225">
                  <a:extLst>
                    <a:ext uri="{9D8B030D-6E8A-4147-A177-3AD203B41FA5}">
                      <a16:colId xmlns:a16="http://schemas.microsoft.com/office/drawing/2014/main" val="20002"/>
                    </a:ext>
                  </a:extLst>
                </a:gridCol>
                <a:gridCol w="720225">
                  <a:extLst>
                    <a:ext uri="{9D8B030D-6E8A-4147-A177-3AD203B41FA5}">
                      <a16:colId xmlns:a16="http://schemas.microsoft.com/office/drawing/2014/main" val="20003"/>
                    </a:ext>
                  </a:extLst>
                </a:gridCol>
                <a:gridCol w="945299">
                  <a:extLst>
                    <a:ext uri="{9D8B030D-6E8A-4147-A177-3AD203B41FA5}">
                      <a16:colId xmlns:a16="http://schemas.microsoft.com/office/drawing/2014/main" val="20004"/>
                    </a:ext>
                  </a:extLst>
                </a:gridCol>
                <a:gridCol w="828353">
                  <a:extLst>
                    <a:ext uri="{9D8B030D-6E8A-4147-A177-3AD203B41FA5}">
                      <a16:colId xmlns:a16="http://schemas.microsoft.com/office/drawing/2014/main" val="20005"/>
                    </a:ext>
                  </a:extLst>
                </a:gridCol>
              </a:tblGrid>
              <a:tr h="458174">
                <a:tc>
                  <a:txBody>
                    <a:bodyPr/>
                    <a:lstStyle/>
                    <a:p>
                      <a:r>
                        <a:rPr lang="es-AR" sz="1200" b="0"/>
                        <a:t>legajo</a:t>
                      </a:r>
                    </a:p>
                  </a:txBody>
                  <a:tcPr marL="91458" marR="91458" marT="45691" marB="45691"/>
                </a:tc>
                <a:tc>
                  <a:txBody>
                    <a:bodyPr/>
                    <a:lstStyle/>
                    <a:p>
                      <a:r>
                        <a:rPr lang="es-AR" sz="1200" b="0"/>
                        <a:t>CUIL</a:t>
                      </a:r>
                    </a:p>
                  </a:txBody>
                  <a:tcPr marL="91458" marR="91458" marT="45691" marB="45691"/>
                </a:tc>
                <a:tc>
                  <a:txBody>
                    <a:bodyPr/>
                    <a:lstStyle/>
                    <a:p>
                      <a:r>
                        <a:rPr lang="es-AR" sz="1200" b="0"/>
                        <a:t>Nombre</a:t>
                      </a:r>
                    </a:p>
                  </a:txBody>
                  <a:tcPr marL="91458" marR="91458" marT="45691" marB="45691"/>
                </a:tc>
                <a:tc>
                  <a:txBody>
                    <a:bodyPr/>
                    <a:lstStyle/>
                    <a:p>
                      <a:r>
                        <a:rPr lang="es-AR" sz="1200" b="0"/>
                        <a:t>Apellido</a:t>
                      </a:r>
                    </a:p>
                  </a:txBody>
                  <a:tcPr marL="91458" marR="91458" marT="45691" marB="45691"/>
                </a:tc>
                <a:tc>
                  <a:txBody>
                    <a:bodyPr/>
                    <a:lstStyle/>
                    <a:p>
                      <a:r>
                        <a:rPr lang="es-AR" sz="1200" b="0"/>
                        <a:t>Fecha nacimiento</a:t>
                      </a:r>
                    </a:p>
                  </a:txBody>
                  <a:tcPr marL="91458" marR="91458" marT="45691" marB="45691"/>
                </a:tc>
                <a:tc>
                  <a:txBody>
                    <a:bodyPr/>
                    <a:lstStyle/>
                    <a:p>
                      <a:r>
                        <a:rPr lang="es-AR" sz="1200" b="0"/>
                        <a:t>Domicilio</a:t>
                      </a:r>
                    </a:p>
                  </a:txBody>
                  <a:tcPr marL="91458" marR="91458" marT="45691" marB="45691"/>
                </a:tc>
                <a:extLst>
                  <a:ext uri="{0D108BD9-81ED-4DB2-BD59-A6C34878D82A}">
                    <a16:rowId xmlns:a16="http://schemas.microsoft.com/office/drawing/2014/main" val="10000"/>
                  </a:ext>
                </a:extLst>
              </a:tr>
              <a:tr h="251296">
                <a:tc>
                  <a:txBody>
                    <a:bodyPr/>
                    <a:lstStyle/>
                    <a:p>
                      <a:r>
                        <a:rPr lang="es-AR" sz="1000"/>
                        <a:t>5005</a:t>
                      </a:r>
                    </a:p>
                  </a:txBody>
                  <a:tcPr marL="91458" marR="91458" marT="45691" marB="45691"/>
                </a:tc>
                <a:tc>
                  <a:txBody>
                    <a:bodyPr/>
                    <a:lstStyle/>
                    <a:p>
                      <a:r>
                        <a:rPr lang="es-AR" sz="700"/>
                        <a:t>30-12233407-1</a:t>
                      </a:r>
                    </a:p>
                  </a:txBody>
                  <a:tcPr marL="91458" marR="91458" marT="45691" marB="45691"/>
                </a:tc>
                <a:tc>
                  <a:txBody>
                    <a:bodyPr/>
                    <a:lstStyle/>
                    <a:p>
                      <a:r>
                        <a:rPr lang="es-AR" sz="1000"/>
                        <a:t>Jorge</a:t>
                      </a:r>
                    </a:p>
                  </a:txBody>
                  <a:tcPr marL="91458" marR="91458" marT="45691" marB="45691"/>
                </a:tc>
                <a:tc>
                  <a:txBody>
                    <a:bodyPr/>
                    <a:lstStyle/>
                    <a:p>
                      <a:r>
                        <a:rPr lang="es-AR" sz="1000" err="1"/>
                        <a:t>Perez</a:t>
                      </a:r>
                      <a:endParaRPr lang="es-AR" sz="1000"/>
                    </a:p>
                  </a:txBody>
                  <a:tcPr marL="91458" marR="91458" marT="45691" marB="45691"/>
                </a:tc>
                <a:tc>
                  <a:txBody>
                    <a:bodyPr/>
                    <a:lstStyle/>
                    <a:p>
                      <a:r>
                        <a:rPr lang="es-AR" sz="1000"/>
                        <a:t>01/01/1965</a:t>
                      </a:r>
                    </a:p>
                  </a:txBody>
                  <a:tcPr marL="91458" marR="91458" marT="45691" marB="45691"/>
                </a:tc>
                <a:tc>
                  <a:txBody>
                    <a:bodyPr/>
                    <a:lstStyle/>
                    <a:p>
                      <a:r>
                        <a:rPr lang="es-AR" sz="1000" err="1"/>
                        <a:t>xxxxx</a:t>
                      </a:r>
                      <a:endParaRPr lang="es-AR" sz="1000"/>
                    </a:p>
                  </a:txBody>
                  <a:tcPr marL="91458" marR="91458" marT="45691" marB="45691"/>
                </a:tc>
                <a:extLst>
                  <a:ext uri="{0D108BD9-81ED-4DB2-BD59-A6C34878D82A}">
                    <a16:rowId xmlns:a16="http://schemas.microsoft.com/office/drawing/2014/main" val="10001"/>
                  </a:ext>
                </a:extLst>
              </a:tr>
              <a:tr h="274262">
                <a:tc>
                  <a:txBody>
                    <a:bodyPr/>
                    <a:lstStyle/>
                    <a:p>
                      <a:r>
                        <a:rPr lang="es-AR" sz="1200"/>
                        <a:t>…</a:t>
                      </a:r>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extLst>
                  <a:ext uri="{0D108BD9-81ED-4DB2-BD59-A6C34878D82A}">
                    <a16:rowId xmlns:a16="http://schemas.microsoft.com/office/drawing/2014/main" val="10002"/>
                  </a:ext>
                </a:extLst>
              </a:tr>
              <a:tr h="243782">
                <a:tc>
                  <a:txBody>
                    <a:bodyPr/>
                    <a:lstStyle/>
                    <a:p>
                      <a:pPr marL="0" algn="l" defTabSz="914400" rtl="0" eaLnBrk="1" latinLnBrk="0" hangingPunct="1"/>
                      <a:r>
                        <a:rPr lang="es-AR" sz="1000" kern="1200">
                          <a:solidFill>
                            <a:schemeClr val="dk1"/>
                          </a:solidFill>
                          <a:latin typeface="+mn-lt"/>
                          <a:ea typeface="+mn-ea"/>
                          <a:cs typeface="+mn-cs"/>
                        </a:rPr>
                        <a:t>10451</a:t>
                      </a:r>
                    </a:p>
                  </a:txBody>
                  <a:tcPr marL="91458" marR="91458" marT="45691" marB="45691"/>
                </a:tc>
                <a:tc>
                  <a:txBody>
                    <a:bodyPr/>
                    <a:lstStyle/>
                    <a:p>
                      <a:pPr marL="0" algn="l" defTabSz="914400" rtl="0" eaLnBrk="1" latinLnBrk="0" hangingPunct="1"/>
                      <a:r>
                        <a:rPr lang="es-AR" sz="700" kern="1200">
                          <a:solidFill>
                            <a:schemeClr val="dk1"/>
                          </a:solidFill>
                          <a:latin typeface="+mn-lt"/>
                          <a:ea typeface="+mn-ea"/>
                          <a:cs typeface="+mn-cs"/>
                        </a:rPr>
                        <a:t>27-8956980-4</a:t>
                      </a:r>
                    </a:p>
                  </a:txBody>
                  <a:tcPr marL="91458" marR="91458" marT="45691" marB="45691"/>
                </a:tc>
                <a:tc>
                  <a:txBody>
                    <a:bodyPr/>
                    <a:lstStyle/>
                    <a:p>
                      <a:pPr marL="0" algn="l" defTabSz="914400" rtl="0" eaLnBrk="1" latinLnBrk="0" hangingPunct="1"/>
                      <a:r>
                        <a:rPr lang="es-AR" sz="1000" kern="1200">
                          <a:solidFill>
                            <a:schemeClr val="dk1"/>
                          </a:solidFill>
                          <a:latin typeface="+mn-lt"/>
                          <a:ea typeface="+mn-ea"/>
                          <a:cs typeface="+mn-cs"/>
                        </a:rPr>
                        <a:t>Susana</a:t>
                      </a:r>
                    </a:p>
                  </a:txBody>
                  <a:tcPr marL="91458" marR="91458" marT="45691" marB="45691"/>
                </a:tc>
                <a:tc>
                  <a:txBody>
                    <a:bodyPr/>
                    <a:lstStyle/>
                    <a:p>
                      <a:pPr marL="0" algn="l" defTabSz="914400" rtl="0" eaLnBrk="1" latinLnBrk="0" hangingPunct="1"/>
                      <a:r>
                        <a:rPr lang="es-AR" sz="1000" kern="1200">
                          <a:solidFill>
                            <a:schemeClr val="dk1"/>
                          </a:solidFill>
                          <a:latin typeface="+mn-lt"/>
                          <a:ea typeface="+mn-ea"/>
                          <a:cs typeface="+mn-cs"/>
                        </a:rPr>
                        <a:t>Duran</a:t>
                      </a:r>
                    </a:p>
                  </a:txBody>
                  <a:tcPr marL="91458" marR="91458" marT="45691" marB="45691"/>
                </a:tc>
                <a:tc>
                  <a:txBody>
                    <a:bodyPr/>
                    <a:lstStyle/>
                    <a:p>
                      <a:pPr marL="0" algn="l" defTabSz="914400" rtl="0" eaLnBrk="1" latinLnBrk="0" hangingPunct="1"/>
                      <a:r>
                        <a:rPr lang="es-AR" sz="1000" kern="1200">
                          <a:solidFill>
                            <a:schemeClr val="dk1"/>
                          </a:solidFill>
                          <a:latin typeface="+mn-lt"/>
                          <a:ea typeface="+mn-ea"/>
                          <a:cs typeface="+mn-cs"/>
                        </a:rPr>
                        <a:t>09/07/1980</a:t>
                      </a:r>
                    </a:p>
                  </a:txBody>
                  <a:tcPr marL="91458" marR="91458" marT="45691" marB="45691"/>
                </a:tc>
                <a:tc>
                  <a:txBody>
                    <a:bodyPr/>
                    <a:lstStyle/>
                    <a:p>
                      <a:pPr marL="0" algn="l" defTabSz="914400" rtl="0" eaLnBrk="1" latinLnBrk="0" hangingPunct="1"/>
                      <a:r>
                        <a:rPr lang="es-AR" sz="1000" kern="1200" err="1">
                          <a:solidFill>
                            <a:schemeClr val="dk1"/>
                          </a:solidFill>
                          <a:latin typeface="+mn-lt"/>
                          <a:ea typeface="+mn-ea"/>
                          <a:cs typeface="+mn-cs"/>
                        </a:rPr>
                        <a:t>xxxxx</a:t>
                      </a:r>
                      <a:endParaRPr lang="es-AR" sz="1000" kern="1200">
                        <a:solidFill>
                          <a:schemeClr val="dk1"/>
                        </a:solidFill>
                        <a:latin typeface="+mn-lt"/>
                        <a:ea typeface="+mn-ea"/>
                        <a:cs typeface="+mn-cs"/>
                      </a:endParaRPr>
                    </a:p>
                  </a:txBody>
                  <a:tcPr marL="91458" marR="91458" marT="45691" marB="45691"/>
                </a:tc>
                <a:extLst>
                  <a:ext uri="{0D108BD9-81ED-4DB2-BD59-A6C34878D82A}">
                    <a16:rowId xmlns:a16="http://schemas.microsoft.com/office/drawing/2014/main" val="10003"/>
                  </a:ext>
                </a:extLst>
              </a:tr>
              <a:tr h="27426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1200"/>
                        <a:t>…</a:t>
                      </a:r>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tc>
                  <a:txBody>
                    <a:bodyPr/>
                    <a:lstStyle/>
                    <a:p>
                      <a:endParaRPr lang="es-AR" sz="1200"/>
                    </a:p>
                  </a:txBody>
                  <a:tcPr marL="91458" marR="91458" marT="45691" marB="45691"/>
                </a:tc>
                <a:extLst>
                  <a:ext uri="{0D108BD9-81ED-4DB2-BD59-A6C34878D82A}">
                    <a16:rowId xmlns:a16="http://schemas.microsoft.com/office/drawing/2014/main" val="10004"/>
                  </a:ext>
                </a:extLst>
              </a:tr>
            </a:tbl>
          </a:graphicData>
        </a:graphic>
      </p:graphicFrame>
      <p:sp>
        <p:nvSpPr>
          <p:cNvPr id="17468" name="8 CuadroTexto">
            <a:extLst>
              <a:ext uri="{FF2B5EF4-FFF2-40B4-BE49-F238E27FC236}">
                <a16:creationId xmlns:a16="http://schemas.microsoft.com/office/drawing/2014/main" id="{94F9B775-D0AD-4FF9-8250-B3CE5464B465}"/>
              </a:ext>
            </a:extLst>
          </p:cNvPr>
          <p:cNvSpPr txBox="1">
            <a:spLocks noChangeArrowheads="1"/>
          </p:cNvSpPr>
          <p:nvPr/>
        </p:nvSpPr>
        <p:spPr bwMode="auto">
          <a:xfrm>
            <a:off x="4427538" y="1392238"/>
            <a:ext cx="10699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a:solidFill>
                  <a:schemeClr val="folHlink"/>
                </a:solidFill>
              </a:rPr>
              <a:t>EMPLEADO</a:t>
            </a:r>
          </a:p>
        </p:txBody>
      </p:sp>
      <p:cxnSp>
        <p:nvCxnSpPr>
          <p:cNvPr id="17469" name="16 Conector recto">
            <a:extLst>
              <a:ext uri="{FF2B5EF4-FFF2-40B4-BE49-F238E27FC236}">
                <a16:creationId xmlns:a16="http://schemas.microsoft.com/office/drawing/2014/main" id="{40447CFD-ACFB-4813-961E-54D7E1FD9494}"/>
              </a:ext>
            </a:extLst>
          </p:cNvPr>
          <p:cNvCxnSpPr>
            <a:cxnSpLocks noChangeShapeType="1"/>
          </p:cNvCxnSpPr>
          <p:nvPr/>
        </p:nvCxnSpPr>
        <p:spPr bwMode="auto">
          <a:xfrm>
            <a:off x="4027488" y="1392238"/>
            <a:ext cx="0" cy="19954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7470" name="19 Conector recto">
            <a:extLst>
              <a:ext uri="{FF2B5EF4-FFF2-40B4-BE49-F238E27FC236}">
                <a16:creationId xmlns:a16="http://schemas.microsoft.com/office/drawing/2014/main" id="{C1789E08-A2C4-45D4-A96F-E6B8BB047A6C}"/>
              </a:ext>
            </a:extLst>
          </p:cNvPr>
          <p:cNvCxnSpPr>
            <a:cxnSpLocks noChangeShapeType="1"/>
          </p:cNvCxnSpPr>
          <p:nvPr/>
        </p:nvCxnSpPr>
        <p:spPr bwMode="auto">
          <a:xfrm>
            <a:off x="4027488" y="3387725"/>
            <a:ext cx="511651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aphicFrame>
        <p:nvGraphicFramePr>
          <p:cNvPr id="49" name="48 Tabla">
            <a:extLst>
              <a:ext uri="{FF2B5EF4-FFF2-40B4-BE49-F238E27FC236}">
                <a16:creationId xmlns:a16="http://schemas.microsoft.com/office/drawing/2014/main" id="{54F2A08D-EAA9-4B84-984C-1403611D79E7}"/>
              </a:ext>
            </a:extLst>
          </p:cNvPr>
          <p:cNvGraphicFramePr>
            <a:graphicFrameLocks noGrp="1"/>
          </p:cNvGraphicFramePr>
          <p:nvPr/>
        </p:nvGraphicFramePr>
        <p:xfrm>
          <a:off x="6516688" y="3644900"/>
          <a:ext cx="2627311" cy="1249362"/>
        </p:xfrm>
        <a:graphic>
          <a:graphicData uri="http://schemas.openxmlformats.org/drawingml/2006/table">
            <a:tbl>
              <a:tblPr firstRow="1" bandRow="1">
                <a:tableStyleId>{5C22544A-7EE6-4342-B048-85BDC9FD1C3A}</a:tableStyleId>
              </a:tblPr>
              <a:tblGrid>
                <a:gridCol w="503966">
                  <a:extLst>
                    <a:ext uri="{9D8B030D-6E8A-4147-A177-3AD203B41FA5}">
                      <a16:colId xmlns:a16="http://schemas.microsoft.com/office/drawing/2014/main" val="20000"/>
                    </a:ext>
                  </a:extLst>
                </a:gridCol>
                <a:gridCol w="647955">
                  <a:extLst>
                    <a:ext uri="{9D8B030D-6E8A-4147-A177-3AD203B41FA5}">
                      <a16:colId xmlns:a16="http://schemas.microsoft.com/office/drawing/2014/main" val="20001"/>
                    </a:ext>
                  </a:extLst>
                </a:gridCol>
                <a:gridCol w="791945">
                  <a:extLst>
                    <a:ext uri="{9D8B030D-6E8A-4147-A177-3AD203B41FA5}">
                      <a16:colId xmlns:a16="http://schemas.microsoft.com/office/drawing/2014/main" val="20002"/>
                    </a:ext>
                  </a:extLst>
                </a:gridCol>
                <a:gridCol w="683445">
                  <a:extLst>
                    <a:ext uri="{9D8B030D-6E8A-4147-A177-3AD203B41FA5}">
                      <a16:colId xmlns:a16="http://schemas.microsoft.com/office/drawing/2014/main" val="20003"/>
                    </a:ext>
                  </a:extLst>
                </a:gridCol>
              </a:tblGrid>
              <a:tr h="459054">
                <a:tc>
                  <a:txBody>
                    <a:bodyPr/>
                    <a:lstStyle/>
                    <a:p>
                      <a:r>
                        <a:rPr lang="es-AR" sz="1200" b="0" err="1"/>
                        <a:t>Nlic</a:t>
                      </a:r>
                      <a:endParaRPr lang="es-AR" sz="1200" b="0"/>
                    </a:p>
                  </a:txBody>
                  <a:tcPr marL="91424" marR="91424" marT="45778" marB="45778"/>
                </a:tc>
                <a:tc>
                  <a:txBody>
                    <a:bodyPr/>
                    <a:lstStyle/>
                    <a:p>
                      <a:r>
                        <a:rPr lang="es-AR" sz="1200" b="0"/>
                        <a:t>Legajo</a:t>
                      </a:r>
                    </a:p>
                  </a:txBody>
                  <a:tcPr marL="91424" marR="91424" marT="45778" marB="45778"/>
                </a:tc>
                <a:tc>
                  <a:txBody>
                    <a:bodyPr/>
                    <a:lstStyle/>
                    <a:p>
                      <a:r>
                        <a:rPr lang="es-AR" sz="1200" b="0"/>
                        <a:t>fecha</a:t>
                      </a:r>
                    </a:p>
                  </a:txBody>
                  <a:tcPr marL="91424" marR="91424" marT="45778" marB="45778"/>
                </a:tc>
                <a:tc>
                  <a:txBody>
                    <a:bodyPr/>
                    <a:lstStyle/>
                    <a:p>
                      <a:r>
                        <a:rPr lang="es-AR" sz="1200" b="0"/>
                        <a:t>Motivo</a:t>
                      </a:r>
                    </a:p>
                  </a:txBody>
                  <a:tcPr marL="91424" marR="91424" marT="45778" marB="45778"/>
                </a:tc>
                <a:extLst>
                  <a:ext uri="{0D108BD9-81ED-4DB2-BD59-A6C34878D82A}">
                    <a16:rowId xmlns:a16="http://schemas.microsoft.com/office/drawing/2014/main" val="10000"/>
                  </a:ext>
                </a:extLst>
              </a:tr>
              <a:tr h="27149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1000" kern="1200">
                          <a:solidFill>
                            <a:schemeClr val="dk1"/>
                          </a:solidFill>
                          <a:latin typeface="+mn-lt"/>
                          <a:ea typeface="+mn-ea"/>
                          <a:cs typeface="+mn-cs"/>
                        </a:rPr>
                        <a:t>100</a:t>
                      </a:r>
                    </a:p>
                  </a:txBody>
                  <a:tcPr marL="91424" marR="91424" marT="45778" marB="45778"/>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AR" sz="1000" kern="1200">
                          <a:solidFill>
                            <a:schemeClr val="dk1"/>
                          </a:solidFill>
                          <a:latin typeface="+mn-lt"/>
                          <a:ea typeface="+mn-ea"/>
                          <a:cs typeface="+mn-cs"/>
                        </a:rPr>
                        <a:t>10451</a:t>
                      </a:r>
                    </a:p>
                  </a:txBody>
                  <a:tcPr marL="91424" marR="91424" marT="45778" marB="45778"/>
                </a:tc>
                <a:tc>
                  <a:txBody>
                    <a:bodyPr/>
                    <a:lstStyle/>
                    <a:p>
                      <a:r>
                        <a:rPr lang="es-AR" sz="900"/>
                        <a:t>15/07/2014</a:t>
                      </a:r>
                    </a:p>
                  </a:txBody>
                  <a:tcPr marL="91424" marR="91424" marT="45778" marB="45778"/>
                </a:tc>
                <a:tc>
                  <a:txBody>
                    <a:bodyPr/>
                    <a:lstStyle/>
                    <a:p>
                      <a:r>
                        <a:rPr lang="es-AR" sz="1000"/>
                        <a:t>xxx</a:t>
                      </a:r>
                    </a:p>
                  </a:txBody>
                  <a:tcPr marL="91424" marR="91424" marT="45778" marB="45778"/>
                </a:tc>
                <a:extLst>
                  <a:ext uri="{0D108BD9-81ED-4DB2-BD59-A6C34878D82A}">
                    <a16:rowId xmlns:a16="http://schemas.microsoft.com/office/drawing/2014/main" val="10001"/>
                  </a:ext>
                </a:extLst>
              </a:tr>
              <a:tr h="274668">
                <a:tc>
                  <a:txBody>
                    <a:bodyPr/>
                    <a:lstStyle/>
                    <a:p>
                      <a:r>
                        <a:rPr lang="es-AR" sz="1200"/>
                        <a:t>…</a:t>
                      </a:r>
                    </a:p>
                  </a:txBody>
                  <a:tcPr marL="91424" marR="91424" marT="45778" marB="45778"/>
                </a:tc>
                <a:tc>
                  <a:txBody>
                    <a:bodyPr/>
                    <a:lstStyle/>
                    <a:p>
                      <a:endParaRPr lang="es-AR" sz="1200"/>
                    </a:p>
                  </a:txBody>
                  <a:tcPr marL="91424" marR="91424" marT="45778" marB="45778"/>
                </a:tc>
                <a:tc>
                  <a:txBody>
                    <a:bodyPr/>
                    <a:lstStyle/>
                    <a:p>
                      <a:endParaRPr lang="es-AR" sz="900"/>
                    </a:p>
                  </a:txBody>
                  <a:tcPr marL="91424" marR="91424" marT="45778" marB="45778"/>
                </a:tc>
                <a:tc>
                  <a:txBody>
                    <a:bodyPr/>
                    <a:lstStyle/>
                    <a:p>
                      <a:endParaRPr lang="es-AR" sz="1200"/>
                    </a:p>
                  </a:txBody>
                  <a:tcPr marL="91424" marR="91424" marT="45778" marB="45778"/>
                </a:tc>
                <a:extLst>
                  <a:ext uri="{0D108BD9-81ED-4DB2-BD59-A6C34878D82A}">
                    <a16:rowId xmlns:a16="http://schemas.microsoft.com/office/drawing/2014/main" val="10002"/>
                  </a:ext>
                </a:extLst>
              </a:tr>
              <a:tr h="244150">
                <a:tc>
                  <a:txBody>
                    <a:bodyPr/>
                    <a:lstStyle/>
                    <a:p>
                      <a:pPr marL="0" algn="l" defTabSz="914400" rtl="0" eaLnBrk="1" latinLnBrk="0" hangingPunct="1"/>
                      <a:r>
                        <a:rPr lang="es-AR" sz="1000" kern="1200">
                          <a:solidFill>
                            <a:schemeClr val="dk1"/>
                          </a:solidFill>
                          <a:latin typeface="+mn-lt"/>
                          <a:ea typeface="+mn-ea"/>
                          <a:cs typeface="+mn-cs"/>
                        </a:rPr>
                        <a:t>1054</a:t>
                      </a:r>
                    </a:p>
                  </a:txBody>
                  <a:tcPr marL="91424" marR="91424" marT="45778" marB="45778"/>
                </a:tc>
                <a:tc>
                  <a:txBody>
                    <a:bodyPr/>
                    <a:lstStyle/>
                    <a:p>
                      <a:pPr marL="0" algn="l" defTabSz="914400" rtl="0" eaLnBrk="1" latinLnBrk="0" hangingPunct="1"/>
                      <a:r>
                        <a:rPr lang="es-AR" sz="1000" kern="1200">
                          <a:solidFill>
                            <a:schemeClr val="dk1"/>
                          </a:solidFill>
                          <a:latin typeface="+mn-lt"/>
                          <a:ea typeface="+mn-ea"/>
                          <a:cs typeface="+mn-cs"/>
                        </a:rPr>
                        <a:t>4560</a:t>
                      </a:r>
                    </a:p>
                  </a:txBody>
                  <a:tcPr marL="91424" marR="91424" marT="45778" marB="45778"/>
                </a:tc>
                <a:tc>
                  <a:txBody>
                    <a:bodyPr/>
                    <a:lstStyle/>
                    <a:p>
                      <a:pPr marL="0" algn="l" defTabSz="914400" rtl="0" eaLnBrk="1" latinLnBrk="0" hangingPunct="1"/>
                      <a:r>
                        <a:rPr lang="es-AR" sz="900" kern="1200">
                          <a:solidFill>
                            <a:schemeClr val="dk1"/>
                          </a:solidFill>
                          <a:latin typeface="+mn-lt"/>
                          <a:ea typeface="+mn-ea"/>
                          <a:cs typeface="+mn-cs"/>
                        </a:rPr>
                        <a:t>20/07/2016</a:t>
                      </a:r>
                    </a:p>
                  </a:txBody>
                  <a:tcPr marL="91424" marR="91424" marT="45778" marB="45778"/>
                </a:tc>
                <a:tc>
                  <a:txBody>
                    <a:bodyPr/>
                    <a:lstStyle/>
                    <a:p>
                      <a:pPr marL="0" algn="l" defTabSz="914400" rtl="0" eaLnBrk="1" latinLnBrk="0" hangingPunct="1"/>
                      <a:r>
                        <a:rPr lang="es-AR" sz="1000" kern="1200" err="1">
                          <a:solidFill>
                            <a:schemeClr val="dk1"/>
                          </a:solidFill>
                          <a:latin typeface="+mn-lt"/>
                          <a:ea typeface="+mn-ea"/>
                          <a:cs typeface="+mn-cs"/>
                        </a:rPr>
                        <a:t>xxxxx</a:t>
                      </a:r>
                      <a:endParaRPr lang="es-AR" sz="1000" kern="1200">
                        <a:solidFill>
                          <a:schemeClr val="dk1"/>
                        </a:solidFill>
                        <a:latin typeface="+mn-lt"/>
                        <a:ea typeface="+mn-ea"/>
                        <a:cs typeface="+mn-cs"/>
                      </a:endParaRPr>
                    </a:p>
                  </a:txBody>
                  <a:tcPr marL="91424" marR="91424" marT="45778" marB="45778"/>
                </a:tc>
                <a:extLst>
                  <a:ext uri="{0D108BD9-81ED-4DB2-BD59-A6C34878D82A}">
                    <a16:rowId xmlns:a16="http://schemas.microsoft.com/office/drawing/2014/main" val="10003"/>
                  </a:ext>
                </a:extLst>
              </a:tr>
            </a:tbl>
          </a:graphicData>
        </a:graphic>
      </p:graphicFrame>
      <p:sp>
        <p:nvSpPr>
          <p:cNvPr id="50" name="49 CuadroTexto">
            <a:extLst>
              <a:ext uri="{FF2B5EF4-FFF2-40B4-BE49-F238E27FC236}">
                <a16:creationId xmlns:a16="http://schemas.microsoft.com/office/drawing/2014/main" id="{9B5132BC-46E1-492A-952A-F4F551464E65}"/>
              </a:ext>
            </a:extLst>
          </p:cNvPr>
          <p:cNvSpPr txBox="1">
            <a:spLocks noChangeArrowheads="1"/>
          </p:cNvSpPr>
          <p:nvPr/>
        </p:nvSpPr>
        <p:spPr bwMode="auto">
          <a:xfrm>
            <a:off x="6516688" y="3376613"/>
            <a:ext cx="95250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a:solidFill>
                  <a:schemeClr val="folHlink"/>
                </a:solidFill>
              </a:rPr>
              <a:t>LICENCIA</a:t>
            </a:r>
          </a:p>
        </p:txBody>
      </p:sp>
      <p:sp>
        <p:nvSpPr>
          <p:cNvPr id="3" name="Elipse 2">
            <a:extLst>
              <a:ext uri="{FF2B5EF4-FFF2-40B4-BE49-F238E27FC236}">
                <a16:creationId xmlns:a16="http://schemas.microsoft.com/office/drawing/2014/main" id="{9B12A84D-7A31-4589-93A0-DA9DDFE134D5}"/>
              </a:ext>
            </a:extLst>
          </p:cNvPr>
          <p:cNvSpPr/>
          <p:nvPr/>
        </p:nvSpPr>
        <p:spPr bwMode="auto">
          <a:xfrm>
            <a:off x="7092280" y="4059238"/>
            <a:ext cx="511846" cy="395287"/>
          </a:xfrm>
          <a:prstGeom prst="ellipse">
            <a:avLst/>
          </a:prstGeom>
          <a:no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sp>
        <p:nvSpPr>
          <p:cNvPr id="35" name="Elipse 34">
            <a:extLst>
              <a:ext uri="{FF2B5EF4-FFF2-40B4-BE49-F238E27FC236}">
                <a16:creationId xmlns:a16="http://schemas.microsoft.com/office/drawing/2014/main" id="{29E6E035-A08C-4755-894C-7A75C0F3E290}"/>
              </a:ext>
            </a:extLst>
          </p:cNvPr>
          <p:cNvSpPr/>
          <p:nvPr/>
        </p:nvSpPr>
        <p:spPr bwMode="auto">
          <a:xfrm>
            <a:off x="4427538" y="2604293"/>
            <a:ext cx="511846" cy="395287"/>
          </a:xfrm>
          <a:prstGeom prst="ellipse">
            <a:avLst/>
          </a:prstGeom>
          <a:noFill/>
          <a:ln w="28575" cap="flat" cmpd="sng" algn="ctr">
            <a:solidFill>
              <a:srgbClr val="FF66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s-AR" sz="1400" b="0" i="0" u="none" strike="noStrike" cap="none" normalizeH="0" baseline="0">
              <a:ln>
                <a:noFill/>
              </a:ln>
              <a:solidFill>
                <a:schemeClr val="folHlink"/>
              </a:solidFill>
              <a:effectLst/>
              <a:latin typeface="Tahoma" pitchFamily="34"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1" presetClass="entr" presetSubtype="0" fill="hold" nodeType="clickEffect">
                                  <p:stCondLst>
                                    <p:cond delay="0"/>
                                  </p:stCondLst>
                                  <p:iterate type="lt">
                                    <p:tmPct val="5000"/>
                                  </p:iterate>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style.rotation</p:attrName>
                                        </p:attrNameLst>
                                      </p:cBhvr>
                                      <p:tavLst>
                                        <p:tav tm="0">
                                          <p:val>
                                            <p:fltVal val="90"/>
                                          </p:val>
                                        </p:tav>
                                        <p:tav tm="100000">
                                          <p:val>
                                            <p:fltVal val="0"/>
                                          </p:val>
                                        </p:tav>
                                      </p:tavLst>
                                    </p:anim>
                                    <p:animEffect transition="in" filter="fade">
                                      <p:cBhvr>
                                        <p:cTn id="15" dur="10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1" presetClass="entr" presetSubtype="0" fill="hold" grpId="0" nodeType="clickEffect">
                                  <p:stCondLst>
                                    <p:cond delay="0"/>
                                  </p:stCondLst>
                                  <p:iterate type="lt">
                                    <p:tmPct val="5000"/>
                                  </p:iterate>
                                  <p:childTnLst>
                                    <p:set>
                                      <p:cBhvr>
                                        <p:cTn id="19" dur="1" fill="hold">
                                          <p:stCondLst>
                                            <p:cond delay="0"/>
                                          </p:stCondLst>
                                        </p:cTn>
                                        <p:tgtEl>
                                          <p:spTgt spid="79951"/>
                                        </p:tgtEl>
                                        <p:attrNameLst>
                                          <p:attrName>style.visibility</p:attrName>
                                        </p:attrNameLst>
                                      </p:cBhvr>
                                      <p:to>
                                        <p:strVal val="visible"/>
                                      </p:to>
                                    </p:set>
                                    <p:anim calcmode="lin" valueType="num">
                                      <p:cBhvr>
                                        <p:cTn id="20" dur="1000" fill="hold"/>
                                        <p:tgtEl>
                                          <p:spTgt spid="79951"/>
                                        </p:tgtEl>
                                        <p:attrNameLst>
                                          <p:attrName>ppt_w</p:attrName>
                                        </p:attrNameLst>
                                      </p:cBhvr>
                                      <p:tavLst>
                                        <p:tav tm="0">
                                          <p:val>
                                            <p:fltVal val="0"/>
                                          </p:val>
                                        </p:tav>
                                        <p:tav tm="100000">
                                          <p:val>
                                            <p:strVal val="#ppt_w"/>
                                          </p:val>
                                        </p:tav>
                                      </p:tavLst>
                                    </p:anim>
                                    <p:anim calcmode="lin" valueType="num">
                                      <p:cBhvr>
                                        <p:cTn id="21" dur="1000" fill="hold"/>
                                        <p:tgtEl>
                                          <p:spTgt spid="79951"/>
                                        </p:tgtEl>
                                        <p:attrNameLst>
                                          <p:attrName>ppt_h</p:attrName>
                                        </p:attrNameLst>
                                      </p:cBhvr>
                                      <p:tavLst>
                                        <p:tav tm="0">
                                          <p:val>
                                            <p:fltVal val="0"/>
                                          </p:val>
                                        </p:tav>
                                        <p:tav tm="100000">
                                          <p:val>
                                            <p:strVal val="#ppt_h"/>
                                          </p:val>
                                        </p:tav>
                                      </p:tavLst>
                                    </p:anim>
                                    <p:anim calcmode="lin" valueType="num">
                                      <p:cBhvr>
                                        <p:cTn id="22" dur="1000" fill="hold"/>
                                        <p:tgtEl>
                                          <p:spTgt spid="79951"/>
                                        </p:tgtEl>
                                        <p:attrNameLst>
                                          <p:attrName>style.rotation</p:attrName>
                                        </p:attrNameLst>
                                      </p:cBhvr>
                                      <p:tavLst>
                                        <p:tav tm="0">
                                          <p:val>
                                            <p:fltVal val="90"/>
                                          </p:val>
                                        </p:tav>
                                        <p:tav tm="100000">
                                          <p:val>
                                            <p:fltVal val="0"/>
                                          </p:val>
                                        </p:tav>
                                      </p:tavLst>
                                    </p:anim>
                                    <p:animEffect transition="in" filter="fade">
                                      <p:cBhvr>
                                        <p:cTn id="23" dur="1000"/>
                                        <p:tgtEl>
                                          <p:spTgt spid="79951"/>
                                        </p:tgtEl>
                                      </p:cBhvr>
                                    </p:animEffect>
                                  </p:childTnLst>
                                </p:cTn>
                              </p:par>
                            </p:childTnLst>
                          </p:cTn>
                        </p:par>
                        <p:par>
                          <p:cTn id="24" fill="hold" nodeType="afterGroup">
                            <p:stCondLst>
                              <p:cond delay="2500"/>
                            </p:stCondLst>
                            <p:childTnLst>
                              <p:par>
                                <p:cTn id="25" presetID="31" presetClass="entr" presetSubtype="0" fill="hold" grpId="0" nodeType="afterEffect">
                                  <p:stCondLst>
                                    <p:cond delay="0"/>
                                  </p:stCondLst>
                                  <p:iterate type="lt">
                                    <p:tmPct val="5000"/>
                                  </p:iterate>
                                  <p:childTnLst>
                                    <p:set>
                                      <p:cBhvr>
                                        <p:cTn id="26" dur="1" fill="hold">
                                          <p:stCondLst>
                                            <p:cond delay="0"/>
                                          </p:stCondLst>
                                        </p:cTn>
                                        <p:tgtEl>
                                          <p:spTgt spid="79956"/>
                                        </p:tgtEl>
                                        <p:attrNameLst>
                                          <p:attrName>style.visibility</p:attrName>
                                        </p:attrNameLst>
                                      </p:cBhvr>
                                      <p:to>
                                        <p:strVal val="visible"/>
                                      </p:to>
                                    </p:set>
                                    <p:anim calcmode="lin" valueType="num">
                                      <p:cBhvr>
                                        <p:cTn id="27" dur="1000" fill="hold"/>
                                        <p:tgtEl>
                                          <p:spTgt spid="79956"/>
                                        </p:tgtEl>
                                        <p:attrNameLst>
                                          <p:attrName>ppt_w</p:attrName>
                                        </p:attrNameLst>
                                      </p:cBhvr>
                                      <p:tavLst>
                                        <p:tav tm="0">
                                          <p:val>
                                            <p:fltVal val="0"/>
                                          </p:val>
                                        </p:tav>
                                        <p:tav tm="100000">
                                          <p:val>
                                            <p:strVal val="#ppt_w"/>
                                          </p:val>
                                        </p:tav>
                                      </p:tavLst>
                                    </p:anim>
                                    <p:anim calcmode="lin" valueType="num">
                                      <p:cBhvr>
                                        <p:cTn id="28" dur="1000" fill="hold"/>
                                        <p:tgtEl>
                                          <p:spTgt spid="79956"/>
                                        </p:tgtEl>
                                        <p:attrNameLst>
                                          <p:attrName>ppt_h</p:attrName>
                                        </p:attrNameLst>
                                      </p:cBhvr>
                                      <p:tavLst>
                                        <p:tav tm="0">
                                          <p:val>
                                            <p:fltVal val="0"/>
                                          </p:val>
                                        </p:tav>
                                        <p:tav tm="100000">
                                          <p:val>
                                            <p:strVal val="#ppt_h"/>
                                          </p:val>
                                        </p:tav>
                                      </p:tavLst>
                                    </p:anim>
                                    <p:anim calcmode="lin" valueType="num">
                                      <p:cBhvr>
                                        <p:cTn id="29" dur="1000" fill="hold"/>
                                        <p:tgtEl>
                                          <p:spTgt spid="79956"/>
                                        </p:tgtEl>
                                        <p:attrNameLst>
                                          <p:attrName>style.rotation</p:attrName>
                                        </p:attrNameLst>
                                      </p:cBhvr>
                                      <p:tavLst>
                                        <p:tav tm="0">
                                          <p:val>
                                            <p:fltVal val="90"/>
                                          </p:val>
                                        </p:tav>
                                        <p:tav tm="100000">
                                          <p:val>
                                            <p:fltVal val="0"/>
                                          </p:val>
                                        </p:tav>
                                      </p:tavLst>
                                    </p:anim>
                                    <p:animEffect transition="in" filter="fade">
                                      <p:cBhvr>
                                        <p:cTn id="30" dur="1000"/>
                                        <p:tgtEl>
                                          <p:spTgt spid="79956"/>
                                        </p:tgtEl>
                                      </p:cBhvr>
                                    </p:animEffect>
                                  </p:childTnLst>
                                </p:cTn>
                              </p:par>
                              <p:par>
                                <p:cTn id="31" presetID="31" presetClass="entr" presetSubtype="0" fill="hold" grpId="0" nodeType="withEffect">
                                  <p:stCondLst>
                                    <p:cond delay="0"/>
                                  </p:stCondLst>
                                  <p:iterate type="lt">
                                    <p:tmPct val="5000"/>
                                  </p:iterate>
                                  <p:childTnLst>
                                    <p:set>
                                      <p:cBhvr>
                                        <p:cTn id="32" dur="1" fill="hold">
                                          <p:stCondLst>
                                            <p:cond delay="0"/>
                                          </p:stCondLst>
                                        </p:cTn>
                                        <p:tgtEl>
                                          <p:spTgt spid="79957"/>
                                        </p:tgtEl>
                                        <p:attrNameLst>
                                          <p:attrName>style.visibility</p:attrName>
                                        </p:attrNameLst>
                                      </p:cBhvr>
                                      <p:to>
                                        <p:strVal val="visible"/>
                                      </p:to>
                                    </p:set>
                                    <p:anim calcmode="lin" valueType="num">
                                      <p:cBhvr>
                                        <p:cTn id="33" dur="1000" fill="hold"/>
                                        <p:tgtEl>
                                          <p:spTgt spid="79957"/>
                                        </p:tgtEl>
                                        <p:attrNameLst>
                                          <p:attrName>ppt_w</p:attrName>
                                        </p:attrNameLst>
                                      </p:cBhvr>
                                      <p:tavLst>
                                        <p:tav tm="0">
                                          <p:val>
                                            <p:fltVal val="0"/>
                                          </p:val>
                                        </p:tav>
                                        <p:tav tm="100000">
                                          <p:val>
                                            <p:strVal val="#ppt_w"/>
                                          </p:val>
                                        </p:tav>
                                      </p:tavLst>
                                    </p:anim>
                                    <p:anim calcmode="lin" valueType="num">
                                      <p:cBhvr>
                                        <p:cTn id="34" dur="1000" fill="hold"/>
                                        <p:tgtEl>
                                          <p:spTgt spid="79957"/>
                                        </p:tgtEl>
                                        <p:attrNameLst>
                                          <p:attrName>ppt_h</p:attrName>
                                        </p:attrNameLst>
                                      </p:cBhvr>
                                      <p:tavLst>
                                        <p:tav tm="0">
                                          <p:val>
                                            <p:fltVal val="0"/>
                                          </p:val>
                                        </p:tav>
                                        <p:tav tm="100000">
                                          <p:val>
                                            <p:strVal val="#ppt_h"/>
                                          </p:val>
                                        </p:tav>
                                      </p:tavLst>
                                    </p:anim>
                                    <p:anim calcmode="lin" valueType="num">
                                      <p:cBhvr>
                                        <p:cTn id="35" dur="1000" fill="hold"/>
                                        <p:tgtEl>
                                          <p:spTgt spid="79957"/>
                                        </p:tgtEl>
                                        <p:attrNameLst>
                                          <p:attrName>style.rotation</p:attrName>
                                        </p:attrNameLst>
                                      </p:cBhvr>
                                      <p:tavLst>
                                        <p:tav tm="0">
                                          <p:val>
                                            <p:fltVal val="90"/>
                                          </p:val>
                                        </p:tav>
                                        <p:tav tm="100000">
                                          <p:val>
                                            <p:fltVal val="0"/>
                                          </p:val>
                                        </p:tav>
                                      </p:tavLst>
                                    </p:anim>
                                    <p:animEffect transition="in" filter="fade">
                                      <p:cBhvr>
                                        <p:cTn id="36" dur="1000"/>
                                        <p:tgtEl>
                                          <p:spTgt spid="79957"/>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5"/>
                                        </p:tgtEl>
                                        <p:attrNameLst>
                                          <p:attrName>style.visibility</p:attrName>
                                        </p:attrNameLst>
                                      </p:cBhvr>
                                      <p:to>
                                        <p:strVal val="visible"/>
                                      </p:to>
                                    </p:set>
                                    <p:animEffect transition="in" filter="wipe(down)">
                                      <p:cBhvr>
                                        <p:cTn id="41" dur="500"/>
                                        <p:tgtEl>
                                          <p:spTgt spid="5"/>
                                        </p:tgtEl>
                                      </p:cBhvr>
                                    </p:animEffect>
                                  </p:childTnLst>
                                </p:cTn>
                              </p:par>
                            </p:childTnLst>
                          </p:cTn>
                        </p:par>
                        <p:par>
                          <p:cTn id="42" fill="hold" nodeType="afterGroup">
                            <p:stCondLst>
                              <p:cond delay="500"/>
                            </p:stCondLst>
                            <p:childTnLst>
                              <p:par>
                                <p:cTn id="43" presetID="22" presetClass="entr" presetSubtype="4" fill="hold" grpId="0" nodeType="afterEffect">
                                  <p:stCondLst>
                                    <p:cond delay="0"/>
                                  </p:stCondLst>
                                  <p:childTnLst>
                                    <p:set>
                                      <p:cBhvr>
                                        <p:cTn id="44" dur="1" fill="hold">
                                          <p:stCondLst>
                                            <p:cond delay="0"/>
                                          </p:stCondLst>
                                        </p:cTn>
                                        <p:tgtEl>
                                          <p:spTgt spid="79958"/>
                                        </p:tgtEl>
                                        <p:attrNameLst>
                                          <p:attrName>style.visibility</p:attrName>
                                        </p:attrNameLst>
                                      </p:cBhvr>
                                      <p:to>
                                        <p:strVal val="visible"/>
                                      </p:to>
                                    </p:set>
                                    <p:animEffect transition="in" filter="wipe(down)">
                                      <p:cBhvr>
                                        <p:cTn id="45" dur="500"/>
                                        <p:tgtEl>
                                          <p:spTgt spid="7995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4"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down)">
                                      <p:cBhvr>
                                        <p:cTn id="50" dur="500"/>
                                        <p:tgtEl>
                                          <p:spTgt spid="6"/>
                                        </p:tgtEl>
                                      </p:cBhvr>
                                    </p:animEffect>
                                  </p:childTnLst>
                                </p:cTn>
                              </p:par>
                              <p:par>
                                <p:cTn id="51" presetID="14" presetClass="exit" presetSubtype="10" fill="hold" grpId="1" nodeType="withEffect">
                                  <p:stCondLst>
                                    <p:cond delay="0"/>
                                  </p:stCondLst>
                                  <p:childTnLst>
                                    <p:animEffect transition="out" filter="randombar(horizontal)">
                                      <p:cBhvr>
                                        <p:cTn id="52" dur="500"/>
                                        <p:tgtEl>
                                          <p:spTgt spid="79958"/>
                                        </p:tgtEl>
                                      </p:cBhvr>
                                    </p:animEffect>
                                    <p:set>
                                      <p:cBhvr>
                                        <p:cTn id="53" dur="1" fill="hold">
                                          <p:stCondLst>
                                            <p:cond delay="499"/>
                                          </p:stCondLst>
                                        </p:cTn>
                                        <p:tgtEl>
                                          <p:spTgt spid="79958"/>
                                        </p:tgtEl>
                                        <p:attrNameLst>
                                          <p:attrName>style.visibility</p:attrName>
                                        </p:attrNameLst>
                                      </p:cBhvr>
                                      <p:to>
                                        <p:strVal val="hidden"/>
                                      </p:to>
                                    </p:se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79961"/>
                                        </p:tgtEl>
                                        <p:attrNameLst>
                                          <p:attrName>style.visibility</p:attrName>
                                        </p:attrNameLst>
                                      </p:cBhvr>
                                      <p:to>
                                        <p:strVal val="visible"/>
                                      </p:to>
                                    </p:set>
                                    <p:animEffect transition="in" filter="wipe(down)">
                                      <p:cBhvr>
                                        <p:cTn id="58" dur="500"/>
                                        <p:tgtEl>
                                          <p:spTgt spid="79961"/>
                                        </p:tgtEl>
                                      </p:cBhvr>
                                    </p:animEffect>
                                  </p:childTnLst>
                                </p:cTn>
                              </p:par>
                            </p:childTnLst>
                          </p:cTn>
                        </p:par>
                        <p:par>
                          <p:cTn id="59" fill="hold" nodeType="afterGroup">
                            <p:stCondLst>
                              <p:cond delay="500"/>
                            </p:stCondLst>
                            <p:childTnLst>
                              <p:par>
                                <p:cTn id="60" presetID="1" presetClass="entr" presetSubtype="0" fill="hold" grpId="0" nodeType="afterEffect">
                                  <p:stCondLst>
                                    <p:cond delay="0"/>
                                  </p:stCondLst>
                                  <p:childTnLst>
                                    <p:set>
                                      <p:cBhvr>
                                        <p:cTn id="61" dur="1" fill="hold">
                                          <p:stCondLst>
                                            <p:cond delay="0"/>
                                          </p:stCondLst>
                                        </p:cTn>
                                        <p:tgtEl>
                                          <p:spTgt spid="50"/>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49"/>
                                        </p:tgtEl>
                                        <p:attrNameLst>
                                          <p:attrName>style.visibility</p:attrName>
                                        </p:attrNameLst>
                                      </p:cBhvr>
                                      <p:to>
                                        <p:strVal val="visible"/>
                                      </p:to>
                                    </p:set>
                                  </p:childTnLst>
                                </p:cTn>
                              </p:par>
                              <p:par>
                                <p:cTn id="64" presetID="1"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childTnLst>
                                </p:cTn>
                              </p:par>
                              <p:par>
                                <p:cTn id="66" presetID="1" presetClass="entr" presetSubtype="0" fill="hold" grpId="0" nodeType="withEffect">
                                  <p:stCondLst>
                                    <p:cond delay="0"/>
                                  </p:stCondLst>
                                  <p:childTnLst>
                                    <p:set>
                                      <p:cBhvr>
                                        <p:cTn id="6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951" grpId="0"/>
      <p:bldP spid="79956" grpId="0" animBg="1"/>
      <p:bldP spid="79957" grpId="0"/>
      <p:bldP spid="79958" grpId="0" animBg="1"/>
      <p:bldP spid="79958" grpId="1" animBg="1"/>
      <p:bldP spid="79961" grpId="0"/>
      <p:bldP spid="50" grpId="0"/>
      <p:bldP spid="3"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0FFCD565-A135-48F7-A5D8-D6D7A1A0EA6B}"/>
              </a:ext>
            </a:extLst>
          </p:cNvPr>
          <p:cNvSpPr>
            <a:spLocks noGrp="1" noChangeArrowheads="1"/>
          </p:cNvSpPr>
          <p:nvPr>
            <p:ph type="title"/>
          </p:nvPr>
        </p:nvSpPr>
        <p:spPr>
          <a:xfrm>
            <a:off x="469340" y="46444"/>
            <a:ext cx="8353425" cy="1143000"/>
          </a:xfrm>
        </p:spPr>
        <p:txBody>
          <a:bodyPr/>
          <a:lstStyle/>
          <a:p>
            <a:pPr algn="ctr" eaLnBrk="1" hangingPunct="1"/>
            <a:r>
              <a:rPr lang="es-AR" altLang="es-ES" sz="4000"/>
              <a:t>Relación</a:t>
            </a:r>
          </a:p>
        </p:txBody>
      </p:sp>
      <p:sp>
        <p:nvSpPr>
          <p:cNvPr id="19459" name="Text Box 3">
            <a:extLst>
              <a:ext uri="{FF2B5EF4-FFF2-40B4-BE49-F238E27FC236}">
                <a16:creationId xmlns:a16="http://schemas.microsoft.com/office/drawing/2014/main" id="{C70B9B77-D4B7-44E4-9322-8E0D2485D592}"/>
              </a:ext>
            </a:extLst>
          </p:cNvPr>
          <p:cNvSpPr txBox="1">
            <a:spLocks noChangeArrowheads="1"/>
          </p:cNvSpPr>
          <p:nvPr/>
        </p:nvSpPr>
        <p:spPr bwMode="auto">
          <a:xfrm>
            <a:off x="517525" y="2339975"/>
            <a:ext cx="860425"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Grado</a:t>
            </a:r>
          </a:p>
        </p:txBody>
      </p:sp>
      <p:sp>
        <p:nvSpPr>
          <p:cNvPr id="19460" name="Text Box 30">
            <a:extLst>
              <a:ext uri="{FF2B5EF4-FFF2-40B4-BE49-F238E27FC236}">
                <a16:creationId xmlns:a16="http://schemas.microsoft.com/office/drawing/2014/main" id="{086BE260-A295-4680-AA44-9AE3FE0C2EAA}"/>
              </a:ext>
            </a:extLst>
          </p:cNvPr>
          <p:cNvSpPr txBox="1">
            <a:spLocks noChangeArrowheads="1"/>
          </p:cNvSpPr>
          <p:nvPr/>
        </p:nvSpPr>
        <p:spPr bwMode="auto">
          <a:xfrm>
            <a:off x="525463" y="3365500"/>
            <a:ext cx="1579562"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Cardinalidad</a:t>
            </a:r>
          </a:p>
        </p:txBody>
      </p:sp>
      <p:sp>
        <p:nvSpPr>
          <p:cNvPr id="19461" name="Text Box 32">
            <a:extLst>
              <a:ext uri="{FF2B5EF4-FFF2-40B4-BE49-F238E27FC236}">
                <a16:creationId xmlns:a16="http://schemas.microsoft.com/office/drawing/2014/main" id="{D0B5921D-55CD-4E81-AA4F-72AB492883ED}"/>
              </a:ext>
            </a:extLst>
          </p:cNvPr>
          <p:cNvSpPr txBox="1">
            <a:spLocks noChangeArrowheads="1"/>
          </p:cNvSpPr>
          <p:nvPr/>
        </p:nvSpPr>
        <p:spPr bwMode="auto">
          <a:xfrm>
            <a:off x="525463" y="4524375"/>
            <a:ext cx="1644650"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Dependencia</a:t>
            </a:r>
          </a:p>
        </p:txBody>
      </p:sp>
      <p:sp>
        <p:nvSpPr>
          <p:cNvPr id="7177" name="Rectangle 34">
            <a:extLst>
              <a:ext uri="{FF2B5EF4-FFF2-40B4-BE49-F238E27FC236}">
                <a16:creationId xmlns:a16="http://schemas.microsoft.com/office/drawing/2014/main" id="{50F9853A-6521-4C9A-A56A-0CD3174D42B5}"/>
              </a:ext>
            </a:extLst>
          </p:cNvPr>
          <p:cNvSpPr>
            <a:spLocks noChangeArrowheads="1"/>
          </p:cNvSpPr>
          <p:nvPr/>
        </p:nvSpPr>
        <p:spPr bwMode="auto">
          <a:xfrm>
            <a:off x="2616200" y="4340225"/>
            <a:ext cx="641985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285750" indent="-285750" eaLnBrk="1" hangingPunct="1">
              <a:spcBef>
                <a:spcPct val="0"/>
              </a:spcBef>
              <a:buClrTx/>
              <a:buSzTx/>
              <a:defRPr/>
            </a:pPr>
            <a:r>
              <a:rPr lang="es-ES" altLang="es-ES" sz="1600" b="1"/>
              <a:t>Identidad</a:t>
            </a:r>
            <a:r>
              <a:rPr lang="es-ES" altLang="es-ES" sz="1600"/>
              <a:t>: Entidad fuerte y débil </a:t>
            </a:r>
          </a:p>
          <a:p>
            <a:pPr marL="285750" indent="-285750" eaLnBrk="1" hangingPunct="1">
              <a:spcBef>
                <a:spcPct val="0"/>
              </a:spcBef>
              <a:buClrTx/>
              <a:buSzTx/>
              <a:defRPr/>
            </a:pPr>
            <a:r>
              <a:rPr lang="es-ES" altLang="es-ES" sz="1600" b="1"/>
              <a:t>No identidad</a:t>
            </a:r>
            <a:r>
              <a:rPr lang="es-ES" altLang="es-ES" sz="1600"/>
              <a:t>: Entidades fuertes.</a:t>
            </a:r>
          </a:p>
          <a:p>
            <a:pPr marL="285750" indent="-285750" eaLnBrk="1" hangingPunct="1">
              <a:spcBef>
                <a:spcPct val="0"/>
              </a:spcBef>
              <a:buClrTx/>
              <a:buSzTx/>
              <a:defRPr/>
            </a:pPr>
            <a:r>
              <a:rPr lang="es-ES" altLang="es-ES" sz="1600" b="1"/>
              <a:t>Generalización/especialización</a:t>
            </a:r>
            <a:r>
              <a:rPr lang="es-ES" altLang="es-ES" sz="1600"/>
              <a:t>: Entidades </a:t>
            </a:r>
            <a:r>
              <a:rPr lang="es-ES" altLang="es-ES" sz="1600" err="1"/>
              <a:t>Supertipo</a:t>
            </a:r>
            <a:r>
              <a:rPr lang="es-ES" altLang="es-ES" sz="1600"/>
              <a:t> y subtipos. Solapada o Disjunta. </a:t>
            </a:r>
          </a:p>
        </p:txBody>
      </p:sp>
      <p:sp>
        <p:nvSpPr>
          <p:cNvPr id="7179" name="Text Box 36">
            <a:extLst>
              <a:ext uri="{FF2B5EF4-FFF2-40B4-BE49-F238E27FC236}">
                <a16:creationId xmlns:a16="http://schemas.microsoft.com/office/drawing/2014/main" id="{2D639E0B-737A-4662-99A9-149790E8FAE6}"/>
              </a:ext>
            </a:extLst>
          </p:cNvPr>
          <p:cNvSpPr txBox="1">
            <a:spLocks noChangeArrowheads="1"/>
          </p:cNvSpPr>
          <p:nvPr/>
        </p:nvSpPr>
        <p:spPr bwMode="auto">
          <a:xfrm>
            <a:off x="735013" y="4976813"/>
            <a:ext cx="1309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ES" altLang="es-ES" sz="1400"/>
              <a:t>Integridad referencial (6)</a:t>
            </a:r>
          </a:p>
        </p:txBody>
      </p:sp>
      <p:grpSp>
        <p:nvGrpSpPr>
          <p:cNvPr id="10" name="9 Grupo">
            <a:extLst>
              <a:ext uri="{FF2B5EF4-FFF2-40B4-BE49-F238E27FC236}">
                <a16:creationId xmlns:a16="http://schemas.microsoft.com/office/drawing/2014/main" id="{069BE31D-E2D3-4996-8395-AB625769AA78}"/>
              </a:ext>
            </a:extLst>
          </p:cNvPr>
          <p:cNvGrpSpPr>
            <a:grpSpLocks/>
          </p:cNvGrpSpPr>
          <p:nvPr/>
        </p:nvGrpSpPr>
        <p:grpSpPr bwMode="auto">
          <a:xfrm>
            <a:off x="1547813" y="1989138"/>
            <a:ext cx="3375025" cy="922337"/>
            <a:chOff x="1547664" y="1484784"/>
            <a:chExt cx="3374655" cy="923330"/>
          </a:xfrm>
        </p:grpSpPr>
        <p:sp>
          <p:nvSpPr>
            <p:cNvPr id="19482" name="Rectangle 29">
              <a:extLst>
                <a:ext uri="{FF2B5EF4-FFF2-40B4-BE49-F238E27FC236}">
                  <a16:creationId xmlns:a16="http://schemas.microsoft.com/office/drawing/2014/main" id="{8F7AC9CE-E5CE-4AFC-835E-D8D300B95EF0}"/>
                </a:ext>
              </a:extLst>
            </p:cNvPr>
            <p:cNvSpPr>
              <a:spLocks noChangeArrowheads="1"/>
            </p:cNvSpPr>
            <p:nvPr/>
          </p:nvSpPr>
          <p:spPr bwMode="auto">
            <a:xfrm>
              <a:off x="2887788" y="1484784"/>
              <a:ext cx="2034531"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800"/>
                <a:t>1 = recursiva</a:t>
              </a:r>
            </a:p>
            <a:p>
              <a:pPr eaLnBrk="1" hangingPunct="1">
                <a:spcBef>
                  <a:spcPct val="0"/>
                </a:spcBef>
                <a:buClrTx/>
                <a:buSzTx/>
                <a:buFontTx/>
                <a:buNone/>
              </a:pPr>
              <a:r>
                <a:rPr lang="es-ES" altLang="es-ES" sz="1800"/>
                <a:t>2 = dos entidades</a:t>
              </a:r>
            </a:p>
            <a:p>
              <a:pPr eaLnBrk="1" hangingPunct="1">
                <a:spcBef>
                  <a:spcPct val="0"/>
                </a:spcBef>
                <a:buClrTx/>
                <a:buSzTx/>
                <a:buFontTx/>
                <a:buNone/>
              </a:pPr>
              <a:r>
                <a:rPr lang="es-ES" altLang="es-ES" sz="1800"/>
                <a:t>N = n entidades</a:t>
              </a:r>
            </a:p>
          </p:txBody>
        </p:sp>
        <p:cxnSp>
          <p:nvCxnSpPr>
            <p:cNvPr id="19483" name="3 Conector recto de flecha">
              <a:extLst>
                <a:ext uri="{FF2B5EF4-FFF2-40B4-BE49-F238E27FC236}">
                  <a16:creationId xmlns:a16="http://schemas.microsoft.com/office/drawing/2014/main" id="{24002757-51A8-4B41-8FE8-DD9A904DF27D}"/>
                </a:ext>
              </a:extLst>
            </p:cNvPr>
            <p:cNvCxnSpPr>
              <a:cxnSpLocks noChangeShapeType="1"/>
            </p:cNvCxnSpPr>
            <p:nvPr/>
          </p:nvCxnSpPr>
          <p:spPr bwMode="auto">
            <a:xfrm flipV="1">
              <a:off x="1547664" y="1700808"/>
              <a:ext cx="1340124" cy="33439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84" name="16 Conector recto de flecha">
              <a:extLst>
                <a:ext uri="{FF2B5EF4-FFF2-40B4-BE49-F238E27FC236}">
                  <a16:creationId xmlns:a16="http://schemas.microsoft.com/office/drawing/2014/main" id="{649F921B-47DA-4FE4-A17D-21C70689495A}"/>
                </a:ext>
              </a:extLst>
            </p:cNvPr>
            <p:cNvCxnSpPr>
              <a:cxnSpLocks noChangeShapeType="1"/>
              <a:endCxn id="19482" idx="1"/>
            </p:cNvCxnSpPr>
            <p:nvPr/>
          </p:nvCxnSpPr>
          <p:spPr bwMode="auto">
            <a:xfrm flipV="1">
              <a:off x="1547664" y="1946449"/>
              <a:ext cx="1340124" cy="88756"/>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85" name="19 Conector recto de flecha">
              <a:extLst>
                <a:ext uri="{FF2B5EF4-FFF2-40B4-BE49-F238E27FC236}">
                  <a16:creationId xmlns:a16="http://schemas.microsoft.com/office/drawing/2014/main" id="{E473F0B3-F52F-4733-8D5C-A046F0643DCB}"/>
                </a:ext>
              </a:extLst>
            </p:cNvPr>
            <p:cNvCxnSpPr>
              <a:cxnSpLocks noChangeShapeType="1"/>
            </p:cNvCxnSpPr>
            <p:nvPr/>
          </p:nvCxnSpPr>
          <p:spPr bwMode="auto">
            <a:xfrm>
              <a:off x="1547664" y="2035205"/>
              <a:ext cx="1340124" cy="20005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15" name="14 Grupo">
            <a:extLst>
              <a:ext uri="{FF2B5EF4-FFF2-40B4-BE49-F238E27FC236}">
                <a16:creationId xmlns:a16="http://schemas.microsoft.com/office/drawing/2014/main" id="{40F78817-730B-44AA-A5B1-1BE201D0B4FC}"/>
              </a:ext>
            </a:extLst>
          </p:cNvPr>
          <p:cNvGrpSpPr>
            <a:grpSpLocks/>
          </p:cNvGrpSpPr>
          <p:nvPr/>
        </p:nvGrpSpPr>
        <p:grpSpPr bwMode="auto">
          <a:xfrm>
            <a:off x="2195513" y="3357563"/>
            <a:ext cx="5884862" cy="646112"/>
            <a:chOff x="2195736" y="2688084"/>
            <a:chExt cx="5885090" cy="646331"/>
          </a:xfrm>
        </p:grpSpPr>
        <p:sp>
          <p:nvSpPr>
            <p:cNvPr id="19478" name="Rectangle 31">
              <a:extLst>
                <a:ext uri="{FF2B5EF4-FFF2-40B4-BE49-F238E27FC236}">
                  <a16:creationId xmlns:a16="http://schemas.microsoft.com/office/drawing/2014/main" id="{C3EC2031-1697-4F2F-AA05-5D8A422699EE}"/>
                </a:ext>
              </a:extLst>
            </p:cNvPr>
            <p:cNvSpPr>
              <a:spLocks noChangeArrowheads="1"/>
            </p:cNvSpPr>
            <p:nvPr/>
          </p:nvSpPr>
          <p:spPr bwMode="auto">
            <a:xfrm>
              <a:off x="3275856" y="2688084"/>
              <a:ext cx="480497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800">
                  <a:solidFill>
                    <a:schemeClr val="tx2"/>
                  </a:solidFill>
                </a:rPr>
                <a:t>máximos</a:t>
              </a:r>
              <a:r>
                <a:rPr lang="es-ES" altLang="es-ES" sz="1800"/>
                <a:t> (límites): 1 </a:t>
              </a:r>
              <a:r>
                <a:rPr lang="es-ES" altLang="es-ES" sz="1800" err="1"/>
                <a:t>ó</a:t>
              </a:r>
              <a:r>
                <a:rPr lang="es-ES" altLang="es-ES" sz="1800"/>
                <a:t> m (1-1, 1-m, m-m)</a:t>
              </a:r>
            </a:p>
            <a:p>
              <a:pPr eaLnBrk="1" hangingPunct="1">
                <a:spcBef>
                  <a:spcPct val="0"/>
                </a:spcBef>
                <a:buClrTx/>
                <a:buSzTx/>
                <a:buFontTx/>
                <a:buNone/>
              </a:pPr>
              <a:r>
                <a:rPr lang="es-ES" altLang="es-ES" sz="1800">
                  <a:solidFill>
                    <a:srgbClr val="0000FF"/>
                  </a:solidFill>
                </a:rPr>
                <a:t>mínimos </a:t>
              </a:r>
              <a:r>
                <a:rPr lang="es-ES" altLang="es-ES" sz="1800"/>
                <a:t>(participación total o parcial): 0 </a:t>
              </a:r>
              <a:r>
                <a:rPr lang="es-ES" altLang="es-ES" sz="1800" err="1"/>
                <a:t>ó</a:t>
              </a:r>
              <a:r>
                <a:rPr lang="es-ES" altLang="es-ES" sz="1800"/>
                <a:t> 1.</a:t>
              </a:r>
            </a:p>
          </p:txBody>
        </p:sp>
        <p:sp>
          <p:nvSpPr>
            <p:cNvPr id="19479" name="1 Rectángulo">
              <a:extLst>
                <a:ext uri="{FF2B5EF4-FFF2-40B4-BE49-F238E27FC236}">
                  <a16:creationId xmlns:a16="http://schemas.microsoft.com/office/drawing/2014/main" id="{D6305E34-11D5-467C-AC9F-BF01126C4E53}"/>
                </a:ext>
              </a:extLst>
            </p:cNvPr>
            <p:cNvSpPr>
              <a:spLocks noChangeArrowheads="1"/>
            </p:cNvSpPr>
            <p:nvPr/>
          </p:nvSpPr>
          <p:spPr bwMode="auto">
            <a:xfrm>
              <a:off x="2195736" y="2742758"/>
              <a:ext cx="42030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t>(5)</a:t>
              </a:r>
              <a:endParaRPr lang="es-AR" altLang="es-AR" sz="1400"/>
            </a:p>
          </p:txBody>
        </p:sp>
        <p:cxnSp>
          <p:nvCxnSpPr>
            <p:cNvPr id="19480" name="11 Conector recto de flecha">
              <a:extLst>
                <a:ext uri="{FF2B5EF4-FFF2-40B4-BE49-F238E27FC236}">
                  <a16:creationId xmlns:a16="http://schemas.microsoft.com/office/drawing/2014/main" id="{65B0BACB-B857-4AC3-8898-5885DA071590}"/>
                </a:ext>
              </a:extLst>
            </p:cNvPr>
            <p:cNvCxnSpPr>
              <a:cxnSpLocks noChangeShapeType="1"/>
              <a:stCxn id="19479" idx="3"/>
            </p:cNvCxnSpPr>
            <p:nvPr/>
          </p:nvCxnSpPr>
          <p:spPr bwMode="auto">
            <a:xfrm flipV="1">
              <a:off x="2616044" y="2896646"/>
              <a:ext cx="659812" cy="1"/>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19481" name="26 Conector recto de flecha">
              <a:extLst>
                <a:ext uri="{FF2B5EF4-FFF2-40B4-BE49-F238E27FC236}">
                  <a16:creationId xmlns:a16="http://schemas.microsoft.com/office/drawing/2014/main" id="{5A0465B0-33E1-4A5E-B2BE-545155177D5F}"/>
                </a:ext>
              </a:extLst>
            </p:cNvPr>
            <p:cNvCxnSpPr>
              <a:cxnSpLocks noChangeShapeType="1"/>
              <a:stCxn id="19479" idx="3"/>
            </p:cNvCxnSpPr>
            <p:nvPr/>
          </p:nvCxnSpPr>
          <p:spPr bwMode="auto">
            <a:xfrm>
              <a:off x="2616044" y="2896647"/>
              <a:ext cx="659812" cy="200055"/>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grpSp>
        <p:nvGrpSpPr>
          <p:cNvPr id="26" name="25 Grupo">
            <a:extLst>
              <a:ext uri="{FF2B5EF4-FFF2-40B4-BE49-F238E27FC236}">
                <a16:creationId xmlns:a16="http://schemas.microsoft.com/office/drawing/2014/main" id="{2DD820C4-80AA-4506-A1E2-8F77E499DE3B}"/>
              </a:ext>
            </a:extLst>
          </p:cNvPr>
          <p:cNvGrpSpPr>
            <a:grpSpLocks/>
          </p:cNvGrpSpPr>
          <p:nvPr/>
        </p:nvGrpSpPr>
        <p:grpSpPr bwMode="auto">
          <a:xfrm>
            <a:off x="5003800" y="1412875"/>
            <a:ext cx="4140200" cy="1427163"/>
            <a:chOff x="5004048" y="980728"/>
            <a:chExt cx="4139952" cy="1427386"/>
          </a:xfrm>
        </p:grpSpPr>
        <p:sp>
          <p:nvSpPr>
            <p:cNvPr id="19473" name="15 Rectángulo">
              <a:extLst>
                <a:ext uri="{FF2B5EF4-FFF2-40B4-BE49-F238E27FC236}">
                  <a16:creationId xmlns:a16="http://schemas.microsoft.com/office/drawing/2014/main" id="{B1C271F2-D068-48B2-AC79-C78E5043ACCA}"/>
                </a:ext>
              </a:extLst>
            </p:cNvPr>
            <p:cNvSpPr>
              <a:spLocks noChangeArrowheads="1"/>
            </p:cNvSpPr>
            <p:nvPr/>
          </p:nvSpPr>
          <p:spPr bwMode="auto">
            <a:xfrm>
              <a:off x="5836331" y="1124745"/>
              <a:ext cx="1199367" cy="338554"/>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folHlink"/>
                  </a:solidFill>
                </a:rPr>
                <a:t>EMPLEADO</a:t>
              </a:r>
            </a:p>
          </p:txBody>
        </p:sp>
        <p:sp>
          <p:nvSpPr>
            <p:cNvPr id="19474" name="31 Rectángulo">
              <a:extLst>
                <a:ext uri="{FF2B5EF4-FFF2-40B4-BE49-F238E27FC236}">
                  <a16:creationId xmlns:a16="http://schemas.microsoft.com/office/drawing/2014/main" id="{F354FDA4-8AC0-458F-872A-CCDA359CCC6D}"/>
                </a:ext>
              </a:extLst>
            </p:cNvPr>
            <p:cNvSpPr>
              <a:spLocks noChangeArrowheads="1"/>
            </p:cNvSpPr>
            <p:nvPr/>
          </p:nvSpPr>
          <p:spPr bwMode="auto">
            <a:xfrm>
              <a:off x="7685352" y="1124744"/>
              <a:ext cx="1063112" cy="338554"/>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folHlink"/>
                  </a:solidFill>
                </a:rPr>
                <a:t>LICENCIA</a:t>
              </a:r>
            </a:p>
          </p:txBody>
        </p:sp>
        <p:cxnSp>
          <p:nvCxnSpPr>
            <p:cNvPr id="19475" name="18 Conector recto">
              <a:extLst>
                <a:ext uri="{FF2B5EF4-FFF2-40B4-BE49-F238E27FC236}">
                  <a16:creationId xmlns:a16="http://schemas.microsoft.com/office/drawing/2014/main" id="{A93A9EE2-F02D-43DF-91FC-DA37A52F9F21}"/>
                </a:ext>
              </a:extLst>
            </p:cNvPr>
            <p:cNvCxnSpPr>
              <a:cxnSpLocks noChangeShapeType="1"/>
              <a:stCxn id="19473" idx="3"/>
              <a:endCxn id="19474" idx="1"/>
            </p:cNvCxnSpPr>
            <p:nvPr/>
          </p:nvCxnSpPr>
          <p:spPr bwMode="auto">
            <a:xfrm flipV="1">
              <a:off x="7035698" y="1294021"/>
              <a:ext cx="649654" cy="1"/>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476" name="22 Conector recto">
              <a:extLst>
                <a:ext uri="{FF2B5EF4-FFF2-40B4-BE49-F238E27FC236}">
                  <a16:creationId xmlns:a16="http://schemas.microsoft.com/office/drawing/2014/main" id="{F1722D82-DF49-4E9F-9868-D9D4BD56B746}"/>
                </a:ext>
              </a:extLst>
            </p:cNvPr>
            <p:cNvCxnSpPr>
              <a:cxnSpLocks noChangeShapeType="1"/>
            </p:cNvCxnSpPr>
            <p:nvPr/>
          </p:nvCxnSpPr>
          <p:spPr bwMode="auto">
            <a:xfrm>
              <a:off x="5004048" y="980728"/>
              <a:ext cx="0" cy="142738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9477" name="24 Conector recto">
              <a:extLst>
                <a:ext uri="{FF2B5EF4-FFF2-40B4-BE49-F238E27FC236}">
                  <a16:creationId xmlns:a16="http://schemas.microsoft.com/office/drawing/2014/main" id="{0DDDA72E-E9B7-4107-8C26-920E36544656}"/>
                </a:ext>
              </a:extLst>
            </p:cNvPr>
            <p:cNvCxnSpPr>
              <a:cxnSpLocks noChangeShapeType="1"/>
            </p:cNvCxnSpPr>
            <p:nvPr/>
          </p:nvCxnSpPr>
          <p:spPr bwMode="auto">
            <a:xfrm>
              <a:off x="5004048" y="2408114"/>
              <a:ext cx="4139952"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7168" name="7167 Grupo">
            <a:extLst>
              <a:ext uri="{FF2B5EF4-FFF2-40B4-BE49-F238E27FC236}">
                <a16:creationId xmlns:a16="http://schemas.microsoft.com/office/drawing/2014/main" id="{431D35C1-D307-4DA2-9D7F-15FD54FFAF33}"/>
              </a:ext>
            </a:extLst>
          </p:cNvPr>
          <p:cNvGrpSpPr>
            <a:grpSpLocks/>
          </p:cNvGrpSpPr>
          <p:nvPr/>
        </p:nvGrpSpPr>
        <p:grpSpPr bwMode="auto">
          <a:xfrm>
            <a:off x="6435725" y="1895475"/>
            <a:ext cx="2420938" cy="723900"/>
            <a:chOff x="6436014" y="1895347"/>
            <a:chExt cx="2420666" cy="724435"/>
          </a:xfrm>
        </p:grpSpPr>
        <p:sp>
          <p:nvSpPr>
            <p:cNvPr id="19471" name="42 Rectángulo">
              <a:extLst>
                <a:ext uri="{FF2B5EF4-FFF2-40B4-BE49-F238E27FC236}">
                  <a16:creationId xmlns:a16="http://schemas.microsoft.com/office/drawing/2014/main" id="{0F89C782-4325-453B-AAE5-612ECA650469}"/>
                </a:ext>
              </a:extLst>
            </p:cNvPr>
            <p:cNvSpPr>
              <a:spLocks noChangeArrowheads="1"/>
            </p:cNvSpPr>
            <p:nvPr/>
          </p:nvSpPr>
          <p:spPr bwMode="auto">
            <a:xfrm>
              <a:off x="7099468" y="2281228"/>
              <a:ext cx="1757212" cy="338554"/>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folHlink"/>
                  </a:solidFill>
                </a:rPr>
                <a:t>HIJO_EMPLEADO</a:t>
              </a:r>
            </a:p>
          </p:txBody>
        </p:sp>
        <p:cxnSp>
          <p:nvCxnSpPr>
            <p:cNvPr id="19472" name="30 Conector angular">
              <a:extLst>
                <a:ext uri="{FF2B5EF4-FFF2-40B4-BE49-F238E27FC236}">
                  <a16:creationId xmlns:a16="http://schemas.microsoft.com/office/drawing/2014/main" id="{B5E7DBD3-F5A3-4E29-9E7C-976241229A7B}"/>
                </a:ext>
              </a:extLst>
            </p:cNvPr>
            <p:cNvCxnSpPr>
              <a:cxnSpLocks noChangeShapeType="1"/>
              <a:stCxn id="19473" idx="2"/>
              <a:endCxn id="19471" idx="1"/>
            </p:cNvCxnSpPr>
            <p:nvPr/>
          </p:nvCxnSpPr>
          <p:spPr bwMode="auto">
            <a:xfrm rot="16200000" flipH="1">
              <a:off x="6490162" y="1841199"/>
              <a:ext cx="555158" cy="663453"/>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7186" name="7185 Grupo">
            <a:extLst>
              <a:ext uri="{FF2B5EF4-FFF2-40B4-BE49-F238E27FC236}">
                <a16:creationId xmlns:a16="http://schemas.microsoft.com/office/drawing/2014/main" id="{473A7AFE-6E14-4775-A488-764D29C1074D}"/>
              </a:ext>
            </a:extLst>
          </p:cNvPr>
          <p:cNvGrpSpPr>
            <a:grpSpLocks/>
          </p:cNvGrpSpPr>
          <p:nvPr/>
        </p:nvGrpSpPr>
        <p:grpSpPr bwMode="auto">
          <a:xfrm>
            <a:off x="5148263" y="1725613"/>
            <a:ext cx="1060450" cy="1046162"/>
            <a:chOff x="5148388" y="1726070"/>
            <a:chExt cx="1059906" cy="1046450"/>
          </a:xfrm>
        </p:grpSpPr>
        <p:sp>
          <p:nvSpPr>
            <p:cNvPr id="19469" name="46 Rectángulo">
              <a:extLst>
                <a:ext uri="{FF2B5EF4-FFF2-40B4-BE49-F238E27FC236}">
                  <a16:creationId xmlns:a16="http://schemas.microsoft.com/office/drawing/2014/main" id="{8C987D2B-93E9-45F2-A5E4-54D8DCB856FF}"/>
                </a:ext>
              </a:extLst>
            </p:cNvPr>
            <p:cNvSpPr>
              <a:spLocks noChangeArrowheads="1"/>
            </p:cNvSpPr>
            <p:nvPr/>
          </p:nvSpPr>
          <p:spPr bwMode="auto">
            <a:xfrm>
              <a:off x="5148388" y="2433966"/>
              <a:ext cx="1059906" cy="338554"/>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folHlink"/>
                  </a:solidFill>
                </a:rPr>
                <a:t>PERSONA</a:t>
              </a:r>
            </a:p>
          </p:txBody>
        </p:sp>
        <p:cxnSp>
          <p:nvCxnSpPr>
            <p:cNvPr id="19470" name="7184 Conector angular">
              <a:extLst>
                <a:ext uri="{FF2B5EF4-FFF2-40B4-BE49-F238E27FC236}">
                  <a16:creationId xmlns:a16="http://schemas.microsoft.com/office/drawing/2014/main" id="{E6F34C45-5C2B-4D6E-97ED-689715783661}"/>
                </a:ext>
              </a:extLst>
            </p:cNvPr>
            <p:cNvCxnSpPr>
              <a:cxnSpLocks noChangeShapeType="1"/>
              <a:stCxn id="19473" idx="1"/>
              <a:endCxn id="19469" idx="0"/>
            </p:cNvCxnSpPr>
            <p:nvPr/>
          </p:nvCxnSpPr>
          <p:spPr bwMode="auto">
            <a:xfrm rot="10800000" flipV="1">
              <a:off x="5678341" y="1726070"/>
              <a:ext cx="157990" cy="707896"/>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 name="Conector: angular 2">
            <a:extLst>
              <a:ext uri="{FF2B5EF4-FFF2-40B4-BE49-F238E27FC236}">
                <a16:creationId xmlns:a16="http://schemas.microsoft.com/office/drawing/2014/main" id="{4C51683A-045A-E11F-9EEB-9857FDBE6ED4}"/>
              </a:ext>
            </a:extLst>
          </p:cNvPr>
          <p:cNvCxnSpPr>
            <a:cxnSpLocks/>
            <a:stCxn id="19473" idx="1"/>
            <a:endCxn id="19473" idx="0"/>
          </p:cNvCxnSpPr>
          <p:nvPr/>
        </p:nvCxnSpPr>
        <p:spPr bwMode="auto">
          <a:xfrm rot="10800000" flipH="1">
            <a:off x="5836133" y="1556871"/>
            <a:ext cx="599720" cy="169251"/>
          </a:xfrm>
          <a:prstGeom prst="bentConnector4">
            <a:avLst>
              <a:gd name="adj1" fmla="val -38118"/>
              <a:gd name="adj2" fmla="val 235066"/>
            </a:avLst>
          </a:prstGeom>
          <a:noFill/>
          <a:ln w="9525" cap="flat" cmpd="sng" algn="ctr">
            <a:solidFill>
              <a:schemeClr val="tx1"/>
            </a:solidFill>
            <a:prstDash val="solid"/>
            <a:round/>
            <a:headEnd type="none" w="med" len="med"/>
            <a:tailEnd type="none" w="med" len="med"/>
          </a:ln>
          <a:effectLst/>
        </p:spPr>
      </p:cxnSp>
      <p:sp>
        <p:nvSpPr>
          <p:cNvPr id="5" name="CuadroTexto 4">
            <a:extLst>
              <a:ext uri="{FF2B5EF4-FFF2-40B4-BE49-F238E27FC236}">
                <a16:creationId xmlns:a16="http://schemas.microsoft.com/office/drawing/2014/main" id="{BD903F88-F11C-B21F-D3EA-C0B49D2AD4EE}"/>
              </a:ext>
            </a:extLst>
          </p:cNvPr>
          <p:cNvSpPr txBox="1"/>
          <p:nvPr/>
        </p:nvSpPr>
        <p:spPr>
          <a:xfrm>
            <a:off x="6376879" y="1144156"/>
            <a:ext cx="947695" cy="307777"/>
          </a:xfrm>
          <a:prstGeom prst="rect">
            <a:avLst/>
          </a:prstGeom>
          <a:noFill/>
        </p:spPr>
        <p:txBody>
          <a:bodyPr wrap="none" rtlCol="0">
            <a:spAutoFit/>
          </a:bodyPr>
          <a:lstStyle/>
          <a:p>
            <a:r>
              <a:rPr lang="es-AR">
                <a:solidFill>
                  <a:schemeClr val="tx1"/>
                </a:solidFill>
              </a:rPr>
              <a:t>Supervisa</a:t>
            </a:r>
          </a:p>
        </p:txBody>
      </p:sp>
      <p:sp>
        <p:nvSpPr>
          <p:cNvPr id="6" name="CuadroTexto 5">
            <a:extLst>
              <a:ext uri="{FF2B5EF4-FFF2-40B4-BE49-F238E27FC236}">
                <a16:creationId xmlns:a16="http://schemas.microsoft.com/office/drawing/2014/main" id="{6DB9B984-96A5-112E-E924-2AE6FC618C4F}"/>
              </a:ext>
            </a:extLst>
          </p:cNvPr>
          <p:cNvSpPr txBox="1"/>
          <p:nvPr/>
        </p:nvSpPr>
        <p:spPr>
          <a:xfrm>
            <a:off x="6596861" y="2155328"/>
            <a:ext cx="251992" cy="307777"/>
          </a:xfrm>
          <a:prstGeom prst="rect">
            <a:avLst/>
          </a:prstGeom>
          <a:noFill/>
        </p:spPr>
        <p:txBody>
          <a:bodyPr wrap="none" rtlCol="0">
            <a:spAutoFit/>
          </a:bodyPr>
          <a:lstStyle/>
          <a:p>
            <a:r>
              <a:rPr lang="es-AR">
                <a:solidFill>
                  <a:schemeClr val="tx1"/>
                </a:solidFill>
              </a:rPr>
              <a:t>I</a:t>
            </a:r>
          </a:p>
        </p:txBody>
      </p:sp>
      <p:sp>
        <p:nvSpPr>
          <p:cNvPr id="7" name="CuadroTexto 6">
            <a:extLst>
              <a:ext uri="{FF2B5EF4-FFF2-40B4-BE49-F238E27FC236}">
                <a16:creationId xmlns:a16="http://schemas.microsoft.com/office/drawing/2014/main" id="{59CA16F5-AEB6-EF2B-5CD5-8517938BC30B}"/>
              </a:ext>
            </a:extLst>
          </p:cNvPr>
          <p:cNvSpPr txBox="1"/>
          <p:nvPr/>
        </p:nvSpPr>
        <p:spPr>
          <a:xfrm>
            <a:off x="7116840" y="1714531"/>
            <a:ext cx="533159" cy="307777"/>
          </a:xfrm>
          <a:prstGeom prst="rect">
            <a:avLst/>
          </a:prstGeom>
          <a:noFill/>
        </p:spPr>
        <p:txBody>
          <a:bodyPr wrap="none" rtlCol="0">
            <a:spAutoFit/>
          </a:bodyPr>
          <a:lstStyle/>
          <a:p>
            <a:r>
              <a:rPr lang="es-AR">
                <a:solidFill>
                  <a:schemeClr val="tx1"/>
                </a:solidFill>
              </a:rPr>
              <a:t>No-I</a:t>
            </a:r>
          </a:p>
        </p:txBody>
      </p:sp>
      <p:sp>
        <p:nvSpPr>
          <p:cNvPr id="8" name="CuadroTexto 7">
            <a:extLst>
              <a:ext uri="{FF2B5EF4-FFF2-40B4-BE49-F238E27FC236}">
                <a16:creationId xmlns:a16="http://schemas.microsoft.com/office/drawing/2014/main" id="{ED8882F2-B7E7-8AA8-9371-A29EA4EC3942}"/>
              </a:ext>
            </a:extLst>
          </p:cNvPr>
          <p:cNvSpPr txBox="1"/>
          <p:nvPr/>
        </p:nvSpPr>
        <p:spPr>
          <a:xfrm>
            <a:off x="5245017" y="1940964"/>
            <a:ext cx="474810" cy="307777"/>
          </a:xfrm>
          <a:prstGeom prst="rect">
            <a:avLst/>
          </a:prstGeom>
          <a:noFill/>
        </p:spPr>
        <p:txBody>
          <a:bodyPr wrap="none" rtlCol="0">
            <a:spAutoFit/>
          </a:bodyPr>
          <a:lstStyle/>
          <a:p>
            <a:r>
              <a:rPr lang="es-AR">
                <a:solidFill>
                  <a:schemeClr val="tx1"/>
                </a:solidFill>
              </a:rPr>
              <a:t>G/E</a:t>
            </a:r>
          </a:p>
        </p:txBody>
      </p:sp>
      <p:sp>
        <p:nvSpPr>
          <p:cNvPr id="9" name="CuadroTexto 8">
            <a:extLst>
              <a:ext uri="{FF2B5EF4-FFF2-40B4-BE49-F238E27FC236}">
                <a16:creationId xmlns:a16="http://schemas.microsoft.com/office/drawing/2014/main" id="{DA58E9C3-8FF8-0B43-C2AA-B973AD1A57BD}"/>
              </a:ext>
            </a:extLst>
          </p:cNvPr>
          <p:cNvSpPr txBox="1"/>
          <p:nvPr/>
        </p:nvSpPr>
        <p:spPr>
          <a:xfrm>
            <a:off x="6980747" y="1479925"/>
            <a:ext cx="209047" cy="276999"/>
          </a:xfrm>
          <a:prstGeom prst="rect">
            <a:avLst/>
          </a:prstGeom>
          <a:noFill/>
        </p:spPr>
        <p:txBody>
          <a:bodyPr wrap="square" rtlCol="0">
            <a:spAutoFit/>
          </a:bodyPr>
          <a:lstStyle/>
          <a:p>
            <a:r>
              <a:rPr lang="es-AR" sz="1200"/>
              <a:t>1</a:t>
            </a:r>
          </a:p>
        </p:txBody>
      </p:sp>
      <p:sp>
        <p:nvSpPr>
          <p:cNvPr id="11" name="CuadroTexto 10">
            <a:extLst>
              <a:ext uri="{FF2B5EF4-FFF2-40B4-BE49-F238E27FC236}">
                <a16:creationId xmlns:a16="http://schemas.microsoft.com/office/drawing/2014/main" id="{684D90B7-51CE-A51D-3108-BA1B09899F82}"/>
              </a:ext>
            </a:extLst>
          </p:cNvPr>
          <p:cNvSpPr txBox="1"/>
          <p:nvPr/>
        </p:nvSpPr>
        <p:spPr>
          <a:xfrm>
            <a:off x="7436419" y="1486548"/>
            <a:ext cx="303288" cy="276999"/>
          </a:xfrm>
          <a:prstGeom prst="rect">
            <a:avLst/>
          </a:prstGeom>
          <a:noFill/>
        </p:spPr>
        <p:txBody>
          <a:bodyPr wrap="none" rtlCol="0">
            <a:spAutoFit/>
          </a:bodyPr>
          <a:lstStyle/>
          <a:p>
            <a:r>
              <a:rPr lang="es-AR" sz="1200"/>
              <a:t>M</a:t>
            </a:r>
          </a:p>
        </p:txBody>
      </p:sp>
      <p:sp>
        <p:nvSpPr>
          <p:cNvPr id="14" name="CuadroTexto 13">
            <a:extLst>
              <a:ext uri="{FF2B5EF4-FFF2-40B4-BE49-F238E27FC236}">
                <a16:creationId xmlns:a16="http://schemas.microsoft.com/office/drawing/2014/main" id="{E1A43136-7D69-A4E8-C282-817A31DF9AFB}"/>
              </a:ext>
            </a:extLst>
          </p:cNvPr>
          <p:cNvSpPr txBox="1"/>
          <p:nvPr/>
        </p:nvSpPr>
        <p:spPr>
          <a:xfrm>
            <a:off x="7067250" y="1486366"/>
            <a:ext cx="400255" cy="276999"/>
          </a:xfrm>
          <a:prstGeom prst="rect">
            <a:avLst/>
          </a:prstGeom>
          <a:noFill/>
        </p:spPr>
        <p:txBody>
          <a:bodyPr wrap="square" rtlCol="0">
            <a:spAutoFit/>
          </a:bodyPr>
          <a:lstStyle/>
          <a:p>
            <a:r>
              <a:rPr lang="es-AR" sz="1200">
                <a:solidFill>
                  <a:srgbClr val="0000FF"/>
                </a:solidFill>
              </a:rPr>
              <a:t>-1</a:t>
            </a:r>
          </a:p>
        </p:txBody>
      </p:sp>
      <p:sp>
        <p:nvSpPr>
          <p:cNvPr id="16" name="CuadroTexto 15">
            <a:extLst>
              <a:ext uri="{FF2B5EF4-FFF2-40B4-BE49-F238E27FC236}">
                <a16:creationId xmlns:a16="http://schemas.microsoft.com/office/drawing/2014/main" id="{7A51DC79-3D32-6C67-008B-B38F3F6D1C24}"/>
              </a:ext>
            </a:extLst>
          </p:cNvPr>
          <p:cNvSpPr txBox="1"/>
          <p:nvPr/>
        </p:nvSpPr>
        <p:spPr>
          <a:xfrm>
            <a:off x="7263935" y="1483022"/>
            <a:ext cx="324128" cy="276999"/>
          </a:xfrm>
          <a:prstGeom prst="rect">
            <a:avLst/>
          </a:prstGeom>
          <a:noFill/>
        </p:spPr>
        <p:txBody>
          <a:bodyPr wrap="none" rtlCol="0">
            <a:spAutoFit/>
          </a:bodyPr>
          <a:lstStyle/>
          <a:p>
            <a:r>
              <a:rPr lang="es-AR" sz="1200">
                <a:solidFill>
                  <a:srgbClr val="0000FF"/>
                </a:solidFill>
              </a:rPr>
              <a:t>0-</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ppt_x"/>
                                          </p:val>
                                        </p:tav>
                                        <p:tav tm="100000">
                                          <p:val>
                                            <p:strVal val="#ppt_x"/>
                                          </p:val>
                                        </p:tav>
                                      </p:tavLst>
                                    </p:anim>
                                    <p:anim calcmode="lin" valueType="num">
                                      <p:cBhvr additive="base">
                                        <p:cTn id="12"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0"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childTnLst>
                                </p:cTn>
                              </p:par>
                              <p:par>
                                <p:cTn id="24" presetID="42"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0"/>
                                        <p:tgtEl>
                                          <p:spTgt spid="9"/>
                                        </p:tgtEl>
                                      </p:cBhvr>
                                    </p:animEffect>
                                    <p:anim calcmode="lin" valueType="num">
                                      <p:cBhvr>
                                        <p:cTn id="27" dur="1000" fill="hold"/>
                                        <p:tgtEl>
                                          <p:spTgt spid="9"/>
                                        </p:tgtEl>
                                        <p:attrNameLst>
                                          <p:attrName>ppt_x</p:attrName>
                                        </p:attrNameLst>
                                      </p:cBhvr>
                                      <p:tavLst>
                                        <p:tav tm="0">
                                          <p:val>
                                            <p:strVal val="#ppt_x"/>
                                          </p:val>
                                        </p:tav>
                                        <p:tav tm="100000">
                                          <p:val>
                                            <p:strVal val="#ppt_x"/>
                                          </p:val>
                                        </p:tav>
                                      </p:tavLst>
                                    </p:anim>
                                    <p:anim calcmode="lin" valueType="num">
                                      <p:cBhvr>
                                        <p:cTn id="28" dur="1000" fill="hold"/>
                                        <p:tgtEl>
                                          <p:spTgt spid="9"/>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1000"/>
                                        <p:tgtEl>
                                          <p:spTgt spid="16"/>
                                        </p:tgtEl>
                                      </p:cBhvr>
                                    </p:animEffect>
                                    <p:anim calcmode="lin" valueType="num">
                                      <p:cBhvr>
                                        <p:cTn id="44" dur="1000" fill="hold"/>
                                        <p:tgtEl>
                                          <p:spTgt spid="16"/>
                                        </p:tgtEl>
                                        <p:attrNameLst>
                                          <p:attrName>ppt_x</p:attrName>
                                        </p:attrNameLst>
                                      </p:cBhvr>
                                      <p:tavLst>
                                        <p:tav tm="0">
                                          <p:val>
                                            <p:strVal val="#ppt_x"/>
                                          </p:val>
                                        </p:tav>
                                        <p:tav tm="100000">
                                          <p:val>
                                            <p:strVal val="#ppt_x"/>
                                          </p:val>
                                        </p:tav>
                                      </p:tavLst>
                                    </p:anim>
                                    <p:anim calcmode="lin" valueType="num">
                                      <p:cBhvr>
                                        <p:cTn id="45"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7177"/>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7179"/>
                                        </p:tgtEl>
                                        <p:attrNameLst>
                                          <p:attrName>style.visibility</p:attrName>
                                        </p:attrNameLst>
                                      </p:cBhvr>
                                      <p:to>
                                        <p:strVal val="visible"/>
                                      </p:to>
                                    </p:set>
                                  </p:childTnLst>
                                </p:cTn>
                              </p:par>
                              <p:par>
                                <p:cTn id="52" presetID="1" presetClass="entr" presetSubtype="0" fill="hold" nodeType="withEffect">
                                  <p:stCondLst>
                                    <p:cond delay="0"/>
                                  </p:stCondLst>
                                  <p:childTnLst>
                                    <p:set>
                                      <p:cBhvr>
                                        <p:cTn id="53" dur="1" fill="hold">
                                          <p:stCondLst>
                                            <p:cond delay="0"/>
                                          </p:stCondLst>
                                        </p:cTn>
                                        <p:tgtEl>
                                          <p:spTgt spid="7168"/>
                                        </p:tgtEl>
                                        <p:attrNameLst>
                                          <p:attrName>style.visibility</p:attrName>
                                        </p:attrNameLst>
                                      </p:cBhvr>
                                      <p:to>
                                        <p:strVal val="visible"/>
                                      </p:to>
                                    </p:set>
                                  </p:childTnLst>
                                </p:cTn>
                              </p:par>
                              <p:par>
                                <p:cTn id="54" presetID="16" presetClass="entr" presetSubtype="21" fill="hold" grpId="0" nodeType="with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barn(inVertical)">
                                      <p:cBhvr>
                                        <p:cTn id="56" dur="500"/>
                                        <p:tgtEl>
                                          <p:spTgt spid="7"/>
                                        </p:tgtEl>
                                      </p:cBhvr>
                                    </p:animEffect>
                                  </p:childTnLst>
                                </p:cTn>
                              </p:par>
                              <p:par>
                                <p:cTn id="57" presetID="16" presetClass="entr" presetSubtype="21" fill="hold" grpId="0" nodeType="withEffect">
                                  <p:stCondLst>
                                    <p:cond delay="0"/>
                                  </p:stCondLst>
                                  <p:childTnLst>
                                    <p:set>
                                      <p:cBhvr>
                                        <p:cTn id="58" dur="1" fill="hold">
                                          <p:stCondLst>
                                            <p:cond delay="0"/>
                                          </p:stCondLst>
                                        </p:cTn>
                                        <p:tgtEl>
                                          <p:spTgt spid="6"/>
                                        </p:tgtEl>
                                        <p:attrNameLst>
                                          <p:attrName>style.visibility</p:attrName>
                                        </p:attrNameLst>
                                      </p:cBhvr>
                                      <p:to>
                                        <p:strVal val="visible"/>
                                      </p:to>
                                    </p:set>
                                    <p:animEffect transition="in" filter="barn(inVertical)">
                                      <p:cBhvr>
                                        <p:cTn id="59" dur="500"/>
                                        <p:tgtEl>
                                          <p:spTgt spid="6"/>
                                        </p:tgtEl>
                                      </p:cBhvr>
                                    </p:animEffect>
                                  </p:childTnLst>
                                </p:cTn>
                              </p:par>
                              <p:par>
                                <p:cTn id="60" presetID="1" presetClass="entr" presetSubtype="0" fill="hold" nodeType="withEffect">
                                  <p:stCondLst>
                                    <p:cond delay="0"/>
                                  </p:stCondLst>
                                  <p:childTnLst>
                                    <p:set>
                                      <p:cBhvr>
                                        <p:cTn id="61" dur="1" fill="hold">
                                          <p:stCondLst>
                                            <p:cond delay="0"/>
                                          </p:stCondLst>
                                        </p:cTn>
                                        <p:tgtEl>
                                          <p:spTgt spid="7186"/>
                                        </p:tgtEl>
                                        <p:attrNameLst>
                                          <p:attrName>style.visibility</p:attrName>
                                        </p:attrNameLst>
                                      </p:cBhvr>
                                      <p:to>
                                        <p:strVal val="visible"/>
                                      </p:to>
                                    </p:set>
                                  </p:childTnLst>
                                </p:cTn>
                              </p:par>
                              <p:par>
                                <p:cTn id="62" presetID="16" presetClass="entr" presetSubtype="21"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barn(inVertical)">
                                      <p:cBhvr>
                                        <p:cTn id="6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7" grpId="0"/>
      <p:bldP spid="7179" grpId="0"/>
      <p:bldP spid="5" grpId="0"/>
      <p:bldP spid="6" grpId="0"/>
      <p:bldP spid="7" grpId="0"/>
      <p:bldP spid="8" grpId="0"/>
      <p:bldP spid="9" grpId="0"/>
      <p:bldP spid="11" grpId="0"/>
      <p:bldP spid="14" grpId="0"/>
      <p:bldP spid="1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A569D5C-8465-4057-B255-1D4B1E6F72DA}"/>
              </a:ext>
            </a:extLst>
          </p:cNvPr>
          <p:cNvSpPr>
            <a:spLocks noGrp="1" noChangeArrowheads="1"/>
          </p:cNvSpPr>
          <p:nvPr>
            <p:ph type="title"/>
          </p:nvPr>
        </p:nvSpPr>
        <p:spPr>
          <a:xfrm>
            <a:off x="1042988" y="260350"/>
            <a:ext cx="7793037" cy="1143000"/>
          </a:xfrm>
        </p:spPr>
        <p:txBody>
          <a:bodyPr/>
          <a:lstStyle/>
          <a:p>
            <a:pPr algn="ctr" eaLnBrk="1" hangingPunct="1"/>
            <a:r>
              <a:rPr lang="es-AR" altLang="es-ES" sz="4000"/>
              <a:t>Restricciones</a:t>
            </a:r>
          </a:p>
        </p:txBody>
      </p:sp>
      <p:sp>
        <p:nvSpPr>
          <p:cNvPr id="21507" name="Text Box 3">
            <a:extLst>
              <a:ext uri="{FF2B5EF4-FFF2-40B4-BE49-F238E27FC236}">
                <a16:creationId xmlns:a16="http://schemas.microsoft.com/office/drawing/2014/main" id="{4CB83839-5F9A-4451-AAAD-1B3E527D03D1}"/>
              </a:ext>
            </a:extLst>
          </p:cNvPr>
          <p:cNvSpPr txBox="1">
            <a:spLocks noChangeArrowheads="1"/>
          </p:cNvSpPr>
          <p:nvPr/>
        </p:nvSpPr>
        <p:spPr bwMode="auto">
          <a:xfrm>
            <a:off x="901700" y="2047875"/>
            <a:ext cx="1165225"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 Atributo</a:t>
            </a:r>
          </a:p>
        </p:txBody>
      </p:sp>
      <p:sp>
        <p:nvSpPr>
          <p:cNvPr id="21508" name="Rectangle 4">
            <a:extLst>
              <a:ext uri="{FF2B5EF4-FFF2-40B4-BE49-F238E27FC236}">
                <a16:creationId xmlns:a16="http://schemas.microsoft.com/office/drawing/2014/main" id="{0CF2C58D-A6B9-4977-9791-248F9F0DEA44}"/>
              </a:ext>
            </a:extLst>
          </p:cNvPr>
          <p:cNvSpPr>
            <a:spLocks noChangeArrowheads="1"/>
          </p:cNvSpPr>
          <p:nvPr/>
        </p:nvSpPr>
        <p:spPr bwMode="auto">
          <a:xfrm>
            <a:off x="2359025" y="2066925"/>
            <a:ext cx="49704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800" dirty="0"/>
              <a:t>(1) dominio, (2) obligatorio,  (3 y 4) unicidad.</a:t>
            </a:r>
          </a:p>
        </p:txBody>
      </p:sp>
      <p:sp>
        <p:nvSpPr>
          <p:cNvPr id="21509" name="Text Box 5">
            <a:extLst>
              <a:ext uri="{FF2B5EF4-FFF2-40B4-BE49-F238E27FC236}">
                <a16:creationId xmlns:a16="http://schemas.microsoft.com/office/drawing/2014/main" id="{399AB3D0-4D82-46A0-A46C-21C4FA86C997}"/>
              </a:ext>
            </a:extLst>
          </p:cNvPr>
          <p:cNvSpPr txBox="1">
            <a:spLocks noChangeArrowheads="1"/>
          </p:cNvSpPr>
          <p:nvPr/>
        </p:nvSpPr>
        <p:spPr bwMode="auto">
          <a:xfrm>
            <a:off x="890588" y="2711450"/>
            <a:ext cx="1114425"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 Entidad</a:t>
            </a:r>
          </a:p>
        </p:txBody>
      </p:sp>
      <p:sp>
        <p:nvSpPr>
          <p:cNvPr id="21510" name="Rectangle 6">
            <a:extLst>
              <a:ext uri="{FF2B5EF4-FFF2-40B4-BE49-F238E27FC236}">
                <a16:creationId xmlns:a16="http://schemas.microsoft.com/office/drawing/2014/main" id="{5B6BF98A-429B-47AB-8422-1877B1B35828}"/>
              </a:ext>
            </a:extLst>
          </p:cNvPr>
          <p:cNvSpPr>
            <a:spLocks noChangeArrowheads="1"/>
          </p:cNvSpPr>
          <p:nvPr/>
        </p:nvSpPr>
        <p:spPr bwMode="auto">
          <a:xfrm>
            <a:off x="2262188" y="2727325"/>
            <a:ext cx="65579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800" dirty="0"/>
              <a:t>(3) Clave primaria, (4) clave alterna, relaciones entre atributos</a:t>
            </a:r>
          </a:p>
        </p:txBody>
      </p:sp>
      <p:sp>
        <p:nvSpPr>
          <p:cNvPr id="21511" name="Text Box 7">
            <a:extLst>
              <a:ext uri="{FF2B5EF4-FFF2-40B4-BE49-F238E27FC236}">
                <a16:creationId xmlns:a16="http://schemas.microsoft.com/office/drawing/2014/main" id="{44527546-0278-4DDE-BAA2-AAD43AF3ACA0}"/>
              </a:ext>
            </a:extLst>
          </p:cNvPr>
          <p:cNvSpPr txBox="1">
            <a:spLocks noChangeArrowheads="1"/>
          </p:cNvSpPr>
          <p:nvPr/>
        </p:nvSpPr>
        <p:spPr bwMode="auto">
          <a:xfrm>
            <a:off x="906463" y="3473450"/>
            <a:ext cx="1455737"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 Relaciones</a:t>
            </a:r>
          </a:p>
        </p:txBody>
      </p:sp>
      <p:sp>
        <p:nvSpPr>
          <p:cNvPr id="21512" name="Rectangle 8">
            <a:extLst>
              <a:ext uri="{FF2B5EF4-FFF2-40B4-BE49-F238E27FC236}">
                <a16:creationId xmlns:a16="http://schemas.microsoft.com/office/drawing/2014/main" id="{4B3B27D5-BD1C-4C36-B57B-5423D590E95B}"/>
              </a:ext>
            </a:extLst>
          </p:cNvPr>
          <p:cNvSpPr>
            <a:spLocks noChangeArrowheads="1"/>
          </p:cNvSpPr>
          <p:nvPr/>
        </p:nvSpPr>
        <p:spPr bwMode="auto">
          <a:xfrm>
            <a:off x="2795588" y="3492500"/>
            <a:ext cx="5756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800" dirty="0"/>
              <a:t>(5) Cardinalidad </a:t>
            </a:r>
            <a:r>
              <a:rPr lang="es-ES" altLang="es-ES" sz="1800" dirty="0" err="1"/>
              <a:t>max</a:t>
            </a:r>
            <a:r>
              <a:rPr lang="es-ES" altLang="es-ES" sz="1800" dirty="0"/>
              <a:t>. y mín., (6) integridad referencial</a:t>
            </a:r>
          </a:p>
        </p:txBody>
      </p:sp>
      <p:sp>
        <p:nvSpPr>
          <p:cNvPr id="21513" name="Text Box 12">
            <a:extLst>
              <a:ext uri="{FF2B5EF4-FFF2-40B4-BE49-F238E27FC236}">
                <a16:creationId xmlns:a16="http://schemas.microsoft.com/office/drawing/2014/main" id="{63E9963E-A489-49E2-A142-62394A1E4A4D}"/>
              </a:ext>
            </a:extLst>
          </p:cNvPr>
          <p:cNvSpPr txBox="1">
            <a:spLocks noChangeArrowheads="1"/>
          </p:cNvSpPr>
          <p:nvPr/>
        </p:nvSpPr>
        <p:spPr bwMode="auto">
          <a:xfrm>
            <a:off x="901700" y="4175125"/>
            <a:ext cx="1379538"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 Generales</a:t>
            </a:r>
          </a:p>
        </p:txBody>
      </p:sp>
      <p:sp>
        <p:nvSpPr>
          <p:cNvPr id="21514" name="Rectangle 13">
            <a:extLst>
              <a:ext uri="{FF2B5EF4-FFF2-40B4-BE49-F238E27FC236}">
                <a16:creationId xmlns:a16="http://schemas.microsoft.com/office/drawing/2014/main" id="{A6C669D0-EA9C-4178-A513-60712A5F9DA7}"/>
              </a:ext>
            </a:extLst>
          </p:cNvPr>
          <p:cNvSpPr>
            <a:spLocks noChangeArrowheads="1"/>
          </p:cNvSpPr>
          <p:nvPr/>
        </p:nvSpPr>
        <p:spPr bwMode="auto">
          <a:xfrm>
            <a:off x="2566988" y="4211638"/>
            <a:ext cx="40560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800"/>
              <a:t>Entre atributos de distintas entidades.</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74126E56-B976-41E0-894B-60C35D4C65D7}"/>
              </a:ext>
            </a:extLst>
          </p:cNvPr>
          <p:cNvSpPr>
            <a:spLocks noGrp="1" noChangeArrowheads="1"/>
          </p:cNvSpPr>
          <p:nvPr>
            <p:ph type="title"/>
          </p:nvPr>
        </p:nvSpPr>
        <p:spPr>
          <a:xfrm>
            <a:off x="882650" y="260350"/>
            <a:ext cx="7793038" cy="1143000"/>
          </a:xfrm>
        </p:spPr>
        <p:txBody>
          <a:bodyPr/>
          <a:lstStyle/>
          <a:p>
            <a:pPr algn="ctr" eaLnBrk="1" hangingPunct="1"/>
            <a:r>
              <a:rPr lang="es-ES" altLang="es-ES" sz="4000">
                <a:solidFill>
                  <a:schemeClr val="folHlink"/>
                </a:solidFill>
              </a:rPr>
              <a:t>Modelo E-R</a:t>
            </a:r>
            <a:endParaRPr lang="es-AR" altLang="es-ES" sz="4000">
              <a:solidFill>
                <a:schemeClr val="folHlink"/>
              </a:solidFill>
            </a:endParaRPr>
          </a:p>
        </p:txBody>
      </p:sp>
      <p:sp>
        <p:nvSpPr>
          <p:cNvPr id="23555" name="Rectangle 3">
            <a:extLst>
              <a:ext uri="{FF2B5EF4-FFF2-40B4-BE49-F238E27FC236}">
                <a16:creationId xmlns:a16="http://schemas.microsoft.com/office/drawing/2014/main" id="{72FBEE2D-F75E-4F03-9E58-A532CF94F66C}"/>
              </a:ext>
            </a:extLst>
          </p:cNvPr>
          <p:cNvSpPr>
            <a:spLocks noChangeArrowheads="1"/>
          </p:cNvSpPr>
          <p:nvPr/>
        </p:nvSpPr>
        <p:spPr bwMode="auto">
          <a:xfrm>
            <a:off x="446088" y="2322513"/>
            <a:ext cx="647700" cy="36036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nvGrpSpPr>
          <p:cNvPr id="23556" name="Group 4">
            <a:extLst>
              <a:ext uri="{FF2B5EF4-FFF2-40B4-BE49-F238E27FC236}">
                <a16:creationId xmlns:a16="http://schemas.microsoft.com/office/drawing/2014/main" id="{9788CACD-E58B-4C32-A5B0-143E6FD2D574}"/>
              </a:ext>
            </a:extLst>
          </p:cNvPr>
          <p:cNvGrpSpPr>
            <a:grpSpLocks/>
          </p:cNvGrpSpPr>
          <p:nvPr/>
        </p:nvGrpSpPr>
        <p:grpSpPr bwMode="auto">
          <a:xfrm>
            <a:off x="379413" y="3141663"/>
            <a:ext cx="777875" cy="511175"/>
            <a:chOff x="394" y="1616"/>
            <a:chExt cx="490" cy="322"/>
          </a:xfrm>
        </p:grpSpPr>
        <p:sp>
          <p:nvSpPr>
            <p:cNvPr id="23604" name="Rectangle 5">
              <a:extLst>
                <a:ext uri="{FF2B5EF4-FFF2-40B4-BE49-F238E27FC236}">
                  <a16:creationId xmlns:a16="http://schemas.microsoft.com/office/drawing/2014/main" id="{2670BED9-C534-48AF-806B-C1CB99BC81B7}"/>
                </a:ext>
              </a:extLst>
            </p:cNvPr>
            <p:cNvSpPr>
              <a:spLocks noChangeArrowheads="1"/>
            </p:cNvSpPr>
            <p:nvPr/>
          </p:nvSpPr>
          <p:spPr bwMode="auto">
            <a:xfrm>
              <a:off x="431" y="1661"/>
              <a:ext cx="408" cy="22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23605" name="Rectangle 6">
              <a:extLst>
                <a:ext uri="{FF2B5EF4-FFF2-40B4-BE49-F238E27FC236}">
                  <a16:creationId xmlns:a16="http://schemas.microsoft.com/office/drawing/2014/main" id="{962F2221-8E0F-4EA6-A80F-92A254E6C8F0}"/>
                </a:ext>
              </a:extLst>
            </p:cNvPr>
            <p:cNvSpPr>
              <a:spLocks noChangeArrowheads="1"/>
            </p:cNvSpPr>
            <p:nvPr/>
          </p:nvSpPr>
          <p:spPr bwMode="auto">
            <a:xfrm>
              <a:off x="394" y="1616"/>
              <a:ext cx="490" cy="32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grpSp>
        <p:nvGrpSpPr>
          <p:cNvPr id="23557" name="Group 7">
            <a:extLst>
              <a:ext uri="{FF2B5EF4-FFF2-40B4-BE49-F238E27FC236}">
                <a16:creationId xmlns:a16="http://schemas.microsoft.com/office/drawing/2014/main" id="{887EF5CC-F39B-4DC6-BECB-6AEE36DE4767}"/>
              </a:ext>
            </a:extLst>
          </p:cNvPr>
          <p:cNvGrpSpPr>
            <a:grpSpLocks/>
          </p:cNvGrpSpPr>
          <p:nvPr/>
        </p:nvGrpSpPr>
        <p:grpSpPr bwMode="auto">
          <a:xfrm>
            <a:off x="2028825" y="3416300"/>
            <a:ext cx="815975" cy="401638"/>
            <a:chOff x="2022" y="2658"/>
            <a:chExt cx="514" cy="253"/>
          </a:xfrm>
        </p:grpSpPr>
        <p:sp>
          <p:nvSpPr>
            <p:cNvPr id="23602" name="Oval 8">
              <a:extLst>
                <a:ext uri="{FF2B5EF4-FFF2-40B4-BE49-F238E27FC236}">
                  <a16:creationId xmlns:a16="http://schemas.microsoft.com/office/drawing/2014/main" id="{590CDE45-0D49-464F-9A15-61CE0B672AD2}"/>
                </a:ext>
              </a:extLst>
            </p:cNvPr>
            <p:cNvSpPr>
              <a:spLocks noChangeArrowheads="1"/>
            </p:cNvSpPr>
            <p:nvPr/>
          </p:nvSpPr>
          <p:spPr bwMode="auto">
            <a:xfrm>
              <a:off x="2022" y="2658"/>
              <a:ext cx="514"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a:t>
              </a:r>
              <a:r>
                <a:rPr lang="es-AR" altLang="es-ES" sz="1400">
                  <a:solidFill>
                    <a:schemeClr val="folHlink"/>
                  </a:solidFill>
                </a:rPr>
                <a:t>   </a:t>
              </a:r>
            </a:p>
          </p:txBody>
        </p:sp>
        <p:sp>
          <p:nvSpPr>
            <p:cNvPr id="23603" name="Line 9">
              <a:extLst>
                <a:ext uri="{FF2B5EF4-FFF2-40B4-BE49-F238E27FC236}">
                  <a16:creationId xmlns:a16="http://schemas.microsoft.com/office/drawing/2014/main" id="{A2B74E26-26D1-428B-8855-5EF0B2D835C5}"/>
                </a:ext>
              </a:extLst>
            </p:cNvPr>
            <p:cNvSpPr>
              <a:spLocks noChangeShapeType="1"/>
            </p:cNvSpPr>
            <p:nvPr/>
          </p:nvSpPr>
          <p:spPr bwMode="auto">
            <a:xfrm>
              <a:off x="2193" y="2855"/>
              <a:ext cx="13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s-ES"/>
            </a:p>
          </p:txBody>
        </p:sp>
      </p:grpSp>
      <p:grpSp>
        <p:nvGrpSpPr>
          <p:cNvPr id="23558" name="Group 10">
            <a:extLst>
              <a:ext uri="{FF2B5EF4-FFF2-40B4-BE49-F238E27FC236}">
                <a16:creationId xmlns:a16="http://schemas.microsoft.com/office/drawing/2014/main" id="{F247ADCD-359E-48EF-BD4F-57D981B9DBC6}"/>
              </a:ext>
            </a:extLst>
          </p:cNvPr>
          <p:cNvGrpSpPr>
            <a:grpSpLocks/>
          </p:cNvGrpSpPr>
          <p:nvPr/>
        </p:nvGrpSpPr>
        <p:grpSpPr bwMode="auto">
          <a:xfrm>
            <a:off x="2028825" y="2940050"/>
            <a:ext cx="815975" cy="401638"/>
            <a:chOff x="2082" y="1285"/>
            <a:chExt cx="514" cy="253"/>
          </a:xfrm>
        </p:grpSpPr>
        <p:sp>
          <p:nvSpPr>
            <p:cNvPr id="23600" name="Oval 11">
              <a:extLst>
                <a:ext uri="{FF2B5EF4-FFF2-40B4-BE49-F238E27FC236}">
                  <a16:creationId xmlns:a16="http://schemas.microsoft.com/office/drawing/2014/main" id="{E15B81D9-399B-4875-AE60-A9E7CBAB7749}"/>
                </a:ext>
              </a:extLst>
            </p:cNvPr>
            <p:cNvSpPr>
              <a:spLocks noChangeArrowheads="1"/>
            </p:cNvSpPr>
            <p:nvPr/>
          </p:nvSpPr>
          <p:spPr bwMode="auto">
            <a:xfrm>
              <a:off x="2082" y="1285"/>
              <a:ext cx="514"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a:t>
              </a:r>
              <a:r>
                <a:rPr lang="es-AR" altLang="es-ES" sz="1400">
                  <a:solidFill>
                    <a:schemeClr val="folHlink"/>
                  </a:solidFill>
                </a:rPr>
                <a:t>   </a:t>
              </a:r>
            </a:p>
          </p:txBody>
        </p:sp>
        <p:sp>
          <p:nvSpPr>
            <p:cNvPr id="23601" name="Line 12">
              <a:extLst>
                <a:ext uri="{FF2B5EF4-FFF2-40B4-BE49-F238E27FC236}">
                  <a16:creationId xmlns:a16="http://schemas.microsoft.com/office/drawing/2014/main" id="{A4E7BE50-9A01-4426-A444-88D7C6677ADC}"/>
                </a:ext>
              </a:extLst>
            </p:cNvPr>
            <p:cNvSpPr>
              <a:spLocks noChangeShapeType="1"/>
            </p:cNvSpPr>
            <p:nvPr/>
          </p:nvSpPr>
          <p:spPr bwMode="auto">
            <a:xfrm>
              <a:off x="2265" y="1480"/>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sp>
        <p:nvSpPr>
          <p:cNvPr id="23559" name="Oval 13">
            <a:extLst>
              <a:ext uri="{FF2B5EF4-FFF2-40B4-BE49-F238E27FC236}">
                <a16:creationId xmlns:a16="http://schemas.microsoft.com/office/drawing/2014/main" id="{731C685F-25FB-4CED-B61E-7AEC7087AFBF}"/>
              </a:ext>
            </a:extLst>
          </p:cNvPr>
          <p:cNvSpPr>
            <a:spLocks noChangeArrowheads="1"/>
          </p:cNvSpPr>
          <p:nvPr/>
        </p:nvSpPr>
        <p:spPr bwMode="auto">
          <a:xfrm>
            <a:off x="2028825" y="1989138"/>
            <a:ext cx="815975"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a:t>
            </a:r>
            <a:r>
              <a:rPr lang="es-AR" altLang="es-ES" sz="1400">
                <a:solidFill>
                  <a:schemeClr val="folHlink"/>
                </a:solidFill>
              </a:rPr>
              <a:t>   </a:t>
            </a:r>
          </a:p>
        </p:txBody>
      </p:sp>
      <p:sp>
        <p:nvSpPr>
          <p:cNvPr id="23560" name="Oval 14">
            <a:extLst>
              <a:ext uri="{FF2B5EF4-FFF2-40B4-BE49-F238E27FC236}">
                <a16:creationId xmlns:a16="http://schemas.microsoft.com/office/drawing/2014/main" id="{CB743914-295E-4F45-92F6-E1CB79FC0B25}"/>
              </a:ext>
            </a:extLst>
          </p:cNvPr>
          <p:cNvSpPr>
            <a:spLocks noChangeArrowheads="1"/>
          </p:cNvSpPr>
          <p:nvPr/>
        </p:nvSpPr>
        <p:spPr bwMode="auto">
          <a:xfrm>
            <a:off x="2028825" y="2452688"/>
            <a:ext cx="815975" cy="401637"/>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a:t>
            </a:r>
            <a:r>
              <a:rPr lang="es-AR" altLang="es-ES" sz="1400">
                <a:solidFill>
                  <a:schemeClr val="folHlink"/>
                </a:solidFill>
              </a:rPr>
              <a:t>   </a:t>
            </a:r>
          </a:p>
        </p:txBody>
      </p:sp>
      <p:grpSp>
        <p:nvGrpSpPr>
          <p:cNvPr id="23561" name="Group 15">
            <a:extLst>
              <a:ext uri="{FF2B5EF4-FFF2-40B4-BE49-F238E27FC236}">
                <a16:creationId xmlns:a16="http://schemas.microsoft.com/office/drawing/2014/main" id="{A014AFFE-A1B4-45DC-8DE4-BCACBF2C2D9E}"/>
              </a:ext>
            </a:extLst>
          </p:cNvPr>
          <p:cNvGrpSpPr>
            <a:grpSpLocks/>
          </p:cNvGrpSpPr>
          <p:nvPr/>
        </p:nvGrpSpPr>
        <p:grpSpPr bwMode="auto">
          <a:xfrm>
            <a:off x="4165600" y="3290888"/>
            <a:ext cx="1008063" cy="503237"/>
            <a:chOff x="2915" y="1878"/>
            <a:chExt cx="635" cy="317"/>
          </a:xfrm>
        </p:grpSpPr>
        <p:sp>
          <p:nvSpPr>
            <p:cNvPr id="23598" name="Oval 16">
              <a:extLst>
                <a:ext uri="{FF2B5EF4-FFF2-40B4-BE49-F238E27FC236}">
                  <a16:creationId xmlns:a16="http://schemas.microsoft.com/office/drawing/2014/main" id="{1D2CF85C-DBBD-44E7-A245-44A9E77595EC}"/>
                </a:ext>
              </a:extLst>
            </p:cNvPr>
            <p:cNvSpPr>
              <a:spLocks noChangeArrowheads="1"/>
            </p:cNvSpPr>
            <p:nvPr/>
          </p:nvSpPr>
          <p:spPr bwMode="auto">
            <a:xfrm>
              <a:off x="2971" y="1907"/>
              <a:ext cx="514"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a:t>
              </a:r>
              <a:r>
                <a:rPr lang="es-AR" altLang="es-ES" sz="1400">
                  <a:solidFill>
                    <a:schemeClr val="folHlink"/>
                  </a:solidFill>
                </a:rPr>
                <a:t>   </a:t>
              </a:r>
            </a:p>
          </p:txBody>
        </p:sp>
        <p:sp>
          <p:nvSpPr>
            <p:cNvPr id="23599" name="Oval 17">
              <a:extLst>
                <a:ext uri="{FF2B5EF4-FFF2-40B4-BE49-F238E27FC236}">
                  <a16:creationId xmlns:a16="http://schemas.microsoft.com/office/drawing/2014/main" id="{9F3FD2D7-F971-4300-A244-D455DF7387BA}"/>
                </a:ext>
              </a:extLst>
            </p:cNvPr>
            <p:cNvSpPr>
              <a:spLocks noChangeArrowheads="1"/>
            </p:cNvSpPr>
            <p:nvPr/>
          </p:nvSpPr>
          <p:spPr bwMode="auto">
            <a:xfrm>
              <a:off x="2915" y="1878"/>
              <a:ext cx="635" cy="31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grpSp>
        <p:nvGrpSpPr>
          <p:cNvPr id="23562" name="Group 18">
            <a:extLst>
              <a:ext uri="{FF2B5EF4-FFF2-40B4-BE49-F238E27FC236}">
                <a16:creationId xmlns:a16="http://schemas.microsoft.com/office/drawing/2014/main" id="{1214DE53-5A49-40F0-A371-A37F8B101B91}"/>
              </a:ext>
            </a:extLst>
          </p:cNvPr>
          <p:cNvGrpSpPr>
            <a:grpSpLocks/>
          </p:cNvGrpSpPr>
          <p:nvPr/>
        </p:nvGrpSpPr>
        <p:grpSpPr bwMode="auto">
          <a:xfrm>
            <a:off x="6443663" y="3213100"/>
            <a:ext cx="577850" cy="863600"/>
            <a:chOff x="476" y="2251"/>
            <a:chExt cx="364" cy="544"/>
          </a:xfrm>
        </p:grpSpPr>
        <p:sp>
          <p:nvSpPr>
            <p:cNvPr id="23595" name="AutoShape 19">
              <a:extLst>
                <a:ext uri="{FF2B5EF4-FFF2-40B4-BE49-F238E27FC236}">
                  <a16:creationId xmlns:a16="http://schemas.microsoft.com/office/drawing/2014/main" id="{C8C5C72E-3104-48F2-97C9-75CA01F64332}"/>
                </a:ext>
              </a:extLst>
            </p:cNvPr>
            <p:cNvSpPr>
              <a:spLocks noChangeArrowheads="1"/>
            </p:cNvSpPr>
            <p:nvPr/>
          </p:nvSpPr>
          <p:spPr bwMode="auto">
            <a:xfrm rot="10800000">
              <a:off x="476" y="2341"/>
              <a:ext cx="364" cy="352"/>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000">
                  <a:solidFill>
                    <a:schemeClr val="folHlink"/>
                  </a:solidFill>
                </a:rPr>
                <a:t>ES</a:t>
              </a:r>
            </a:p>
          </p:txBody>
        </p:sp>
        <p:sp>
          <p:nvSpPr>
            <p:cNvPr id="23596" name="Line 20">
              <a:extLst>
                <a:ext uri="{FF2B5EF4-FFF2-40B4-BE49-F238E27FC236}">
                  <a16:creationId xmlns:a16="http://schemas.microsoft.com/office/drawing/2014/main" id="{9042ACA9-207A-4A56-9E30-87D9E10D82E4}"/>
                </a:ext>
              </a:extLst>
            </p:cNvPr>
            <p:cNvSpPr>
              <a:spLocks noChangeShapeType="1"/>
            </p:cNvSpPr>
            <p:nvPr/>
          </p:nvSpPr>
          <p:spPr bwMode="auto">
            <a:xfrm flipV="1">
              <a:off x="657"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23597" name="Line 21">
              <a:extLst>
                <a:ext uri="{FF2B5EF4-FFF2-40B4-BE49-F238E27FC236}">
                  <a16:creationId xmlns:a16="http://schemas.microsoft.com/office/drawing/2014/main" id="{1F91A86F-4410-4649-8F80-3C6E260B8E10}"/>
                </a:ext>
              </a:extLst>
            </p:cNvPr>
            <p:cNvSpPr>
              <a:spLocks noChangeShapeType="1"/>
            </p:cNvSpPr>
            <p:nvPr/>
          </p:nvSpPr>
          <p:spPr bwMode="auto">
            <a:xfrm flipV="1">
              <a:off x="657" y="2705"/>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23563" name="Text Box 22">
            <a:extLst>
              <a:ext uri="{FF2B5EF4-FFF2-40B4-BE49-F238E27FC236}">
                <a16:creationId xmlns:a16="http://schemas.microsoft.com/office/drawing/2014/main" id="{01273337-86C7-45E2-A2FE-14A89952A32A}"/>
              </a:ext>
            </a:extLst>
          </p:cNvPr>
          <p:cNvSpPr txBox="1">
            <a:spLocks noChangeArrowheads="1"/>
          </p:cNvSpPr>
          <p:nvPr/>
        </p:nvSpPr>
        <p:spPr bwMode="auto">
          <a:xfrm>
            <a:off x="134938" y="2019300"/>
            <a:ext cx="14398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Entidad (fuerte)</a:t>
            </a:r>
          </a:p>
        </p:txBody>
      </p:sp>
      <p:sp>
        <p:nvSpPr>
          <p:cNvPr id="23564" name="Text Box 23">
            <a:extLst>
              <a:ext uri="{FF2B5EF4-FFF2-40B4-BE49-F238E27FC236}">
                <a16:creationId xmlns:a16="http://schemas.microsoft.com/office/drawing/2014/main" id="{BDFD8118-EA6C-482A-9021-96643FAE890F}"/>
              </a:ext>
            </a:extLst>
          </p:cNvPr>
          <p:cNvSpPr txBox="1">
            <a:spLocks noChangeArrowheads="1"/>
          </p:cNvSpPr>
          <p:nvPr/>
        </p:nvSpPr>
        <p:spPr bwMode="auto">
          <a:xfrm>
            <a:off x="217488" y="2852738"/>
            <a:ext cx="1450975"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Entidad débil</a:t>
            </a:r>
          </a:p>
        </p:txBody>
      </p:sp>
      <p:sp>
        <p:nvSpPr>
          <p:cNvPr id="23565" name="Text Box 24">
            <a:extLst>
              <a:ext uri="{FF2B5EF4-FFF2-40B4-BE49-F238E27FC236}">
                <a16:creationId xmlns:a16="http://schemas.microsoft.com/office/drawing/2014/main" id="{1A82BC22-2B09-4D9A-8886-CE204775E0D9}"/>
              </a:ext>
            </a:extLst>
          </p:cNvPr>
          <p:cNvSpPr txBox="1">
            <a:spLocks noChangeArrowheads="1"/>
          </p:cNvSpPr>
          <p:nvPr/>
        </p:nvSpPr>
        <p:spPr bwMode="auto">
          <a:xfrm>
            <a:off x="7434263" y="2060575"/>
            <a:ext cx="1304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Relación </a:t>
            </a:r>
          </a:p>
          <a:p>
            <a:pPr eaLnBrk="1" hangingPunct="1">
              <a:spcBef>
                <a:spcPct val="0"/>
              </a:spcBef>
              <a:buClrTx/>
              <a:buSzTx/>
              <a:buFontTx/>
              <a:buNone/>
            </a:pPr>
            <a:r>
              <a:rPr lang="es-AR" altLang="es-ES" sz="1400">
                <a:solidFill>
                  <a:schemeClr val="folHlink"/>
                </a:solidFill>
              </a:rPr>
              <a:t>(no identidad)</a:t>
            </a:r>
          </a:p>
        </p:txBody>
      </p:sp>
      <p:grpSp>
        <p:nvGrpSpPr>
          <p:cNvPr id="23566" name="Group 25">
            <a:extLst>
              <a:ext uri="{FF2B5EF4-FFF2-40B4-BE49-F238E27FC236}">
                <a16:creationId xmlns:a16="http://schemas.microsoft.com/office/drawing/2014/main" id="{0F3256C6-C4C4-474C-AA97-7DD7851B2ACC}"/>
              </a:ext>
            </a:extLst>
          </p:cNvPr>
          <p:cNvGrpSpPr>
            <a:grpSpLocks/>
          </p:cNvGrpSpPr>
          <p:nvPr/>
        </p:nvGrpSpPr>
        <p:grpSpPr bwMode="auto">
          <a:xfrm>
            <a:off x="6497638" y="1916113"/>
            <a:ext cx="942975" cy="647700"/>
            <a:chOff x="335" y="1842"/>
            <a:chExt cx="594" cy="408"/>
          </a:xfrm>
        </p:grpSpPr>
        <p:sp>
          <p:nvSpPr>
            <p:cNvPr id="23592" name="AutoShape 26">
              <a:extLst>
                <a:ext uri="{FF2B5EF4-FFF2-40B4-BE49-F238E27FC236}">
                  <a16:creationId xmlns:a16="http://schemas.microsoft.com/office/drawing/2014/main" id="{C6E6CD41-0788-4C7B-AE92-5AF30A3C6766}"/>
                </a:ext>
              </a:extLst>
            </p:cNvPr>
            <p:cNvSpPr>
              <a:spLocks noChangeArrowheads="1"/>
            </p:cNvSpPr>
            <p:nvPr/>
          </p:nvSpPr>
          <p:spPr bwMode="auto">
            <a:xfrm>
              <a:off x="431" y="1842"/>
              <a:ext cx="408" cy="408"/>
            </a:xfrm>
            <a:prstGeom prst="flowChartDecision">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23593" name="Line 27">
              <a:extLst>
                <a:ext uri="{FF2B5EF4-FFF2-40B4-BE49-F238E27FC236}">
                  <a16:creationId xmlns:a16="http://schemas.microsoft.com/office/drawing/2014/main" id="{01DC17DF-B3A7-43E3-AECE-4B3DABDAA31F}"/>
                </a:ext>
              </a:extLst>
            </p:cNvPr>
            <p:cNvSpPr>
              <a:spLocks noChangeShapeType="1"/>
            </p:cNvSpPr>
            <p:nvPr/>
          </p:nvSpPr>
          <p:spPr bwMode="auto">
            <a:xfrm flipH="1">
              <a:off x="335" y="2054"/>
              <a:ext cx="9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23594" name="Line 28">
              <a:extLst>
                <a:ext uri="{FF2B5EF4-FFF2-40B4-BE49-F238E27FC236}">
                  <a16:creationId xmlns:a16="http://schemas.microsoft.com/office/drawing/2014/main" id="{20791855-D89E-4895-B7F2-69328E4B75C1}"/>
                </a:ext>
              </a:extLst>
            </p:cNvPr>
            <p:cNvSpPr>
              <a:spLocks noChangeShapeType="1"/>
            </p:cNvSpPr>
            <p:nvPr/>
          </p:nvSpPr>
          <p:spPr bwMode="auto">
            <a:xfrm flipH="1">
              <a:off x="839" y="2049"/>
              <a:ext cx="9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23567" name="Text Box 29">
            <a:extLst>
              <a:ext uri="{FF2B5EF4-FFF2-40B4-BE49-F238E27FC236}">
                <a16:creationId xmlns:a16="http://schemas.microsoft.com/office/drawing/2014/main" id="{BC8606EF-E598-45F8-A79F-35B30FB8013D}"/>
              </a:ext>
            </a:extLst>
          </p:cNvPr>
          <p:cNvSpPr txBox="1">
            <a:spLocks noChangeArrowheads="1"/>
          </p:cNvSpPr>
          <p:nvPr/>
        </p:nvSpPr>
        <p:spPr bwMode="auto">
          <a:xfrm>
            <a:off x="2871788" y="1989138"/>
            <a:ext cx="8064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Atributo</a:t>
            </a:r>
          </a:p>
        </p:txBody>
      </p:sp>
      <p:sp>
        <p:nvSpPr>
          <p:cNvPr id="23568" name="Text Box 30">
            <a:extLst>
              <a:ext uri="{FF2B5EF4-FFF2-40B4-BE49-F238E27FC236}">
                <a16:creationId xmlns:a16="http://schemas.microsoft.com/office/drawing/2014/main" id="{4F6D33E0-9696-4344-B5D4-24AAA896C669}"/>
              </a:ext>
            </a:extLst>
          </p:cNvPr>
          <p:cNvSpPr txBox="1">
            <a:spLocks noChangeArrowheads="1"/>
          </p:cNvSpPr>
          <p:nvPr/>
        </p:nvSpPr>
        <p:spPr bwMode="auto">
          <a:xfrm>
            <a:off x="2843213" y="2366963"/>
            <a:ext cx="8588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Atributo</a:t>
            </a:r>
          </a:p>
          <a:p>
            <a:pPr eaLnBrk="1" hangingPunct="1">
              <a:spcBef>
                <a:spcPct val="0"/>
              </a:spcBef>
              <a:buClrTx/>
              <a:buSzTx/>
              <a:buFontTx/>
              <a:buNone/>
            </a:pPr>
            <a:r>
              <a:rPr lang="es-AR" altLang="es-ES" sz="1400">
                <a:solidFill>
                  <a:schemeClr val="folHlink"/>
                </a:solidFill>
              </a:rPr>
              <a:t>derivado</a:t>
            </a:r>
          </a:p>
        </p:txBody>
      </p:sp>
      <p:sp>
        <p:nvSpPr>
          <p:cNvPr id="23569" name="Text Box 31">
            <a:extLst>
              <a:ext uri="{FF2B5EF4-FFF2-40B4-BE49-F238E27FC236}">
                <a16:creationId xmlns:a16="http://schemas.microsoft.com/office/drawing/2014/main" id="{0F8B2610-6282-4F5B-B0EE-33C9915DD8B4}"/>
              </a:ext>
            </a:extLst>
          </p:cNvPr>
          <p:cNvSpPr txBox="1">
            <a:spLocks noChangeArrowheads="1"/>
          </p:cNvSpPr>
          <p:nvPr/>
        </p:nvSpPr>
        <p:spPr bwMode="auto">
          <a:xfrm>
            <a:off x="4014788" y="2640013"/>
            <a:ext cx="10620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Atributo</a:t>
            </a:r>
          </a:p>
          <a:p>
            <a:pPr eaLnBrk="1" hangingPunct="1">
              <a:spcBef>
                <a:spcPct val="0"/>
              </a:spcBef>
              <a:buClrTx/>
              <a:buSzTx/>
              <a:buFontTx/>
              <a:buNone/>
            </a:pPr>
            <a:r>
              <a:rPr lang="es-AR" altLang="es-ES" sz="1400">
                <a:solidFill>
                  <a:schemeClr val="folHlink"/>
                </a:solidFill>
              </a:rPr>
              <a:t>Compuesto</a:t>
            </a:r>
          </a:p>
        </p:txBody>
      </p:sp>
      <p:sp>
        <p:nvSpPr>
          <p:cNvPr id="23570" name="Text Box 32">
            <a:extLst>
              <a:ext uri="{FF2B5EF4-FFF2-40B4-BE49-F238E27FC236}">
                <a16:creationId xmlns:a16="http://schemas.microsoft.com/office/drawing/2014/main" id="{63AE4B02-567C-47E9-9939-79536D51A18E}"/>
              </a:ext>
            </a:extLst>
          </p:cNvPr>
          <p:cNvSpPr txBox="1">
            <a:spLocks noChangeArrowheads="1"/>
          </p:cNvSpPr>
          <p:nvPr/>
        </p:nvSpPr>
        <p:spPr bwMode="auto">
          <a:xfrm>
            <a:off x="2851150" y="2887663"/>
            <a:ext cx="82867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Clave </a:t>
            </a:r>
          </a:p>
          <a:p>
            <a:pPr eaLnBrk="1" hangingPunct="1">
              <a:spcBef>
                <a:spcPct val="0"/>
              </a:spcBef>
              <a:buClrTx/>
              <a:buSzTx/>
              <a:buFontTx/>
              <a:buNone/>
            </a:pPr>
            <a:r>
              <a:rPr lang="es-AR" altLang="es-ES" sz="1400">
                <a:solidFill>
                  <a:schemeClr val="folHlink"/>
                </a:solidFill>
              </a:rPr>
              <a:t>primaria</a:t>
            </a:r>
          </a:p>
        </p:txBody>
      </p:sp>
      <p:sp>
        <p:nvSpPr>
          <p:cNvPr id="23571" name="Text Box 33">
            <a:extLst>
              <a:ext uri="{FF2B5EF4-FFF2-40B4-BE49-F238E27FC236}">
                <a16:creationId xmlns:a16="http://schemas.microsoft.com/office/drawing/2014/main" id="{EA8C8B96-BFBB-4BFB-B3EE-C3724467B622}"/>
              </a:ext>
            </a:extLst>
          </p:cNvPr>
          <p:cNvSpPr txBox="1">
            <a:spLocks noChangeArrowheads="1"/>
          </p:cNvSpPr>
          <p:nvPr/>
        </p:nvSpPr>
        <p:spPr bwMode="auto">
          <a:xfrm>
            <a:off x="2851150" y="3471863"/>
            <a:ext cx="12461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Discriminante</a:t>
            </a:r>
          </a:p>
        </p:txBody>
      </p:sp>
      <p:sp>
        <p:nvSpPr>
          <p:cNvPr id="23572" name="Text Box 34">
            <a:extLst>
              <a:ext uri="{FF2B5EF4-FFF2-40B4-BE49-F238E27FC236}">
                <a16:creationId xmlns:a16="http://schemas.microsoft.com/office/drawing/2014/main" id="{C56CF7FF-E4DB-48AC-8051-47EC39148211}"/>
              </a:ext>
            </a:extLst>
          </p:cNvPr>
          <p:cNvSpPr txBox="1">
            <a:spLocks noChangeArrowheads="1"/>
          </p:cNvSpPr>
          <p:nvPr/>
        </p:nvSpPr>
        <p:spPr bwMode="auto">
          <a:xfrm>
            <a:off x="7251700" y="3284538"/>
            <a:ext cx="1728788"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Relación</a:t>
            </a:r>
          </a:p>
          <a:p>
            <a:pPr eaLnBrk="1" hangingPunct="1">
              <a:spcBef>
                <a:spcPct val="0"/>
              </a:spcBef>
              <a:buClrTx/>
              <a:buSzTx/>
              <a:buFontTx/>
              <a:buNone/>
            </a:pPr>
            <a:r>
              <a:rPr lang="es-AR" altLang="es-ES" sz="1400">
                <a:solidFill>
                  <a:schemeClr val="folHlink"/>
                </a:solidFill>
              </a:rPr>
              <a:t>de especialización /</a:t>
            </a:r>
          </a:p>
          <a:p>
            <a:pPr eaLnBrk="1" hangingPunct="1">
              <a:spcBef>
                <a:spcPct val="0"/>
              </a:spcBef>
              <a:buClrTx/>
              <a:buSzTx/>
              <a:buFontTx/>
              <a:buNone/>
            </a:pPr>
            <a:r>
              <a:rPr lang="es-AR" altLang="es-ES" sz="1400">
                <a:solidFill>
                  <a:schemeClr val="folHlink"/>
                </a:solidFill>
              </a:rPr>
              <a:t>generalización</a:t>
            </a:r>
          </a:p>
        </p:txBody>
      </p:sp>
      <p:grpSp>
        <p:nvGrpSpPr>
          <p:cNvPr id="23573" name="Group 35">
            <a:extLst>
              <a:ext uri="{FF2B5EF4-FFF2-40B4-BE49-F238E27FC236}">
                <a16:creationId xmlns:a16="http://schemas.microsoft.com/office/drawing/2014/main" id="{C801128F-853C-43B1-BFE2-AB382DF996C6}"/>
              </a:ext>
            </a:extLst>
          </p:cNvPr>
          <p:cNvGrpSpPr>
            <a:grpSpLocks/>
          </p:cNvGrpSpPr>
          <p:nvPr/>
        </p:nvGrpSpPr>
        <p:grpSpPr bwMode="auto">
          <a:xfrm>
            <a:off x="3998913" y="1773238"/>
            <a:ext cx="1965325" cy="1482725"/>
            <a:chOff x="3336" y="1706"/>
            <a:chExt cx="1238" cy="934"/>
          </a:xfrm>
        </p:grpSpPr>
        <p:sp>
          <p:nvSpPr>
            <p:cNvPr id="23585" name="Oval 36">
              <a:extLst>
                <a:ext uri="{FF2B5EF4-FFF2-40B4-BE49-F238E27FC236}">
                  <a16:creationId xmlns:a16="http://schemas.microsoft.com/office/drawing/2014/main" id="{A1FCDABA-7D8B-4DEA-9D88-8448E015EE14}"/>
                </a:ext>
              </a:extLst>
            </p:cNvPr>
            <p:cNvSpPr>
              <a:spLocks noChangeArrowheads="1"/>
            </p:cNvSpPr>
            <p:nvPr/>
          </p:nvSpPr>
          <p:spPr bwMode="auto">
            <a:xfrm>
              <a:off x="3336" y="2024"/>
              <a:ext cx="507"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A.C.</a:t>
              </a:r>
              <a:endParaRPr lang="es-AR" altLang="es-ES" sz="1400">
                <a:solidFill>
                  <a:schemeClr val="folHlink"/>
                </a:solidFill>
              </a:endParaRPr>
            </a:p>
          </p:txBody>
        </p:sp>
        <p:sp>
          <p:nvSpPr>
            <p:cNvPr id="23586" name="Oval 37">
              <a:extLst>
                <a:ext uri="{FF2B5EF4-FFF2-40B4-BE49-F238E27FC236}">
                  <a16:creationId xmlns:a16="http://schemas.microsoft.com/office/drawing/2014/main" id="{C3D2FD10-CDA9-422E-89F7-2083A968D9C0}"/>
                </a:ext>
              </a:extLst>
            </p:cNvPr>
            <p:cNvSpPr>
              <a:spLocks noChangeArrowheads="1"/>
            </p:cNvSpPr>
            <p:nvPr/>
          </p:nvSpPr>
          <p:spPr bwMode="auto">
            <a:xfrm>
              <a:off x="4041" y="2024"/>
              <a:ext cx="500"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A.S.</a:t>
              </a:r>
              <a:r>
                <a:rPr lang="es-AR" altLang="es-ES" sz="1400">
                  <a:solidFill>
                    <a:schemeClr val="folHlink"/>
                  </a:solidFill>
                </a:rPr>
                <a:t> </a:t>
              </a:r>
            </a:p>
          </p:txBody>
        </p:sp>
        <p:sp>
          <p:nvSpPr>
            <p:cNvPr id="23587" name="Oval 38">
              <a:extLst>
                <a:ext uri="{FF2B5EF4-FFF2-40B4-BE49-F238E27FC236}">
                  <a16:creationId xmlns:a16="http://schemas.microsoft.com/office/drawing/2014/main" id="{A835B507-09CA-4BC4-A4B7-EC28E2275D75}"/>
                </a:ext>
              </a:extLst>
            </p:cNvPr>
            <p:cNvSpPr>
              <a:spLocks noChangeArrowheads="1"/>
            </p:cNvSpPr>
            <p:nvPr/>
          </p:nvSpPr>
          <p:spPr bwMode="auto">
            <a:xfrm>
              <a:off x="4021" y="2387"/>
              <a:ext cx="500"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A.S.</a:t>
              </a:r>
              <a:r>
                <a:rPr lang="es-AR" altLang="es-ES" sz="1400">
                  <a:solidFill>
                    <a:schemeClr val="folHlink"/>
                  </a:solidFill>
                </a:rPr>
                <a:t> </a:t>
              </a:r>
            </a:p>
          </p:txBody>
        </p:sp>
        <p:sp>
          <p:nvSpPr>
            <p:cNvPr id="23588" name="Oval 39">
              <a:extLst>
                <a:ext uri="{FF2B5EF4-FFF2-40B4-BE49-F238E27FC236}">
                  <a16:creationId xmlns:a16="http://schemas.microsoft.com/office/drawing/2014/main" id="{25710A3C-800F-4D88-89E0-6CBD95FDF275}"/>
                </a:ext>
              </a:extLst>
            </p:cNvPr>
            <p:cNvSpPr>
              <a:spLocks noChangeArrowheads="1"/>
            </p:cNvSpPr>
            <p:nvPr/>
          </p:nvSpPr>
          <p:spPr bwMode="auto">
            <a:xfrm>
              <a:off x="4025" y="1706"/>
              <a:ext cx="549"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r>
                <a:rPr lang="es-AR" altLang="es-ES" sz="1400"/>
                <a:t>A.S. </a:t>
              </a:r>
              <a:endParaRPr lang="es-AR" altLang="es-ES" sz="1400">
                <a:solidFill>
                  <a:schemeClr val="folHlink"/>
                </a:solidFill>
              </a:endParaRPr>
            </a:p>
          </p:txBody>
        </p:sp>
        <p:sp>
          <p:nvSpPr>
            <p:cNvPr id="23589" name="Line 40">
              <a:extLst>
                <a:ext uri="{FF2B5EF4-FFF2-40B4-BE49-F238E27FC236}">
                  <a16:creationId xmlns:a16="http://schemas.microsoft.com/office/drawing/2014/main" id="{C39E3EDF-3A00-4430-9100-10698DC5AAEC}"/>
                </a:ext>
              </a:extLst>
            </p:cNvPr>
            <p:cNvSpPr>
              <a:spLocks noChangeShapeType="1"/>
            </p:cNvSpPr>
            <p:nvPr/>
          </p:nvSpPr>
          <p:spPr bwMode="auto">
            <a:xfrm flipV="1">
              <a:off x="3787" y="1888"/>
              <a:ext cx="272" cy="18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23590" name="Line 41">
              <a:extLst>
                <a:ext uri="{FF2B5EF4-FFF2-40B4-BE49-F238E27FC236}">
                  <a16:creationId xmlns:a16="http://schemas.microsoft.com/office/drawing/2014/main" id="{4208AEA3-589B-4472-8ACE-859FB75BAA23}"/>
                </a:ext>
              </a:extLst>
            </p:cNvPr>
            <p:cNvSpPr>
              <a:spLocks noChangeShapeType="1"/>
            </p:cNvSpPr>
            <p:nvPr/>
          </p:nvSpPr>
          <p:spPr bwMode="auto">
            <a:xfrm flipV="1">
              <a:off x="3853" y="2160"/>
              <a:ext cx="181"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23591" name="Line 42">
              <a:extLst>
                <a:ext uri="{FF2B5EF4-FFF2-40B4-BE49-F238E27FC236}">
                  <a16:creationId xmlns:a16="http://schemas.microsoft.com/office/drawing/2014/main" id="{744DD5D9-4B53-465A-8055-2E6428869626}"/>
                </a:ext>
              </a:extLst>
            </p:cNvPr>
            <p:cNvSpPr>
              <a:spLocks noChangeShapeType="1"/>
            </p:cNvSpPr>
            <p:nvPr/>
          </p:nvSpPr>
          <p:spPr bwMode="auto">
            <a:xfrm>
              <a:off x="3742" y="2251"/>
              <a:ext cx="272" cy="2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sp>
        <p:nvSpPr>
          <p:cNvPr id="23574" name="Text Box 43">
            <a:extLst>
              <a:ext uri="{FF2B5EF4-FFF2-40B4-BE49-F238E27FC236}">
                <a16:creationId xmlns:a16="http://schemas.microsoft.com/office/drawing/2014/main" id="{ACF43B8B-7EAA-46BE-B208-79FEE1666ACE}"/>
              </a:ext>
            </a:extLst>
          </p:cNvPr>
          <p:cNvSpPr txBox="1">
            <a:spLocks noChangeArrowheads="1"/>
          </p:cNvSpPr>
          <p:nvPr/>
        </p:nvSpPr>
        <p:spPr bwMode="auto">
          <a:xfrm>
            <a:off x="5094288" y="3263900"/>
            <a:ext cx="124618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Atributo</a:t>
            </a:r>
          </a:p>
          <a:p>
            <a:pPr eaLnBrk="1" hangingPunct="1">
              <a:spcBef>
                <a:spcPct val="0"/>
              </a:spcBef>
              <a:buClrTx/>
              <a:buSzTx/>
              <a:buFontTx/>
              <a:buNone/>
            </a:pPr>
            <a:r>
              <a:rPr lang="es-AR" altLang="es-ES" sz="1400">
                <a:solidFill>
                  <a:schemeClr val="folHlink"/>
                </a:solidFill>
              </a:rPr>
              <a:t>multivalorado</a:t>
            </a:r>
          </a:p>
        </p:txBody>
      </p:sp>
      <p:sp>
        <p:nvSpPr>
          <p:cNvPr id="23575" name="Text Box 44">
            <a:extLst>
              <a:ext uri="{FF2B5EF4-FFF2-40B4-BE49-F238E27FC236}">
                <a16:creationId xmlns:a16="http://schemas.microsoft.com/office/drawing/2014/main" id="{C0BEC28C-1D15-4FE5-8088-C1551EF8CA41}"/>
              </a:ext>
            </a:extLst>
          </p:cNvPr>
          <p:cNvSpPr txBox="1">
            <a:spLocks noChangeArrowheads="1"/>
          </p:cNvSpPr>
          <p:nvPr/>
        </p:nvSpPr>
        <p:spPr bwMode="auto">
          <a:xfrm>
            <a:off x="7434263" y="2635250"/>
            <a:ext cx="11636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solidFill>
                  <a:schemeClr val="folHlink"/>
                </a:solidFill>
              </a:rPr>
              <a:t>Relación</a:t>
            </a:r>
          </a:p>
          <a:p>
            <a:pPr eaLnBrk="1" hangingPunct="1">
              <a:spcBef>
                <a:spcPct val="0"/>
              </a:spcBef>
              <a:buClrTx/>
              <a:buSzTx/>
              <a:buFontTx/>
              <a:buNone/>
            </a:pPr>
            <a:r>
              <a:rPr lang="es-AR" altLang="es-ES" sz="1400">
                <a:solidFill>
                  <a:schemeClr val="folHlink"/>
                </a:solidFill>
              </a:rPr>
              <a:t>de identidad</a:t>
            </a:r>
          </a:p>
        </p:txBody>
      </p:sp>
      <p:grpSp>
        <p:nvGrpSpPr>
          <p:cNvPr id="23576" name="Group 45">
            <a:extLst>
              <a:ext uri="{FF2B5EF4-FFF2-40B4-BE49-F238E27FC236}">
                <a16:creationId xmlns:a16="http://schemas.microsoft.com/office/drawing/2014/main" id="{F738404F-B346-4DFC-A4B1-D3B9AD3DC80A}"/>
              </a:ext>
            </a:extLst>
          </p:cNvPr>
          <p:cNvGrpSpPr>
            <a:grpSpLocks/>
          </p:cNvGrpSpPr>
          <p:nvPr/>
        </p:nvGrpSpPr>
        <p:grpSpPr bwMode="auto">
          <a:xfrm>
            <a:off x="6426200" y="2563813"/>
            <a:ext cx="942975" cy="647700"/>
            <a:chOff x="335" y="1842"/>
            <a:chExt cx="594" cy="408"/>
          </a:xfrm>
        </p:grpSpPr>
        <p:sp>
          <p:nvSpPr>
            <p:cNvPr id="23582" name="AutoShape 46">
              <a:extLst>
                <a:ext uri="{FF2B5EF4-FFF2-40B4-BE49-F238E27FC236}">
                  <a16:creationId xmlns:a16="http://schemas.microsoft.com/office/drawing/2014/main" id="{0117C537-F821-449E-A081-3DE111BF93BB}"/>
                </a:ext>
              </a:extLst>
            </p:cNvPr>
            <p:cNvSpPr>
              <a:spLocks noChangeArrowheads="1"/>
            </p:cNvSpPr>
            <p:nvPr/>
          </p:nvSpPr>
          <p:spPr bwMode="auto">
            <a:xfrm>
              <a:off x="431" y="1842"/>
              <a:ext cx="408" cy="408"/>
            </a:xfrm>
            <a:prstGeom prst="flowChartDecision">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23583" name="Line 47">
              <a:extLst>
                <a:ext uri="{FF2B5EF4-FFF2-40B4-BE49-F238E27FC236}">
                  <a16:creationId xmlns:a16="http://schemas.microsoft.com/office/drawing/2014/main" id="{0AF0E433-64CC-4B54-9A03-B8E48D3714E8}"/>
                </a:ext>
              </a:extLst>
            </p:cNvPr>
            <p:cNvSpPr>
              <a:spLocks noChangeShapeType="1"/>
            </p:cNvSpPr>
            <p:nvPr/>
          </p:nvSpPr>
          <p:spPr bwMode="auto">
            <a:xfrm flipH="1">
              <a:off x="335" y="2054"/>
              <a:ext cx="9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23584" name="Line 48">
              <a:extLst>
                <a:ext uri="{FF2B5EF4-FFF2-40B4-BE49-F238E27FC236}">
                  <a16:creationId xmlns:a16="http://schemas.microsoft.com/office/drawing/2014/main" id="{0A772A6A-25CB-4AC5-AE4C-9FC81F382CCF}"/>
                </a:ext>
              </a:extLst>
            </p:cNvPr>
            <p:cNvSpPr>
              <a:spLocks noChangeShapeType="1"/>
            </p:cNvSpPr>
            <p:nvPr/>
          </p:nvSpPr>
          <p:spPr bwMode="auto">
            <a:xfrm flipH="1">
              <a:off x="839" y="2049"/>
              <a:ext cx="9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23577" name="AutoShape 49">
            <a:extLst>
              <a:ext uri="{FF2B5EF4-FFF2-40B4-BE49-F238E27FC236}">
                <a16:creationId xmlns:a16="http://schemas.microsoft.com/office/drawing/2014/main" id="{88BF7EBF-207C-45A6-8B9F-B326BF1AAB1F}"/>
              </a:ext>
            </a:extLst>
          </p:cNvPr>
          <p:cNvSpPr>
            <a:spLocks noChangeArrowheads="1"/>
          </p:cNvSpPr>
          <p:nvPr/>
        </p:nvSpPr>
        <p:spPr bwMode="auto">
          <a:xfrm>
            <a:off x="6681788" y="2706688"/>
            <a:ext cx="431800" cy="360362"/>
          </a:xfrm>
          <a:prstGeom prst="flowChartDecision">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23578" name="Text Box 3">
            <a:extLst>
              <a:ext uri="{FF2B5EF4-FFF2-40B4-BE49-F238E27FC236}">
                <a16:creationId xmlns:a16="http://schemas.microsoft.com/office/drawing/2014/main" id="{7279C82C-7964-4712-BEC0-A8E7B4910016}"/>
              </a:ext>
            </a:extLst>
          </p:cNvPr>
          <p:cNvSpPr txBox="1">
            <a:spLocks noChangeArrowheads="1"/>
          </p:cNvSpPr>
          <p:nvPr/>
        </p:nvSpPr>
        <p:spPr bwMode="auto">
          <a:xfrm>
            <a:off x="3387725" y="1516063"/>
            <a:ext cx="1277938"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 Atributos</a:t>
            </a:r>
          </a:p>
        </p:txBody>
      </p:sp>
      <p:sp>
        <p:nvSpPr>
          <p:cNvPr id="23579" name="Text Box 5">
            <a:extLst>
              <a:ext uri="{FF2B5EF4-FFF2-40B4-BE49-F238E27FC236}">
                <a16:creationId xmlns:a16="http://schemas.microsoft.com/office/drawing/2014/main" id="{8DCE1438-ECC1-4AED-84B5-BC865AAFDE15}"/>
              </a:ext>
            </a:extLst>
          </p:cNvPr>
          <p:cNvSpPr txBox="1">
            <a:spLocks noChangeArrowheads="1"/>
          </p:cNvSpPr>
          <p:nvPr/>
        </p:nvSpPr>
        <p:spPr bwMode="auto">
          <a:xfrm>
            <a:off x="250825" y="1516063"/>
            <a:ext cx="1363663"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 Entidades</a:t>
            </a:r>
          </a:p>
        </p:txBody>
      </p:sp>
      <p:sp>
        <p:nvSpPr>
          <p:cNvPr id="23580" name="Text Box 7">
            <a:extLst>
              <a:ext uri="{FF2B5EF4-FFF2-40B4-BE49-F238E27FC236}">
                <a16:creationId xmlns:a16="http://schemas.microsoft.com/office/drawing/2014/main" id="{1C5EA34C-8241-473E-B3AB-01F9EEA99E5B}"/>
              </a:ext>
            </a:extLst>
          </p:cNvPr>
          <p:cNvSpPr txBox="1">
            <a:spLocks noChangeArrowheads="1"/>
          </p:cNvSpPr>
          <p:nvPr/>
        </p:nvSpPr>
        <p:spPr bwMode="auto">
          <a:xfrm>
            <a:off x="6865938" y="1484313"/>
            <a:ext cx="1455737" cy="40005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2000">
                <a:solidFill>
                  <a:schemeClr val="bg1"/>
                </a:solidFill>
              </a:rPr>
              <a:t> Relaciones</a:t>
            </a:r>
          </a:p>
        </p:txBody>
      </p:sp>
      <p:pic>
        <p:nvPicPr>
          <p:cNvPr id="23581" name="Picture 56">
            <a:extLst>
              <a:ext uri="{FF2B5EF4-FFF2-40B4-BE49-F238E27FC236}">
                <a16:creationId xmlns:a16="http://schemas.microsoft.com/office/drawing/2014/main" id="{06364C5D-4D6A-4ED7-B22B-83FE0A10A1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8" y="4278313"/>
            <a:ext cx="6419850" cy="2535237"/>
          </a:xfrm>
          <a:prstGeom prst="rect">
            <a:avLst/>
          </a:prstGeom>
          <a:noFill/>
          <a:ln w="9525"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0658" name="Picture 2" descr="C:\Users\UBA\AppData\Local\Microsoft\Windows\Temporary Internet Files\Content.IE5\IWSGRANU\ok[1].jpg">
            <a:extLst>
              <a:ext uri="{FF2B5EF4-FFF2-40B4-BE49-F238E27FC236}">
                <a16:creationId xmlns:a16="http://schemas.microsoft.com/office/drawing/2014/main" id="{81C4A8D9-5E45-47B3-BB09-C45D69DAC1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17750" y="2112963"/>
            <a:ext cx="296863"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F25800A2-0F0B-4E7D-924E-01894C40A3A0}"/>
              </a:ext>
            </a:extLst>
          </p:cNvPr>
          <p:cNvSpPr txBox="1">
            <a:spLocks noChangeArrowheads="1"/>
          </p:cNvSpPr>
          <p:nvPr/>
        </p:nvSpPr>
        <p:spPr bwMode="auto">
          <a:xfrm>
            <a:off x="523875" y="304800"/>
            <a:ext cx="8943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algn="ctr" eaLnBrk="1" hangingPunct="1">
              <a:defRPr/>
            </a:pPr>
            <a:r>
              <a:rPr lang="es-ES" altLang="es-ES" sz="4000" kern="0">
                <a:solidFill>
                  <a:schemeClr val="folHlink"/>
                </a:solidFill>
              </a:rPr>
              <a:t>Actividades</a:t>
            </a:r>
            <a:endParaRPr lang="es-AR" altLang="es-ES" sz="4000" kern="0">
              <a:solidFill>
                <a:schemeClr val="folHlink"/>
              </a:solidFill>
            </a:endParaRPr>
          </a:p>
        </p:txBody>
      </p:sp>
      <p:sp>
        <p:nvSpPr>
          <p:cNvPr id="2" name="1 CuadroTexto">
            <a:extLst>
              <a:ext uri="{FF2B5EF4-FFF2-40B4-BE49-F238E27FC236}">
                <a16:creationId xmlns:a16="http://schemas.microsoft.com/office/drawing/2014/main" id="{45104F0C-D74F-4662-B065-876F8F383322}"/>
              </a:ext>
            </a:extLst>
          </p:cNvPr>
          <p:cNvSpPr txBox="1">
            <a:spLocks noChangeArrowheads="1"/>
          </p:cNvSpPr>
          <p:nvPr/>
        </p:nvSpPr>
        <p:spPr bwMode="auto">
          <a:xfrm>
            <a:off x="239713" y="2112963"/>
            <a:ext cx="20653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b="1"/>
              <a:t>1. Diseño conceptual</a:t>
            </a:r>
          </a:p>
        </p:txBody>
      </p:sp>
      <p:sp>
        <p:nvSpPr>
          <p:cNvPr id="9" name="8 CuadroTexto">
            <a:extLst>
              <a:ext uri="{FF2B5EF4-FFF2-40B4-BE49-F238E27FC236}">
                <a16:creationId xmlns:a16="http://schemas.microsoft.com/office/drawing/2014/main" id="{AE4F25F2-FC7E-4825-A21C-CE3C1DFF117E}"/>
              </a:ext>
            </a:extLst>
          </p:cNvPr>
          <p:cNvSpPr txBox="1">
            <a:spLocks noChangeArrowheads="1"/>
          </p:cNvSpPr>
          <p:nvPr/>
        </p:nvSpPr>
        <p:spPr bwMode="auto">
          <a:xfrm>
            <a:off x="107950" y="3297238"/>
            <a:ext cx="31559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b="1"/>
              <a:t>2. El modelo de datos conceptual</a:t>
            </a:r>
          </a:p>
        </p:txBody>
      </p:sp>
      <p:sp>
        <p:nvSpPr>
          <p:cNvPr id="10" name="9 Rectángulo redondeado">
            <a:extLst>
              <a:ext uri="{FF2B5EF4-FFF2-40B4-BE49-F238E27FC236}">
                <a16:creationId xmlns:a16="http://schemas.microsoft.com/office/drawing/2014/main" id="{FF814D93-79D9-4B2C-AB0B-6C86C99FDF24}"/>
              </a:ext>
            </a:extLst>
          </p:cNvPr>
          <p:cNvSpPr>
            <a:spLocks noChangeArrowheads="1"/>
          </p:cNvSpPr>
          <p:nvPr/>
        </p:nvSpPr>
        <p:spPr bwMode="auto">
          <a:xfrm>
            <a:off x="3533775" y="2997200"/>
            <a:ext cx="1720850"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1. Entidades</a:t>
            </a:r>
          </a:p>
        </p:txBody>
      </p:sp>
      <p:sp>
        <p:nvSpPr>
          <p:cNvPr id="11" name="10 Rectángulo redondeado">
            <a:extLst>
              <a:ext uri="{FF2B5EF4-FFF2-40B4-BE49-F238E27FC236}">
                <a16:creationId xmlns:a16="http://schemas.microsoft.com/office/drawing/2014/main" id="{06D58928-10F6-407E-A478-3B8AC10F61B3}"/>
              </a:ext>
            </a:extLst>
          </p:cNvPr>
          <p:cNvSpPr>
            <a:spLocks noChangeArrowheads="1"/>
          </p:cNvSpPr>
          <p:nvPr/>
        </p:nvSpPr>
        <p:spPr bwMode="auto">
          <a:xfrm>
            <a:off x="3533775" y="3406775"/>
            <a:ext cx="1720850"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600">
              <a:solidFill>
                <a:schemeClr val="bg1"/>
              </a:solidFill>
            </a:endParaRPr>
          </a:p>
        </p:txBody>
      </p:sp>
      <p:sp>
        <p:nvSpPr>
          <p:cNvPr id="12" name="11 Rectángulo redondeado">
            <a:extLst>
              <a:ext uri="{FF2B5EF4-FFF2-40B4-BE49-F238E27FC236}">
                <a16:creationId xmlns:a16="http://schemas.microsoft.com/office/drawing/2014/main" id="{0563A379-9847-47C8-B144-EF85E6DBA049}"/>
              </a:ext>
            </a:extLst>
          </p:cNvPr>
          <p:cNvSpPr>
            <a:spLocks noChangeArrowheads="1"/>
          </p:cNvSpPr>
          <p:nvPr/>
        </p:nvSpPr>
        <p:spPr bwMode="auto">
          <a:xfrm>
            <a:off x="3541713" y="3825875"/>
            <a:ext cx="1720850" cy="374650"/>
          </a:xfrm>
          <a:prstGeom prst="roundRect">
            <a:avLst>
              <a:gd name="adj" fmla="val 16667"/>
            </a:avLst>
          </a:prstGeom>
          <a:solidFill>
            <a:srgbClr val="002060"/>
          </a:solidFill>
          <a:ln>
            <a:noFill/>
          </a:ln>
          <a:extLst>
            <a:ext uri="{91240B29-F687-4F45-9708-019B960494DF}">
              <a14:hiddenLine xmlns:a14="http://schemas.microsoft.com/office/drawing/2010/main" w="9525" algn="ctr">
                <a:solidFill>
                  <a:srgbClr val="000000"/>
                </a:solidFill>
                <a:round/>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600">
              <a:solidFill>
                <a:schemeClr val="bg1"/>
              </a:solidFill>
            </a:endParaRPr>
          </a:p>
        </p:txBody>
      </p:sp>
      <p:sp>
        <p:nvSpPr>
          <p:cNvPr id="4" name="3 Rectángulo">
            <a:extLst>
              <a:ext uri="{FF2B5EF4-FFF2-40B4-BE49-F238E27FC236}">
                <a16:creationId xmlns:a16="http://schemas.microsoft.com/office/drawing/2014/main" id="{841C4444-29AE-4A7E-947B-2A6BB5B16FF5}"/>
              </a:ext>
            </a:extLst>
          </p:cNvPr>
          <p:cNvSpPr>
            <a:spLocks noChangeArrowheads="1"/>
          </p:cNvSpPr>
          <p:nvPr/>
        </p:nvSpPr>
        <p:spPr bwMode="auto">
          <a:xfrm>
            <a:off x="3563938" y="3451225"/>
            <a:ext cx="13731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2. Relaciones</a:t>
            </a:r>
          </a:p>
        </p:txBody>
      </p:sp>
      <p:sp>
        <p:nvSpPr>
          <p:cNvPr id="5" name="4 Rectángulo">
            <a:extLst>
              <a:ext uri="{FF2B5EF4-FFF2-40B4-BE49-F238E27FC236}">
                <a16:creationId xmlns:a16="http://schemas.microsoft.com/office/drawing/2014/main" id="{996FAD4A-86EB-4143-B17D-F9B61AC864B5}"/>
              </a:ext>
            </a:extLst>
          </p:cNvPr>
          <p:cNvSpPr>
            <a:spLocks noChangeArrowheads="1"/>
          </p:cNvSpPr>
          <p:nvPr/>
        </p:nvSpPr>
        <p:spPr bwMode="auto">
          <a:xfrm>
            <a:off x="3563938" y="3833813"/>
            <a:ext cx="15938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600">
                <a:solidFill>
                  <a:schemeClr val="bg1"/>
                </a:solidFill>
              </a:rPr>
              <a:t>3. Restricciones</a:t>
            </a:r>
          </a:p>
        </p:txBody>
      </p:sp>
      <p:grpSp>
        <p:nvGrpSpPr>
          <p:cNvPr id="20" name="19 Grupo">
            <a:extLst>
              <a:ext uri="{FF2B5EF4-FFF2-40B4-BE49-F238E27FC236}">
                <a16:creationId xmlns:a16="http://schemas.microsoft.com/office/drawing/2014/main" id="{87753378-0300-4297-B280-B4849D1FB7A2}"/>
              </a:ext>
            </a:extLst>
          </p:cNvPr>
          <p:cNvGrpSpPr>
            <a:grpSpLocks/>
          </p:cNvGrpSpPr>
          <p:nvPr/>
        </p:nvGrpSpPr>
        <p:grpSpPr bwMode="auto">
          <a:xfrm>
            <a:off x="2314575" y="1989138"/>
            <a:ext cx="6650038" cy="449262"/>
            <a:chOff x="2314352" y="1988840"/>
            <a:chExt cx="6650136" cy="450092"/>
          </a:xfrm>
        </p:grpSpPr>
        <p:sp>
          <p:nvSpPr>
            <p:cNvPr id="25617" name="Oval 50">
              <a:extLst>
                <a:ext uri="{FF2B5EF4-FFF2-40B4-BE49-F238E27FC236}">
                  <a16:creationId xmlns:a16="http://schemas.microsoft.com/office/drawing/2014/main" id="{3073DDF3-5D32-4B2B-B391-313ACAD2299F}"/>
                </a:ext>
              </a:extLst>
            </p:cNvPr>
            <p:cNvSpPr>
              <a:spLocks noChangeArrowheads="1"/>
            </p:cNvSpPr>
            <p:nvPr/>
          </p:nvSpPr>
          <p:spPr bwMode="auto">
            <a:xfrm>
              <a:off x="2611366" y="2006140"/>
              <a:ext cx="2896738" cy="432792"/>
            </a:xfrm>
            <a:prstGeom prst="ellipse">
              <a:avLst/>
            </a:prstGeom>
            <a:solidFill>
              <a:schemeClr val="tx2"/>
            </a:solidFill>
            <a:ln>
              <a:noFill/>
            </a:ln>
            <a:extLst>
              <a:ext uri="{91240B29-F687-4F45-9708-019B960494DF}">
                <a14:hiddenLine xmlns:a14="http://schemas.microsoft.com/office/drawing/2010/main" w="9525" algn="ctr">
                  <a:solidFill>
                    <a:srgbClr val="000000"/>
                  </a:solidFill>
                  <a:round/>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400" b="1">
                  <a:solidFill>
                    <a:schemeClr val="bg1"/>
                  </a:solidFill>
                </a:rPr>
                <a:t>Problema infológico</a:t>
              </a:r>
              <a:endParaRPr lang="es-ES" altLang="es-AR" sz="1400" b="1">
                <a:solidFill>
                  <a:schemeClr val="bg1"/>
                </a:solidFill>
              </a:endParaRPr>
            </a:p>
          </p:txBody>
        </p:sp>
        <p:sp>
          <p:nvSpPr>
            <p:cNvPr id="25618" name="Oval 50">
              <a:extLst>
                <a:ext uri="{FF2B5EF4-FFF2-40B4-BE49-F238E27FC236}">
                  <a16:creationId xmlns:a16="http://schemas.microsoft.com/office/drawing/2014/main" id="{28B1D2E2-FA26-4BAF-BA60-C290629113F3}"/>
                </a:ext>
              </a:extLst>
            </p:cNvPr>
            <p:cNvSpPr>
              <a:spLocks noChangeArrowheads="1"/>
            </p:cNvSpPr>
            <p:nvPr/>
          </p:nvSpPr>
          <p:spPr bwMode="auto">
            <a:xfrm>
              <a:off x="6012160" y="1988840"/>
              <a:ext cx="2952328" cy="432792"/>
            </a:xfrm>
            <a:prstGeom prst="ellipse">
              <a:avLst/>
            </a:prstGeom>
            <a:solidFill>
              <a:srgbClr val="C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AR" sz="1400" b="1">
                  <a:solidFill>
                    <a:schemeClr val="bg1"/>
                  </a:solidFill>
                </a:rPr>
                <a:t>Problema datalógico</a:t>
              </a:r>
              <a:endParaRPr lang="es-ES" altLang="es-AR" sz="1400" b="1">
                <a:solidFill>
                  <a:schemeClr val="bg1"/>
                </a:solidFill>
              </a:endParaRPr>
            </a:p>
          </p:txBody>
        </p:sp>
        <p:sp>
          <p:nvSpPr>
            <p:cNvPr id="25619" name="17 Rectángulo">
              <a:extLst>
                <a:ext uri="{FF2B5EF4-FFF2-40B4-BE49-F238E27FC236}">
                  <a16:creationId xmlns:a16="http://schemas.microsoft.com/office/drawing/2014/main" id="{EE4B7FDC-91AD-4D00-A8F7-491E9E774FC3}"/>
                </a:ext>
              </a:extLst>
            </p:cNvPr>
            <p:cNvSpPr>
              <a:spLocks noChangeArrowheads="1"/>
            </p:cNvSpPr>
            <p:nvPr/>
          </p:nvSpPr>
          <p:spPr bwMode="auto">
            <a:xfrm>
              <a:off x="5691460" y="2035250"/>
              <a:ext cx="288032" cy="374572"/>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25620" name="22 Rectángulo">
              <a:extLst>
                <a:ext uri="{FF2B5EF4-FFF2-40B4-BE49-F238E27FC236}">
                  <a16:creationId xmlns:a16="http://schemas.microsoft.com/office/drawing/2014/main" id="{2407EBA2-F6D2-4C75-AD88-418C7D057DED}"/>
                </a:ext>
              </a:extLst>
            </p:cNvPr>
            <p:cNvSpPr>
              <a:spLocks noChangeArrowheads="1"/>
            </p:cNvSpPr>
            <p:nvPr/>
          </p:nvSpPr>
          <p:spPr bwMode="auto">
            <a:xfrm>
              <a:off x="2314352" y="2046316"/>
              <a:ext cx="288032" cy="374572"/>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grpSp>
      <p:grpSp>
        <p:nvGrpSpPr>
          <p:cNvPr id="25" name="24 Grupo">
            <a:extLst>
              <a:ext uri="{FF2B5EF4-FFF2-40B4-BE49-F238E27FC236}">
                <a16:creationId xmlns:a16="http://schemas.microsoft.com/office/drawing/2014/main" id="{16EDD71B-6AA4-4848-9954-07A263AB1DA3}"/>
              </a:ext>
            </a:extLst>
          </p:cNvPr>
          <p:cNvGrpSpPr>
            <a:grpSpLocks/>
          </p:cNvGrpSpPr>
          <p:nvPr/>
        </p:nvGrpSpPr>
        <p:grpSpPr bwMode="auto">
          <a:xfrm>
            <a:off x="-8620125" y="5210175"/>
            <a:ext cx="5175250" cy="1387475"/>
            <a:chOff x="-3097953" y="4178401"/>
            <a:chExt cx="5175126" cy="1386938"/>
          </a:xfrm>
        </p:grpSpPr>
        <p:sp>
          <p:nvSpPr>
            <p:cNvPr id="21" name="20 CuadroTexto">
              <a:extLst>
                <a:ext uri="{FF2B5EF4-FFF2-40B4-BE49-F238E27FC236}">
                  <a16:creationId xmlns:a16="http://schemas.microsoft.com/office/drawing/2014/main" id="{EE2E378E-BDA1-40D9-95A1-076F7AD3841B}"/>
                </a:ext>
              </a:extLst>
            </p:cNvPr>
            <p:cNvSpPr txBox="1"/>
            <p:nvPr/>
          </p:nvSpPr>
          <p:spPr>
            <a:xfrm>
              <a:off x="-3097953" y="4179988"/>
              <a:ext cx="2701860" cy="1385351"/>
            </a:xfrm>
            <a:prstGeom prst="rect">
              <a:avLst/>
            </a:prstGeom>
            <a:solidFill>
              <a:schemeClr val="bg1"/>
            </a:solidFill>
            <a:ln>
              <a:solidFill>
                <a:schemeClr val="tx1"/>
              </a:solidFill>
            </a:ln>
          </p:spPr>
          <p:txBody>
            <a:bodyPr>
              <a:spAutoFit/>
            </a:bodyPr>
            <a:lstStyle/>
            <a:p>
              <a:pPr eaLnBrk="1" hangingPunct="1">
                <a:defRPr/>
              </a:pPr>
              <a:r>
                <a:rPr lang="es-AR" b="1">
                  <a:solidFill>
                    <a:schemeClr val="tx1"/>
                  </a:solidFill>
                </a:rPr>
                <a:t>Entidades / ocurrencia</a:t>
              </a:r>
            </a:p>
            <a:p>
              <a:pPr eaLnBrk="1" hangingPunct="1">
                <a:defRPr/>
              </a:pPr>
              <a:r>
                <a:rPr lang="es-AR" b="1">
                  <a:solidFill>
                    <a:schemeClr val="tx1"/>
                  </a:solidFill>
                </a:rPr>
                <a:t>Atributos</a:t>
              </a:r>
            </a:p>
            <a:p>
              <a:pPr marL="177800" indent="-177800" eaLnBrk="1" hangingPunct="1">
                <a:buFont typeface="Arial" panose="020B0604020202020204" pitchFamily="34" charset="0"/>
                <a:buChar char="•"/>
                <a:defRPr/>
              </a:pPr>
              <a:r>
                <a:rPr lang="es-AR">
                  <a:solidFill>
                    <a:schemeClr val="tx1"/>
                  </a:solidFill>
                </a:rPr>
                <a:t>obligatorio</a:t>
              </a:r>
            </a:p>
            <a:p>
              <a:pPr marL="177800" indent="-177800" eaLnBrk="1" hangingPunct="1">
                <a:buFont typeface="Arial" panose="020B0604020202020204" pitchFamily="34" charset="0"/>
                <a:buChar char="•"/>
                <a:defRPr/>
              </a:pPr>
              <a:r>
                <a:rPr lang="es-AR">
                  <a:solidFill>
                    <a:schemeClr val="tx1"/>
                  </a:solidFill>
                </a:rPr>
                <a:t>compuesto</a:t>
              </a:r>
            </a:p>
            <a:p>
              <a:pPr marL="177800" indent="-177800" eaLnBrk="1" hangingPunct="1">
                <a:buFont typeface="Arial" panose="020B0604020202020204" pitchFamily="34" charset="0"/>
                <a:buChar char="•"/>
                <a:defRPr/>
              </a:pPr>
              <a:r>
                <a:rPr lang="es-AR" err="1">
                  <a:solidFill>
                    <a:schemeClr val="tx1"/>
                  </a:solidFill>
                </a:rPr>
                <a:t>multivalorado</a:t>
              </a:r>
              <a:endParaRPr lang="es-AR">
                <a:solidFill>
                  <a:schemeClr val="tx1"/>
                </a:solidFill>
              </a:endParaRPr>
            </a:p>
            <a:p>
              <a:pPr marL="177800" indent="-177800" eaLnBrk="1" hangingPunct="1">
                <a:buFont typeface="Arial" panose="020B0604020202020204" pitchFamily="34" charset="0"/>
                <a:buChar char="•"/>
                <a:defRPr/>
              </a:pPr>
              <a:r>
                <a:rPr lang="es-AR">
                  <a:solidFill>
                    <a:schemeClr val="tx1"/>
                  </a:solidFill>
                </a:rPr>
                <a:t>derivado</a:t>
              </a:r>
            </a:p>
          </p:txBody>
        </p:sp>
        <p:sp>
          <p:nvSpPr>
            <p:cNvPr id="24" name="23 Rectángulo">
              <a:extLst>
                <a:ext uri="{FF2B5EF4-FFF2-40B4-BE49-F238E27FC236}">
                  <a16:creationId xmlns:a16="http://schemas.microsoft.com/office/drawing/2014/main" id="{475BE276-89E1-46A1-82AA-E80107D3CEC3}"/>
                </a:ext>
              </a:extLst>
            </p:cNvPr>
            <p:cNvSpPr/>
            <p:nvPr/>
          </p:nvSpPr>
          <p:spPr>
            <a:xfrm>
              <a:off x="-396093" y="4178401"/>
              <a:ext cx="2473266" cy="1385352"/>
            </a:xfrm>
            <a:prstGeom prst="rect">
              <a:avLst/>
            </a:prstGeom>
            <a:solidFill>
              <a:schemeClr val="bg1"/>
            </a:solidFill>
            <a:ln>
              <a:solidFill>
                <a:schemeClr val="tx1"/>
              </a:solidFill>
            </a:ln>
          </p:spPr>
          <p:txBody>
            <a:bodyPr>
              <a:spAutoFit/>
            </a:bodyPr>
            <a:lstStyle/>
            <a:p>
              <a:pPr eaLnBrk="1" hangingPunct="1">
                <a:defRPr/>
              </a:pPr>
              <a:r>
                <a:rPr lang="es-AR" b="1">
                  <a:solidFill>
                    <a:schemeClr val="tx1"/>
                  </a:solidFill>
                </a:rPr>
                <a:t>Relaciones</a:t>
              </a:r>
            </a:p>
            <a:p>
              <a:pPr marL="177800" indent="-177800" eaLnBrk="1" hangingPunct="1">
                <a:buFont typeface="Arial" panose="020B0604020202020204" pitchFamily="34" charset="0"/>
                <a:buChar char="•"/>
                <a:defRPr/>
              </a:pPr>
              <a:r>
                <a:rPr lang="es-AR" err="1">
                  <a:solidFill>
                    <a:schemeClr val="tx1"/>
                  </a:solidFill>
                </a:rPr>
                <a:t>Cardinalidad</a:t>
              </a:r>
              <a:endParaRPr lang="es-AR">
                <a:solidFill>
                  <a:schemeClr val="tx1"/>
                </a:solidFill>
              </a:endParaRPr>
            </a:p>
            <a:p>
              <a:pPr marL="177800" indent="-177800" eaLnBrk="1" hangingPunct="1">
                <a:buFont typeface="Arial" panose="020B0604020202020204" pitchFamily="34" charset="0"/>
                <a:buChar char="•"/>
                <a:defRPr/>
              </a:pPr>
              <a:r>
                <a:rPr lang="es-AR">
                  <a:solidFill>
                    <a:schemeClr val="tx1"/>
                  </a:solidFill>
                </a:rPr>
                <a:t>Identidad</a:t>
              </a:r>
            </a:p>
            <a:p>
              <a:pPr marL="177800" indent="-177800" eaLnBrk="1" hangingPunct="1">
                <a:buFont typeface="Arial" panose="020B0604020202020204" pitchFamily="34" charset="0"/>
                <a:buChar char="•"/>
                <a:defRPr/>
              </a:pPr>
              <a:r>
                <a:rPr lang="es-AR">
                  <a:solidFill>
                    <a:schemeClr val="tx1"/>
                  </a:solidFill>
                </a:rPr>
                <a:t>No identidad</a:t>
              </a:r>
            </a:p>
            <a:p>
              <a:pPr marL="177800" indent="-177800" eaLnBrk="1" hangingPunct="1">
                <a:buFont typeface="Arial" panose="020B0604020202020204" pitchFamily="34" charset="0"/>
                <a:buChar char="•"/>
                <a:defRPr/>
              </a:pPr>
              <a:r>
                <a:rPr lang="es-AR">
                  <a:solidFill>
                    <a:schemeClr val="tx1"/>
                  </a:solidFill>
                </a:rPr>
                <a:t>Generalización/</a:t>
              </a:r>
              <a:r>
                <a:rPr lang="es-AR" err="1">
                  <a:solidFill>
                    <a:schemeClr val="tx1"/>
                  </a:solidFill>
                </a:rPr>
                <a:t>espec</a:t>
              </a:r>
              <a:r>
                <a:rPr lang="es-AR">
                  <a:solidFill>
                    <a:schemeClr val="tx1"/>
                  </a:solidFill>
                </a:rPr>
                <a:t>.</a:t>
              </a:r>
            </a:p>
            <a:p>
              <a:pPr eaLnBrk="1" hangingPunct="1">
                <a:defRPr/>
              </a:pPr>
              <a:r>
                <a:rPr lang="es-AR" b="1">
                  <a:solidFill>
                    <a:schemeClr val="tx1"/>
                  </a:solidFill>
                </a:rPr>
                <a:t>Restricciones</a:t>
              </a:r>
            </a:p>
          </p:txBody>
        </p:sp>
      </p:grpSp>
      <p:pic>
        <p:nvPicPr>
          <p:cNvPr id="70659" name="Picture 3">
            <a:extLst>
              <a:ext uri="{FF2B5EF4-FFF2-40B4-BE49-F238E27FC236}">
                <a16:creationId xmlns:a16="http://schemas.microsoft.com/office/drawing/2014/main" id="{8CD74D35-68F3-4B84-80AA-DE049AD71A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50375" y="1530350"/>
            <a:ext cx="8986837" cy="3548063"/>
          </a:xfrm>
          <a:prstGeom prst="rect">
            <a:avLst/>
          </a:prstGeom>
          <a:solidFill>
            <a:schemeClr val="bg1"/>
          </a:solidFill>
          <a:ln w="9525">
            <a:solidFill>
              <a:schemeClr val="tx1"/>
            </a:solidFill>
            <a:miter lim="800000"/>
            <a:headEnd/>
            <a:tailEnd/>
          </a:ln>
        </p:spPr>
      </p:pic>
      <p:sp>
        <p:nvSpPr>
          <p:cNvPr id="27" name="26 Rectángulo">
            <a:extLst>
              <a:ext uri="{FF2B5EF4-FFF2-40B4-BE49-F238E27FC236}">
                <a16:creationId xmlns:a16="http://schemas.microsoft.com/office/drawing/2014/main" id="{8CC99AB6-9B3A-4C5F-A9CD-11511C3B0927}"/>
              </a:ext>
            </a:extLst>
          </p:cNvPr>
          <p:cNvSpPr>
            <a:spLocks noChangeArrowheads="1"/>
          </p:cNvSpPr>
          <p:nvPr/>
        </p:nvSpPr>
        <p:spPr bwMode="auto">
          <a:xfrm>
            <a:off x="9467850" y="1844675"/>
            <a:ext cx="1512888" cy="565150"/>
          </a:xfrm>
          <a:prstGeom prst="rect">
            <a:avLst/>
          </a:prstGeom>
          <a:solidFill>
            <a:schemeClr val="bg1"/>
          </a:solidFill>
          <a:ln w="9525" algn="ctr">
            <a:solidFill>
              <a:schemeClr val="tx1"/>
            </a:solidFill>
            <a:round/>
            <a:headEnd/>
            <a:tailEnd/>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nodeType="afterGroup">
                            <p:stCondLst>
                              <p:cond delay="0"/>
                            </p:stCondLst>
                            <p:childTnLst>
                              <p:par>
                                <p:cTn id="8" presetID="1" presetClass="entr" presetSubtype="0" fill="hold" nodeType="afterEffect">
                                  <p:stCondLst>
                                    <p:cond delay="0"/>
                                  </p:stCondLst>
                                  <p:childTnLst>
                                    <p:set>
                                      <p:cBhvr>
                                        <p:cTn id="9" dur="1" fill="hold">
                                          <p:stCondLst>
                                            <p:cond delay="0"/>
                                          </p:stCondLst>
                                        </p:cTn>
                                        <p:tgtEl>
                                          <p:spTgt spid="20"/>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0"/>
                                          </p:stCondLst>
                                        </p:cTn>
                                        <p:tgtEl>
                                          <p:spTgt spid="70658"/>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childTnLst>
                                </p:cTn>
                              </p:par>
                              <p:par>
                                <p:cTn id="18" presetID="42"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1000"/>
                                        <p:tgtEl>
                                          <p:spTgt spid="11"/>
                                        </p:tgtEl>
                                      </p:cBhvr>
                                    </p:animEffect>
                                    <p:anim calcmode="lin" valueType="num">
                                      <p:cBhvr>
                                        <p:cTn id="26" dur="1000" fill="hold"/>
                                        <p:tgtEl>
                                          <p:spTgt spid="11"/>
                                        </p:tgtEl>
                                        <p:attrNameLst>
                                          <p:attrName>ppt_x</p:attrName>
                                        </p:attrNameLst>
                                      </p:cBhvr>
                                      <p:tavLst>
                                        <p:tav tm="0">
                                          <p:val>
                                            <p:strVal val="#ppt_x"/>
                                          </p:val>
                                        </p:tav>
                                        <p:tav tm="100000">
                                          <p:val>
                                            <p:strVal val="#ppt_x"/>
                                          </p:val>
                                        </p:tav>
                                      </p:tavLst>
                                    </p:anim>
                                    <p:anim calcmode="lin" valueType="num">
                                      <p:cBhvr>
                                        <p:cTn id="27" dur="1000" fill="hold"/>
                                        <p:tgtEl>
                                          <p:spTgt spid="11"/>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800"/>
                                        <p:tgtEl>
                                          <p:spTgt spid="12"/>
                                        </p:tgtEl>
                                      </p:cBhvr>
                                    </p:animEffect>
                                    <p:anim calcmode="lin" valueType="num">
                                      <p:cBhvr>
                                        <p:cTn id="31" dur="800" fill="hold"/>
                                        <p:tgtEl>
                                          <p:spTgt spid="12"/>
                                        </p:tgtEl>
                                        <p:attrNameLst>
                                          <p:attrName>ppt_x</p:attrName>
                                        </p:attrNameLst>
                                      </p:cBhvr>
                                      <p:tavLst>
                                        <p:tav tm="0">
                                          <p:val>
                                            <p:strVal val="#ppt_x"/>
                                          </p:val>
                                        </p:tav>
                                        <p:tav tm="100000">
                                          <p:val>
                                            <p:strVal val="#ppt_x"/>
                                          </p:val>
                                        </p:tav>
                                      </p:tavLst>
                                    </p:anim>
                                    <p:anim calcmode="lin" valueType="num">
                                      <p:cBhvr>
                                        <p:cTn id="32" dur="8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par>
                          <p:cTn id="37" fill="hold" nodeType="afterGroup">
                            <p:stCondLst>
                              <p:cond delay="0"/>
                            </p:stCondLst>
                            <p:childTnLst>
                              <p:par>
                                <p:cTn id="38" presetID="1" presetClass="entr" presetSubtype="0" fill="hold" grpId="0" nodeType="afterEffect">
                                  <p:stCondLst>
                                    <p:cond delay="500"/>
                                  </p:stCondLst>
                                  <p:childTnLst>
                                    <p:set>
                                      <p:cBhvr>
                                        <p:cTn id="39" dur="1" fill="hold">
                                          <p:stCondLst>
                                            <p:cond delay="0"/>
                                          </p:stCondLst>
                                        </p:cTn>
                                        <p:tgtEl>
                                          <p:spTgt spid="5"/>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63" presetClass="path" presetSubtype="0" accel="50000" decel="50000" fill="hold" nodeType="clickEffect">
                                  <p:stCondLst>
                                    <p:cond delay="0"/>
                                  </p:stCondLst>
                                  <p:childTnLst>
                                    <p:animMotion origin="layout" path="M -3.61111E-6 -2.96296E-6 L 1.00747 0.00787 " pathEditMode="relative" rAng="0" ptsTypes="AA">
                                      <p:cBhvr>
                                        <p:cTn id="43" dur="2000" fill="hold"/>
                                        <p:tgtEl>
                                          <p:spTgt spid="70659"/>
                                        </p:tgtEl>
                                        <p:attrNameLst>
                                          <p:attrName>ppt_x</p:attrName>
                                          <p:attrName>ppt_y</p:attrName>
                                        </p:attrNameLst>
                                      </p:cBhvr>
                                      <p:rCtr x="50382" y="394"/>
                                    </p:animMotion>
                                  </p:childTnLst>
                                </p:cTn>
                              </p:par>
                              <p:par>
                                <p:cTn id="44" presetID="63" presetClass="path" presetSubtype="0" accel="50000" decel="50000" fill="hold" nodeType="withEffect">
                                  <p:stCondLst>
                                    <p:cond delay="0"/>
                                  </p:stCondLst>
                                  <p:childTnLst>
                                    <p:animMotion origin="layout" path="M 2.22222E-6 3.7037E-7 L 1.17552 0.00671 " pathEditMode="relative" rAng="0" ptsTypes="AA">
                                      <p:cBhvr>
                                        <p:cTn id="45" dur="2000" fill="hold"/>
                                        <p:tgtEl>
                                          <p:spTgt spid="25"/>
                                        </p:tgtEl>
                                        <p:attrNameLst>
                                          <p:attrName>ppt_x</p:attrName>
                                          <p:attrName>ppt_y</p:attrName>
                                        </p:attrNameLst>
                                      </p:cBhvr>
                                      <p:rCtr x="58785" y="324"/>
                                    </p:animMotion>
                                  </p:childTnLst>
                                </p:cTn>
                              </p:par>
                            </p:childTnLst>
                          </p:cTn>
                        </p:par>
                        <p:par>
                          <p:cTn id="46" fill="hold" nodeType="afterGroup">
                            <p:stCondLst>
                              <p:cond delay="2000"/>
                            </p:stCondLst>
                            <p:childTnLst>
                              <p:par>
                                <p:cTn id="47" presetID="35" presetClass="path" presetSubtype="0" accel="50000" decel="50000" fill="hold" grpId="0" nodeType="afterEffect">
                                  <p:stCondLst>
                                    <p:cond delay="0"/>
                                  </p:stCondLst>
                                  <p:childTnLst>
                                    <p:animMotion origin="layout" path="M 0 0 L -0.25 0 E" pathEditMode="relative" ptsTypes="">
                                      <p:cBhvr>
                                        <p:cTn id="48" dur="2000" fill="hold"/>
                                        <p:tgtEl>
                                          <p:spTgt spid="2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animBg="1"/>
      <p:bldP spid="11" grpId="0" animBg="1"/>
      <p:bldP spid="12" grpId="0" animBg="1"/>
      <p:bldP spid="4" grpId="0"/>
      <p:bldP spid="5" grpId="0"/>
      <p:bldP spid="2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FF9EF6C-F1A2-49B4-800C-C76E233416DD}"/>
              </a:ext>
            </a:extLst>
          </p:cNvPr>
          <p:cNvSpPr txBox="1">
            <a:spLocks noChangeArrowheads="1"/>
          </p:cNvSpPr>
          <p:nvPr/>
        </p:nvSpPr>
        <p:spPr bwMode="auto">
          <a:xfrm>
            <a:off x="0" y="304800"/>
            <a:ext cx="8943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algn="ctr" eaLnBrk="1" hangingPunct="1">
              <a:defRPr/>
            </a:pPr>
            <a:r>
              <a:rPr lang="es-ES" altLang="es-ES" kern="0">
                <a:solidFill>
                  <a:schemeClr val="folHlink"/>
                </a:solidFill>
              </a:rPr>
              <a:t>Ejercicio</a:t>
            </a:r>
            <a:endParaRPr lang="es-AR" altLang="es-ES" kern="0">
              <a:solidFill>
                <a:schemeClr val="folHlink"/>
              </a:solidFill>
            </a:endParaRPr>
          </a:p>
        </p:txBody>
      </p:sp>
      <p:sp>
        <p:nvSpPr>
          <p:cNvPr id="27651" name="3 CuadroTexto">
            <a:extLst>
              <a:ext uri="{FF2B5EF4-FFF2-40B4-BE49-F238E27FC236}">
                <a16:creationId xmlns:a16="http://schemas.microsoft.com/office/drawing/2014/main" id="{106516A4-100C-4366-827A-E1D5206A7471}"/>
              </a:ext>
            </a:extLst>
          </p:cNvPr>
          <p:cNvSpPr txBox="1">
            <a:spLocks noChangeArrowheads="1"/>
          </p:cNvSpPr>
          <p:nvPr/>
        </p:nvSpPr>
        <p:spPr bwMode="auto">
          <a:xfrm>
            <a:off x="684213" y="1844675"/>
            <a:ext cx="81359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1800" dirty="0">
                <a:solidFill>
                  <a:schemeClr val="folHlink"/>
                </a:solidFill>
              </a:rPr>
              <a:t>Completar el siguiente MER con las entidades y atributos listados a continuación. Indicar también los tipos de relación en cada caso.</a:t>
            </a:r>
          </a:p>
        </p:txBody>
      </p:sp>
      <p:sp>
        <p:nvSpPr>
          <p:cNvPr id="2" name="CuadroTexto 1">
            <a:extLst>
              <a:ext uri="{FF2B5EF4-FFF2-40B4-BE49-F238E27FC236}">
                <a16:creationId xmlns:a16="http://schemas.microsoft.com/office/drawing/2014/main" id="{3A329DF8-47CB-47BC-CECF-149219D89CAF}"/>
              </a:ext>
            </a:extLst>
          </p:cNvPr>
          <p:cNvSpPr txBox="1"/>
          <p:nvPr/>
        </p:nvSpPr>
        <p:spPr>
          <a:xfrm>
            <a:off x="323850" y="2887663"/>
            <a:ext cx="8620125" cy="3938066"/>
          </a:xfrm>
          <a:prstGeom prst="rect">
            <a:avLst/>
          </a:prstGeom>
          <a:noFill/>
        </p:spPr>
        <p:txBody>
          <a:bodyPr wrap="square" rtlCol="0">
            <a:spAutoFit/>
          </a:bodyPr>
          <a:lstStyle/>
          <a:p>
            <a:pPr>
              <a:lnSpc>
                <a:spcPct val="107000"/>
              </a:lnSpc>
              <a:spcAft>
                <a:spcPts val="800"/>
              </a:spcAft>
            </a:pPr>
            <a:r>
              <a:rPr lang="es-AR" sz="1600" kern="100" dirty="0">
                <a:effectLst/>
                <a:latin typeface="Aptos" panose="020B0004020202020204" pitchFamily="34" charset="0"/>
                <a:ea typeface="Aptos" panose="020B0004020202020204" pitchFamily="34" charset="0"/>
                <a:cs typeface="Times New Roman" panose="02020603050405020304" pitchFamily="18" charset="0"/>
              </a:rPr>
              <a:t>En la universidad </a:t>
            </a:r>
            <a:r>
              <a:rPr lang="es-AR" sz="1600" kern="100" dirty="0" err="1">
                <a:effectLst/>
                <a:latin typeface="Aptos" panose="020B0004020202020204" pitchFamily="34" charset="0"/>
                <a:ea typeface="Aptos" panose="020B0004020202020204" pitchFamily="34" charset="0"/>
                <a:cs typeface="Times New Roman" panose="02020603050405020304" pitchFamily="18" charset="0"/>
              </a:rPr>
              <a:t>AprendeTodo</a:t>
            </a:r>
            <a:r>
              <a:rPr lang="es-AR" sz="1600" kern="100" dirty="0">
                <a:effectLst/>
                <a:latin typeface="Aptos" panose="020B0004020202020204" pitchFamily="34" charset="0"/>
                <a:ea typeface="Aptos" panose="020B0004020202020204" pitchFamily="34" charset="0"/>
                <a:cs typeface="Times New Roman" panose="02020603050405020304" pitchFamily="18" charset="0"/>
              </a:rPr>
              <a:t>, se debe registrar la inscripción de los alumnos a las materias de las distintas carreras disponibles. Todas las carreras están registradas con un código de carrera, una descripción y el conjunto de materias que forma parte de ella. (cada materia cuenta con una descripción y un código). Cada alumno posee un número de registro mientras que cada docente de la universidad tiene un número de legajo, pero para ambos casos se deben registrar sus respectivos nombres, apellidos, DNI, edad y sus diversos teléfonos. Cuando un alumno ingresa en una carrera, el sistema debe registrar la fecha de ingreso, pudiendo cada alumno estar registrado en varias carreras de forma simultanea y / o consecutiva. Al mismo tiempo, cuando el alumno se inscribe en las materias, el sistema generar un registro identificado con un número de inscripción, que indica la fecha de la inscripción y las materias específicas a la que se anotó. </a:t>
            </a:r>
          </a:p>
          <a:p>
            <a:pPr>
              <a:lnSpc>
                <a:spcPct val="107000"/>
              </a:lnSpc>
              <a:spcAft>
                <a:spcPts val="800"/>
              </a:spcAft>
            </a:pPr>
            <a:r>
              <a:rPr lang="es-AR" sz="1600" kern="100" dirty="0">
                <a:effectLst/>
                <a:latin typeface="Aptos" panose="020B0004020202020204" pitchFamily="34" charset="0"/>
                <a:ea typeface="Aptos" panose="020B0004020202020204" pitchFamily="34" charset="0"/>
                <a:cs typeface="Times New Roman" panose="02020603050405020304" pitchFamily="18" charset="0"/>
              </a:rPr>
              <a:t>Adicionalmente, los docentes, deben tener registrado su salario y antigüedad en la universidad junto con el detalle de títulos de las respectivas formaciones docentes a las que asistieron y las fechas de los mismos.</a:t>
            </a:r>
          </a:p>
          <a:p>
            <a:endParaRPr lang="es-AR" dirty="0"/>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5FF9EF6C-F1A2-49B4-800C-C76E233416DD}"/>
              </a:ext>
            </a:extLst>
          </p:cNvPr>
          <p:cNvSpPr txBox="1">
            <a:spLocks noChangeArrowheads="1"/>
          </p:cNvSpPr>
          <p:nvPr/>
        </p:nvSpPr>
        <p:spPr bwMode="auto">
          <a:xfrm>
            <a:off x="0" y="304800"/>
            <a:ext cx="8943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algn="ctr" eaLnBrk="1" hangingPunct="1">
              <a:defRPr/>
            </a:pPr>
            <a:r>
              <a:rPr lang="es-ES" altLang="es-ES" kern="0">
                <a:solidFill>
                  <a:schemeClr val="folHlink"/>
                </a:solidFill>
              </a:rPr>
              <a:t>Ejercicio</a:t>
            </a:r>
            <a:endParaRPr lang="es-AR" altLang="es-ES" kern="0">
              <a:solidFill>
                <a:schemeClr val="folHlink"/>
              </a:solidFill>
            </a:endParaRPr>
          </a:p>
        </p:txBody>
      </p:sp>
      <p:sp>
        <p:nvSpPr>
          <p:cNvPr id="27651" name="3 CuadroTexto">
            <a:extLst>
              <a:ext uri="{FF2B5EF4-FFF2-40B4-BE49-F238E27FC236}">
                <a16:creationId xmlns:a16="http://schemas.microsoft.com/office/drawing/2014/main" id="{106516A4-100C-4366-827A-E1D5206A7471}"/>
              </a:ext>
            </a:extLst>
          </p:cNvPr>
          <p:cNvSpPr txBox="1">
            <a:spLocks noChangeArrowheads="1"/>
          </p:cNvSpPr>
          <p:nvPr/>
        </p:nvSpPr>
        <p:spPr bwMode="auto">
          <a:xfrm>
            <a:off x="684213" y="1844675"/>
            <a:ext cx="813593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 typeface="Wingdings" panose="05000000000000000000" pitchFamily="2" charset="2"/>
              <a:buNone/>
            </a:pPr>
            <a:r>
              <a:rPr lang="es-ES" altLang="es-ES" sz="1800">
                <a:solidFill>
                  <a:schemeClr val="folHlink"/>
                </a:solidFill>
              </a:rPr>
              <a:t>Completar el siguiente MER con las entidades y atributos listados a continuación. Indicar también los tipos de relación en cada caso.</a:t>
            </a:r>
          </a:p>
        </p:txBody>
      </p:sp>
      <p:sp>
        <p:nvSpPr>
          <p:cNvPr id="27652" name="46 CuadroTexto">
            <a:extLst>
              <a:ext uri="{FF2B5EF4-FFF2-40B4-BE49-F238E27FC236}">
                <a16:creationId xmlns:a16="http://schemas.microsoft.com/office/drawing/2014/main" id="{E0417146-CB34-4500-828C-C8C0A04B15A7}"/>
              </a:ext>
            </a:extLst>
          </p:cNvPr>
          <p:cNvSpPr txBox="1">
            <a:spLocks noChangeArrowheads="1"/>
          </p:cNvSpPr>
          <p:nvPr/>
        </p:nvSpPr>
        <p:spPr bwMode="auto">
          <a:xfrm>
            <a:off x="1106488" y="2781300"/>
            <a:ext cx="2601912"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AR" sz="1600">
                <a:solidFill>
                  <a:schemeClr val="folHlink"/>
                </a:solidFill>
              </a:rPr>
              <a:t>Docente</a:t>
            </a:r>
          </a:p>
          <a:p>
            <a:pPr eaLnBrk="1" hangingPunct="1">
              <a:spcBef>
                <a:spcPct val="0"/>
              </a:spcBef>
              <a:buClrTx/>
              <a:buSzTx/>
              <a:buFontTx/>
              <a:buNone/>
            </a:pPr>
            <a:r>
              <a:rPr lang="es-ES" altLang="es-AR" sz="1600">
                <a:solidFill>
                  <a:schemeClr val="folHlink"/>
                </a:solidFill>
              </a:rPr>
              <a:t>Inscripción</a:t>
            </a:r>
          </a:p>
          <a:p>
            <a:pPr eaLnBrk="1" hangingPunct="1">
              <a:spcBef>
                <a:spcPct val="0"/>
              </a:spcBef>
              <a:buClrTx/>
              <a:buSzTx/>
              <a:buFontTx/>
              <a:buNone/>
            </a:pPr>
            <a:r>
              <a:rPr lang="es-ES" altLang="es-AR" sz="1600">
                <a:solidFill>
                  <a:schemeClr val="folHlink"/>
                </a:solidFill>
              </a:rPr>
              <a:t>Nombre</a:t>
            </a:r>
          </a:p>
          <a:p>
            <a:pPr eaLnBrk="1" hangingPunct="1">
              <a:spcBef>
                <a:spcPct val="0"/>
              </a:spcBef>
              <a:buClrTx/>
              <a:buSzTx/>
              <a:buFontTx/>
              <a:buNone/>
            </a:pPr>
            <a:r>
              <a:rPr lang="es-ES" altLang="es-AR" sz="1600">
                <a:solidFill>
                  <a:schemeClr val="folHlink"/>
                </a:solidFill>
              </a:rPr>
              <a:t>Antig</a:t>
            </a:r>
            <a:r>
              <a:rPr lang="es-ES" altLang="es-AR" sz="1600">
                <a:solidFill>
                  <a:schemeClr val="folHlink"/>
                </a:solidFill>
                <a:latin typeface="Arial" panose="020B0604020202020204" pitchFamily="34" charset="0"/>
                <a:cs typeface="Arial" panose="020B0604020202020204" pitchFamily="34" charset="0"/>
              </a:rPr>
              <a:t>ü</a:t>
            </a:r>
            <a:r>
              <a:rPr lang="es-ES" altLang="es-AR" sz="1600">
                <a:solidFill>
                  <a:schemeClr val="folHlink"/>
                </a:solidFill>
              </a:rPr>
              <a:t>edad</a:t>
            </a:r>
          </a:p>
          <a:p>
            <a:pPr eaLnBrk="1" hangingPunct="1">
              <a:spcBef>
                <a:spcPct val="0"/>
              </a:spcBef>
              <a:buClrTx/>
              <a:buSzTx/>
              <a:buFontTx/>
              <a:buNone/>
            </a:pPr>
            <a:r>
              <a:rPr lang="es-ES" altLang="es-AR" sz="1600">
                <a:solidFill>
                  <a:schemeClr val="folHlink"/>
                </a:solidFill>
              </a:rPr>
              <a:t>Salario</a:t>
            </a:r>
          </a:p>
          <a:p>
            <a:pPr eaLnBrk="1" hangingPunct="1">
              <a:spcBef>
                <a:spcPct val="0"/>
              </a:spcBef>
              <a:buClrTx/>
              <a:buSzTx/>
              <a:buFontTx/>
              <a:buNone/>
            </a:pPr>
            <a:r>
              <a:rPr lang="es-ES" altLang="es-AR" sz="1600">
                <a:solidFill>
                  <a:schemeClr val="folHlink"/>
                </a:solidFill>
              </a:rPr>
              <a:t>Persona</a:t>
            </a:r>
          </a:p>
          <a:p>
            <a:pPr eaLnBrk="1" hangingPunct="1">
              <a:spcBef>
                <a:spcPct val="0"/>
              </a:spcBef>
              <a:buClrTx/>
              <a:buSzTx/>
              <a:buFontTx/>
              <a:buNone/>
            </a:pPr>
            <a:r>
              <a:rPr lang="es-ES" altLang="es-AR" sz="1600">
                <a:solidFill>
                  <a:schemeClr val="folHlink"/>
                </a:solidFill>
              </a:rPr>
              <a:t>Fecha Inscripción</a:t>
            </a:r>
          </a:p>
          <a:p>
            <a:pPr eaLnBrk="1" hangingPunct="1">
              <a:spcBef>
                <a:spcPct val="0"/>
              </a:spcBef>
              <a:buClrTx/>
              <a:buSzTx/>
              <a:buFontTx/>
              <a:buNone/>
            </a:pPr>
            <a:r>
              <a:rPr lang="es-ES" altLang="es-AR" sz="1600">
                <a:solidFill>
                  <a:schemeClr val="folHlink"/>
                </a:solidFill>
              </a:rPr>
              <a:t>Teléfono</a:t>
            </a:r>
          </a:p>
          <a:p>
            <a:pPr eaLnBrk="1" hangingPunct="1">
              <a:spcBef>
                <a:spcPct val="0"/>
              </a:spcBef>
              <a:buClrTx/>
              <a:buSzTx/>
              <a:buFontTx/>
              <a:buNone/>
            </a:pPr>
            <a:r>
              <a:rPr lang="es-ES" altLang="es-AR" sz="1600">
                <a:solidFill>
                  <a:schemeClr val="folHlink"/>
                </a:solidFill>
              </a:rPr>
              <a:t>Formación Docente</a:t>
            </a:r>
          </a:p>
          <a:p>
            <a:pPr eaLnBrk="1" hangingPunct="1">
              <a:spcBef>
                <a:spcPct val="0"/>
              </a:spcBef>
              <a:buClrTx/>
              <a:buSzTx/>
              <a:buFontTx/>
              <a:buNone/>
            </a:pPr>
            <a:r>
              <a:rPr lang="es-ES" altLang="es-AR" sz="1600">
                <a:solidFill>
                  <a:schemeClr val="folHlink"/>
                </a:solidFill>
              </a:rPr>
              <a:t>Código Materia</a:t>
            </a:r>
          </a:p>
          <a:p>
            <a:pPr eaLnBrk="1" hangingPunct="1">
              <a:spcBef>
                <a:spcPct val="0"/>
              </a:spcBef>
              <a:buClrTx/>
              <a:buSzTx/>
              <a:buFontTx/>
              <a:buNone/>
            </a:pPr>
            <a:endParaRPr lang="es-ES" altLang="es-AR" sz="1600">
              <a:solidFill>
                <a:schemeClr val="folHlink"/>
              </a:solidFill>
            </a:endParaRPr>
          </a:p>
        </p:txBody>
      </p:sp>
      <p:sp>
        <p:nvSpPr>
          <p:cNvPr id="27653" name="97 CuadroTexto">
            <a:extLst>
              <a:ext uri="{FF2B5EF4-FFF2-40B4-BE49-F238E27FC236}">
                <a16:creationId xmlns:a16="http://schemas.microsoft.com/office/drawing/2014/main" id="{4D5FFD64-2E45-403B-A588-2224C9C4B79A}"/>
              </a:ext>
            </a:extLst>
          </p:cNvPr>
          <p:cNvSpPr txBox="1">
            <a:spLocks noChangeArrowheads="1"/>
          </p:cNvSpPr>
          <p:nvPr/>
        </p:nvSpPr>
        <p:spPr bwMode="auto">
          <a:xfrm>
            <a:off x="3771900" y="2781300"/>
            <a:ext cx="2601913"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AR" sz="1600" dirty="0">
                <a:solidFill>
                  <a:schemeClr val="folHlink"/>
                </a:solidFill>
                <a:latin typeface="Tahoma"/>
                <a:ea typeface="Tahoma"/>
                <a:cs typeface="Tahoma"/>
              </a:rPr>
              <a:t>Código Carrera</a:t>
            </a:r>
          </a:p>
          <a:p>
            <a:pPr eaLnBrk="1" hangingPunct="1">
              <a:spcBef>
                <a:spcPct val="0"/>
              </a:spcBef>
              <a:buClrTx/>
              <a:buSzTx/>
              <a:buFontTx/>
              <a:buNone/>
            </a:pPr>
            <a:r>
              <a:rPr lang="es-ES" altLang="es-AR" sz="1600" dirty="0">
                <a:solidFill>
                  <a:schemeClr val="folHlink"/>
                </a:solidFill>
                <a:latin typeface="Tahoma"/>
                <a:ea typeface="Tahoma"/>
                <a:cs typeface="Tahoma"/>
              </a:rPr>
              <a:t>Nro. Inscripción</a:t>
            </a:r>
          </a:p>
          <a:p>
            <a:pPr eaLnBrk="1" hangingPunct="1">
              <a:spcBef>
                <a:spcPct val="0"/>
              </a:spcBef>
              <a:buClrTx/>
              <a:buSzTx/>
              <a:buFontTx/>
              <a:buNone/>
            </a:pPr>
            <a:r>
              <a:rPr lang="es-ES" altLang="es-AR" sz="1600" dirty="0">
                <a:solidFill>
                  <a:schemeClr val="folHlink"/>
                </a:solidFill>
                <a:latin typeface="Tahoma"/>
                <a:ea typeface="Tahoma"/>
                <a:cs typeface="Tahoma"/>
              </a:rPr>
              <a:t>Fecha Formación</a:t>
            </a:r>
          </a:p>
          <a:p>
            <a:pPr eaLnBrk="1" hangingPunct="1">
              <a:spcBef>
                <a:spcPct val="0"/>
              </a:spcBef>
              <a:buClrTx/>
              <a:buSzTx/>
              <a:buFontTx/>
              <a:buNone/>
            </a:pPr>
            <a:r>
              <a:rPr lang="es-ES" altLang="es-AR" sz="1600" dirty="0">
                <a:solidFill>
                  <a:schemeClr val="folHlink"/>
                </a:solidFill>
                <a:latin typeface="Tahoma"/>
                <a:ea typeface="Tahoma"/>
                <a:cs typeface="Tahoma"/>
              </a:rPr>
              <a:t>Nro. Registro</a:t>
            </a:r>
          </a:p>
          <a:p>
            <a:pPr eaLnBrk="1" hangingPunct="1">
              <a:spcBef>
                <a:spcPct val="0"/>
              </a:spcBef>
              <a:buClrTx/>
              <a:buSzTx/>
              <a:buFontTx/>
              <a:buNone/>
            </a:pPr>
            <a:r>
              <a:rPr lang="es-ES" altLang="es-AR" sz="1600" dirty="0">
                <a:solidFill>
                  <a:schemeClr val="folHlink"/>
                </a:solidFill>
                <a:latin typeface="Tahoma"/>
                <a:ea typeface="Tahoma"/>
                <a:cs typeface="Tahoma"/>
              </a:rPr>
              <a:t>Fecha Ingreso</a:t>
            </a:r>
          </a:p>
          <a:p>
            <a:pPr eaLnBrk="1" hangingPunct="1">
              <a:spcBef>
                <a:spcPct val="0"/>
              </a:spcBef>
              <a:buClrTx/>
              <a:buSzTx/>
              <a:buFontTx/>
              <a:buNone/>
            </a:pPr>
            <a:r>
              <a:rPr lang="es-ES" altLang="es-AR" sz="1600" dirty="0">
                <a:solidFill>
                  <a:schemeClr val="folHlink"/>
                </a:solidFill>
                <a:latin typeface="Tahoma"/>
                <a:ea typeface="Tahoma"/>
                <a:cs typeface="Tahoma"/>
              </a:rPr>
              <a:t>Descripción Materia</a:t>
            </a:r>
          </a:p>
          <a:p>
            <a:pPr eaLnBrk="1" hangingPunct="1">
              <a:spcBef>
                <a:spcPct val="0"/>
              </a:spcBef>
              <a:buClrTx/>
              <a:buSzTx/>
              <a:buFontTx/>
              <a:buNone/>
            </a:pPr>
            <a:r>
              <a:rPr lang="es-ES" altLang="es-AR" sz="1600" dirty="0">
                <a:solidFill>
                  <a:schemeClr val="folHlink"/>
                </a:solidFill>
                <a:latin typeface="Tahoma"/>
                <a:ea typeface="Tahoma"/>
                <a:cs typeface="Tahoma"/>
              </a:rPr>
              <a:t>Legajo</a:t>
            </a:r>
          </a:p>
          <a:p>
            <a:pPr eaLnBrk="1" hangingPunct="1">
              <a:spcBef>
                <a:spcPct val="0"/>
              </a:spcBef>
              <a:buClrTx/>
              <a:buSzTx/>
              <a:buFontTx/>
              <a:buNone/>
            </a:pPr>
            <a:r>
              <a:rPr lang="es-ES" altLang="es-AR" sz="1600" dirty="0">
                <a:solidFill>
                  <a:schemeClr val="folHlink"/>
                </a:solidFill>
                <a:latin typeface="Tahoma"/>
                <a:ea typeface="Tahoma"/>
                <a:cs typeface="Tahoma"/>
              </a:rPr>
              <a:t>Descripción Carrera</a:t>
            </a:r>
          </a:p>
          <a:p>
            <a:pPr eaLnBrk="1" hangingPunct="1">
              <a:spcBef>
                <a:spcPct val="0"/>
              </a:spcBef>
              <a:buClrTx/>
              <a:buSzTx/>
              <a:buFontTx/>
              <a:buNone/>
            </a:pPr>
            <a:r>
              <a:rPr lang="es-ES" altLang="es-AR" sz="1600" dirty="0">
                <a:solidFill>
                  <a:schemeClr val="folHlink"/>
                </a:solidFill>
                <a:latin typeface="Tahoma"/>
                <a:ea typeface="Tahoma"/>
                <a:cs typeface="Tahoma"/>
              </a:rPr>
              <a:t>Edad</a:t>
            </a:r>
          </a:p>
          <a:p>
            <a:pPr>
              <a:spcBef>
                <a:spcPct val="0"/>
              </a:spcBef>
              <a:buNone/>
            </a:pPr>
            <a:r>
              <a:rPr lang="es-ES" sz="1600">
                <a:solidFill>
                  <a:schemeClr val="folHlink"/>
                </a:solidFill>
              </a:rPr>
              <a:t>Fecha Ingreso</a:t>
            </a:r>
          </a:p>
          <a:p>
            <a:pPr eaLnBrk="1" hangingPunct="1">
              <a:spcBef>
                <a:spcPct val="0"/>
              </a:spcBef>
              <a:buClrTx/>
              <a:buSzTx/>
              <a:buFontTx/>
              <a:buNone/>
            </a:pPr>
            <a:endParaRPr lang="es-ES" altLang="es-AR" sz="1400">
              <a:solidFill>
                <a:schemeClr val="folHlink"/>
              </a:solidFill>
            </a:endParaRP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5">
            <a:extLst>
              <a:ext uri="{FF2B5EF4-FFF2-40B4-BE49-F238E27FC236}">
                <a16:creationId xmlns:a16="http://schemas.microsoft.com/office/drawing/2014/main" id="{26FBFCBC-6184-4B51-BD3C-1B3584BD0FE6}"/>
              </a:ext>
            </a:extLst>
          </p:cNvPr>
          <p:cNvSpPr>
            <a:spLocks noChangeArrowheads="1"/>
          </p:cNvSpPr>
          <p:nvPr/>
        </p:nvSpPr>
        <p:spPr bwMode="auto">
          <a:xfrm>
            <a:off x="4321175" y="2114550"/>
            <a:ext cx="1258888" cy="52228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bg1"/>
                </a:solidFill>
              </a:rPr>
              <a:t>PERSONA</a:t>
            </a:r>
            <a:r>
              <a:rPr lang="en-US" altLang="es-ES" sz="1800">
                <a:solidFill>
                  <a:schemeClr val="folHlink"/>
                </a:solidFill>
              </a:rPr>
              <a:t> </a:t>
            </a:r>
          </a:p>
          <a:p>
            <a:pPr algn="ctr" eaLnBrk="1" hangingPunct="1">
              <a:spcBef>
                <a:spcPct val="0"/>
              </a:spcBef>
              <a:buClrTx/>
              <a:buSzTx/>
              <a:buFontTx/>
              <a:buNone/>
            </a:pPr>
            <a:endParaRPr lang="en-US" altLang="es-ES" sz="1000">
              <a:solidFill>
                <a:schemeClr val="folHlink"/>
              </a:solidFill>
            </a:endParaRPr>
          </a:p>
        </p:txBody>
      </p:sp>
      <p:sp>
        <p:nvSpPr>
          <p:cNvPr id="29699" name="Oval 23">
            <a:extLst>
              <a:ext uri="{FF2B5EF4-FFF2-40B4-BE49-F238E27FC236}">
                <a16:creationId xmlns:a16="http://schemas.microsoft.com/office/drawing/2014/main" id="{38462306-5B9B-4390-B54F-8A45529AD871}"/>
              </a:ext>
            </a:extLst>
          </p:cNvPr>
          <p:cNvSpPr>
            <a:spLocks noChangeArrowheads="1"/>
          </p:cNvSpPr>
          <p:nvPr/>
        </p:nvSpPr>
        <p:spPr bwMode="auto">
          <a:xfrm>
            <a:off x="3792538" y="1484313"/>
            <a:ext cx="1139825" cy="4318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Nombre</a:t>
            </a:r>
          </a:p>
        </p:txBody>
      </p:sp>
      <p:sp>
        <p:nvSpPr>
          <p:cNvPr id="29700" name="Oval 24">
            <a:extLst>
              <a:ext uri="{FF2B5EF4-FFF2-40B4-BE49-F238E27FC236}">
                <a16:creationId xmlns:a16="http://schemas.microsoft.com/office/drawing/2014/main" id="{5000EC5F-3735-452D-9371-0AE7AE7828DA}"/>
              </a:ext>
            </a:extLst>
          </p:cNvPr>
          <p:cNvSpPr>
            <a:spLocks noChangeArrowheads="1"/>
          </p:cNvSpPr>
          <p:nvPr/>
        </p:nvSpPr>
        <p:spPr bwMode="auto">
          <a:xfrm>
            <a:off x="5076825" y="1466850"/>
            <a:ext cx="1136650" cy="4318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Apellido</a:t>
            </a:r>
          </a:p>
        </p:txBody>
      </p:sp>
      <p:sp>
        <p:nvSpPr>
          <p:cNvPr id="29701" name="Oval 24">
            <a:extLst>
              <a:ext uri="{FF2B5EF4-FFF2-40B4-BE49-F238E27FC236}">
                <a16:creationId xmlns:a16="http://schemas.microsoft.com/office/drawing/2014/main" id="{FF2747AB-5BD1-4982-AF52-41BC6928AC48}"/>
              </a:ext>
            </a:extLst>
          </p:cNvPr>
          <p:cNvSpPr>
            <a:spLocks noChangeArrowheads="1"/>
          </p:cNvSpPr>
          <p:nvPr/>
        </p:nvSpPr>
        <p:spPr bwMode="auto">
          <a:xfrm>
            <a:off x="2868613" y="1681163"/>
            <a:ext cx="695325"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DNI</a:t>
            </a:r>
          </a:p>
        </p:txBody>
      </p:sp>
      <p:grpSp>
        <p:nvGrpSpPr>
          <p:cNvPr id="29702" name="Group 46">
            <a:extLst>
              <a:ext uri="{FF2B5EF4-FFF2-40B4-BE49-F238E27FC236}">
                <a16:creationId xmlns:a16="http://schemas.microsoft.com/office/drawing/2014/main" id="{55FC1E2B-9F19-4AF3-B603-53D28BDB4A01}"/>
              </a:ext>
            </a:extLst>
          </p:cNvPr>
          <p:cNvGrpSpPr>
            <a:grpSpLocks/>
          </p:cNvGrpSpPr>
          <p:nvPr/>
        </p:nvGrpSpPr>
        <p:grpSpPr bwMode="auto">
          <a:xfrm>
            <a:off x="5568950" y="1631950"/>
            <a:ext cx="1976438" cy="612775"/>
            <a:chOff x="1680" y="2432"/>
            <a:chExt cx="1245" cy="386"/>
          </a:xfrm>
        </p:grpSpPr>
        <p:grpSp>
          <p:nvGrpSpPr>
            <p:cNvPr id="29807" name="Group 47">
              <a:extLst>
                <a:ext uri="{FF2B5EF4-FFF2-40B4-BE49-F238E27FC236}">
                  <a16:creationId xmlns:a16="http://schemas.microsoft.com/office/drawing/2014/main" id="{9866FB49-4373-4D22-B65C-C3E370CAF042}"/>
                </a:ext>
              </a:extLst>
            </p:cNvPr>
            <p:cNvGrpSpPr>
              <a:grpSpLocks/>
            </p:cNvGrpSpPr>
            <p:nvPr/>
          </p:nvGrpSpPr>
          <p:grpSpPr bwMode="auto">
            <a:xfrm>
              <a:off x="2152" y="2432"/>
              <a:ext cx="773" cy="362"/>
              <a:chOff x="2057" y="2448"/>
              <a:chExt cx="773" cy="362"/>
            </a:xfrm>
          </p:grpSpPr>
          <p:sp>
            <p:nvSpPr>
              <p:cNvPr id="29809" name="Oval 48">
                <a:extLst>
                  <a:ext uri="{FF2B5EF4-FFF2-40B4-BE49-F238E27FC236}">
                    <a16:creationId xmlns:a16="http://schemas.microsoft.com/office/drawing/2014/main" id="{3A9A62D0-2A74-4840-83A4-DB96E6599E79}"/>
                  </a:ext>
                </a:extLst>
              </p:cNvPr>
              <p:cNvSpPr>
                <a:spLocks noChangeArrowheads="1"/>
              </p:cNvSpPr>
              <p:nvPr/>
            </p:nvSpPr>
            <p:spPr bwMode="auto">
              <a:xfrm>
                <a:off x="2057" y="2487"/>
                <a:ext cx="755" cy="2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Telefono</a:t>
                </a:r>
              </a:p>
            </p:txBody>
          </p:sp>
          <p:sp>
            <p:nvSpPr>
              <p:cNvPr id="29810" name="Oval 49">
                <a:extLst>
                  <a:ext uri="{FF2B5EF4-FFF2-40B4-BE49-F238E27FC236}">
                    <a16:creationId xmlns:a16="http://schemas.microsoft.com/office/drawing/2014/main" id="{A6E40262-7005-4C6B-A7EC-5B92237FD852}"/>
                  </a:ext>
                </a:extLst>
              </p:cNvPr>
              <p:cNvSpPr>
                <a:spLocks noChangeArrowheads="1"/>
              </p:cNvSpPr>
              <p:nvPr/>
            </p:nvSpPr>
            <p:spPr bwMode="auto">
              <a:xfrm>
                <a:off x="2059" y="2448"/>
                <a:ext cx="771" cy="36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29808" name="Line 50">
              <a:extLst>
                <a:ext uri="{FF2B5EF4-FFF2-40B4-BE49-F238E27FC236}">
                  <a16:creationId xmlns:a16="http://schemas.microsoft.com/office/drawing/2014/main" id="{D23C9C66-A99D-44F7-9CB8-2729F1AE7FBD}"/>
                </a:ext>
              </a:extLst>
            </p:cNvPr>
            <p:cNvSpPr>
              <a:spLocks noChangeShapeType="1"/>
            </p:cNvSpPr>
            <p:nvPr/>
          </p:nvSpPr>
          <p:spPr bwMode="auto">
            <a:xfrm flipV="1">
              <a:off x="1680" y="2613"/>
              <a:ext cx="460" cy="2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cxnSp>
        <p:nvCxnSpPr>
          <p:cNvPr id="29703" name="126 Conector recto">
            <a:extLst>
              <a:ext uri="{FF2B5EF4-FFF2-40B4-BE49-F238E27FC236}">
                <a16:creationId xmlns:a16="http://schemas.microsoft.com/office/drawing/2014/main" id="{C649F656-5AD9-4CF7-92F0-02DE24E1EBC6}"/>
              </a:ext>
            </a:extLst>
          </p:cNvPr>
          <p:cNvCxnSpPr>
            <a:cxnSpLocks noChangeShapeType="1"/>
            <a:stCxn id="29701" idx="4"/>
            <a:endCxn id="29698" idx="1"/>
          </p:cNvCxnSpPr>
          <p:nvPr/>
        </p:nvCxnSpPr>
        <p:spPr bwMode="auto">
          <a:xfrm>
            <a:off x="3216275" y="2114550"/>
            <a:ext cx="1104900" cy="2619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04" name="127 Conector recto">
            <a:extLst>
              <a:ext uri="{FF2B5EF4-FFF2-40B4-BE49-F238E27FC236}">
                <a16:creationId xmlns:a16="http://schemas.microsoft.com/office/drawing/2014/main" id="{C618DA68-30C0-4153-837A-0D065B84DA6D}"/>
              </a:ext>
            </a:extLst>
          </p:cNvPr>
          <p:cNvCxnSpPr>
            <a:cxnSpLocks noChangeShapeType="1"/>
            <a:stCxn id="29699" idx="4"/>
            <a:endCxn id="29698" idx="0"/>
          </p:cNvCxnSpPr>
          <p:nvPr/>
        </p:nvCxnSpPr>
        <p:spPr bwMode="auto">
          <a:xfrm>
            <a:off x="4362450" y="1916113"/>
            <a:ext cx="588963" cy="1984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05" name="128 Conector recto">
            <a:extLst>
              <a:ext uri="{FF2B5EF4-FFF2-40B4-BE49-F238E27FC236}">
                <a16:creationId xmlns:a16="http://schemas.microsoft.com/office/drawing/2014/main" id="{3E9EBFB4-A17E-4FC5-86E4-72A77B3FD306}"/>
              </a:ext>
            </a:extLst>
          </p:cNvPr>
          <p:cNvCxnSpPr>
            <a:cxnSpLocks noChangeShapeType="1"/>
            <a:stCxn id="29700" idx="4"/>
            <a:endCxn id="29698" idx="0"/>
          </p:cNvCxnSpPr>
          <p:nvPr/>
        </p:nvCxnSpPr>
        <p:spPr bwMode="auto">
          <a:xfrm flipH="1">
            <a:off x="4951413" y="1898650"/>
            <a:ext cx="693737"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9706" name="Rectangle 4">
            <a:extLst>
              <a:ext uri="{FF2B5EF4-FFF2-40B4-BE49-F238E27FC236}">
                <a16:creationId xmlns:a16="http://schemas.microsoft.com/office/drawing/2014/main" id="{15D6B637-F5D1-45B8-A544-1CA3FCA55D95}"/>
              </a:ext>
            </a:extLst>
          </p:cNvPr>
          <p:cNvSpPr>
            <a:spLocks noChangeArrowheads="1"/>
          </p:cNvSpPr>
          <p:nvPr/>
        </p:nvSpPr>
        <p:spPr bwMode="auto">
          <a:xfrm>
            <a:off x="3348038" y="5180013"/>
            <a:ext cx="1584325" cy="55245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bg1"/>
                </a:solidFill>
              </a:rPr>
              <a:t>INSCRIPCIÓN</a:t>
            </a:r>
          </a:p>
          <a:p>
            <a:pPr algn="ctr" eaLnBrk="1" hangingPunct="1">
              <a:spcBef>
                <a:spcPct val="0"/>
              </a:spcBef>
              <a:buClrTx/>
              <a:buSzTx/>
              <a:buFontTx/>
              <a:buNone/>
            </a:pPr>
            <a:endParaRPr lang="en-US" altLang="es-ES" sz="1200">
              <a:solidFill>
                <a:schemeClr val="folHlink"/>
              </a:solidFill>
            </a:endParaRPr>
          </a:p>
        </p:txBody>
      </p:sp>
      <p:grpSp>
        <p:nvGrpSpPr>
          <p:cNvPr id="29707" name="Group 18">
            <a:extLst>
              <a:ext uri="{FF2B5EF4-FFF2-40B4-BE49-F238E27FC236}">
                <a16:creationId xmlns:a16="http://schemas.microsoft.com/office/drawing/2014/main" id="{19EA7FDF-4FB7-4D7A-BB1D-C5923467A242}"/>
              </a:ext>
            </a:extLst>
          </p:cNvPr>
          <p:cNvGrpSpPr>
            <a:grpSpLocks/>
          </p:cNvGrpSpPr>
          <p:nvPr/>
        </p:nvGrpSpPr>
        <p:grpSpPr bwMode="auto">
          <a:xfrm>
            <a:off x="4716463" y="2638425"/>
            <a:ext cx="577850" cy="862013"/>
            <a:chOff x="476" y="2150"/>
            <a:chExt cx="364" cy="543"/>
          </a:xfrm>
        </p:grpSpPr>
        <p:sp>
          <p:nvSpPr>
            <p:cNvPr id="29805" name="AutoShape 19">
              <a:extLst>
                <a:ext uri="{FF2B5EF4-FFF2-40B4-BE49-F238E27FC236}">
                  <a16:creationId xmlns:a16="http://schemas.microsoft.com/office/drawing/2014/main" id="{FDB6CA2B-CD2A-4265-AE21-C565D8422C64}"/>
                </a:ext>
              </a:extLst>
            </p:cNvPr>
            <p:cNvSpPr>
              <a:spLocks noChangeArrowheads="1"/>
            </p:cNvSpPr>
            <p:nvPr/>
          </p:nvSpPr>
          <p:spPr bwMode="auto">
            <a:xfrm rot="10800000">
              <a:off x="476" y="2341"/>
              <a:ext cx="364" cy="352"/>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000">
                  <a:solidFill>
                    <a:schemeClr val="folHlink"/>
                  </a:solidFill>
                </a:rPr>
                <a:t>ES</a:t>
              </a:r>
            </a:p>
          </p:txBody>
        </p:sp>
        <p:sp>
          <p:nvSpPr>
            <p:cNvPr id="29806" name="Line 20">
              <a:extLst>
                <a:ext uri="{FF2B5EF4-FFF2-40B4-BE49-F238E27FC236}">
                  <a16:creationId xmlns:a16="http://schemas.microsoft.com/office/drawing/2014/main" id="{6D846E99-AFB7-4C13-A106-FCF8488E9A45}"/>
                </a:ext>
              </a:extLst>
            </p:cNvPr>
            <p:cNvSpPr>
              <a:spLocks noChangeShapeType="1"/>
            </p:cNvSpPr>
            <p:nvPr/>
          </p:nvSpPr>
          <p:spPr bwMode="auto">
            <a:xfrm flipH="1" flipV="1">
              <a:off x="656" y="2150"/>
              <a:ext cx="1" cy="1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sp>
        <p:nvSpPr>
          <p:cNvPr id="29708" name="Rectangle 4">
            <a:extLst>
              <a:ext uri="{FF2B5EF4-FFF2-40B4-BE49-F238E27FC236}">
                <a16:creationId xmlns:a16="http://schemas.microsoft.com/office/drawing/2014/main" id="{AC53E6D9-0DE2-4805-BC4C-1064291E50A7}"/>
              </a:ext>
            </a:extLst>
          </p:cNvPr>
          <p:cNvSpPr>
            <a:spLocks noChangeArrowheads="1"/>
          </p:cNvSpPr>
          <p:nvPr/>
        </p:nvSpPr>
        <p:spPr bwMode="auto">
          <a:xfrm>
            <a:off x="5292725" y="3573463"/>
            <a:ext cx="1584325" cy="5540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bg1"/>
                </a:solidFill>
              </a:rPr>
              <a:t>DOCENTE</a:t>
            </a:r>
            <a:r>
              <a:rPr lang="en-US" altLang="es-ES" sz="1800">
                <a:solidFill>
                  <a:schemeClr val="folHlink"/>
                </a:solidFill>
              </a:rPr>
              <a:t> </a:t>
            </a:r>
          </a:p>
          <a:p>
            <a:pPr algn="ctr" eaLnBrk="1" hangingPunct="1">
              <a:spcBef>
                <a:spcPct val="0"/>
              </a:spcBef>
              <a:buClrTx/>
              <a:buSzTx/>
              <a:buFontTx/>
              <a:buNone/>
            </a:pPr>
            <a:endParaRPr lang="en-US" altLang="es-ES" sz="1200">
              <a:solidFill>
                <a:schemeClr val="folHlink"/>
              </a:solidFill>
            </a:endParaRPr>
          </a:p>
        </p:txBody>
      </p:sp>
      <p:sp>
        <p:nvSpPr>
          <p:cNvPr id="29709" name="Oval 22">
            <a:extLst>
              <a:ext uri="{FF2B5EF4-FFF2-40B4-BE49-F238E27FC236}">
                <a16:creationId xmlns:a16="http://schemas.microsoft.com/office/drawing/2014/main" id="{4DF665BB-426E-4431-A764-FBA31ADC573B}"/>
              </a:ext>
            </a:extLst>
          </p:cNvPr>
          <p:cNvSpPr>
            <a:spLocks noChangeArrowheads="1"/>
          </p:cNvSpPr>
          <p:nvPr/>
        </p:nvSpPr>
        <p:spPr bwMode="auto">
          <a:xfrm>
            <a:off x="6380163" y="2708275"/>
            <a:ext cx="1000125" cy="43338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Legajo</a:t>
            </a:r>
          </a:p>
        </p:txBody>
      </p:sp>
      <p:sp>
        <p:nvSpPr>
          <p:cNvPr id="29710" name="Oval 22">
            <a:extLst>
              <a:ext uri="{FF2B5EF4-FFF2-40B4-BE49-F238E27FC236}">
                <a16:creationId xmlns:a16="http://schemas.microsoft.com/office/drawing/2014/main" id="{325C5C56-B95B-4950-84AF-57E032160072}"/>
              </a:ext>
            </a:extLst>
          </p:cNvPr>
          <p:cNvSpPr>
            <a:spLocks noChangeArrowheads="1"/>
          </p:cNvSpPr>
          <p:nvPr/>
        </p:nvSpPr>
        <p:spPr bwMode="auto">
          <a:xfrm>
            <a:off x="7667625" y="3859213"/>
            <a:ext cx="1009650"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Salario</a:t>
            </a:r>
          </a:p>
        </p:txBody>
      </p:sp>
      <p:sp>
        <p:nvSpPr>
          <p:cNvPr id="29711" name="Oval 24">
            <a:extLst>
              <a:ext uri="{FF2B5EF4-FFF2-40B4-BE49-F238E27FC236}">
                <a16:creationId xmlns:a16="http://schemas.microsoft.com/office/drawing/2014/main" id="{797B3012-C647-49EB-9334-BC477D8ADEBC}"/>
              </a:ext>
            </a:extLst>
          </p:cNvPr>
          <p:cNvSpPr>
            <a:spLocks noChangeArrowheads="1"/>
          </p:cNvSpPr>
          <p:nvPr/>
        </p:nvSpPr>
        <p:spPr bwMode="auto">
          <a:xfrm>
            <a:off x="7394575" y="2995613"/>
            <a:ext cx="1570038" cy="433387"/>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Antiguedad</a:t>
            </a:r>
          </a:p>
        </p:txBody>
      </p:sp>
      <p:grpSp>
        <p:nvGrpSpPr>
          <p:cNvPr id="29712" name="137 Grupo">
            <a:extLst>
              <a:ext uri="{FF2B5EF4-FFF2-40B4-BE49-F238E27FC236}">
                <a16:creationId xmlns:a16="http://schemas.microsoft.com/office/drawing/2014/main" id="{25633FC8-0A80-42A5-8ABB-F50307990ED8}"/>
              </a:ext>
            </a:extLst>
          </p:cNvPr>
          <p:cNvGrpSpPr>
            <a:grpSpLocks/>
          </p:cNvGrpSpPr>
          <p:nvPr/>
        </p:nvGrpSpPr>
        <p:grpSpPr bwMode="auto">
          <a:xfrm>
            <a:off x="5865813" y="4724400"/>
            <a:ext cx="434975" cy="436563"/>
            <a:chOff x="5866234" y="4717727"/>
            <a:chExt cx="433958" cy="435695"/>
          </a:xfrm>
        </p:grpSpPr>
        <p:sp>
          <p:nvSpPr>
            <p:cNvPr id="29803" name="AutoShape 53">
              <a:extLst>
                <a:ext uri="{FF2B5EF4-FFF2-40B4-BE49-F238E27FC236}">
                  <a16:creationId xmlns:a16="http://schemas.microsoft.com/office/drawing/2014/main" id="{C4199DE5-77A7-4057-A1A4-5C706CD95165}"/>
                </a:ext>
              </a:extLst>
            </p:cNvPr>
            <p:cNvSpPr>
              <a:spLocks noChangeArrowheads="1"/>
            </p:cNvSpPr>
            <p:nvPr/>
          </p:nvSpPr>
          <p:spPr bwMode="auto">
            <a:xfrm>
              <a:off x="5866234" y="4717727"/>
              <a:ext cx="433958" cy="435695"/>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29804" name="AutoShape 56">
              <a:extLst>
                <a:ext uri="{FF2B5EF4-FFF2-40B4-BE49-F238E27FC236}">
                  <a16:creationId xmlns:a16="http://schemas.microsoft.com/office/drawing/2014/main" id="{8B6776FD-6E2A-4133-8F71-B46CDE9E0D82}"/>
                </a:ext>
              </a:extLst>
            </p:cNvPr>
            <p:cNvSpPr>
              <a:spLocks noChangeArrowheads="1"/>
            </p:cNvSpPr>
            <p:nvPr/>
          </p:nvSpPr>
          <p:spPr bwMode="auto">
            <a:xfrm>
              <a:off x="5963356" y="4805323"/>
              <a:ext cx="239713" cy="247650"/>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29713" name="Oval 63">
            <a:extLst>
              <a:ext uri="{FF2B5EF4-FFF2-40B4-BE49-F238E27FC236}">
                <a16:creationId xmlns:a16="http://schemas.microsoft.com/office/drawing/2014/main" id="{DDA03E3C-41C7-4DCB-8B54-0C61221BA53F}"/>
              </a:ext>
            </a:extLst>
          </p:cNvPr>
          <p:cNvSpPr>
            <a:spLocks noChangeArrowheads="1"/>
          </p:cNvSpPr>
          <p:nvPr/>
        </p:nvSpPr>
        <p:spPr bwMode="auto">
          <a:xfrm>
            <a:off x="7380288" y="4565650"/>
            <a:ext cx="1714500" cy="73501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Fecha Formación</a:t>
            </a:r>
          </a:p>
        </p:txBody>
      </p:sp>
      <p:sp>
        <p:nvSpPr>
          <p:cNvPr id="29714" name="Oval 64">
            <a:extLst>
              <a:ext uri="{FF2B5EF4-FFF2-40B4-BE49-F238E27FC236}">
                <a16:creationId xmlns:a16="http://schemas.microsoft.com/office/drawing/2014/main" id="{78FFCC01-6572-4837-8FC8-0BACE51348D1}"/>
              </a:ext>
            </a:extLst>
          </p:cNvPr>
          <p:cNvSpPr>
            <a:spLocks noChangeArrowheads="1"/>
          </p:cNvSpPr>
          <p:nvPr/>
        </p:nvSpPr>
        <p:spPr bwMode="auto">
          <a:xfrm>
            <a:off x="8224838" y="6164263"/>
            <a:ext cx="884237"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Título</a:t>
            </a:r>
          </a:p>
        </p:txBody>
      </p:sp>
      <p:sp>
        <p:nvSpPr>
          <p:cNvPr id="29715" name="Rectangle 54">
            <a:extLst>
              <a:ext uri="{FF2B5EF4-FFF2-40B4-BE49-F238E27FC236}">
                <a16:creationId xmlns:a16="http://schemas.microsoft.com/office/drawing/2014/main" id="{6EF14DDB-B95D-455A-84DB-68F465C3937B}"/>
              </a:ext>
            </a:extLst>
          </p:cNvPr>
          <p:cNvSpPr>
            <a:spLocks noChangeArrowheads="1"/>
          </p:cNvSpPr>
          <p:nvPr/>
        </p:nvSpPr>
        <p:spPr bwMode="auto">
          <a:xfrm>
            <a:off x="6496050" y="5589588"/>
            <a:ext cx="1568450" cy="64611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bg1"/>
                </a:solidFill>
              </a:rPr>
              <a:t>FORMACIÓNDOCENTE</a:t>
            </a:r>
          </a:p>
        </p:txBody>
      </p:sp>
      <p:sp>
        <p:nvSpPr>
          <p:cNvPr id="29716" name="144 Rectángulo">
            <a:extLst>
              <a:ext uri="{FF2B5EF4-FFF2-40B4-BE49-F238E27FC236}">
                <a16:creationId xmlns:a16="http://schemas.microsoft.com/office/drawing/2014/main" id="{F512E4AC-90F5-40BD-BF87-75CEA6ADF1EE}"/>
              </a:ext>
            </a:extLst>
          </p:cNvPr>
          <p:cNvSpPr>
            <a:spLocks noChangeArrowheads="1"/>
          </p:cNvSpPr>
          <p:nvPr/>
        </p:nvSpPr>
        <p:spPr bwMode="auto">
          <a:xfrm>
            <a:off x="6399213" y="5516563"/>
            <a:ext cx="1754187" cy="792162"/>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cxnSp>
        <p:nvCxnSpPr>
          <p:cNvPr id="29717" name="145 Conector recto">
            <a:extLst>
              <a:ext uri="{FF2B5EF4-FFF2-40B4-BE49-F238E27FC236}">
                <a16:creationId xmlns:a16="http://schemas.microsoft.com/office/drawing/2014/main" id="{5269B1F2-5D4D-42AB-8618-CA7E79FE4878}"/>
              </a:ext>
            </a:extLst>
          </p:cNvPr>
          <p:cNvCxnSpPr>
            <a:cxnSpLocks noChangeShapeType="1"/>
            <a:stCxn id="29709" idx="4"/>
          </p:cNvCxnSpPr>
          <p:nvPr/>
        </p:nvCxnSpPr>
        <p:spPr bwMode="auto">
          <a:xfrm flipH="1">
            <a:off x="6588125" y="3141663"/>
            <a:ext cx="292100" cy="431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18" name="146 Conector recto">
            <a:extLst>
              <a:ext uri="{FF2B5EF4-FFF2-40B4-BE49-F238E27FC236}">
                <a16:creationId xmlns:a16="http://schemas.microsoft.com/office/drawing/2014/main" id="{7361D259-06ED-4077-AA36-772B92780C6C}"/>
              </a:ext>
            </a:extLst>
          </p:cNvPr>
          <p:cNvCxnSpPr>
            <a:cxnSpLocks noChangeShapeType="1"/>
            <a:stCxn id="29711" idx="3"/>
          </p:cNvCxnSpPr>
          <p:nvPr/>
        </p:nvCxnSpPr>
        <p:spPr bwMode="auto">
          <a:xfrm flipH="1">
            <a:off x="6877050" y="3365500"/>
            <a:ext cx="747713" cy="279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19" name="147 Conector recto">
            <a:extLst>
              <a:ext uri="{FF2B5EF4-FFF2-40B4-BE49-F238E27FC236}">
                <a16:creationId xmlns:a16="http://schemas.microsoft.com/office/drawing/2014/main" id="{DEFBD736-EAE5-4038-9618-B2389CA30687}"/>
              </a:ext>
            </a:extLst>
          </p:cNvPr>
          <p:cNvCxnSpPr>
            <a:cxnSpLocks noChangeShapeType="1"/>
            <a:stCxn id="29710" idx="2"/>
            <a:endCxn id="29708" idx="3"/>
          </p:cNvCxnSpPr>
          <p:nvPr/>
        </p:nvCxnSpPr>
        <p:spPr bwMode="auto">
          <a:xfrm flipH="1" flipV="1">
            <a:off x="6877050" y="3849688"/>
            <a:ext cx="790575" cy="2270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9720" name="Oval 22">
            <a:extLst>
              <a:ext uri="{FF2B5EF4-FFF2-40B4-BE49-F238E27FC236}">
                <a16:creationId xmlns:a16="http://schemas.microsoft.com/office/drawing/2014/main" id="{DBF9A546-F4A4-4D7A-8BD6-A31DCCC8155F}"/>
              </a:ext>
            </a:extLst>
          </p:cNvPr>
          <p:cNvSpPr>
            <a:spLocks noChangeArrowheads="1"/>
          </p:cNvSpPr>
          <p:nvPr/>
        </p:nvSpPr>
        <p:spPr bwMode="auto">
          <a:xfrm>
            <a:off x="2413000" y="2676525"/>
            <a:ext cx="1716088" cy="43338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Nro. Registro</a:t>
            </a:r>
          </a:p>
        </p:txBody>
      </p:sp>
      <p:sp>
        <p:nvSpPr>
          <p:cNvPr id="29721" name="Oval 49">
            <a:extLst>
              <a:ext uri="{FF2B5EF4-FFF2-40B4-BE49-F238E27FC236}">
                <a16:creationId xmlns:a16="http://schemas.microsoft.com/office/drawing/2014/main" id="{F71A0527-8E11-4F8E-B5E2-8B92FA7B417D}"/>
              </a:ext>
            </a:extLst>
          </p:cNvPr>
          <p:cNvSpPr>
            <a:spLocks noChangeArrowheads="1"/>
          </p:cNvSpPr>
          <p:nvPr/>
        </p:nvSpPr>
        <p:spPr bwMode="auto">
          <a:xfrm>
            <a:off x="1816100" y="4219575"/>
            <a:ext cx="1908175" cy="433388"/>
          </a:xfrm>
          <a:prstGeom prst="ellipse">
            <a:avLst/>
          </a:prstGeom>
          <a:noFill/>
          <a:ln w="317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solidFill>
                  <a:schemeClr val="bg1"/>
                </a:solidFill>
              </a:rPr>
              <a:t>Fecha Ingreso</a:t>
            </a:r>
          </a:p>
        </p:txBody>
      </p:sp>
      <p:sp>
        <p:nvSpPr>
          <p:cNvPr id="29722" name="Rectangle 4">
            <a:extLst>
              <a:ext uri="{FF2B5EF4-FFF2-40B4-BE49-F238E27FC236}">
                <a16:creationId xmlns:a16="http://schemas.microsoft.com/office/drawing/2014/main" id="{79FA9862-368C-4D13-8F8A-3F596138AA5F}"/>
              </a:ext>
            </a:extLst>
          </p:cNvPr>
          <p:cNvSpPr>
            <a:spLocks noChangeArrowheads="1"/>
          </p:cNvSpPr>
          <p:nvPr/>
        </p:nvSpPr>
        <p:spPr bwMode="auto">
          <a:xfrm>
            <a:off x="3348038" y="3573463"/>
            <a:ext cx="1584325" cy="5540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ALUMNO</a:t>
            </a:r>
          </a:p>
          <a:p>
            <a:pPr algn="ctr" eaLnBrk="1" hangingPunct="1">
              <a:spcBef>
                <a:spcPct val="0"/>
              </a:spcBef>
              <a:buClrTx/>
              <a:buSzTx/>
              <a:buFontTx/>
              <a:buNone/>
            </a:pPr>
            <a:endParaRPr lang="en-US" altLang="es-ES" sz="1200">
              <a:solidFill>
                <a:schemeClr val="folHlink"/>
              </a:solidFill>
            </a:endParaRPr>
          </a:p>
        </p:txBody>
      </p:sp>
      <p:sp>
        <p:nvSpPr>
          <p:cNvPr id="29723" name="Rectangle 5">
            <a:extLst>
              <a:ext uri="{FF2B5EF4-FFF2-40B4-BE49-F238E27FC236}">
                <a16:creationId xmlns:a16="http://schemas.microsoft.com/office/drawing/2014/main" id="{69D0AD83-D4B3-422B-8311-97D0B9BC2837}"/>
              </a:ext>
            </a:extLst>
          </p:cNvPr>
          <p:cNvSpPr>
            <a:spLocks noChangeArrowheads="1"/>
          </p:cNvSpPr>
          <p:nvPr/>
        </p:nvSpPr>
        <p:spPr bwMode="auto">
          <a:xfrm>
            <a:off x="579438" y="5178425"/>
            <a:ext cx="1292225" cy="5540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MATERIA </a:t>
            </a:r>
          </a:p>
          <a:p>
            <a:pPr algn="ctr" eaLnBrk="1" hangingPunct="1">
              <a:spcBef>
                <a:spcPct val="0"/>
              </a:spcBef>
              <a:buClrTx/>
              <a:buSzTx/>
              <a:buFontTx/>
              <a:buNone/>
            </a:pPr>
            <a:endParaRPr lang="en-US" altLang="es-ES" sz="1000">
              <a:solidFill>
                <a:schemeClr val="folHlink"/>
              </a:solidFill>
            </a:endParaRPr>
          </a:p>
        </p:txBody>
      </p:sp>
      <p:sp>
        <p:nvSpPr>
          <p:cNvPr id="29724" name="AutoShape 40">
            <a:extLst>
              <a:ext uri="{FF2B5EF4-FFF2-40B4-BE49-F238E27FC236}">
                <a16:creationId xmlns:a16="http://schemas.microsoft.com/office/drawing/2014/main" id="{89806E24-AD5E-4632-9324-0B89C425E9EB}"/>
              </a:ext>
            </a:extLst>
          </p:cNvPr>
          <p:cNvSpPr>
            <a:spLocks noChangeArrowheads="1"/>
          </p:cNvSpPr>
          <p:nvPr/>
        </p:nvSpPr>
        <p:spPr bwMode="auto">
          <a:xfrm>
            <a:off x="3943350" y="4395788"/>
            <a:ext cx="412750" cy="401637"/>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cxnSp>
        <p:nvCxnSpPr>
          <p:cNvPr id="29725" name="153 Conector recto">
            <a:extLst>
              <a:ext uri="{FF2B5EF4-FFF2-40B4-BE49-F238E27FC236}">
                <a16:creationId xmlns:a16="http://schemas.microsoft.com/office/drawing/2014/main" id="{4AF766A6-2D22-47BE-8C2D-A6A10A22803C}"/>
              </a:ext>
            </a:extLst>
          </p:cNvPr>
          <p:cNvCxnSpPr>
            <a:cxnSpLocks noChangeShapeType="1"/>
            <a:stCxn id="29722" idx="2"/>
            <a:endCxn id="29724" idx="0"/>
          </p:cNvCxnSpPr>
          <p:nvPr/>
        </p:nvCxnSpPr>
        <p:spPr bwMode="auto">
          <a:xfrm>
            <a:off x="4140200" y="4127500"/>
            <a:ext cx="9525" cy="2682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9726" name="AutoShape 40">
            <a:extLst>
              <a:ext uri="{FF2B5EF4-FFF2-40B4-BE49-F238E27FC236}">
                <a16:creationId xmlns:a16="http://schemas.microsoft.com/office/drawing/2014/main" id="{DA8EC5AF-CB50-4FEB-B7DD-9BAE3C023E6D}"/>
              </a:ext>
            </a:extLst>
          </p:cNvPr>
          <p:cNvSpPr>
            <a:spLocks noChangeArrowheads="1"/>
          </p:cNvSpPr>
          <p:nvPr/>
        </p:nvSpPr>
        <p:spPr bwMode="auto">
          <a:xfrm>
            <a:off x="2411413" y="5259388"/>
            <a:ext cx="412750" cy="401637"/>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29727" name="Oval 26">
            <a:extLst>
              <a:ext uri="{FF2B5EF4-FFF2-40B4-BE49-F238E27FC236}">
                <a16:creationId xmlns:a16="http://schemas.microsoft.com/office/drawing/2014/main" id="{9DB805E7-2837-42B0-B59B-6560E12A4F0D}"/>
              </a:ext>
            </a:extLst>
          </p:cNvPr>
          <p:cNvSpPr>
            <a:spLocks noChangeArrowheads="1"/>
          </p:cNvSpPr>
          <p:nvPr/>
        </p:nvSpPr>
        <p:spPr bwMode="auto">
          <a:xfrm>
            <a:off x="4837113" y="5948363"/>
            <a:ext cx="1462087" cy="7366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Fecha de Inscripción</a:t>
            </a:r>
          </a:p>
        </p:txBody>
      </p:sp>
      <p:cxnSp>
        <p:nvCxnSpPr>
          <p:cNvPr id="29728" name="156 Conector recto">
            <a:extLst>
              <a:ext uri="{FF2B5EF4-FFF2-40B4-BE49-F238E27FC236}">
                <a16:creationId xmlns:a16="http://schemas.microsoft.com/office/drawing/2014/main" id="{B5078166-32DC-4C3F-BB04-E196F05222B8}"/>
              </a:ext>
            </a:extLst>
          </p:cNvPr>
          <p:cNvCxnSpPr>
            <a:cxnSpLocks noChangeShapeType="1"/>
            <a:stCxn id="29723" idx="3"/>
            <a:endCxn id="29726" idx="1"/>
          </p:cNvCxnSpPr>
          <p:nvPr/>
        </p:nvCxnSpPr>
        <p:spPr bwMode="auto">
          <a:xfrm>
            <a:off x="1871663" y="5456238"/>
            <a:ext cx="539750" cy="47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29" name="157 Conector recto">
            <a:extLst>
              <a:ext uri="{FF2B5EF4-FFF2-40B4-BE49-F238E27FC236}">
                <a16:creationId xmlns:a16="http://schemas.microsoft.com/office/drawing/2014/main" id="{02853EA6-36FB-44A9-A0E8-2CD7AF4EC87C}"/>
              </a:ext>
            </a:extLst>
          </p:cNvPr>
          <p:cNvCxnSpPr>
            <a:cxnSpLocks noChangeShapeType="1"/>
            <a:stCxn id="29726" idx="3"/>
            <a:endCxn id="29706" idx="1"/>
          </p:cNvCxnSpPr>
          <p:nvPr/>
        </p:nvCxnSpPr>
        <p:spPr bwMode="auto">
          <a:xfrm flipV="1">
            <a:off x="2824163" y="5456238"/>
            <a:ext cx="523875" cy="47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30" name="158 Conector recto">
            <a:extLst>
              <a:ext uri="{FF2B5EF4-FFF2-40B4-BE49-F238E27FC236}">
                <a16:creationId xmlns:a16="http://schemas.microsoft.com/office/drawing/2014/main" id="{680D6898-09EB-4E25-86CD-799D323AD15E}"/>
              </a:ext>
            </a:extLst>
          </p:cNvPr>
          <p:cNvCxnSpPr>
            <a:cxnSpLocks noChangeShapeType="1"/>
            <a:stCxn id="29720" idx="4"/>
          </p:cNvCxnSpPr>
          <p:nvPr/>
        </p:nvCxnSpPr>
        <p:spPr bwMode="auto">
          <a:xfrm>
            <a:off x="3270250" y="3109913"/>
            <a:ext cx="293688" cy="4587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31" name="159 Conector recto">
            <a:extLst>
              <a:ext uri="{FF2B5EF4-FFF2-40B4-BE49-F238E27FC236}">
                <a16:creationId xmlns:a16="http://schemas.microsoft.com/office/drawing/2014/main" id="{60916C13-77B8-4EBB-97CF-91D8A951637A}"/>
              </a:ext>
            </a:extLst>
          </p:cNvPr>
          <p:cNvCxnSpPr>
            <a:cxnSpLocks noChangeShapeType="1"/>
            <a:stCxn id="29759" idx="3"/>
            <a:endCxn id="29722" idx="1"/>
          </p:cNvCxnSpPr>
          <p:nvPr/>
        </p:nvCxnSpPr>
        <p:spPr bwMode="auto">
          <a:xfrm>
            <a:off x="2660650" y="3846513"/>
            <a:ext cx="687388" cy="3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9732" name="Oval 22">
            <a:extLst>
              <a:ext uri="{FF2B5EF4-FFF2-40B4-BE49-F238E27FC236}">
                <a16:creationId xmlns:a16="http://schemas.microsoft.com/office/drawing/2014/main" id="{BBCAA35B-C5D7-4DD6-8CD8-259BCCDBEFDD}"/>
              </a:ext>
            </a:extLst>
          </p:cNvPr>
          <p:cNvSpPr>
            <a:spLocks noChangeArrowheads="1"/>
          </p:cNvSpPr>
          <p:nvPr/>
        </p:nvSpPr>
        <p:spPr bwMode="auto">
          <a:xfrm>
            <a:off x="87313" y="4581525"/>
            <a:ext cx="2106612" cy="4318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bg1"/>
                </a:solidFill>
              </a:rPr>
              <a:t>Código Materia</a:t>
            </a:r>
          </a:p>
        </p:txBody>
      </p:sp>
      <p:sp>
        <p:nvSpPr>
          <p:cNvPr id="29733" name="Oval 22">
            <a:extLst>
              <a:ext uri="{FF2B5EF4-FFF2-40B4-BE49-F238E27FC236}">
                <a16:creationId xmlns:a16="http://schemas.microsoft.com/office/drawing/2014/main" id="{C3E4E664-4EEE-4596-A8D1-87B47F96534C}"/>
              </a:ext>
            </a:extLst>
          </p:cNvPr>
          <p:cNvSpPr>
            <a:spLocks noChangeArrowheads="1"/>
          </p:cNvSpPr>
          <p:nvPr/>
        </p:nvSpPr>
        <p:spPr bwMode="auto">
          <a:xfrm>
            <a:off x="188913" y="6116638"/>
            <a:ext cx="2671762"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bg1"/>
                </a:solidFill>
              </a:rPr>
              <a:t>Descripción Materia</a:t>
            </a:r>
          </a:p>
        </p:txBody>
      </p:sp>
      <p:sp>
        <p:nvSpPr>
          <p:cNvPr id="29734" name="Oval 26">
            <a:extLst>
              <a:ext uri="{FF2B5EF4-FFF2-40B4-BE49-F238E27FC236}">
                <a16:creationId xmlns:a16="http://schemas.microsoft.com/office/drawing/2014/main" id="{9BCA8443-2230-4883-BF56-007C5B40C4C9}"/>
              </a:ext>
            </a:extLst>
          </p:cNvPr>
          <p:cNvSpPr>
            <a:spLocks noChangeArrowheads="1"/>
          </p:cNvSpPr>
          <p:nvPr/>
        </p:nvSpPr>
        <p:spPr bwMode="auto">
          <a:xfrm>
            <a:off x="3270250" y="5948363"/>
            <a:ext cx="1481138" cy="7366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bg1"/>
                </a:solidFill>
              </a:rPr>
              <a:t>Nro. de Inscripción</a:t>
            </a:r>
          </a:p>
        </p:txBody>
      </p:sp>
      <p:cxnSp>
        <p:nvCxnSpPr>
          <p:cNvPr id="29735" name="163 Conector recto">
            <a:extLst>
              <a:ext uri="{FF2B5EF4-FFF2-40B4-BE49-F238E27FC236}">
                <a16:creationId xmlns:a16="http://schemas.microsoft.com/office/drawing/2014/main" id="{AD9B2CB2-495A-4886-8ECF-37D5CEE65BB0}"/>
              </a:ext>
            </a:extLst>
          </p:cNvPr>
          <p:cNvCxnSpPr>
            <a:cxnSpLocks noChangeShapeType="1"/>
            <a:stCxn id="29732" idx="4"/>
            <a:endCxn id="29723" idx="0"/>
          </p:cNvCxnSpPr>
          <p:nvPr/>
        </p:nvCxnSpPr>
        <p:spPr bwMode="auto">
          <a:xfrm>
            <a:off x="1141413" y="5013325"/>
            <a:ext cx="84137" cy="1651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36" name="164 Conector recto">
            <a:extLst>
              <a:ext uri="{FF2B5EF4-FFF2-40B4-BE49-F238E27FC236}">
                <a16:creationId xmlns:a16="http://schemas.microsoft.com/office/drawing/2014/main" id="{DE6AED2C-CF15-4BD2-8BC4-6AA990A4325E}"/>
              </a:ext>
            </a:extLst>
          </p:cNvPr>
          <p:cNvCxnSpPr>
            <a:cxnSpLocks noChangeShapeType="1"/>
            <a:stCxn id="29723" idx="2"/>
            <a:endCxn id="29733" idx="1"/>
          </p:cNvCxnSpPr>
          <p:nvPr/>
        </p:nvCxnSpPr>
        <p:spPr bwMode="auto">
          <a:xfrm flipH="1">
            <a:off x="579438" y="5732463"/>
            <a:ext cx="646112" cy="4476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37" name="165 Conector angular">
            <a:extLst>
              <a:ext uri="{FF2B5EF4-FFF2-40B4-BE49-F238E27FC236}">
                <a16:creationId xmlns:a16="http://schemas.microsoft.com/office/drawing/2014/main" id="{92C7A6FF-4503-4A86-95EF-611D88512093}"/>
              </a:ext>
            </a:extLst>
          </p:cNvPr>
          <p:cNvCxnSpPr>
            <a:cxnSpLocks noChangeShapeType="1"/>
            <a:stCxn id="29803" idx="2"/>
            <a:endCxn id="29716" idx="1"/>
          </p:cNvCxnSpPr>
          <p:nvPr/>
        </p:nvCxnSpPr>
        <p:spPr bwMode="auto">
          <a:xfrm rot="16200000" flipH="1">
            <a:off x="5865019" y="5379244"/>
            <a:ext cx="752475" cy="315913"/>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38" name="166 Conector recto">
            <a:extLst>
              <a:ext uri="{FF2B5EF4-FFF2-40B4-BE49-F238E27FC236}">
                <a16:creationId xmlns:a16="http://schemas.microsoft.com/office/drawing/2014/main" id="{1AC5AABA-86C6-4382-913F-F5DCE77DD21C}"/>
              </a:ext>
            </a:extLst>
          </p:cNvPr>
          <p:cNvCxnSpPr>
            <a:cxnSpLocks noChangeShapeType="1"/>
            <a:stCxn id="29713" idx="3"/>
            <a:endCxn id="29716" idx="0"/>
          </p:cNvCxnSpPr>
          <p:nvPr/>
        </p:nvCxnSpPr>
        <p:spPr bwMode="auto">
          <a:xfrm flipH="1">
            <a:off x="7275513" y="5192713"/>
            <a:ext cx="355600" cy="3238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39" name="167 Conector recto">
            <a:extLst>
              <a:ext uri="{FF2B5EF4-FFF2-40B4-BE49-F238E27FC236}">
                <a16:creationId xmlns:a16="http://schemas.microsoft.com/office/drawing/2014/main" id="{32BC7F34-CFA9-4962-A451-8DB2D697843F}"/>
              </a:ext>
            </a:extLst>
          </p:cNvPr>
          <p:cNvCxnSpPr>
            <a:cxnSpLocks noChangeShapeType="1"/>
            <a:stCxn id="29706" idx="2"/>
            <a:endCxn id="29734" idx="0"/>
          </p:cNvCxnSpPr>
          <p:nvPr/>
        </p:nvCxnSpPr>
        <p:spPr bwMode="auto">
          <a:xfrm flipH="1">
            <a:off x="4011613" y="5732463"/>
            <a:ext cx="128587"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40" name="168 Conector recto">
            <a:extLst>
              <a:ext uri="{FF2B5EF4-FFF2-40B4-BE49-F238E27FC236}">
                <a16:creationId xmlns:a16="http://schemas.microsoft.com/office/drawing/2014/main" id="{ADFD078B-4B59-44DC-8143-F2C821B2FF8F}"/>
              </a:ext>
            </a:extLst>
          </p:cNvPr>
          <p:cNvCxnSpPr>
            <a:cxnSpLocks noChangeShapeType="1"/>
            <a:stCxn id="29706" idx="3"/>
            <a:endCxn id="29727" idx="0"/>
          </p:cNvCxnSpPr>
          <p:nvPr/>
        </p:nvCxnSpPr>
        <p:spPr bwMode="auto">
          <a:xfrm>
            <a:off x="4932363" y="5456238"/>
            <a:ext cx="636587" cy="4921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29741" name="169 Grupo">
            <a:extLst>
              <a:ext uri="{FF2B5EF4-FFF2-40B4-BE49-F238E27FC236}">
                <a16:creationId xmlns:a16="http://schemas.microsoft.com/office/drawing/2014/main" id="{D396E780-21D8-4598-A188-F7D798962A9C}"/>
              </a:ext>
            </a:extLst>
          </p:cNvPr>
          <p:cNvGrpSpPr>
            <a:grpSpLocks/>
          </p:cNvGrpSpPr>
          <p:nvPr/>
        </p:nvGrpSpPr>
        <p:grpSpPr bwMode="auto">
          <a:xfrm>
            <a:off x="4067175" y="4221163"/>
            <a:ext cx="187325" cy="71437"/>
            <a:chOff x="3887635" y="4221088"/>
            <a:chExt cx="186656" cy="72008"/>
          </a:xfrm>
        </p:grpSpPr>
        <p:cxnSp>
          <p:nvCxnSpPr>
            <p:cNvPr id="29801" name="170 Conector recto">
              <a:extLst>
                <a:ext uri="{FF2B5EF4-FFF2-40B4-BE49-F238E27FC236}">
                  <a16:creationId xmlns:a16="http://schemas.microsoft.com/office/drawing/2014/main" id="{1BF1E578-877F-4AFF-BA01-1073559FFB02}"/>
                </a:ext>
              </a:extLst>
            </p:cNvPr>
            <p:cNvCxnSpPr>
              <a:cxnSpLocks noChangeShapeType="1"/>
            </p:cNvCxnSpPr>
            <p:nvPr/>
          </p:nvCxnSpPr>
          <p:spPr bwMode="auto">
            <a:xfrm>
              <a:off x="3887635" y="422108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802" name="171 Conector recto">
              <a:extLst>
                <a:ext uri="{FF2B5EF4-FFF2-40B4-BE49-F238E27FC236}">
                  <a16:creationId xmlns:a16="http://schemas.microsoft.com/office/drawing/2014/main" id="{73E7EC98-5636-4DA4-B015-03464C5BC604}"/>
                </a:ext>
              </a:extLst>
            </p:cNvPr>
            <p:cNvCxnSpPr>
              <a:cxnSpLocks noChangeShapeType="1"/>
            </p:cNvCxnSpPr>
            <p:nvPr/>
          </p:nvCxnSpPr>
          <p:spPr bwMode="auto">
            <a:xfrm>
              <a:off x="3887635" y="4293096"/>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42" name="172 Conector recto">
            <a:extLst>
              <a:ext uri="{FF2B5EF4-FFF2-40B4-BE49-F238E27FC236}">
                <a16:creationId xmlns:a16="http://schemas.microsoft.com/office/drawing/2014/main" id="{90E0EBBE-A246-40EB-BC4F-FB0240C6A28E}"/>
              </a:ext>
            </a:extLst>
          </p:cNvPr>
          <p:cNvCxnSpPr>
            <a:cxnSpLocks noChangeShapeType="1"/>
          </p:cNvCxnSpPr>
          <p:nvPr/>
        </p:nvCxnSpPr>
        <p:spPr bwMode="auto">
          <a:xfrm>
            <a:off x="6011863" y="4221163"/>
            <a:ext cx="1873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43" name="173 Conector recto">
            <a:extLst>
              <a:ext uri="{FF2B5EF4-FFF2-40B4-BE49-F238E27FC236}">
                <a16:creationId xmlns:a16="http://schemas.microsoft.com/office/drawing/2014/main" id="{46473314-7C02-49E3-94F8-4297DCD9EF15}"/>
              </a:ext>
            </a:extLst>
          </p:cNvPr>
          <p:cNvCxnSpPr>
            <a:cxnSpLocks noChangeShapeType="1"/>
          </p:cNvCxnSpPr>
          <p:nvPr/>
        </p:nvCxnSpPr>
        <p:spPr bwMode="auto">
          <a:xfrm>
            <a:off x="6011863" y="4292600"/>
            <a:ext cx="1873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29744" name="174 Grupo">
            <a:extLst>
              <a:ext uri="{FF2B5EF4-FFF2-40B4-BE49-F238E27FC236}">
                <a16:creationId xmlns:a16="http://schemas.microsoft.com/office/drawing/2014/main" id="{7B03C0D8-5178-44E7-B0E6-593E24350A3D}"/>
              </a:ext>
            </a:extLst>
          </p:cNvPr>
          <p:cNvGrpSpPr>
            <a:grpSpLocks/>
          </p:cNvGrpSpPr>
          <p:nvPr/>
        </p:nvGrpSpPr>
        <p:grpSpPr bwMode="auto">
          <a:xfrm>
            <a:off x="4932363" y="2708275"/>
            <a:ext cx="185737" cy="73025"/>
            <a:chOff x="4673376" y="2708920"/>
            <a:chExt cx="186656" cy="72008"/>
          </a:xfrm>
        </p:grpSpPr>
        <p:cxnSp>
          <p:nvCxnSpPr>
            <p:cNvPr id="29799" name="175 Conector recto">
              <a:extLst>
                <a:ext uri="{FF2B5EF4-FFF2-40B4-BE49-F238E27FC236}">
                  <a16:creationId xmlns:a16="http://schemas.microsoft.com/office/drawing/2014/main" id="{AEC3FCE6-D408-4118-8DAD-240E54FF9088}"/>
                </a:ext>
              </a:extLst>
            </p:cNvPr>
            <p:cNvCxnSpPr>
              <a:cxnSpLocks noChangeShapeType="1"/>
            </p:cNvCxnSpPr>
            <p:nvPr/>
          </p:nvCxnSpPr>
          <p:spPr bwMode="auto">
            <a:xfrm>
              <a:off x="4673376" y="2708920"/>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800" name="176 Conector recto">
              <a:extLst>
                <a:ext uri="{FF2B5EF4-FFF2-40B4-BE49-F238E27FC236}">
                  <a16:creationId xmlns:a16="http://schemas.microsoft.com/office/drawing/2014/main" id="{2318FE3B-C898-4CCA-804F-B799135315C7}"/>
                </a:ext>
              </a:extLst>
            </p:cNvPr>
            <p:cNvCxnSpPr>
              <a:cxnSpLocks noChangeShapeType="1"/>
            </p:cNvCxnSpPr>
            <p:nvPr/>
          </p:nvCxnSpPr>
          <p:spPr bwMode="auto">
            <a:xfrm>
              <a:off x="4673376" y="278092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45" name="177 Conector recto">
            <a:extLst>
              <a:ext uri="{FF2B5EF4-FFF2-40B4-BE49-F238E27FC236}">
                <a16:creationId xmlns:a16="http://schemas.microsoft.com/office/drawing/2014/main" id="{D4347325-524F-4C25-851B-DA277844E7BD}"/>
              </a:ext>
            </a:extLst>
          </p:cNvPr>
          <p:cNvCxnSpPr>
            <a:cxnSpLocks noChangeShapeType="1"/>
            <a:stCxn id="29708" idx="2"/>
            <a:endCxn id="29803" idx="0"/>
          </p:cNvCxnSpPr>
          <p:nvPr/>
        </p:nvCxnSpPr>
        <p:spPr bwMode="auto">
          <a:xfrm flipH="1">
            <a:off x="6083300" y="4127500"/>
            <a:ext cx="1588" cy="596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46" name="178 Conector angular">
            <a:extLst>
              <a:ext uri="{FF2B5EF4-FFF2-40B4-BE49-F238E27FC236}">
                <a16:creationId xmlns:a16="http://schemas.microsoft.com/office/drawing/2014/main" id="{813E5BD4-57A6-4BC8-8728-919B6D5BC24E}"/>
              </a:ext>
            </a:extLst>
          </p:cNvPr>
          <p:cNvCxnSpPr>
            <a:cxnSpLocks noChangeShapeType="1"/>
            <a:stCxn id="29805" idx="1"/>
            <a:endCxn id="29708" idx="0"/>
          </p:cNvCxnSpPr>
          <p:nvPr/>
        </p:nvCxnSpPr>
        <p:spPr bwMode="auto">
          <a:xfrm>
            <a:off x="5149850" y="3221038"/>
            <a:ext cx="935038" cy="352425"/>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47" name="179 Conector angular">
            <a:extLst>
              <a:ext uri="{FF2B5EF4-FFF2-40B4-BE49-F238E27FC236}">
                <a16:creationId xmlns:a16="http://schemas.microsoft.com/office/drawing/2014/main" id="{D856E2BF-00FA-43FB-9A7A-7691A0052A0F}"/>
              </a:ext>
            </a:extLst>
          </p:cNvPr>
          <p:cNvCxnSpPr>
            <a:cxnSpLocks noChangeShapeType="1"/>
            <a:stCxn id="29805" idx="5"/>
            <a:endCxn id="29722" idx="0"/>
          </p:cNvCxnSpPr>
          <p:nvPr/>
        </p:nvCxnSpPr>
        <p:spPr bwMode="auto">
          <a:xfrm rot="10800000" flipV="1">
            <a:off x="4140200" y="3221038"/>
            <a:ext cx="720725" cy="352425"/>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29748" name="180 Grupo">
            <a:extLst>
              <a:ext uri="{FF2B5EF4-FFF2-40B4-BE49-F238E27FC236}">
                <a16:creationId xmlns:a16="http://schemas.microsoft.com/office/drawing/2014/main" id="{FBC80E50-823B-4DA1-B769-EA78172B64A0}"/>
              </a:ext>
            </a:extLst>
          </p:cNvPr>
          <p:cNvGrpSpPr>
            <a:grpSpLocks/>
          </p:cNvGrpSpPr>
          <p:nvPr/>
        </p:nvGrpSpPr>
        <p:grpSpPr bwMode="auto">
          <a:xfrm>
            <a:off x="4067175" y="3357563"/>
            <a:ext cx="187325" cy="142875"/>
            <a:chOff x="3887635" y="3356992"/>
            <a:chExt cx="186656" cy="144016"/>
          </a:xfrm>
        </p:grpSpPr>
        <p:sp>
          <p:nvSpPr>
            <p:cNvPr id="29797" name="181 Elipse">
              <a:extLst>
                <a:ext uri="{FF2B5EF4-FFF2-40B4-BE49-F238E27FC236}">
                  <a16:creationId xmlns:a16="http://schemas.microsoft.com/office/drawing/2014/main" id="{82D9437B-DAAB-4DAD-8FE8-4DA9E19B4A29}"/>
                </a:ext>
              </a:extLst>
            </p:cNvPr>
            <p:cNvSpPr>
              <a:spLocks noChangeArrowheads="1"/>
            </p:cNvSpPr>
            <p:nvPr/>
          </p:nvSpPr>
          <p:spPr bwMode="auto">
            <a:xfrm>
              <a:off x="3902155" y="3356992"/>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cxnSp>
          <p:nvCxnSpPr>
            <p:cNvPr id="29798" name="182 Conector recto">
              <a:extLst>
                <a:ext uri="{FF2B5EF4-FFF2-40B4-BE49-F238E27FC236}">
                  <a16:creationId xmlns:a16="http://schemas.microsoft.com/office/drawing/2014/main" id="{D735E409-F173-47DA-BE18-EE9AA26B6AFD}"/>
                </a:ext>
              </a:extLst>
            </p:cNvPr>
            <p:cNvCxnSpPr>
              <a:cxnSpLocks noChangeShapeType="1"/>
            </p:cNvCxnSpPr>
            <p:nvPr/>
          </p:nvCxnSpPr>
          <p:spPr bwMode="auto">
            <a:xfrm>
              <a:off x="3887635" y="350100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29749" name="183 Grupo">
            <a:extLst>
              <a:ext uri="{FF2B5EF4-FFF2-40B4-BE49-F238E27FC236}">
                <a16:creationId xmlns:a16="http://schemas.microsoft.com/office/drawing/2014/main" id="{22E1BDEF-CBE1-492D-817F-26D9B484A72D}"/>
              </a:ext>
            </a:extLst>
          </p:cNvPr>
          <p:cNvGrpSpPr>
            <a:grpSpLocks/>
          </p:cNvGrpSpPr>
          <p:nvPr/>
        </p:nvGrpSpPr>
        <p:grpSpPr bwMode="auto">
          <a:xfrm>
            <a:off x="6011863" y="3357563"/>
            <a:ext cx="187325" cy="142875"/>
            <a:chOff x="6012160" y="3356992"/>
            <a:chExt cx="186656" cy="144016"/>
          </a:xfrm>
        </p:grpSpPr>
        <p:sp>
          <p:nvSpPr>
            <p:cNvPr id="29795" name="184 Elipse">
              <a:extLst>
                <a:ext uri="{FF2B5EF4-FFF2-40B4-BE49-F238E27FC236}">
                  <a16:creationId xmlns:a16="http://schemas.microsoft.com/office/drawing/2014/main" id="{E80A2948-CC9A-4391-AF1B-AD7DE8033B8E}"/>
                </a:ext>
              </a:extLst>
            </p:cNvPr>
            <p:cNvSpPr>
              <a:spLocks noChangeArrowheads="1"/>
            </p:cNvSpPr>
            <p:nvPr/>
          </p:nvSpPr>
          <p:spPr bwMode="auto">
            <a:xfrm>
              <a:off x="6026464" y="3356992"/>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cxnSp>
          <p:nvCxnSpPr>
            <p:cNvPr id="29796" name="185 Conector recto">
              <a:extLst>
                <a:ext uri="{FF2B5EF4-FFF2-40B4-BE49-F238E27FC236}">
                  <a16:creationId xmlns:a16="http://schemas.microsoft.com/office/drawing/2014/main" id="{F2724D01-A65D-487B-94C7-0DFF4F5C6226}"/>
                </a:ext>
              </a:extLst>
            </p:cNvPr>
            <p:cNvCxnSpPr>
              <a:cxnSpLocks noChangeShapeType="1"/>
            </p:cNvCxnSpPr>
            <p:nvPr/>
          </p:nvCxnSpPr>
          <p:spPr bwMode="auto">
            <a:xfrm>
              <a:off x="6012160" y="350100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29750" name="186 Grupo">
            <a:extLst>
              <a:ext uri="{FF2B5EF4-FFF2-40B4-BE49-F238E27FC236}">
                <a16:creationId xmlns:a16="http://schemas.microsoft.com/office/drawing/2014/main" id="{BF22AA04-42C2-417A-AA2B-6D7B77F84103}"/>
              </a:ext>
            </a:extLst>
          </p:cNvPr>
          <p:cNvGrpSpPr>
            <a:grpSpLocks/>
          </p:cNvGrpSpPr>
          <p:nvPr/>
        </p:nvGrpSpPr>
        <p:grpSpPr bwMode="auto">
          <a:xfrm>
            <a:off x="6191250" y="5834063"/>
            <a:ext cx="207963" cy="187325"/>
            <a:chOff x="5796136" y="5689631"/>
            <a:chExt cx="207640" cy="187641"/>
          </a:xfrm>
        </p:grpSpPr>
        <p:grpSp>
          <p:nvGrpSpPr>
            <p:cNvPr id="29791" name="187 Grupo">
              <a:extLst>
                <a:ext uri="{FF2B5EF4-FFF2-40B4-BE49-F238E27FC236}">
                  <a16:creationId xmlns:a16="http://schemas.microsoft.com/office/drawing/2014/main" id="{A67A95B9-3216-4F87-B9B2-B20D7FDC1127}"/>
                </a:ext>
              </a:extLst>
            </p:cNvPr>
            <p:cNvGrpSpPr>
              <a:grpSpLocks/>
            </p:cNvGrpSpPr>
            <p:nvPr/>
          </p:nvGrpSpPr>
          <p:grpSpPr bwMode="auto">
            <a:xfrm rot="-5400000">
              <a:off x="5823365" y="5668566"/>
              <a:ext cx="159346" cy="201476"/>
              <a:chOff x="7870229" y="1556916"/>
              <a:chExt cx="159346" cy="201476"/>
            </a:xfrm>
          </p:grpSpPr>
          <p:cxnSp>
            <p:nvCxnSpPr>
              <p:cNvPr id="29793" name="189 Conector recto">
                <a:extLst>
                  <a:ext uri="{FF2B5EF4-FFF2-40B4-BE49-F238E27FC236}">
                    <a16:creationId xmlns:a16="http://schemas.microsoft.com/office/drawing/2014/main" id="{907E3AAF-CBF5-4220-ADAE-080C795ADF8D}"/>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94" name="190 Conector recto">
                <a:extLst>
                  <a:ext uri="{FF2B5EF4-FFF2-40B4-BE49-F238E27FC236}">
                    <a16:creationId xmlns:a16="http://schemas.microsoft.com/office/drawing/2014/main" id="{17758EF2-396A-40F0-9CA4-CE9FB8EE4BB6}"/>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92" name="188 Conector recto">
              <a:extLst>
                <a:ext uri="{FF2B5EF4-FFF2-40B4-BE49-F238E27FC236}">
                  <a16:creationId xmlns:a16="http://schemas.microsoft.com/office/drawing/2014/main" id="{07EBD9E4-F1BA-4726-A9B1-7947F8188FDB}"/>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51" name="191 Conector recto">
            <a:extLst>
              <a:ext uri="{FF2B5EF4-FFF2-40B4-BE49-F238E27FC236}">
                <a16:creationId xmlns:a16="http://schemas.microsoft.com/office/drawing/2014/main" id="{99A51111-AB48-48F4-9EC0-74D2551C943E}"/>
              </a:ext>
            </a:extLst>
          </p:cNvPr>
          <p:cNvCxnSpPr>
            <a:cxnSpLocks noChangeShapeType="1"/>
            <a:stCxn id="29724" idx="2"/>
            <a:endCxn id="29706" idx="0"/>
          </p:cNvCxnSpPr>
          <p:nvPr/>
        </p:nvCxnSpPr>
        <p:spPr bwMode="auto">
          <a:xfrm flipH="1">
            <a:off x="4140200" y="4797425"/>
            <a:ext cx="9525" cy="382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29752" name="192 Grupo">
            <a:extLst>
              <a:ext uri="{FF2B5EF4-FFF2-40B4-BE49-F238E27FC236}">
                <a16:creationId xmlns:a16="http://schemas.microsoft.com/office/drawing/2014/main" id="{D0F6083B-EDFC-4415-ADA7-017432BF7B3C}"/>
              </a:ext>
            </a:extLst>
          </p:cNvPr>
          <p:cNvGrpSpPr>
            <a:grpSpLocks/>
          </p:cNvGrpSpPr>
          <p:nvPr/>
        </p:nvGrpSpPr>
        <p:grpSpPr bwMode="auto">
          <a:xfrm>
            <a:off x="3035300" y="5376863"/>
            <a:ext cx="312738" cy="160337"/>
            <a:chOff x="2799140" y="5449663"/>
            <a:chExt cx="313077" cy="159346"/>
          </a:xfrm>
        </p:grpSpPr>
        <p:grpSp>
          <p:nvGrpSpPr>
            <p:cNvPr id="29787" name="193 Grupo">
              <a:extLst>
                <a:ext uri="{FF2B5EF4-FFF2-40B4-BE49-F238E27FC236}">
                  <a16:creationId xmlns:a16="http://schemas.microsoft.com/office/drawing/2014/main" id="{3128DE71-3A6D-45CA-83DF-49B72E62B296}"/>
                </a:ext>
              </a:extLst>
            </p:cNvPr>
            <p:cNvGrpSpPr>
              <a:grpSpLocks/>
            </p:cNvGrpSpPr>
            <p:nvPr/>
          </p:nvGrpSpPr>
          <p:grpSpPr bwMode="auto">
            <a:xfrm rot="-5554259">
              <a:off x="2931806" y="5428598"/>
              <a:ext cx="159346" cy="201476"/>
              <a:chOff x="7870229" y="1556916"/>
              <a:chExt cx="159346" cy="201476"/>
            </a:xfrm>
          </p:grpSpPr>
          <p:cxnSp>
            <p:nvCxnSpPr>
              <p:cNvPr id="29789" name="195 Conector recto">
                <a:extLst>
                  <a:ext uri="{FF2B5EF4-FFF2-40B4-BE49-F238E27FC236}">
                    <a16:creationId xmlns:a16="http://schemas.microsoft.com/office/drawing/2014/main" id="{8CC5FFAF-E901-4D8A-9FC9-B4406B801AE4}"/>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90" name="196 Conector recto">
                <a:extLst>
                  <a:ext uri="{FF2B5EF4-FFF2-40B4-BE49-F238E27FC236}">
                    <a16:creationId xmlns:a16="http://schemas.microsoft.com/office/drawing/2014/main" id="{E9651AB9-893A-41A3-B2A6-B83180A732F2}"/>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9788" name="194 Elipse">
              <a:extLst>
                <a:ext uri="{FF2B5EF4-FFF2-40B4-BE49-F238E27FC236}">
                  <a16:creationId xmlns:a16="http://schemas.microsoft.com/office/drawing/2014/main" id="{63F84DBF-6161-472D-B89D-6E028BA9C266}"/>
                </a:ext>
              </a:extLst>
            </p:cNvPr>
            <p:cNvSpPr>
              <a:spLocks noChangeArrowheads="1"/>
            </p:cNvSpPr>
            <p:nvPr/>
          </p:nvSpPr>
          <p:spPr bwMode="auto">
            <a:xfrm rot="-5554259">
              <a:off x="2798355" y="5458188"/>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grpSp>
      <p:grpSp>
        <p:nvGrpSpPr>
          <p:cNvPr id="29753" name="197 Grupo">
            <a:extLst>
              <a:ext uri="{FF2B5EF4-FFF2-40B4-BE49-F238E27FC236}">
                <a16:creationId xmlns:a16="http://schemas.microsoft.com/office/drawing/2014/main" id="{3922B000-A4DF-4B1C-B9FB-D13B0902E623}"/>
              </a:ext>
            </a:extLst>
          </p:cNvPr>
          <p:cNvGrpSpPr>
            <a:grpSpLocks/>
          </p:cNvGrpSpPr>
          <p:nvPr/>
        </p:nvGrpSpPr>
        <p:grpSpPr bwMode="auto">
          <a:xfrm rot="10800000">
            <a:off x="1871663" y="5329238"/>
            <a:ext cx="207962" cy="187325"/>
            <a:chOff x="5796136" y="5689631"/>
            <a:chExt cx="207640" cy="187641"/>
          </a:xfrm>
        </p:grpSpPr>
        <p:grpSp>
          <p:nvGrpSpPr>
            <p:cNvPr id="29783" name="198 Grupo">
              <a:extLst>
                <a:ext uri="{FF2B5EF4-FFF2-40B4-BE49-F238E27FC236}">
                  <a16:creationId xmlns:a16="http://schemas.microsoft.com/office/drawing/2014/main" id="{94D54B47-D949-4C67-A83E-8F10B8F0B3A2}"/>
                </a:ext>
              </a:extLst>
            </p:cNvPr>
            <p:cNvGrpSpPr>
              <a:grpSpLocks/>
            </p:cNvGrpSpPr>
            <p:nvPr/>
          </p:nvGrpSpPr>
          <p:grpSpPr bwMode="auto">
            <a:xfrm rot="-5400000">
              <a:off x="5823365" y="5668566"/>
              <a:ext cx="159346" cy="201476"/>
              <a:chOff x="7870229" y="1556916"/>
              <a:chExt cx="159346" cy="201476"/>
            </a:xfrm>
          </p:grpSpPr>
          <p:cxnSp>
            <p:nvCxnSpPr>
              <p:cNvPr id="29785" name="200 Conector recto">
                <a:extLst>
                  <a:ext uri="{FF2B5EF4-FFF2-40B4-BE49-F238E27FC236}">
                    <a16:creationId xmlns:a16="http://schemas.microsoft.com/office/drawing/2014/main" id="{7F85271C-8168-4470-A760-872929DD5DC2}"/>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86" name="201 Conector recto">
                <a:extLst>
                  <a:ext uri="{FF2B5EF4-FFF2-40B4-BE49-F238E27FC236}">
                    <a16:creationId xmlns:a16="http://schemas.microsoft.com/office/drawing/2014/main" id="{796FCC54-7C60-485B-ACA9-DF63EE13B2EB}"/>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84" name="199 Conector recto">
              <a:extLst>
                <a:ext uri="{FF2B5EF4-FFF2-40B4-BE49-F238E27FC236}">
                  <a16:creationId xmlns:a16="http://schemas.microsoft.com/office/drawing/2014/main" id="{65B6382C-3CC8-4A31-BF0D-91BAAC96AC7C}"/>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54" name="202 Conector recto">
            <a:extLst>
              <a:ext uri="{FF2B5EF4-FFF2-40B4-BE49-F238E27FC236}">
                <a16:creationId xmlns:a16="http://schemas.microsoft.com/office/drawing/2014/main" id="{D569812C-0822-4F93-AC56-8124BEA0AB98}"/>
              </a:ext>
            </a:extLst>
          </p:cNvPr>
          <p:cNvCxnSpPr>
            <a:cxnSpLocks noChangeShapeType="1"/>
            <a:stCxn id="29714" idx="0"/>
            <a:endCxn id="29716" idx="3"/>
          </p:cNvCxnSpPr>
          <p:nvPr/>
        </p:nvCxnSpPr>
        <p:spPr bwMode="auto">
          <a:xfrm flipH="1" flipV="1">
            <a:off x="8153400" y="5913438"/>
            <a:ext cx="512763" cy="2508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9755" name="Rectangle 4">
            <a:extLst>
              <a:ext uri="{FF2B5EF4-FFF2-40B4-BE49-F238E27FC236}">
                <a16:creationId xmlns:a16="http://schemas.microsoft.com/office/drawing/2014/main" id="{92497F29-AC1C-44B9-8108-F49B1C029C6A}"/>
              </a:ext>
            </a:extLst>
          </p:cNvPr>
          <p:cNvSpPr>
            <a:spLocks noChangeArrowheads="1"/>
          </p:cNvSpPr>
          <p:nvPr/>
        </p:nvSpPr>
        <p:spPr bwMode="auto">
          <a:xfrm>
            <a:off x="107950" y="3573463"/>
            <a:ext cx="1584325" cy="5540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CARRERA</a:t>
            </a:r>
          </a:p>
          <a:p>
            <a:pPr algn="ctr" eaLnBrk="1" hangingPunct="1">
              <a:spcBef>
                <a:spcPct val="0"/>
              </a:spcBef>
              <a:buClrTx/>
              <a:buSzTx/>
              <a:buFontTx/>
              <a:buNone/>
            </a:pPr>
            <a:endParaRPr lang="en-US" altLang="es-ES" sz="1200">
              <a:solidFill>
                <a:schemeClr val="folHlink"/>
              </a:solidFill>
            </a:endParaRPr>
          </a:p>
        </p:txBody>
      </p:sp>
      <p:sp>
        <p:nvSpPr>
          <p:cNvPr id="29756" name="Oval 49">
            <a:extLst>
              <a:ext uri="{FF2B5EF4-FFF2-40B4-BE49-F238E27FC236}">
                <a16:creationId xmlns:a16="http://schemas.microsoft.com/office/drawing/2014/main" id="{413883D4-86C5-4EA1-AA49-BF77A2D71037}"/>
              </a:ext>
            </a:extLst>
          </p:cNvPr>
          <p:cNvSpPr>
            <a:spLocks noChangeArrowheads="1"/>
          </p:cNvSpPr>
          <p:nvPr/>
        </p:nvSpPr>
        <p:spPr bwMode="auto">
          <a:xfrm>
            <a:off x="15875" y="1973263"/>
            <a:ext cx="1262063" cy="735012"/>
          </a:xfrm>
          <a:prstGeom prst="ellipse">
            <a:avLst/>
          </a:prstGeom>
          <a:noFill/>
          <a:ln w="317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u="sng">
                <a:solidFill>
                  <a:schemeClr val="bg1"/>
                </a:solidFill>
              </a:rPr>
              <a:t>Código Carrera</a:t>
            </a:r>
          </a:p>
        </p:txBody>
      </p:sp>
      <p:sp>
        <p:nvSpPr>
          <p:cNvPr id="29757" name="Oval 49">
            <a:extLst>
              <a:ext uri="{FF2B5EF4-FFF2-40B4-BE49-F238E27FC236}">
                <a16:creationId xmlns:a16="http://schemas.microsoft.com/office/drawing/2014/main" id="{4608E3D0-5BA1-4576-8BFB-A0158A92F650}"/>
              </a:ext>
            </a:extLst>
          </p:cNvPr>
          <p:cNvSpPr>
            <a:spLocks noChangeArrowheads="1"/>
          </p:cNvSpPr>
          <p:nvPr/>
        </p:nvSpPr>
        <p:spPr bwMode="auto">
          <a:xfrm>
            <a:off x="731838" y="2697163"/>
            <a:ext cx="1584325" cy="735012"/>
          </a:xfrm>
          <a:prstGeom prst="ellipse">
            <a:avLst/>
          </a:prstGeom>
          <a:noFill/>
          <a:ln w="317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solidFill>
                  <a:schemeClr val="bg1"/>
                </a:solidFill>
              </a:rPr>
              <a:t>Descripción Carrera</a:t>
            </a:r>
          </a:p>
        </p:txBody>
      </p:sp>
      <p:grpSp>
        <p:nvGrpSpPr>
          <p:cNvPr id="29758" name="206 Grupo">
            <a:extLst>
              <a:ext uri="{FF2B5EF4-FFF2-40B4-BE49-F238E27FC236}">
                <a16:creationId xmlns:a16="http://schemas.microsoft.com/office/drawing/2014/main" id="{82165E43-2E00-48F9-959B-1DDDAEB0543F}"/>
              </a:ext>
            </a:extLst>
          </p:cNvPr>
          <p:cNvGrpSpPr>
            <a:grpSpLocks/>
          </p:cNvGrpSpPr>
          <p:nvPr/>
        </p:nvGrpSpPr>
        <p:grpSpPr bwMode="auto">
          <a:xfrm rot="5400000">
            <a:off x="3980656" y="4944269"/>
            <a:ext cx="312738" cy="158750"/>
            <a:chOff x="2799140" y="5449663"/>
            <a:chExt cx="313077" cy="159346"/>
          </a:xfrm>
        </p:grpSpPr>
        <p:grpSp>
          <p:nvGrpSpPr>
            <p:cNvPr id="29779" name="207 Grupo">
              <a:extLst>
                <a:ext uri="{FF2B5EF4-FFF2-40B4-BE49-F238E27FC236}">
                  <a16:creationId xmlns:a16="http://schemas.microsoft.com/office/drawing/2014/main" id="{BEA2243B-58AF-4E63-B880-2F5B1C5DC329}"/>
                </a:ext>
              </a:extLst>
            </p:cNvPr>
            <p:cNvGrpSpPr>
              <a:grpSpLocks/>
            </p:cNvGrpSpPr>
            <p:nvPr/>
          </p:nvGrpSpPr>
          <p:grpSpPr bwMode="auto">
            <a:xfrm rot="-5554259">
              <a:off x="2931806" y="5428598"/>
              <a:ext cx="159346" cy="201476"/>
              <a:chOff x="7870229" y="1556916"/>
              <a:chExt cx="159346" cy="201476"/>
            </a:xfrm>
          </p:grpSpPr>
          <p:cxnSp>
            <p:nvCxnSpPr>
              <p:cNvPr id="29781" name="209 Conector recto">
                <a:extLst>
                  <a:ext uri="{FF2B5EF4-FFF2-40B4-BE49-F238E27FC236}">
                    <a16:creationId xmlns:a16="http://schemas.microsoft.com/office/drawing/2014/main" id="{BD7443AD-E20B-41AF-8B8F-C065EE6433CB}"/>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82" name="210 Conector recto">
                <a:extLst>
                  <a:ext uri="{FF2B5EF4-FFF2-40B4-BE49-F238E27FC236}">
                    <a16:creationId xmlns:a16="http://schemas.microsoft.com/office/drawing/2014/main" id="{3EB44F16-1FA1-4DFA-9374-12CCE0583793}"/>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29780" name="208 Elipse">
              <a:extLst>
                <a:ext uri="{FF2B5EF4-FFF2-40B4-BE49-F238E27FC236}">
                  <a16:creationId xmlns:a16="http://schemas.microsoft.com/office/drawing/2014/main" id="{8B2FDF85-7623-40E4-BF16-9A361DB8D805}"/>
                </a:ext>
              </a:extLst>
            </p:cNvPr>
            <p:cNvSpPr>
              <a:spLocks noChangeArrowheads="1"/>
            </p:cNvSpPr>
            <p:nvPr/>
          </p:nvSpPr>
          <p:spPr bwMode="auto">
            <a:xfrm rot="-5554259">
              <a:off x="2798355" y="5458188"/>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grpSp>
      <p:sp>
        <p:nvSpPr>
          <p:cNvPr id="29759" name="AutoShape 40">
            <a:extLst>
              <a:ext uri="{FF2B5EF4-FFF2-40B4-BE49-F238E27FC236}">
                <a16:creationId xmlns:a16="http://schemas.microsoft.com/office/drawing/2014/main" id="{EA434DC8-1EA9-47B1-AF44-FD5C86223491}"/>
              </a:ext>
            </a:extLst>
          </p:cNvPr>
          <p:cNvSpPr>
            <a:spLocks noChangeArrowheads="1"/>
          </p:cNvSpPr>
          <p:nvPr/>
        </p:nvSpPr>
        <p:spPr bwMode="auto">
          <a:xfrm>
            <a:off x="2247900" y="3644900"/>
            <a:ext cx="412750" cy="401638"/>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cxnSp>
        <p:nvCxnSpPr>
          <p:cNvPr id="29760" name="212 Conector recto">
            <a:extLst>
              <a:ext uri="{FF2B5EF4-FFF2-40B4-BE49-F238E27FC236}">
                <a16:creationId xmlns:a16="http://schemas.microsoft.com/office/drawing/2014/main" id="{9486FC14-B1DA-42B8-861E-623A5CA74313}"/>
              </a:ext>
            </a:extLst>
          </p:cNvPr>
          <p:cNvCxnSpPr>
            <a:cxnSpLocks noChangeShapeType="1"/>
            <a:stCxn id="29755" idx="3"/>
            <a:endCxn id="29759" idx="1"/>
          </p:cNvCxnSpPr>
          <p:nvPr/>
        </p:nvCxnSpPr>
        <p:spPr bwMode="auto">
          <a:xfrm flipV="1">
            <a:off x="1692275" y="3846513"/>
            <a:ext cx="555625" cy="3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61" name="213 Conector recto">
            <a:extLst>
              <a:ext uri="{FF2B5EF4-FFF2-40B4-BE49-F238E27FC236}">
                <a16:creationId xmlns:a16="http://schemas.microsoft.com/office/drawing/2014/main" id="{CF5C22EA-C1D6-475A-A741-5EEDC165EE3D}"/>
              </a:ext>
            </a:extLst>
          </p:cNvPr>
          <p:cNvCxnSpPr>
            <a:cxnSpLocks noChangeShapeType="1"/>
            <a:stCxn id="29721" idx="0"/>
            <a:endCxn id="29759" idx="2"/>
          </p:cNvCxnSpPr>
          <p:nvPr/>
        </p:nvCxnSpPr>
        <p:spPr bwMode="auto">
          <a:xfrm flipH="1" flipV="1">
            <a:off x="2454275" y="4046538"/>
            <a:ext cx="315913" cy="1730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29762" name="214 Grupo">
            <a:extLst>
              <a:ext uri="{FF2B5EF4-FFF2-40B4-BE49-F238E27FC236}">
                <a16:creationId xmlns:a16="http://schemas.microsoft.com/office/drawing/2014/main" id="{0DF488D2-1EAF-417A-94DE-60E54330FE2B}"/>
              </a:ext>
            </a:extLst>
          </p:cNvPr>
          <p:cNvGrpSpPr>
            <a:grpSpLocks/>
          </p:cNvGrpSpPr>
          <p:nvPr/>
        </p:nvGrpSpPr>
        <p:grpSpPr bwMode="auto">
          <a:xfrm rot="10800000">
            <a:off x="1692275" y="3751263"/>
            <a:ext cx="206375" cy="188912"/>
            <a:chOff x="5796136" y="5689631"/>
            <a:chExt cx="207640" cy="187641"/>
          </a:xfrm>
        </p:grpSpPr>
        <p:grpSp>
          <p:nvGrpSpPr>
            <p:cNvPr id="29775" name="215 Grupo">
              <a:extLst>
                <a:ext uri="{FF2B5EF4-FFF2-40B4-BE49-F238E27FC236}">
                  <a16:creationId xmlns:a16="http://schemas.microsoft.com/office/drawing/2014/main" id="{BDF20C45-4BB8-4AEC-B240-B04018724F3C}"/>
                </a:ext>
              </a:extLst>
            </p:cNvPr>
            <p:cNvGrpSpPr>
              <a:grpSpLocks/>
            </p:cNvGrpSpPr>
            <p:nvPr/>
          </p:nvGrpSpPr>
          <p:grpSpPr bwMode="auto">
            <a:xfrm rot="-5400000">
              <a:off x="5823365" y="5668566"/>
              <a:ext cx="159346" cy="201476"/>
              <a:chOff x="7870229" y="1556916"/>
              <a:chExt cx="159346" cy="201476"/>
            </a:xfrm>
          </p:grpSpPr>
          <p:cxnSp>
            <p:nvCxnSpPr>
              <p:cNvPr id="29777" name="217 Conector recto">
                <a:extLst>
                  <a:ext uri="{FF2B5EF4-FFF2-40B4-BE49-F238E27FC236}">
                    <a16:creationId xmlns:a16="http://schemas.microsoft.com/office/drawing/2014/main" id="{348E44C7-3924-436F-BE93-F8A9BC03BF46}"/>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78" name="218 Conector recto">
                <a:extLst>
                  <a:ext uri="{FF2B5EF4-FFF2-40B4-BE49-F238E27FC236}">
                    <a16:creationId xmlns:a16="http://schemas.microsoft.com/office/drawing/2014/main" id="{C135FC08-2954-4B0C-AFA9-AE69EA442B45}"/>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76" name="216 Conector recto">
              <a:extLst>
                <a:ext uri="{FF2B5EF4-FFF2-40B4-BE49-F238E27FC236}">
                  <a16:creationId xmlns:a16="http://schemas.microsoft.com/office/drawing/2014/main" id="{12854EE2-0CBF-4394-81BC-887732F29793}"/>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29763" name="219 Grupo">
            <a:extLst>
              <a:ext uri="{FF2B5EF4-FFF2-40B4-BE49-F238E27FC236}">
                <a16:creationId xmlns:a16="http://schemas.microsoft.com/office/drawing/2014/main" id="{93332AA6-CA65-4F09-A07F-10E2266E1CEE}"/>
              </a:ext>
            </a:extLst>
          </p:cNvPr>
          <p:cNvGrpSpPr>
            <a:grpSpLocks/>
          </p:cNvGrpSpPr>
          <p:nvPr/>
        </p:nvGrpSpPr>
        <p:grpSpPr bwMode="auto">
          <a:xfrm>
            <a:off x="3140075" y="3789363"/>
            <a:ext cx="207963" cy="187325"/>
            <a:chOff x="5796136" y="5689631"/>
            <a:chExt cx="207640" cy="187641"/>
          </a:xfrm>
        </p:grpSpPr>
        <p:grpSp>
          <p:nvGrpSpPr>
            <p:cNvPr id="29771" name="220 Grupo">
              <a:extLst>
                <a:ext uri="{FF2B5EF4-FFF2-40B4-BE49-F238E27FC236}">
                  <a16:creationId xmlns:a16="http://schemas.microsoft.com/office/drawing/2014/main" id="{91E6D102-6C1B-42B4-B990-4FEE828C39BE}"/>
                </a:ext>
              </a:extLst>
            </p:cNvPr>
            <p:cNvGrpSpPr>
              <a:grpSpLocks/>
            </p:cNvGrpSpPr>
            <p:nvPr/>
          </p:nvGrpSpPr>
          <p:grpSpPr bwMode="auto">
            <a:xfrm rot="-5400000">
              <a:off x="5823365" y="5668566"/>
              <a:ext cx="159346" cy="201476"/>
              <a:chOff x="7870229" y="1556916"/>
              <a:chExt cx="159346" cy="201476"/>
            </a:xfrm>
          </p:grpSpPr>
          <p:cxnSp>
            <p:nvCxnSpPr>
              <p:cNvPr id="29773" name="222 Conector recto">
                <a:extLst>
                  <a:ext uri="{FF2B5EF4-FFF2-40B4-BE49-F238E27FC236}">
                    <a16:creationId xmlns:a16="http://schemas.microsoft.com/office/drawing/2014/main" id="{59926FDF-7A1B-4560-9351-D95E3B26FB83}"/>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74" name="223 Conector recto">
                <a:extLst>
                  <a:ext uri="{FF2B5EF4-FFF2-40B4-BE49-F238E27FC236}">
                    <a16:creationId xmlns:a16="http://schemas.microsoft.com/office/drawing/2014/main" id="{A14E00F7-1655-4BF0-AD98-A39FD5F7045A}"/>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72" name="221 Conector recto">
              <a:extLst>
                <a:ext uri="{FF2B5EF4-FFF2-40B4-BE49-F238E27FC236}">
                  <a16:creationId xmlns:a16="http://schemas.microsoft.com/office/drawing/2014/main" id="{C2CAC3CB-4917-41E8-ADD3-9217BB02DF30}"/>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29764" name="224 Conector recto">
            <a:extLst>
              <a:ext uri="{FF2B5EF4-FFF2-40B4-BE49-F238E27FC236}">
                <a16:creationId xmlns:a16="http://schemas.microsoft.com/office/drawing/2014/main" id="{FA304CF3-8A27-4635-8142-EAE57138D2D9}"/>
              </a:ext>
            </a:extLst>
          </p:cNvPr>
          <p:cNvCxnSpPr>
            <a:cxnSpLocks noChangeShapeType="1"/>
            <a:stCxn id="29756" idx="3"/>
          </p:cNvCxnSpPr>
          <p:nvPr/>
        </p:nvCxnSpPr>
        <p:spPr bwMode="auto">
          <a:xfrm>
            <a:off x="200025" y="2601913"/>
            <a:ext cx="211138" cy="9667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29765" name="225 Conector recto">
            <a:extLst>
              <a:ext uri="{FF2B5EF4-FFF2-40B4-BE49-F238E27FC236}">
                <a16:creationId xmlns:a16="http://schemas.microsoft.com/office/drawing/2014/main" id="{9C436350-FA9B-4C67-B7B0-C2095E4A3C01}"/>
              </a:ext>
            </a:extLst>
          </p:cNvPr>
          <p:cNvCxnSpPr>
            <a:cxnSpLocks noChangeShapeType="1"/>
            <a:stCxn id="29757" idx="3"/>
            <a:endCxn id="29755" idx="0"/>
          </p:cNvCxnSpPr>
          <p:nvPr/>
        </p:nvCxnSpPr>
        <p:spPr bwMode="auto">
          <a:xfrm flipH="1">
            <a:off x="900113" y="3324225"/>
            <a:ext cx="63500" cy="2492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30" name="Rectangle 3">
            <a:extLst>
              <a:ext uri="{FF2B5EF4-FFF2-40B4-BE49-F238E27FC236}">
                <a16:creationId xmlns:a16="http://schemas.microsoft.com/office/drawing/2014/main" id="{395291E5-3C6D-4CE3-96B0-4DC3D7A79959}"/>
              </a:ext>
            </a:extLst>
          </p:cNvPr>
          <p:cNvSpPr txBox="1">
            <a:spLocks noChangeArrowheads="1"/>
          </p:cNvSpPr>
          <p:nvPr/>
        </p:nvSpPr>
        <p:spPr bwMode="auto">
          <a:xfrm>
            <a:off x="0" y="304800"/>
            <a:ext cx="8943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algn="ctr" eaLnBrk="1" hangingPunct="1">
              <a:defRPr/>
            </a:pPr>
            <a:r>
              <a:rPr lang="es-ES" altLang="es-ES" kern="0">
                <a:solidFill>
                  <a:schemeClr val="folHlink"/>
                </a:solidFill>
              </a:rPr>
              <a:t>Ejercicio</a:t>
            </a:r>
            <a:endParaRPr lang="es-AR" altLang="es-ES" kern="0">
              <a:solidFill>
                <a:schemeClr val="folHlink"/>
              </a:solidFill>
            </a:endParaRPr>
          </a:p>
        </p:txBody>
      </p:sp>
      <p:sp>
        <p:nvSpPr>
          <p:cNvPr id="29767" name="Oval 14">
            <a:extLst>
              <a:ext uri="{FF2B5EF4-FFF2-40B4-BE49-F238E27FC236}">
                <a16:creationId xmlns:a16="http://schemas.microsoft.com/office/drawing/2014/main" id="{9DA5FB8F-E2B6-4124-B1AC-C36ED87CB62B}"/>
              </a:ext>
            </a:extLst>
          </p:cNvPr>
          <p:cNvSpPr>
            <a:spLocks noChangeArrowheads="1"/>
          </p:cNvSpPr>
          <p:nvPr/>
        </p:nvSpPr>
        <p:spPr bwMode="auto">
          <a:xfrm>
            <a:off x="1979613" y="2060575"/>
            <a:ext cx="889000" cy="431800"/>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     </a:t>
            </a:r>
          </a:p>
        </p:txBody>
      </p:sp>
      <p:cxnSp>
        <p:nvCxnSpPr>
          <p:cNvPr id="29768" name="231 Conector recto">
            <a:extLst>
              <a:ext uri="{FF2B5EF4-FFF2-40B4-BE49-F238E27FC236}">
                <a16:creationId xmlns:a16="http://schemas.microsoft.com/office/drawing/2014/main" id="{813A303C-89CB-4A39-BDB2-C6D652F185CA}"/>
              </a:ext>
            </a:extLst>
          </p:cNvPr>
          <p:cNvCxnSpPr>
            <a:cxnSpLocks noChangeShapeType="1"/>
            <a:stCxn id="29767" idx="6"/>
          </p:cNvCxnSpPr>
          <p:nvPr/>
        </p:nvCxnSpPr>
        <p:spPr bwMode="auto">
          <a:xfrm>
            <a:off x="2868613" y="2276475"/>
            <a:ext cx="1441450" cy="234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29769" name="Oval 24">
            <a:extLst>
              <a:ext uri="{FF2B5EF4-FFF2-40B4-BE49-F238E27FC236}">
                <a16:creationId xmlns:a16="http://schemas.microsoft.com/office/drawing/2014/main" id="{C5EEED50-82D0-46CA-83B9-CBF8092211D4}"/>
              </a:ext>
            </a:extLst>
          </p:cNvPr>
          <p:cNvSpPr>
            <a:spLocks noChangeArrowheads="1"/>
          </p:cNvSpPr>
          <p:nvPr/>
        </p:nvSpPr>
        <p:spPr bwMode="auto">
          <a:xfrm>
            <a:off x="6659563" y="2205038"/>
            <a:ext cx="2376487"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Nacimiento</a:t>
            </a:r>
          </a:p>
        </p:txBody>
      </p:sp>
      <p:cxnSp>
        <p:nvCxnSpPr>
          <p:cNvPr id="29770" name="236 Conector recto">
            <a:extLst>
              <a:ext uri="{FF2B5EF4-FFF2-40B4-BE49-F238E27FC236}">
                <a16:creationId xmlns:a16="http://schemas.microsoft.com/office/drawing/2014/main" id="{49621159-A20F-430E-B5A7-AA30EE7A2ABA}"/>
              </a:ext>
            </a:extLst>
          </p:cNvPr>
          <p:cNvCxnSpPr>
            <a:cxnSpLocks noChangeShapeType="1"/>
            <a:stCxn id="29769" idx="2"/>
          </p:cNvCxnSpPr>
          <p:nvPr/>
        </p:nvCxnSpPr>
        <p:spPr bwMode="auto">
          <a:xfrm flipH="1" flipV="1">
            <a:off x="5580063" y="2376488"/>
            <a:ext cx="1079500" cy="444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5">
            <a:extLst>
              <a:ext uri="{FF2B5EF4-FFF2-40B4-BE49-F238E27FC236}">
                <a16:creationId xmlns:a16="http://schemas.microsoft.com/office/drawing/2014/main" id="{B55E970F-08FF-42C3-BE62-22432FBBED02}"/>
              </a:ext>
            </a:extLst>
          </p:cNvPr>
          <p:cNvSpPr>
            <a:spLocks noChangeArrowheads="1"/>
          </p:cNvSpPr>
          <p:nvPr/>
        </p:nvSpPr>
        <p:spPr bwMode="auto">
          <a:xfrm>
            <a:off x="4321175" y="2114550"/>
            <a:ext cx="1258888" cy="52228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PERSONA </a:t>
            </a:r>
          </a:p>
          <a:p>
            <a:pPr algn="ctr" eaLnBrk="1" hangingPunct="1">
              <a:spcBef>
                <a:spcPct val="0"/>
              </a:spcBef>
              <a:buClrTx/>
              <a:buSzTx/>
              <a:buFontTx/>
              <a:buNone/>
            </a:pPr>
            <a:endParaRPr lang="en-US" altLang="es-ES" sz="1000">
              <a:solidFill>
                <a:schemeClr val="folHlink"/>
              </a:solidFill>
            </a:endParaRPr>
          </a:p>
        </p:txBody>
      </p:sp>
      <p:sp>
        <p:nvSpPr>
          <p:cNvPr id="30723" name="Oval 23">
            <a:extLst>
              <a:ext uri="{FF2B5EF4-FFF2-40B4-BE49-F238E27FC236}">
                <a16:creationId xmlns:a16="http://schemas.microsoft.com/office/drawing/2014/main" id="{9297156C-1434-4631-8C96-639DF2FE95C2}"/>
              </a:ext>
            </a:extLst>
          </p:cNvPr>
          <p:cNvSpPr>
            <a:spLocks noChangeArrowheads="1"/>
          </p:cNvSpPr>
          <p:nvPr/>
        </p:nvSpPr>
        <p:spPr bwMode="auto">
          <a:xfrm>
            <a:off x="3792538" y="1484313"/>
            <a:ext cx="1139825" cy="4318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Nombre</a:t>
            </a:r>
          </a:p>
        </p:txBody>
      </p:sp>
      <p:sp>
        <p:nvSpPr>
          <p:cNvPr id="30724" name="Oval 24">
            <a:extLst>
              <a:ext uri="{FF2B5EF4-FFF2-40B4-BE49-F238E27FC236}">
                <a16:creationId xmlns:a16="http://schemas.microsoft.com/office/drawing/2014/main" id="{70011A25-9E88-42E1-8F29-941DA32A9AA4}"/>
              </a:ext>
            </a:extLst>
          </p:cNvPr>
          <p:cNvSpPr>
            <a:spLocks noChangeArrowheads="1"/>
          </p:cNvSpPr>
          <p:nvPr/>
        </p:nvSpPr>
        <p:spPr bwMode="auto">
          <a:xfrm>
            <a:off x="5076825" y="1466850"/>
            <a:ext cx="1136650" cy="4318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Apellido</a:t>
            </a:r>
          </a:p>
        </p:txBody>
      </p:sp>
      <p:sp>
        <p:nvSpPr>
          <p:cNvPr id="30725" name="Oval 24">
            <a:extLst>
              <a:ext uri="{FF2B5EF4-FFF2-40B4-BE49-F238E27FC236}">
                <a16:creationId xmlns:a16="http://schemas.microsoft.com/office/drawing/2014/main" id="{E9FD6DCA-B042-4EC3-89AF-FC51083F730B}"/>
              </a:ext>
            </a:extLst>
          </p:cNvPr>
          <p:cNvSpPr>
            <a:spLocks noChangeArrowheads="1"/>
          </p:cNvSpPr>
          <p:nvPr/>
        </p:nvSpPr>
        <p:spPr bwMode="auto">
          <a:xfrm>
            <a:off x="6659563" y="2205038"/>
            <a:ext cx="2376487"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Nacimiento</a:t>
            </a:r>
          </a:p>
        </p:txBody>
      </p:sp>
      <p:sp>
        <p:nvSpPr>
          <p:cNvPr id="30726" name="Oval 24">
            <a:extLst>
              <a:ext uri="{FF2B5EF4-FFF2-40B4-BE49-F238E27FC236}">
                <a16:creationId xmlns:a16="http://schemas.microsoft.com/office/drawing/2014/main" id="{15065399-A600-46A7-AD68-DCA74AB25EE7}"/>
              </a:ext>
            </a:extLst>
          </p:cNvPr>
          <p:cNvSpPr>
            <a:spLocks noChangeArrowheads="1"/>
          </p:cNvSpPr>
          <p:nvPr/>
        </p:nvSpPr>
        <p:spPr bwMode="auto">
          <a:xfrm>
            <a:off x="2868613" y="1681163"/>
            <a:ext cx="695325"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DNI</a:t>
            </a:r>
          </a:p>
        </p:txBody>
      </p:sp>
      <p:grpSp>
        <p:nvGrpSpPr>
          <p:cNvPr id="30727" name="Group 46">
            <a:extLst>
              <a:ext uri="{FF2B5EF4-FFF2-40B4-BE49-F238E27FC236}">
                <a16:creationId xmlns:a16="http://schemas.microsoft.com/office/drawing/2014/main" id="{1D65852D-68DE-4806-A10A-87CEBA33153C}"/>
              </a:ext>
            </a:extLst>
          </p:cNvPr>
          <p:cNvGrpSpPr>
            <a:grpSpLocks/>
          </p:cNvGrpSpPr>
          <p:nvPr/>
        </p:nvGrpSpPr>
        <p:grpSpPr bwMode="auto">
          <a:xfrm>
            <a:off x="5568950" y="1631950"/>
            <a:ext cx="1976438" cy="612775"/>
            <a:chOff x="1680" y="2432"/>
            <a:chExt cx="1245" cy="386"/>
          </a:xfrm>
        </p:grpSpPr>
        <p:grpSp>
          <p:nvGrpSpPr>
            <p:cNvPr id="30833" name="Group 47">
              <a:extLst>
                <a:ext uri="{FF2B5EF4-FFF2-40B4-BE49-F238E27FC236}">
                  <a16:creationId xmlns:a16="http://schemas.microsoft.com/office/drawing/2014/main" id="{0DC0B8BA-A271-41DD-B5AF-0550C8F9CB4C}"/>
                </a:ext>
              </a:extLst>
            </p:cNvPr>
            <p:cNvGrpSpPr>
              <a:grpSpLocks/>
            </p:cNvGrpSpPr>
            <p:nvPr/>
          </p:nvGrpSpPr>
          <p:grpSpPr bwMode="auto">
            <a:xfrm>
              <a:off x="2154" y="2432"/>
              <a:ext cx="771" cy="362"/>
              <a:chOff x="2059" y="2448"/>
              <a:chExt cx="771" cy="362"/>
            </a:xfrm>
          </p:grpSpPr>
          <p:sp>
            <p:nvSpPr>
              <p:cNvPr id="30835" name="Oval 48">
                <a:extLst>
                  <a:ext uri="{FF2B5EF4-FFF2-40B4-BE49-F238E27FC236}">
                    <a16:creationId xmlns:a16="http://schemas.microsoft.com/office/drawing/2014/main" id="{A102C7BE-D49D-4980-AFCB-E978D24820D5}"/>
                  </a:ext>
                </a:extLst>
              </p:cNvPr>
              <p:cNvSpPr>
                <a:spLocks noChangeArrowheads="1"/>
              </p:cNvSpPr>
              <p:nvPr/>
            </p:nvSpPr>
            <p:spPr bwMode="auto">
              <a:xfrm>
                <a:off x="2070" y="2497"/>
                <a:ext cx="729"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Telefono</a:t>
                </a:r>
              </a:p>
            </p:txBody>
          </p:sp>
          <p:sp>
            <p:nvSpPr>
              <p:cNvPr id="30836" name="Oval 49">
                <a:extLst>
                  <a:ext uri="{FF2B5EF4-FFF2-40B4-BE49-F238E27FC236}">
                    <a16:creationId xmlns:a16="http://schemas.microsoft.com/office/drawing/2014/main" id="{8464785F-331A-4915-A0A2-052C677A3FC9}"/>
                  </a:ext>
                </a:extLst>
              </p:cNvPr>
              <p:cNvSpPr>
                <a:spLocks noChangeArrowheads="1"/>
              </p:cNvSpPr>
              <p:nvPr/>
            </p:nvSpPr>
            <p:spPr bwMode="auto">
              <a:xfrm>
                <a:off x="2059" y="2448"/>
                <a:ext cx="771" cy="36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30834" name="Line 50">
              <a:extLst>
                <a:ext uri="{FF2B5EF4-FFF2-40B4-BE49-F238E27FC236}">
                  <a16:creationId xmlns:a16="http://schemas.microsoft.com/office/drawing/2014/main" id="{CA35844C-2FE7-4169-B6B5-4013D11B2B6C}"/>
                </a:ext>
              </a:extLst>
            </p:cNvPr>
            <p:cNvSpPr>
              <a:spLocks noChangeShapeType="1"/>
            </p:cNvSpPr>
            <p:nvPr/>
          </p:nvSpPr>
          <p:spPr bwMode="auto">
            <a:xfrm flipV="1">
              <a:off x="1680" y="2613"/>
              <a:ext cx="485" cy="20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cxnSp>
        <p:nvCxnSpPr>
          <p:cNvPr id="30728" name="11 Conector recto">
            <a:extLst>
              <a:ext uri="{FF2B5EF4-FFF2-40B4-BE49-F238E27FC236}">
                <a16:creationId xmlns:a16="http://schemas.microsoft.com/office/drawing/2014/main" id="{77957D32-85E4-49C3-971F-03744EFBE704}"/>
              </a:ext>
            </a:extLst>
          </p:cNvPr>
          <p:cNvCxnSpPr>
            <a:cxnSpLocks noChangeShapeType="1"/>
            <a:stCxn id="30725" idx="2"/>
            <a:endCxn id="30722" idx="3"/>
          </p:cNvCxnSpPr>
          <p:nvPr/>
        </p:nvCxnSpPr>
        <p:spPr bwMode="auto">
          <a:xfrm flipH="1" flipV="1">
            <a:off x="5580063" y="2376488"/>
            <a:ext cx="1079500" cy="444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29" name="12 Conector recto">
            <a:extLst>
              <a:ext uri="{FF2B5EF4-FFF2-40B4-BE49-F238E27FC236}">
                <a16:creationId xmlns:a16="http://schemas.microsoft.com/office/drawing/2014/main" id="{13717CC3-B0D5-433D-B9D6-DD0A408ED337}"/>
              </a:ext>
            </a:extLst>
          </p:cNvPr>
          <p:cNvCxnSpPr>
            <a:cxnSpLocks noChangeShapeType="1"/>
            <a:stCxn id="30726" idx="4"/>
            <a:endCxn id="30722" idx="1"/>
          </p:cNvCxnSpPr>
          <p:nvPr/>
        </p:nvCxnSpPr>
        <p:spPr bwMode="auto">
          <a:xfrm>
            <a:off x="3216275" y="2114550"/>
            <a:ext cx="1104900" cy="2619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30" name="13 Conector recto">
            <a:extLst>
              <a:ext uri="{FF2B5EF4-FFF2-40B4-BE49-F238E27FC236}">
                <a16:creationId xmlns:a16="http://schemas.microsoft.com/office/drawing/2014/main" id="{0FE8F301-F775-4A46-B38E-F38A7FCEF281}"/>
              </a:ext>
            </a:extLst>
          </p:cNvPr>
          <p:cNvCxnSpPr>
            <a:cxnSpLocks noChangeShapeType="1"/>
            <a:stCxn id="30723" idx="4"/>
            <a:endCxn id="30722" idx="0"/>
          </p:cNvCxnSpPr>
          <p:nvPr/>
        </p:nvCxnSpPr>
        <p:spPr bwMode="auto">
          <a:xfrm>
            <a:off x="4362450" y="1916113"/>
            <a:ext cx="588963" cy="1984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31" name="14 Conector recto">
            <a:extLst>
              <a:ext uri="{FF2B5EF4-FFF2-40B4-BE49-F238E27FC236}">
                <a16:creationId xmlns:a16="http://schemas.microsoft.com/office/drawing/2014/main" id="{C05AFA19-E2B3-46E1-BE8F-4691C39DBE43}"/>
              </a:ext>
            </a:extLst>
          </p:cNvPr>
          <p:cNvCxnSpPr>
            <a:cxnSpLocks noChangeShapeType="1"/>
            <a:stCxn id="30724" idx="4"/>
            <a:endCxn id="30722" idx="0"/>
          </p:cNvCxnSpPr>
          <p:nvPr/>
        </p:nvCxnSpPr>
        <p:spPr bwMode="auto">
          <a:xfrm flipH="1">
            <a:off x="4951413" y="1898650"/>
            <a:ext cx="693737"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32" name="Rectangle 4">
            <a:extLst>
              <a:ext uri="{FF2B5EF4-FFF2-40B4-BE49-F238E27FC236}">
                <a16:creationId xmlns:a16="http://schemas.microsoft.com/office/drawing/2014/main" id="{EAFCB6BC-3D89-4CE2-8838-FD2E70F7D519}"/>
              </a:ext>
            </a:extLst>
          </p:cNvPr>
          <p:cNvSpPr>
            <a:spLocks noChangeArrowheads="1"/>
          </p:cNvSpPr>
          <p:nvPr/>
        </p:nvSpPr>
        <p:spPr bwMode="auto">
          <a:xfrm>
            <a:off x="3348038" y="5180013"/>
            <a:ext cx="1584325" cy="55245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INSCRIPCIÓN</a:t>
            </a:r>
          </a:p>
          <a:p>
            <a:pPr algn="ctr" eaLnBrk="1" hangingPunct="1">
              <a:spcBef>
                <a:spcPct val="0"/>
              </a:spcBef>
              <a:buClrTx/>
              <a:buSzTx/>
              <a:buFontTx/>
              <a:buNone/>
            </a:pPr>
            <a:endParaRPr lang="en-US" altLang="es-ES" sz="1200">
              <a:solidFill>
                <a:schemeClr val="folHlink"/>
              </a:solidFill>
            </a:endParaRPr>
          </a:p>
        </p:txBody>
      </p:sp>
      <p:grpSp>
        <p:nvGrpSpPr>
          <p:cNvPr id="30733" name="Group 18">
            <a:extLst>
              <a:ext uri="{FF2B5EF4-FFF2-40B4-BE49-F238E27FC236}">
                <a16:creationId xmlns:a16="http://schemas.microsoft.com/office/drawing/2014/main" id="{9831E265-871C-4499-95A2-A7109650740B}"/>
              </a:ext>
            </a:extLst>
          </p:cNvPr>
          <p:cNvGrpSpPr>
            <a:grpSpLocks/>
          </p:cNvGrpSpPr>
          <p:nvPr/>
        </p:nvGrpSpPr>
        <p:grpSpPr bwMode="auto">
          <a:xfrm>
            <a:off x="4716463" y="2638425"/>
            <a:ext cx="577850" cy="862013"/>
            <a:chOff x="476" y="2150"/>
            <a:chExt cx="364" cy="543"/>
          </a:xfrm>
        </p:grpSpPr>
        <p:sp>
          <p:nvSpPr>
            <p:cNvPr id="30831" name="AutoShape 19">
              <a:extLst>
                <a:ext uri="{FF2B5EF4-FFF2-40B4-BE49-F238E27FC236}">
                  <a16:creationId xmlns:a16="http://schemas.microsoft.com/office/drawing/2014/main" id="{B81FF5DC-2F2E-46BE-BD51-0D1BE7B3C7B9}"/>
                </a:ext>
              </a:extLst>
            </p:cNvPr>
            <p:cNvSpPr>
              <a:spLocks noChangeArrowheads="1"/>
            </p:cNvSpPr>
            <p:nvPr/>
          </p:nvSpPr>
          <p:spPr bwMode="auto">
            <a:xfrm rot="10800000">
              <a:off x="476" y="2341"/>
              <a:ext cx="364" cy="352"/>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000">
                  <a:solidFill>
                    <a:schemeClr val="folHlink"/>
                  </a:solidFill>
                </a:rPr>
                <a:t>ES</a:t>
              </a:r>
            </a:p>
          </p:txBody>
        </p:sp>
        <p:sp>
          <p:nvSpPr>
            <p:cNvPr id="30832" name="Line 20">
              <a:extLst>
                <a:ext uri="{FF2B5EF4-FFF2-40B4-BE49-F238E27FC236}">
                  <a16:creationId xmlns:a16="http://schemas.microsoft.com/office/drawing/2014/main" id="{F111452C-83CF-4372-A4CC-9F17AA1657B0}"/>
                </a:ext>
              </a:extLst>
            </p:cNvPr>
            <p:cNvSpPr>
              <a:spLocks noChangeShapeType="1"/>
            </p:cNvSpPr>
            <p:nvPr/>
          </p:nvSpPr>
          <p:spPr bwMode="auto">
            <a:xfrm flipH="1" flipV="1">
              <a:off x="656" y="2150"/>
              <a:ext cx="1" cy="1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sp>
        <p:nvSpPr>
          <p:cNvPr id="30734" name="Rectangle 4">
            <a:extLst>
              <a:ext uri="{FF2B5EF4-FFF2-40B4-BE49-F238E27FC236}">
                <a16:creationId xmlns:a16="http://schemas.microsoft.com/office/drawing/2014/main" id="{E49CC05F-95E3-49FF-A161-19AF82ADC9CD}"/>
              </a:ext>
            </a:extLst>
          </p:cNvPr>
          <p:cNvSpPr>
            <a:spLocks noChangeArrowheads="1"/>
          </p:cNvSpPr>
          <p:nvPr/>
        </p:nvSpPr>
        <p:spPr bwMode="auto">
          <a:xfrm>
            <a:off x="5292725" y="3573463"/>
            <a:ext cx="1584325" cy="5540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DOCENTE </a:t>
            </a:r>
          </a:p>
          <a:p>
            <a:pPr algn="ctr" eaLnBrk="1" hangingPunct="1">
              <a:spcBef>
                <a:spcPct val="0"/>
              </a:spcBef>
              <a:buClrTx/>
              <a:buSzTx/>
              <a:buFontTx/>
              <a:buNone/>
            </a:pPr>
            <a:endParaRPr lang="en-US" altLang="es-ES" sz="1200">
              <a:solidFill>
                <a:schemeClr val="folHlink"/>
              </a:solidFill>
            </a:endParaRPr>
          </a:p>
        </p:txBody>
      </p:sp>
      <p:sp>
        <p:nvSpPr>
          <p:cNvPr id="30735" name="Oval 22">
            <a:extLst>
              <a:ext uri="{FF2B5EF4-FFF2-40B4-BE49-F238E27FC236}">
                <a16:creationId xmlns:a16="http://schemas.microsoft.com/office/drawing/2014/main" id="{6337C331-078D-4E5C-815C-C741F4F54EAF}"/>
              </a:ext>
            </a:extLst>
          </p:cNvPr>
          <p:cNvSpPr>
            <a:spLocks noChangeArrowheads="1"/>
          </p:cNvSpPr>
          <p:nvPr/>
        </p:nvSpPr>
        <p:spPr bwMode="auto">
          <a:xfrm>
            <a:off x="6380163" y="2708275"/>
            <a:ext cx="1000125" cy="43338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Legajo</a:t>
            </a:r>
          </a:p>
        </p:txBody>
      </p:sp>
      <p:sp>
        <p:nvSpPr>
          <p:cNvPr id="30736" name="Oval 22">
            <a:extLst>
              <a:ext uri="{FF2B5EF4-FFF2-40B4-BE49-F238E27FC236}">
                <a16:creationId xmlns:a16="http://schemas.microsoft.com/office/drawing/2014/main" id="{93566E92-5440-49FF-98DE-AACE78E304D9}"/>
              </a:ext>
            </a:extLst>
          </p:cNvPr>
          <p:cNvSpPr>
            <a:spLocks noChangeArrowheads="1"/>
          </p:cNvSpPr>
          <p:nvPr/>
        </p:nvSpPr>
        <p:spPr bwMode="auto">
          <a:xfrm>
            <a:off x="7667625" y="3859213"/>
            <a:ext cx="1009650"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Salario</a:t>
            </a:r>
          </a:p>
        </p:txBody>
      </p:sp>
      <p:sp>
        <p:nvSpPr>
          <p:cNvPr id="30737" name="Oval 24">
            <a:extLst>
              <a:ext uri="{FF2B5EF4-FFF2-40B4-BE49-F238E27FC236}">
                <a16:creationId xmlns:a16="http://schemas.microsoft.com/office/drawing/2014/main" id="{37B37B88-92B7-4BD8-9C0F-51B4CD3E8F19}"/>
              </a:ext>
            </a:extLst>
          </p:cNvPr>
          <p:cNvSpPr>
            <a:spLocks noChangeArrowheads="1"/>
          </p:cNvSpPr>
          <p:nvPr/>
        </p:nvSpPr>
        <p:spPr bwMode="auto">
          <a:xfrm>
            <a:off x="7394575" y="2995613"/>
            <a:ext cx="1570038" cy="433387"/>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Antig</a:t>
            </a:r>
            <a:r>
              <a:rPr lang="en-US" altLang="es-ES" sz="1400">
                <a:solidFill>
                  <a:schemeClr val="folHlink"/>
                </a:solidFill>
                <a:latin typeface="Arial" panose="020B0604020202020204" pitchFamily="34" charset="0"/>
                <a:cs typeface="Arial" panose="020B0604020202020204" pitchFamily="34" charset="0"/>
              </a:rPr>
              <a:t>ü</a:t>
            </a:r>
            <a:r>
              <a:rPr lang="en-US" altLang="es-ES" sz="1400">
                <a:solidFill>
                  <a:schemeClr val="folHlink"/>
                </a:solidFill>
              </a:rPr>
              <a:t>edad</a:t>
            </a:r>
          </a:p>
        </p:txBody>
      </p:sp>
      <p:grpSp>
        <p:nvGrpSpPr>
          <p:cNvPr id="30738" name="94 Grupo">
            <a:extLst>
              <a:ext uri="{FF2B5EF4-FFF2-40B4-BE49-F238E27FC236}">
                <a16:creationId xmlns:a16="http://schemas.microsoft.com/office/drawing/2014/main" id="{B690C6B5-847E-4E35-A93E-C69211DD3CCD}"/>
              </a:ext>
            </a:extLst>
          </p:cNvPr>
          <p:cNvGrpSpPr>
            <a:grpSpLocks/>
          </p:cNvGrpSpPr>
          <p:nvPr/>
        </p:nvGrpSpPr>
        <p:grpSpPr bwMode="auto">
          <a:xfrm>
            <a:off x="5865813" y="4724400"/>
            <a:ext cx="434975" cy="436563"/>
            <a:chOff x="5866234" y="4717727"/>
            <a:chExt cx="433958" cy="435695"/>
          </a:xfrm>
        </p:grpSpPr>
        <p:sp>
          <p:nvSpPr>
            <p:cNvPr id="30829" name="AutoShape 53">
              <a:extLst>
                <a:ext uri="{FF2B5EF4-FFF2-40B4-BE49-F238E27FC236}">
                  <a16:creationId xmlns:a16="http://schemas.microsoft.com/office/drawing/2014/main" id="{2001E78B-7C3A-4631-B643-F86502FF6EDC}"/>
                </a:ext>
              </a:extLst>
            </p:cNvPr>
            <p:cNvSpPr>
              <a:spLocks noChangeArrowheads="1"/>
            </p:cNvSpPr>
            <p:nvPr/>
          </p:nvSpPr>
          <p:spPr bwMode="auto">
            <a:xfrm>
              <a:off x="5866234" y="4717727"/>
              <a:ext cx="433958" cy="435695"/>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0830" name="AutoShape 56">
              <a:extLst>
                <a:ext uri="{FF2B5EF4-FFF2-40B4-BE49-F238E27FC236}">
                  <a16:creationId xmlns:a16="http://schemas.microsoft.com/office/drawing/2014/main" id="{75F9B678-DB0A-4FB9-9726-18D36E455950}"/>
                </a:ext>
              </a:extLst>
            </p:cNvPr>
            <p:cNvSpPr>
              <a:spLocks noChangeArrowheads="1"/>
            </p:cNvSpPr>
            <p:nvPr/>
          </p:nvSpPr>
          <p:spPr bwMode="auto">
            <a:xfrm>
              <a:off x="5963356" y="4805323"/>
              <a:ext cx="239713" cy="247650"/>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30739" name="Oval 63">
            <a:extLst>
              <a:ext uri="{FF2B5EF4-FFF2-40B4-BE49-F238E27FC236}">
                <a16:creationId xmlns:a16="http://schemas.microsoft.com/office/drawing/2014/main" id="{442CD0B2-C4B2-4F64-AF2F-960047E86FF9}"/>
              </a:ext>
            </a:extLst>
          </p:cNvPr>
          <p:cNvSpPr>
            <a:spLocks noChangeArrowheads="1"/>
          </p:cNvSpPr>
          <p:nvPr/>
        </p:nvSpPr>
        <p:spPr bwMode="auto">
          <a:xfrm>
            <a:off x="7380288" y="4565650"/>
            <a:ext cx="1714500" cy="73501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Formación</a:t>
            </a:r>
          </a:p>
        </p:txBody>
      </p:sp>
      <p:sp>
        <p:nvSpPr>
          <p:cNvPr id="30740" name="Oval 64">
            <a:extLst>
              <a:ext uri="{FF2B5EF4-FFF2-40B4-BE49-F238E27FC236}">
                <a16:creationId xmlns:a16="http://schemas.microsoft.com/office/drawing/2014/main" id="{3970E94E-DF12-4369-B4A8-CCEF2EA8A92C}"/>
              </a:ext>
            </a:extLst>
          </p:cNvPr>
          <p:cNvSpPr>
            <a:spLocks noChangeArrowheads="1"/>
          </p:cNvSpPr>
          <p:nvPr/>
        </p:nvSpPr>
        <p:spPr bwMode="auto">
          <a:xfrm>
            <a:off x="8224838" y="6164263"/>
            <a:ext cx="884237"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Título</a:t>
            </a:r>
          </a:p>
        </p:txBody>
      </p:sp>
      <p:sp>
        <p:nvSpPr>
          <p:cNvPr id="30741" name="Line 67">
            <a:extLst>
              <a:ext uri="{FF2B5EF4-FFF2-40B4-BE49-F238E27FC236}">
                <a16:creationId xmlns:a16="http://schemas.microsoft.com/office/drawing/2014/main" id="{1D7B3C6A-8D51-425B-AEEE-D30B626C9CD1}"/>
              </a:ext>
            </a:extLst>
          </p:cNvPr>
          <p:cNvSpPr>
            <a:spLocks noChangeShapeType="1"/>
          </p:cNvSpPr>
          <p:nvPr/>
        </p:nvSpPr>
        <p:spPr bwMode="auto">
          <a:xfrm>
            <a:off x="7864475" y="5157788"/>
            <a:ext cx="792163" cy="1587"/>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0742" name="Rectangle 54">
            <a:extLst>
              <a:ext uri="{FF2B5EF4-FFF2-40B4-BE49-F238E27FC236}">
                <a16:creationId xmlns:a16="http://schemas.microsoft.com/office/drawing/2014/main" id="{E0CCD4D1-654E-4DAC-A800-B4EBCB636D7E}"/>
              </a:ext>
            </a:extLst>
          </p:cNvPr>
          <p:cNvSpPr>
            <a:spLocks noChangeArrowheads="1"/>
          </p:cNvSpPr>
          <p:nvPr/>
        </p:nvSpPr>
        <p:spPr bwMode="auto">
          <a:xfrm>
            <a:off x="6496050" y="5589588"/>
            <a:ext cx="1568450" cy="646112"/>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FORMACIÓNDOCENTE</a:t>
            </a:r>
          </a:p>
        </p:txBody>
      </p:sp>
      <p:sp>
        <p:nvSpPr>
          <p:cNvPr id="30743" name="54 Rectángulo">
            <a:extLst>
              <a:ext uri="{FF2B5EF4-FFF2-40B4-BE49-F238E27FC236}">
                <a16:creationId xmlns:a16="http://schemas.microsoft.com/office/drawing/2014/main" id="{F12D3EE2-FD33-4BD3-B59F-56CE38A5128F}"/>
              </a:ext>
            </a:extLst>
          </p:cNvPr>
          <p:cNvSpPr>
            <a:spLocks noChangeArrowheads="1"/>
          </p:cNvSpPr>
          <p:nvPr/>
        </p:nvSpPr>
        <p:spPr bwMode="auto">
          <a:xfrm>
            <a:off x="6399213" y="5516563"/>
            <a:ext cx="1754187" cy="792162"/>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cxnSp>
        <p:nvCxnSpPr>
          <p:cNvPr id="30744" name="55 Conector recto">
            <a:extLst>
              <a:ext uri="{FF2B5EF4-FFF2-40B4-BE49-F238E27FC236}">
                <a16:creationId xmlns:a16="http://schemas.microsoft.com/office/drawing/2014/main" id="{7ABB79CE-C6EB-433D-A399-E37AE3D7FF5F}"/>
              </a:ext>
            </a:extLst>
          </p:cNvPr>
          <p:cNvCxnSpPr>
            <a:cxnSpLocks noChangeShapeType="1"/>
            <a:stCxn id="30735" idx="4"/>
          </p:cNvCxnSpPr>
          <p:nvPr/>
        </p:nvCxnSpPr>
        <p:spPr bwMode="auto">
          <a:xfrm flipH="1">
            <a:off x="6588125" y="3141663"/>
            <a:ext cx="292100" cy="4318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45" name="56 Conector recto">
            <a:extLst>
              <a:ext uri="{FF2B5EF4-FFF2-40B4-BE49-F238E27FC236}">
                <a16:creationId xmlns:a16="http://schemas.microsoft.com/office/drawing/2014/main" id="{3FFE099F-DA46-49DC-A2E7-C03CA2DA6D59}"/>
              </a:ext>
            </a:extLst>
          </p:cNvPr>
          <p:cNvCxnSpPr>
            <a:cxnSpLocks noChangeShapeType="1"/>
            <a:stCxn id="30737" idx="3"/>
          </p:cNvCxnSpPr>
          <p:nvPr/>
        </p:nvCxnSpPr>
        <p:spPr bwMode="auto">
          <a:xfrm flipH="1">
            <a:off x="6877050" y="3365500"/>
            <a:ext cx="747713" cy="2794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46" name="57 Conector recto">
            <a:extLst>
              <a:ext uri="{FF2B5EF4-FFF2-40B4-BE49-F238E27FC236}">
                <a16:creationId xmlns:a16="http://schemas.microsoft.com/office/drawing/2014/main" id="{237B95A6-DAA9-4626-B77F-1E147B138239}"/>
              </a:ext>
            </a:extLst>
          </p:cNvPr>
          <p:cNvCxnSpPr>
            <a:cxnSpLocks noChangeShapeType="1"/>
            <a:stCxn id="30736" idx="2"/>
            <a:endCxn id="30734" idx="3"/>
          </p:cNvCxnSpPr>
          <p:nvPr/>
        </p:nvCxnSpPr>
        <p:spPr bwMode="auto">
          <a:xfrm flipH="1" flipV="1">
            <a:off x="6877050" y="3849688"/>
            <a:ext cx="790575" cy="22701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47" name="Oval 22">
            <a:extLst>
              <a:ext uri="{FF2B5EF4-FFF2-40B4-BE49-F238E27FC236}">
                <a16:creationId xmlns:a16="http://schemas.microsoft.com/office/drawing/2014/main" id="{802C700C-1686-44C6-9B2E-E0A04EA26977}"/>
              </a:ext>
            </a:extLst>
          </p:cNvPr>
          <p:cNvSpPr>
            <a:spLocks noChangeArrowheads="1"/>
          </p:cNvSpPr>
          <p:nvPr/>
        </p:nvSpPr>
        <p:spPr bwMode="auto">
          <a:xfrm>
            <a:off x="2413000" y="2676525"/>
            <a:ext cx="1716088" cy="43338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Nro. Registro</a:t>
            </a:r>
          </a:p>
        </p:txBody>
      </p:sp>
      <p:sp>
        <p:nvSpPr>
          <p:cNvPr id="30748" name="Oval 49">
            <a:extLst>
              <a:ext uri="{FF2B5EF4-FFF2-40B4-BE49-F238E27FC236}">
                <a16:creationId xmlns:a16="http://schemas.microsoft.com/office/drawing/2014/main" id="{E9DD5BC2-EE31-4E61-8B3F-DE131142025D}"/>
              </a:ext>
            </a:extLst>
          </p:cNvPr>
          <p:cNvSpPr>
            <a:spLocks noChangeArrowheads="1"/>
          </p:cNvSpPr>
          <p:nvPr/>
        </p:nvSpPr>
        <p:spPr bwMode="auto">
          <a:xfrm>
            <a:off x="1816100" y="4219575"/>
            <a:ext cx="1908175" cy="433388"/>
          </a:xfrm>
          <a:prstGeom prst="ellipse">
            <a:avLst/>
          </a:prstGeom>
          <a:noFill/>
          <a:ln w="317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solidFill>
                  <a:schemeClr val="folHlink"/>
                </a:solidFill>
              </a:rPr>
              <a:t>Fecha Ingreso</a:t>
            </a:r>
          </a:p>
        </p:txBody>
      </p:sp>
      <p:sp>
        <p:nvSpPr>
          <p:cNvPr id="30749" name="Rectangle 4">
            <a:extLst>
              <a:ext uri="{FF2B5EF4-FFF2-40B4-BE49-F238E27FC236}">
                <a16:creationId xmlns:a16="http://schemas.microsoft.com/office/drawing/2014/main" id="{67570523-55A1-4314-B1E9-BF16B799D1AD}"/>
              </a:ext>
            </a:extLst>
          </p:cNvPr>
          <p:cNvSpPr>
            <a:spLocks noChangeArrowheads="1"/>
          </p:cNvSpPr>
          <p:nvPr/>
        </p:nvSpPr>
        <p:spPr bwMode="auto">
          <a:xfrm>
            <a:off x="3348038" y="3573463"/>
            <a:ext cx="1584325" cy="5540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ALUMNO</a:t>
            </a:r>
          </a:p>
          <a:p>
            <a:pPr algn="ctr" eaLnBrk="1" hangingPunct="1">
              <a:spcBef>
                <a:spcPct val="0"/>
              </a:spcBef>
              <a:buClrTx/>
              <a:buSzTx/>
              <a:buFontTx/>
              <a:buNone/>
            </a:pPr>
            <a:endParaRPr lang="en-US" altLang="es-ES" sz="1200">
              <a:solidFill>
                <a:schemeClr val="folHlink"/>
              </a:solidFill>
            </a:endParaRPr>
          </a:p>
        </p:txBody>
      </p:sp>
      <p:sp>
        <p:nvSpPr>
          <p:cNvPr id="30750" name="Rectangle 5">
            <a:extLst>
              <a:ext uri="{FF2B5EF4-FFF2-40B4-BE49-F238E27FC236}">
                <a16:creationId xmlns:a16="http://schemas.microsoft.com/office/drawing/2014/main" id="{5B20BAA7-C496-415F-8BC9-70A7433FE457}"/>
              </a:ext>
            </a:extLst>
          </p:cNvPr>
          <p:cNvSpPr>
            <a:spLocks noChangeArrowheads="1"/>
          </p:cNvSpPr>
          <p:nvPr/>
        </p:nvSpPr>
        <p:spPr bwMode="auto">
          <a:xfrm>
            <a:off x="579438" y="5178425"/>
            <a:ext cx="1292225" cy="554038"/>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MATERIA </a:t>
            </a:r>
          </a:p>
          <a:p>
            <a:pPr algn="ctr" eaLnBrk="1" hangingPunct="1">
              <a:spcBef>
                <a:spcPct val="0"/>
              </a:spcBef>
              <a:buClrTx/>
              <a:buSzTx/>
              <a:buFontTx/>
              <a:buNone/>
            </a:pPr>
            <a:endParaRPr lang="en-US" altLang="es-ES" sz="1000">
              <a:solidFill>
                <a:schemeClr val="folHlink"/>
              </a:solidFill>
            </a:endParaRPr>
          </a:p>
        </p:txBody>
      </p:sp>
      <p:sp>
        <p:nvSpPr>
          <p:cNvPr id="30751" name="AutoShape 40">
            <a:extLst>
              <a:ext uri="{FF2B5EF4-FFF2-40B4-BE49-F238E27FC236}">
                <a16:creationId xmlns:a16="http://schemas.microsoft.com/office/drawing/2014/main" id="{B2FFE37D-CCCB-4111-AC45-7C949439792D}"/>
              </a:ext>
            </a:extLst>
          </p:cNvPr>
          <p:cNvSpPr>
            <a:spLocks noChangeArrowheads="1"/>
          </p:cNvSpPr>
          <p:nvPr/>
        </p:nvSpPr>
        <p:spPr bwMode="auto">
          <a:xfrm>
            <a:off x="3943350" y="4395788"/>
            <a:ext cx="412750" cy="401637"/>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cxnSp>
        <p:nvCxnSpPr>
          <p:cNvPr id="30752" name="80 Conector recto">
            <a:extLst>
              <a:ext uri="{FF2B5EF4-FFF2-40B4-BE49-F238E27FC236}">
                <a16:creationId xmlns:a16="http://schemas.microsoft.com/office/drawing/2014/main" id="{8FBC62C9-DD24-4A63-BA2B-99F3F39B16A4}"/>
              </a:ext>
            </a:extLst>
          </p:cNvPr>
          <p:cNvCxnSpPr>
            <a:cxnSpLocks noChangeShapeType="1"/>
            <a:stCxn id="30749" idx="2"/>
            <a:endCxn id="30751" idx="0"/>
          </p:cNvCxnSpPr>
          <p:nvPr/>
        </p:nvCxnSpPr>
        <p:spPr bwMode="auto">
          <a:xfrm>
            <a:off x="4140200" y="4127500"/>
            <a:ext cx="9525" cy="2682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53" name="AutoShape 40">
            <a:extLst>
              <a:ext uri="{FF2B5EF4-FFF2-40B4-BE49-F238E27FC236}">
                <a16:creationId xmlns:a16="http://schemas.microsoft.com/office/drawing/2014/main" id="{AF556EA4-60A1-4682-9B2A-CAE53C67FD06}"/>
              </a:ext>
            </a:extLst>
          </p:cNvPr>
          <p:cNvSpPr>
            <a:spLocks noChangeArrowheads="1"/>
          </p:cNvSpPr>
          <p:nvPr/>
        </p:nvSpPr>
        <p:spPr bwMode="auto">
          <a:xfrm>
            <a:off x="2411413" y="5259388"/>
            <a:ext cx="412750" cy="401637"/>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0754" name="Oval 26">
            <a:extLst>
              <a:ext uri="{FF2B5EF4-FFF2-40B4-BE49-F238E27FC236}">
                <a16:creationId xmlns:a16="http://schemas.microsoft.com/office/drawing/2014/main" id="{FDD63064-349D-4AF0-A62E-2F45693E6FBE}"/>
              </a:ext>
            </a:extLst>
          </p:cNvPr>
          <p:cNvSpPr>
            <a:spLocks noChangeArrowheads="1"/>
          </p:cNvSpPr>
          <p:nvPr/>
        </p:nvSpPr>
        <p:spPr bwMode="auto">
          <a:xfrm>
            <a:off x="4837113" y="5948363"/>
            <a:ext cx="1462087" cy="7366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Inscripción</a:t>
            </a:r>
          </a:p>
        </p:txBody>
      </p:sp>
      <p:cxnSp>
        <p:nvCxnSpPr>
          <p:cNvPr id="30755" name="99 Conector recto">
            <a:extLst>
              <a:ext uri="{FF2B5EF4-FFF2-40B4-BE49-F238E27FC236}">
                <a16:creationId xmlns:a16="http://schemas.microsoft.com/office/drawing/2014/main" id="{D63C583E-F064-4814-AD86-B95A4B436F35}"/>
              </a:ext>
            </a:extLst>
          </p:cNvPr>
          <p:cNvCxnSpPr>
            <a:cxnSpLocks noChangeShapeType="1"/>
            <a:stCxn id="30750" idx="3"/>
            <a:endCxn id="30753" idx="1"/>
          </p:cNvCxnSpPr>
          <p:nvPr/>
        </p:nvCxnSpPr>
        <p:spPr bwMode="auto">
          <a:xfrm>
            <a:off x="1871663" y="5456238"/>
            <a:ext cx="539750" cy="47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56" name="103 Conector recto">
            <a:extLst>
              <a:ext uri="{FF2B5EF4-FFF2-40B4-BE49-F238E27FC236}">
                <a16:creationId xmlns:a16="http://schemas.microsoft.com/office/drawing/2014/main" id="{A6FB5742-E4CB-47BF-A9F6-B9C74E237115}"/>
              </a:ext>
            </a:extLst>
          </p:cNvPr>
          <p:cNvCxnSpPr>
            <a:cxnSpLocks noChangeShapeType="1"/>
            <a:stCxn id="30753" idx="3"/>
            <a:endCxn id="30732" idx="1"/>
          </p:cNvCxnSpPr>
          <p:nvPr/>
        </p:nvCxnSpPr>
        <p:spPr bwMode="auto">
          <a:xfrm flipV="1">
            <a:off x="2824163" y="5456238"/>
            <a:ext cx="523875" cy="4762"/>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57" name="107 Conector recto">
            <a:extLst>
              <a:ext uri="{FF2B5EF4-FFF2-40B4-BE49-F238E27FC236}">
                <a16:creationId xmlns:a16="http://schemas.microsoft.com/office/drawing/2014/main" id="{18CA828C-EB03-4E09-837D-D5CF5BFF3695}"/>
              </a:ext>
            </a:extLst>
          </p:cNvPr>
          <p:cNvCxnSpPr>
            <a:cxnSpLocks noChangeShapeType="1"/>
            <a:stCxn id="30747" idx="4"/>
          </p:cNvCxnSpPr>
          <p:nvPr/>
        </p:nvCxnSpPr>
        <p:spPr bwMode="auto">
          <a:xfrm>
            <a:off x="3270250" y="3109913"/>
            <a:ext cx="293688" cy="4587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58" name="111 Conector recto">
            <a:extLst>
              <a:ext uri="{FF2B5EF4-FFF2-40B4-BE49-F238E27FC236}">
                <a16:creationId xmlns:a16="http://schemas.microsoft.com/office/drawing/2014/main" id="{2978FE7F-F14B-4A71-AEBC-6DEF15815ACE}"/>
              </a:ext>
            </a:extLst>
          </p:cNvPr>
          <p:cNvCxnSpPr>
            <a:cxnSpLocks noChangeShapeType="1"/>
            <a:stCxn id="30786" idx="3"/>
            <a:endCxn id="30749" idx="1"/>
          </p:cNvCxnSpPr>
          <p:nvPr/>
        </p:nvCxnSpPr>
        <p:spPr bwMode="auto">
          <a:xfrm>
            <a:off x="2660650" y="3846513"/>
            <a:ext cx="687388" cy="3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59" name="Oval 22">
            <a:extLst>
              <a:ext uri="{FF2B5EF4-FFF2-40B4-BE49-F238E27FC236}">
                <a16:creationId xmlns:a16="http://schemas.microsoft.com/office/drawing/2014/main" id="{D095BC91-8F4F-46B5-897B-3F993104D779}"/>
              </a:ext>
            </a:extLst>
          </p:cNvPr>
          <p:cNvSpPr>
            <a:spLocks noChangeArrowheads="1"/>
          </p:cNvSpPr>
          <p:nvPr/>
        </p:nvSpPr>
        <p:spPr bwMode="auto">
          <a:xfrm>
            <a:off x="87313" y="4581525"/>
            <a:ext cx="2106612" cy="4318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Código Materia</a:t>
            </a:r>
          </a:p>
        </p:txBody>
      </p:sp>
      <p:sp>
        <p:nvSpPr>
          <p:cNvPr id="30760" name="Oval 22">
            <a:extLst>
              <a:ext uri="{FF2B5EF4-FFF2-40B4-BE49-F238E27FC236}">
                <a16:creationId xmlns:a16="http://schemas.microsoft.com/office/drawing/2014/main" id="{7540E5D3-3418-4215-960C-5E9BAF45DCD9}"/>
              </a:ext>
            </a:extLst>
          </p:cNvPr>
          <p:cNvSpPr>
            <a:spLocks noChangeArrowheads="1"/>
          </p:cNvSpPr>
          <p:nvPr/>
        </p:nvSpPr>
        <p:spPr bwMode="auto">
          <a:xfrm>
            <a:off x="188913" y="6116638"/>
            <a:ext cx="2671762"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Descripción Materia</a:t>
            </a:r>
          </a:p>
        </p:txBody>
      </p:sp>
      <p:sp>
        <p:nvSpPr>
          <p:cNvPr id="30761" name="Oval 26">
            <a:extLst>
              <a:ext uri="{FF2B5EF4-FFF2-40B4-BE49-F238E27FC236}">
                <a16:creationId xmlns:a16="http://schemas.microsoft.com/office/drawing/2014/main" id="{3431BF60-9FB5-4129-AE56-3C914E618F3C}"/>
              </a:ext>
            </a:extLst>
          </p:cNvPr>
          <p:cNvSpPr>
            <a:spLocks noChangeArrowheads="1"/>
          </p:cNvSpPr>
          <p:nvPr/>
        </p:nvSpPr>
        <p:spPr bwMode="auto">
          <a:xfrm>
            <a:off x="3270250" y="5948363"/>
            <a:ext cx="1481138" cy="7366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Nro. Inscripción</a:t>
            </a:r>
          </a:p>
        </p:txBody>
      </p:sp>
      <p:cxnSp>
        <p:nvCxnSpPr>
          <p:cNvPr id="30762" name="118 Conector recto">
            <a:extLst>
              <a:ext uri="{FF2B5EF4-FFF2-40B4-BE49-F238E27FC236}">
                <a16:creationId xmlns:a16="http://schemas.microsoft.com/office/drawing/2014/main" id="{4BA9D5D5-06AD-4252-BA04-DD68C37E8E2C}"/>
              </a:ext>
            </a:extLst>
          </p:cNvPr>
          <p:cNvCxnSpPr>
            <a:cxnSpLocks noChangeShapeType="1"/>
            <a:stCxn id="30759" idx="4"/>
            <a:endCxn id="30750" idx="0"/>
          </p:cNvCxnSpPr>
          <p:nvPr/>
        </p:nvCxnSpPr>
        <p:spPr bwMode="auto">
          <a:xfrm>
            <a:off x="1141413" y="5013325"/>
            <a:ext cx="84137" cy="1651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63" name="121 Conector recto">
            <a:extLst>
              <a:ext uri="{FF2B5EF4-FFF2-40B4-BE49-F238E27FC236}">
                <a16:creationId xmlns:a16="http://schemas.microsoft.com/office/drawing/2014/main" id="{1A8D9C79-0B44-444F-80AB-E456517AA0CD}"/>
              </a:ext>
            </a:extLst>
          </p:cNvPr>
          <p:cNvCxnSpPr>
            <a:cxnSpLocks noChangeShapeType="1"/>
            <a:stCxn id="30750" idx="2"/>
            <a:endCxn id="30760" idx="1"/>
          </p:cNvCxnSpPr>
          <p:nvPr/>
        </p:nvCxnSpPr>
        <p:spPr bwMode="auto">
          <a:xfrm flipH="1">
            <a:off x="579438" y="5732463"/>
            <a:ext cx="646112" cy="4476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64" name="132 Conector angular">
            <a:extLst>
              <a:ext uri="{FF2B5EF4-FFF2-40B4-BE49-F238E27FC236}">
                <a16:creationId xmlns:a16="http://schemas.microsoft.com/office/drawing/2014/main" id="{11F4202D-4384-4232-9CCA-73E0935DEB5D}"/>
              </a:ext>
            </a:extLst>
          </p:cNvPr>
          <p:cNvCxnSpPr>
            <a:cxnSpLocks noChangeShapeType="1"/>
            <a:stCxn id="30829" idx="2"/>
            <a:endCxn id="30743" idx="1"/>
          </p:cNvCxnSpPr>
          <p:nvPr/>
        </p:nvCxnSpPr>
        <p:spPr bwMode="auto">
          <a:xfrm rot="16200000" flipH="1">
            <a:off x="5865019" y="5379244"/>
            <a:ext cx="752475" cy="315913"/>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65" name="135 Conector recto">
            <a:extLst>
              <a:ext uri="{FF2B5EF4-FFF2-40B4-BE49-F238E27FC236}">
                <a16:creationId xmlns:a16="http://schemas.microsoft.com/office/drawing/2014/main" id="{44B1399F-BFD4-4FB2-AF61-791CB8887BF4}"/>
              </a:ext>
            </a:extLst>
          </p:cNvPr>
          <p:cNvCxnSpPr>
            <a:cxnSpLocks noChangeShapeType="1"/>
            <a:stCxn id="30739" idx="3"/>
            <a:endCxn id="30743" idx="0"/>
          </p:cNvCxnSpPr>
          <p:nvPr/>
        </p:nvCxnSpPr>
        <p:spPr bwMode="auto">
          <a:xfrm flipH="1">
            <a:off x="7275513" y="5192713"/>
            <a:ext cx="355600" cy="3238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66" name="139 Conector recto">
            <a:extLst>
              <a:ext uri="{FF2B5EF4-FFF2-40B4-BE49-F238E27FC236}">
                <a16:creationId xmlns:a16="http://schemas.microsoft.com/office/drawing/2014/main" id="{61F12546-1D70-4D89-AF95-A9362E83F0A0}"/>
              </a:ext>
            </a:extLst>
          </p:cNvPr>
          <p:cNvCxnSpPr>
            <a:cxnSpLocks noChangeShapeType="1"/>
            <a:stCxn id="30732" idx="2"/>
            <a:endCxn id="30761" idx="0"/>
          </p:cNvCxnSpPr>
          <p:nvPr/>
        </p:nvCxnSpPr>
        <p:spPr bwMode="auto">
          <a:xfrm flipH="1">
            <a:off x="4011613" y="5732463"/>
            <a:ext cx="128587" cy="215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67" name="142 Conector recto">
            <a:extLst>
              <a:ext uri="{FF2B5EF4-FFF2-40B4-BE49-F238E27FC236}">
                <a16:creationId xmlns:a16="http://schemas.microsoft.com/office/drawing/2014/main" id="{09BD9489-0FA8-4BE9-A6B0-F19A297D9857}"/>
              </a:ext>
            </a:extLst>
          </p:cNvPr>
          <p:cNvCxnSpPr>
            <a:cxnSpLocks noChangeShapeType="1"/>
            <a:stCxn id="30732" idx="3"/>
            <a:endCxn id="30754" idx="0"/>
          </p:cNvCxnSpPr>
          <p:nvPr/>
        </p:nvCxnSpPr>
        <p:spPr bwMode="auto">
          <a:xfrm>
            <a:off x="4932363" y="5456238"/>
            <a:ext cx="636587" cy="4921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30768" name="294 Grupo">
            <a:extLst>
              <a:ext uri="{FF2B5EF4-FFF2-40B4-BE49-F238E27FC236}">
                <a16:creationId xmlns:a16="http://schemas.microsoft.com/office/drawing/2014/main" id="{8FCB3CAE-8550-40BA-B32C-5EDE850946EE}"/>
              </a:ext>
            </a:extLst>
          </p:cNvPr>
          <p:cNvGrpSpPr>
            <a:grpSpLocks/>
          </p:cNvGrpSpPr>
          <p:nvPr/>
        </p:nvGrpSpPr>
        <p:grpSpPr bwMode="auto">
          <a:xfrm>
            <a:off x="4067175" y="4221163"/>
            <a:ext cx="187325" cy="71437"/>
            <a:chOff x="3887635" y="4221088"/>
            <a:chExt cx="186656" cy="72008"/>
          </a:xfrm>
        </p:grpSpPr>
        <p:cxnSp>
          <p:nvCxnSpPr>
            <p:cNvPr id="30827" name="153 Conector recto">
              <a:extLst>
                <a:ext uri="{FF2B5EF4-FFF2-40B4-BE49-F238E27FC236}">
                  <a16:creationId xmlns:a16="http://schemas.microsoft.com/office/drawing/2014/main" id="{50E39A38-A9FD-4A22-8DB2-097B7FCF1BAB}"/>
                </a:ext>
              </a:extLst>
            </p:cNvPr>
            <p:cNvCxnSpPr>
              <a:cxnSpLocks noChangeShapeType="1"/>
            </p:cNvCxnSpPr>
            <p:nvPr/>
          </p:nvCxnSpPr>
          <p:spPr bwMode="auto">
            <a:xfrm>
              <a:off x="3887635" y="422108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28" name="154 Conector recto">
              <a:extLst>
                <a:ext uri="{FF2B5EF4-FFF2-40B4-BE49-F238E27FC236}">
                  <a16:creationId xmlns:a16="http://schemas.microsoft.com/office/drawing/2014/main" id="{DBA07568-6817-4896-BA2B-57ACC731B6FE}"/>
                </a:ext>
              </a:extLst>
            </p:cNvPr>
            <p:cNvCxnSpPr>
              <a:cxnSpLocks noChangeShapeType="1"/>
            </p:cNvCxnSpPr>
            <p:nvPr/>
          </p:nvCxnSpPr>
          <p:spPr bwMode="auto">
            <a:xfrm>
              <a:off x="3887635" y="4293096"/>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769" name="155 Conector recto">
            <a:extLst>
              <a:ext uri="{FF2B5EF4-FFF2-40B4-BE49-F238E27FC236}">
                <a16:creationId xmlns:a16="http://schemas.microsoft.com/office/drawing/2014/main" id="{BFF22825-C455-4AF7-9106-7AD56FD89EB9}"/>
              </a:ext>
            </a:extLst>
          </p:cNvPr>
          <p:cNvCxnSpPr>
            <a:cxnSpLocks noChangeShapeType="1"/>
          </p:cNvCxnSpPr>
          <p:nvPr/>
        </p:nvCxnSpPr>
        <p:spPr bwMode="auto">
          <a:xfrm>
            <a:off x="6011863" y="4221163"/>
            <a:ext cx="1873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70" name="156 Conector recto">
            <a:extLst>
              <a:ext uri="{FF2B5EF4-FFF2-40B4-BE49-F238E27FC236}">
                <a16:creationId xmlns:a16="http://schemas.microsoft.com/office/drawing/2014/main" id="{5CA0D130-CAF2-4425-8548-9AC0E217F52A}"/>
              </a:ext>
            </a:extLst>
          </p:cNvPr>
          <p:cNvCxnSpPr>
            <a:cxnSpLocks noChangeShapeType="1"/>
          </p:cNvCxnSpPr>
          <p:nvPr/>
        </p:nvCxnSpPr>
        <p:spPr bwMode="auto">
          <a:xfrm>
            <a:off x="6011863" y="4292600"/>
            <a:ext cx="187325"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30771" name="286 Grupo">
            <a:extLst>
              <a:ext uri="{FF2B5EF4-FFF2-40B4-BE49-F238E27FC236}">
                <a16:creationId xmlns:a16="http://schemas.microsoft.com/office/drawing/2014/main" id="{EB98D3D6-94F4-4E0D-8AD6-0BC2BCF3E131}"/>
              </a:ext>
            </a:extLst>
          </p:cNvPr>
          <p:cNvGrpSpPr>
            <a:grpSpLocks/>
          </p:cNvGrpSpPr>
          <p:nvPr/>
        </p:nvGrpSpPr>
        <p:grpSpPr bwMode="auto">
          <a:xfrm>
            <a:off x="4932363" y="2708275"/>
            <a:ext cx="185737" cy="73025"/>
            <a:chOff x="4673376" y="2708920"/>
            <a:chExt cx="186656" cy="72008"/>
          </a:xfrm>
        </p:grpSpPr>
        <p:cxnSp>
          <p:nvCxnSpPr>
            <p:cNvPr id="30825" name="157 Conector recto">
              <a:extLst>
                <a:ext uri="{FF2B5EF4-FFF2-40B4-BE49-F238E27FC236}">
                  <a16:creationId xmlns:a16="http://schemas.microsoft.com/office/drawing/2014/main" id="{FB890A1A-B5D0-442B-99CA-9B65161CFC97}"/>
                </a:ext>
              </a:extLst>
            </p:cNvPr>
            <p:cNvCxnSpPr>
              <a:cxnSpLocks noChangeShapeType="1"/>
            </p:cNvCxnSpPr>
            <p:nvPr/>
          </p:nvCxnSpPr>
          <p:spPr bwMode="auto">
            <a:xfrm>
              <a:off x="4673376" y="2708920"/>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26" name="165 Conector recto">
              <a:extLst>
                <a:ext uri="{FF2B5EF4-FFF2-40B4-BE49-F238E27FC236}">
                  <a16:creationId xmlns:a16="http://schemas.microsoft.com/office/drawing/2014/main" id="{B0B72E71-1E51-45BB-B3C1-5B2CE13F8B16}"/>
                </a:ext>
              </a:extLst>
            </p:cNvPr>
            <p:cNvCxnSpPr>
              <a:cxnSpLocks noChangeShapeType="1"/>
            </p:cNvCxnSpPr>
            <p:nvPr/>
          </p:nvCxnSpPr>
          <p:spPr bwMode="auto">
            <a:xfrm>
              <a:off x="4673376" y="278092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772" name="167 Conector recto">
            <a:extLst>
              <a:ext uri="{FF2B5EF4-FFF2-40B4-BE49-F238E27FC236}">
                <a16:creationId xmlns:a16="http://schemas.microsoft.com/office/drawing/2014/main" id="{8D934560-E1D9-409B-ACEC-FD598672B70F}"/>
              </a:ext>
            </a:extLst>
          </p:cNvPr>
          <p:cNvCxnSpPr>
            <a:cxnSpLocks noChangeShapeType="1"/>
            <a:stCxn id="30734" idx="2"/>
            <a:endCxn id="30829" idx="0"/>
          </p:cNvCxnSpPr>
          <p:nvPr/>
        </p:nvCxnSpPr>
        <p:spPr bwMode="auto">
          <a:xfrm flipH="1">
            <a:off x="6083300" y="4127500"/>
            <a:ext cx="1588" cy="59690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73" name="171 Conector angular">
            <a:extLst>
              <a:ext uri="{FF2B5EF4-FFF2-40B4-BE49-F238E27FC236}">
                <a16:creationId xmlns:a16="http://schemas.microsoft.com/office/drawing/2014/main" id="{A5E47427-D91A-49CF-8FDF-A08EE40D6A82}"/>
              </a:ext>
            </a:extLst>
          </p:cNvPr>
          <p:cNvCxnSpPr>
            <a:cxnSpLocks noChangeShapeType="1"/>
            <a:stCxn id="30831" idx="1"/>
            <a:endCxn id="30734" idx="0"/>
          </p:cNvCxnSpPr>
          <p:nvPr/>
        </p:nvCxnSpPr>
        <p:spPr bwMode="auto">
          <a:xfrm>
            <a:off x="5149850" y="3221038"/>
            <a:ext cx="935038" cy="352425"/>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74" name="173 Conector angular">
            <a:extLst>
              <a:ext uri="{FF2B5EF4-FFF2-40B4-BE49-F238E27FC236}">
                <a16:creationId xmlns:a16="http://schemas.microsoft.com/office/drawing/2014/main" id="{C6E1D7BF-0BF0-47EB-820F-4765A7F4A015}"/>
              </a:ext>
            </a:extLst>
          </p:cNvPr>
          <p:cNvCxnSpPr>
            <a:cxnSpLocks noChangeShapeType="1"/>
            <a:stCxn id="30831" idx="5"/>
            <a:endCxn id="30749" idx="0"/>
          </p:cNvCxnSpPr>
          <p:nvPr/>
        </p:nvCxnSpPr>
        <p:spPr bwMode="auto">
          <a:xfrm rot="10800000" flipV="1">
            <a:off x="4140200" y="3221038"/>
            <a:ext cx="720725" cy="352425"/>
          </a:xfrm>
          <a:prstGeom prst="bentConnector2">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30775" name="295 Grupo">
            <a:extLst>
              <a:ext uri="{FF2B5EF4-FFF2-40B4-BE49-F238E27FC236}">
                <a16:creationId xmlns:a16="http://schemas.microsoft.com/office/drawing/2014/main" id="{8D38E881-CEE7-40A7-84F5-1FD830A5C52C}"/>
              </a:ext>
            </a:extLst>
          </p:cNvPr>
          <p:cNvGrpSpPr>
            <a:grpSpLocks/>
          </p:cNvGrpSpPr>
          <p:nvPr/>
        </p:nvGrpSpPr>
        <p:grpSpPr bwMode="auto">
          <a:xfrm>
            <a:off x="4067175" y="3357563"/>
            <a:ext cx="187325" cy="142875"/>
            <a:chOff x="3887635" y="3356992"/>
            <a:chExt cx="186656" cy="144016"/>
          </a:xfrm>
        </p:grpSpPr>
        <p:sp>
          <p:nvSpPr>
            <p:cNvPr id="30823" name="166 Elipse">
              <a:extLst>
                <a:ext uri="{FF2B5EF4-FFF2-40B4-BE49-F238E27FC236}">
                  <a16:creationId xmlns:a16="http://schemas.microsoft.com/office/drawing/2014/main" id="{22644451-202F-4E00-8D82-5AA681E3A5C6}"/>
                </a:ext>
              </a:extLst>
            </p:cNvPr>
            <p:cNvSpPr>
              <a:spLocks noChangeArrowheads="1"/>
            </p:cNvSpPr>
            <p:nvPr/>
          </p:nvSpPr>
          <p:spPr bwMode="auto">
            <a:xfrm>
              <a:off x="3902155" y="3356992"/>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cxnSp>
          <p:nvCxnSpPr>
            <p:cNvPr id="30824" name="174 Conector recto">
              <a:extLst>
                <a:ext uri="{FF2B5EF4-FFF2-40B4-BE49-F238E27FC236}">
                  <a16:creationId xmlns:a16="http://schemas.microsoft.com/office/drawing/2014/main" id="{9492D4D4-E245-4D6A-86DF-CDC58B173A0C}"/>
                </a:ext>
              </a:extLst>
            </p:cNvPr>
            <p:cNvCxnSpPr>
              <a:cxnSpLocks noChangeShapeType="1"/>
            </p:cNvCxnSpPr>
            <p:nvPr/>
          </p:nvCxnSpPr>
          <p:spPr bwMode="auto">
            <a:xfrm>
              <a:off x="3887635" y="350100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30776" name="296 Grupo">
            <a:extLst>
              <a:ext uri="{FF2B5EF4-FFF2-40B4-BE49-F238E27FC236}">
                <a16:creationId xmlns:a16="http://schemas.microsoft.com/office/drawing/2014/main" id="{2959F6ED-B71B-450F-B9C8-357A1CD03C3B}"/>
              </a:ext>
            </a:extLst>
          </p:cNvPr>
          <p:cNvGrpSpPr>
            <a:grpSpLocks/>
          </p:cNvGrpSpPr>
          <p:nvPr/>
        </p:nvGrpSpPr>
        <p:grpSpPr bwMode="auto">
          <a:xfrm>
            <a:off x="6011863" y="3357563"/>
            <a:ext cx="187325" cy="142875"/>
            <a:chOff x="6012160" y="3356992"/>
            <a:chExt cx="186656" cy="144016"/>
          </a:xfrm>
        </p:grpSpPr>
        <p:sp>
          <p:nvSpPr>
            <p:cNvPr id="30821" name="175 Elipse">
              <a:extLst>
                <a:ext uri="{FF2B5EF4-FFF2-40B4-BE49-F238E27FC236}">
                  <a16:creationId xmlns:a16="http://schemas.microsoft.com/office/drawing/2014/main" id="{B041359A-18B6-440A-B480-33770921B6F9}"/>
                </a:ext>
              </a:extLst>
            </p:cNvPr>
            <p:cNvSpPr>
              <a:spLocks noChangeArrowheads="1"/>
            </p:cNvSpPr>
            <p:nvPr/>
          </p:nvSpPr>
          <p:spPr bwMode="auto">
            <a:xfrm>
              <a:off x="6026464" y="3356992"/>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cxnSp>
          <p:nvCxnSpPr>
            <p:cNvPr id="30822" name="176 Conector recto">
              <a:extLst>
                <a:ext uri="{FF2B5EF4-FFF2-40B4-BE49-F238E27FC236}">
                  <a16:creationId xmlns:a16="http://schemas.microsoft.com/office/drawing/2014/main" id="{557773AB-2A08-47B3-99D6-819A120F7C32}"/>
                </a:ext>
              </a:extLst>
            </p:cNvPr>
            <p:cNvCxnSpPr>
              <a:cxnSpLocks noChangeShapeType="1"/>
            </p:cNvCxnSpPr>
            <p:nvPr/>
          </p:nvCxnSpPr>
          <p:spPr bwMode="auto">
            <a:xfrm>
              <a:off x="6012160" y="3501008"/>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30777" name="200 Grupo">
            <a:extLst>
              <a:ext uri="{FF2B5EF4-FFF2-40B4-BE49-F238E27FC236}">
                <a16:creationId xmlns:a16="http://schemas.microsoft.com/office/drawing/2014/main" id="{0B4EF9B4-924D-4463-93FD-60591F70587F}"/>
              </a:ext>
            </a:extLst>
          </p:cNvPr>
          <p:cNvGrpSpPr>
            <a:grpSpLocks/>
          </p:cNvGrpSpPr>
          <p:nvPr/>
        </p:nvGrpSpPr>
        <p:grpSpPr bwMode="auto">
          <a:xfrm>
            <a:off x="6191250" y="5834063"/>
            <a:ext cx="207963" cy="187325"/>
            <a:chOff x="5796136" y="5689631"/>
            <a:chExt cx="207640" cy="187641"/>
          </a:xfrm>
        </p:grpSpPr>
        <p:grpSp>
          <p:nvGrpSpPr>
            <p:cNvPr id="30817" name="196 Grupo">
              <a:extLst>
                <a:ext uri="{FF2B5EF4-FFF2-40B4-BE49-F238E27FC236}">
                  <a16:creationId xmlns:a16="http://schemas.microsoft.com/office/drawing/2014/main" id="{D701BB5C-C0B5-4050-B686-D946EF159823}"/>
                </a:ext>
              </a:extLst>
            </p:cNvPr>
            <p:cNvGrpSpPr>
              <a:grpSpLocks/>
            </p:cNvGrpSpPr>
            <p:nvPr/>
          </p:nvGrpSpPr>
          <p:grpSpPr bwMode="auto">
            <a:xfrm rot="-5400000">
              <a:off x="5823365" y="5668566"/>
              <a:ext cx="159346" cy="201476"/>
              <a:chOff x="7870229" y="1556916"/>
              <a:chExt cx="159346" cy="201476"/>
            </a:xfrm>
          </p:grpSpPr>
          <p:cxnSp>
            <p:nvCxnSpPr>
              <p:cNvPr id="30819" name="190 Conector recto">
                <a:extLst>
                  <a:ext uri="{FF2B5EF4-FFF2-40B4-BE49-F238E27FC236}">
                    <a16:creationId xmlns:a16="http://schemas.microsoft.com/office/drawing/2014/main" id="{ADBF70B7-016F-47A7-A885-A084062404F8}"/>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20" name="191 Conector recto">
                <a:extLst>
                  <a:ext uri="{FF2B5EF4-FFF2-40B4-BE49-F238E27FC236}">
                    <a16:creationId xmlns:a16="http://schemas.microsoft.com/office/drawing/2014/main" id="{FDBFF186-0A5E-4F02-97B0-8E99398D7983}"/>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818" name="199 Conector recto">
              <a:extLst>
                <a:ext uri="{FF2B5EF4-FFF2-40B4-BE49-F238E27FC236}">
                  <a16:creationId xmlns:a16="http://schemas.microsoft.com/office/drawing/2014/main" id="{BDAA9944-8975-489A-970F-3736A2F3F9DB}"/>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778" name="86 Conector recto">
            <a:extLst>
              <a:ext uri="{FF2B5EF4-FFF2-40B4-BE49-F238E27FC236}">
                <a16:creationId xmlns:a16="http://schemas.microsoft.com/office/drawing/2014/main" id="{B24EE2A0-A080-43F5-9022-FBA8184DB62E}"/>
              </a:ext>
            </a:extLst>
          </p:cNvPr>
          <p:cNvCxnSpPr>
            <a:cxnSpLocks noChangeShapeType="1"/>
            <a:stCxn id="30751" idx="2"/>
            <a:endCxn id="30732" idx="0"/>
          </p:cNvCxnSpPr>
          <p:nvPr/>
        </p:nvCxnSpPr>
        <p:spPr bwMode="auto">
          <a:xfrm flipH="1">
            <a:off x="4140200" y="4797425"/>
            <a:ext cx="9525" cy="382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30779" name="237 Grupo">
            <a:extLst>
              <a:ext uri="{FF2B5EF4-FFF2-40B4-BE49-F238E27FC236}">
                <a16:creationId xmlns:a16="http://schemas.microsoft.com/office/drawing/2014/main" id="{789A7D81-224B-4E11-8DD2-F0C5D12FB206}"/>
              </a:ext>
            </a:extLst>
          </p:cNvPr>
          <p:cNvGrpSpPr>
            <a:grpSpLocks/>
          </p:cNvGrpSpPr>
          <p:nvPr/>
        </p:nvGrpSpPr>
        <p:grpSpPr bwMode="auto">
          <a:xfrm>
            <a:off x="3035300" y="5376863"/>
            <a:ext cx="312738" cy="160337"/>
            <a:chOff x="2799140" y="5449663"/>
            <a:chExt cx="313077" cy="159346"/>
          </a:xfrm>
        </p:grpSpPr>
        <p:grpSp>
          <p:nvGrpSpPr>
            <p:cNvPr id="30813" name="211 Grupo">
              <a:extLst>
                <a:ext uri="{FF2B5EF4-FFF2-40B4-BE49-F238E27FC236}">
                  <a16:creationId xmlns:a16="http://schemas.microsoft.com/office/drawing/2014/main" id="{FB5910D2-6807-4639-84F0-4E14EB25322A}"/>
                </a:ext>
              </a:extLst>
            </p:cNvPr>
            <p:cNvGrpSpPr>
              <a:grpSpLocks/>
            </p:cNvGrpSpPr>
            <p:nvPr/>
          </p:nvGrpSpPr>
          <p:grpSpPr bwMode="auto">
            <a:xfrm rot="-5554259">
              <a:off x="2931806" y="5428598"/>
              <a:ext cx="159346" cy="201476"/>
              <a:chOff x="7870229" y="1556916"/>
              <a:chExt cx="159346" cy="201476"/>
            </a:xfrm>
          </p:grpSpPr>
          <p:cxnSp>
            <p:nvCxnSpPr>
              <p:cNvPr id="30815" name="213 Conector recto">
                <a:extLst>
                  <a:ext uri="{FF2B5EF4-FFF2-40B4-BE49-F238E27FC236}">
                    <a16:creationId xmlns:a16="http://schemas.microsoft.com/office/drawing/2014/main" id="{2ECDED7E-8A85-4524-9B4F-04323442E1F8}"/>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16" name="214 Conector recto">
                <a:extLst>
                  <a:ext uri="{FF2B5EF4-FFF2-40B4-BE49-F238E27FC236}">
                    <a16:creationId xmlns:a16="http://schemas.microsoft.com/office/drawing/2014/main" id="{7165B904-89A0-4FE6-AA3B-E7B67481A635}"/>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30814" name="212 Elipse">
              <a:extLst>
                <a:ext uri="{FF2B5EF4-FFF2-40B4-BE49-F238E27FC236}">
                  <a16:creationId xmlns:a16="http://schemas.microsoft.com/office/drawing/2014/main" id="{85CC2BF4-0A05-477A-8FD7-7B4790F4A37C}"/>
                </a:ext>
              </a:extLst>
            </p:cNvPr>
            <p:cNvSpPr>
              <a:spLocks noChangeArrowheads="1"/>
            </p:cNvSpPr>
            <p:nvPr/>
          </p:nvSpPr>
          <p:spPr bwMode="auto">
            <a:xfrm rot="-5554259">
              <a:off x="2798355" y="5458188"/>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grpSp>
      <p:grpSp>
        <p:nvGrpSpPr>
          <p:cNvPr id="30780" name="218 Grupo">
            <a:extLst>
              <a:ext uri="{FF2B5EF4-FFF2-40B4-BE49-F238E27FC236}">
                <a16:creationId xmlns:a16="http://schemas.microsoft.com/office/drawing/2014/main" id="{4B593A32-DE57-44D4-A7C1-84544BEF61B0}"/>
              </a:ext>
            </a:extLst>
          </p:cNvPr>
          <p:cNvGrpSpPr>
            <a:grpSpLocks/>
          </p:cNvGrpSpPr>
          <p:nvPr/>
        </p:nvGrpSpPr>
        <p:grpSpPr bwMode="auto">
          <a:xfrm rot="10800000">
            <a:off x="1871663" y="5329238"/>
            <a:ext cx="207962" cy="187325"/>
            <a:chOff x="5796136" y="5689631"/>
            <a:chExt cx="207640" cy="187641"/>
          </a:xfrm>
        </p:grpSpPr>
        <p:grpSp>
          <p:nvGrpSpPr>
            <p:cNvPr id="30809" name="219 Grupo">
              <a:extLst>
                <a:ext uri="{FF2B5EF4-FFF2-40B4-BE49-F238E27FC236}">
                  <a16:creationId xmlns:a16="http://schemas.microsoft.com/office/drawing/2014/main" id="{2ECC6569-CA19-49D6-825B-6A74BBE29F36}"/>
                </a:ext>
              </a:extLst>
            </p:cNvPr>
            <p:cNvGrpSpPr>
              <a:grpSpLocks/>
            </p:cNvGrpSpPr>
            <p:nvPr/>
          </p:nvGrpSpPr>
          <p:grpSpPr bwMode="auto">
            <a:xfrm rot="-5400000">
              <a:off x="5823365" y="5668566"/>
              <a:ext cx="159346" cy="201476"/>
              <a:chOff x="7870229" y="1556916"/>
              <a:chExt cx="159346" cy="201476"/>
            </a:xfrm>
          </p:grpSpPr>
          <p:cxnSp>
            <p:nvCxnSpPr>
              <p:cNvPr id="30811" name="221 Conector recto">
                <a:extLst>
                  <a:ext uri="{FF2B5EF4-FFF2-40B4-BE49-F238E27FC236}">
                    <a16:creationId xmlns:a16="http://schemas.microsoft.com/office/drawing/2014/main" id="{1ACDAF72-835F-46AA-A4E5-665422E9828F}"/>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12" name="222 Conector recto">
                <a:extLst>
                  <a:ext uri="{FF2B5EF4-FFF2-40B4-BE49-F238E27FC236}">
                    <a16:creationId xmlns:a16="http://schemas.microsoft.com/office/drawing/2014/main" id="{74F577B6-2D3C-4BDF-BB46-1983EDFEBCC9}"/>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810" name="220 Conector recto">
              <a:extLst>
                <a:ext uri="{FF2B5EF4-FFF2-40B4-BE49-F238E27FC236}">
                  <a16:creationId xmlns:a16="http://schemas.microsoft.com/office/drawing/2014/main" id="{277FCFEC-B2F0-4203-83BD-689F0370FC0C}"/>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781" name="227 Conector recto">
            <a:extLst>
              <a:ext uri="{FF2B5EF4-FFF2-40B4-BE49-F238E27FC236}">
                <a16:creationId xmlns:a16="http://schemas.microsoft.com/office/drawing/2014/main" id="{36816325-D8CE-439B-BC90-5E4EFDD778B4}"/>
              </a:ext>
            </a:extLst>
          </p:cNvPr>
          <p:cNvCxnSpPr>
            <a:cxnSpLocks noChangeShapeType="1"/>
            <a:stCxn id="30740" idx="0"/>
            <a:endCxn id="30743" idx="3"/>
          </p:cNvCxnSpPr>
          <p:nvPr/>
        </p:nvCxnSpPr>
        <p:spPr bwMode="auto">
          <a:xfrm flipH="1" flipV="1">
            <a:off x="8153400" y="5913438"/>
            <a:ext cx="512763" cy="2508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82" name="Rectangle 4">
            <a:extLst>
              <a:ext uri="{FF2B5EF4-FFF2-40B4-BE49-F238E27FC236}">
                <a16:creationId xmlns:a16="http://schemas.microsoft.com/office/drawing/2014/main" id="{C591AE1E-0802-4AA6-8F82-941EF73317D5}"/>
              </a:ext>
            </a:extLst>
          </p:cNvPr>
          <p:cNvSpPr>
            <a:spLocks noChangeArrowheads="1"/>
          </p:cNvSpPr>
          <p:nvPr/>
        </p:nvSpPr>
        <p:spPr bwMode="auto">
          <a:xfrm>
            <a:off x="107950" y="3573463"/>
            <a:ext cx="1584325" cy="5540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CARRERA</a:t>
            </a:r>
          </a:p>
          <a:p>
            <a:pPr algn="ctr" eaLnBrk="1" hangingPunct="1">
              <a:spcBef>
                <a:spcPct val="0"/>
              </a:spcBef>
              <a:buClrTx/>
              <a:buSzTx/>
              <a:buFontTx/>
              <a:buNone/>
            </a:pPr>
            <a:endParaRPr lang="en-US" altLang="es-ES" sz="1200">
              <a:solidFill>
                <a:schemeClr val="folHlink"/>
              </a:solidFill>
            </a:endParaRPr>
          </a:p>
        </p:txBody>
      </p:sp>
      <p:sp>
        <p:nvSpPr>
          <p:cNvPr id="30783" name="Oval 49">
            <a:extLst>
              <a:ext uri="{FF2B5EF4-FFF2-40B4-BE49-F238E27FC236}">
                <a16:creationId xmlns:a16="http://schemas.microsoft.com/office/drawing/2014/main" id="{D8C42FB8-F6DC-4AEE-8273-63567ABD5D59}"/>
              </a:ext>
            </a:extLst>
          </p:cNvPr>
          <p:cNvSpPr>
            <a:spLocks noChangeArrowheads="1"/>
          </p:cNvSpPr>
          <p:nvPr/>
        </p:nvSpPr>
        <p:spPr bwMode="auto">
          <a:xfrm>
            <a:off x="15875" y="1973263"/>
            <a:ext cx="1262063" cy="735012"/>
          </a:xfrm>
          <a:prstGeom prst="ellipse">
            <a:avLst/>
          </a:prstGeom>
          <a:noFill/>
          <a:ln w="317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u="sng">
                <a:solidFill>
                  <a:schemeClr val="folHlink"/>
                </a:solidFill>
              </a:rPr>
              <a:t>Código Carrera</a:t>
            </a:r>
          </a:p>
        </p:txBody>
      </p:sp>
      <p:sp>
        <p:nvSpPr>
          <p:cNvPr id="30784" name="Oval 49">
            <a:extLst>
              <a:ext uri="{FF2B5EF4-FFF2-40B4-BE49-F238E27FC236}">
                <a16:creationId xmlns:a16="http://schemas.microsoft.com/office/drawing/2014/main" id="{79C87A4A-FA05-45DB-AB90-DF107032DAAD}"/>
              </a:ext>
            </a:extLst>
          </p:cNvPr>
          <p:cNvSpPr>
            <a:spLocks noChangeArrowheads="1"/>
          </p:cNvSpPr>
          <p:nvPr/>
        </p:nvSpPr>
        <p:spPr bwMode="auto">
          <a:xfrm>
            <a:off x="731838" y="2697163"/>
            <a:ext cx="1584325" cy="735012"/>
          </a:xfrm>
          <a:prstGeom prst="ellipse">
            <a:avLst/>
          </a:prstGeom>
          <a:noFill/>
          <a:ln w="3175" cmpd="dbl"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400">
                <a:solidFill>
                  <a:schemeClr val="folHlink"/>
                </a:solidFill>
              </a:rPr>
              <a:t>Descripción Carrera</a:t>
            </a:r>
          </a:p>
        </p:txBody>
      </p:sp>
      <p:grpSp>
        <p:nvGrpSpPr>
          <p:cNvPr id="30785" name="238 Grupo">
            <a:extLst>
              <a:ext uri="{FF2B5EF4-FFF2-40B4-BE49-F238E27FC236}">
                <a16:creationId xmlns:a16="http://schemas.microsoft.com/office/drawing/2014/main" id="{86F38CCC-F670-42E9-8F0A-7789C377E16A}"/>
              </a:ext>
            </a:extLst>
          </p:cNvPr>
          <p:cNvGrpSpPr>
            <a:grpSpLocks/>
          </p:cNvGrpSpPr>
          <p:nvPr/>
        </p:nvGrpSpPr>
        <p:grpSpPr bwMode="auto">
          <a:xfrm rot="5400000">
            <a:off x="3980656" y="4944269"/>
            <a:ext cx="312738" cy="158750"/>
            <a:chOff x="2799140" y="5449663"/>
            <a:chExt cx="313077" cy="159346"/>
          </a:xfrm>
        </p:grpSpPr>
        <p:grpSp>
          <p:nvGrpSpPr>
            <p:cNvPr id="30805" name="239 Grupo">
              <a:extLst>
                <a:ext uri="{FF2B5EF4-FFF2-40B4-BE49-F238E27FC236}">
                  <a16:creationId xmlns:a16="http://schemas.microsoft.com/office/drawing/2014/main" id="{7E20D70A-E033-4B8D-8661-43A13529ED4E}"/>
                </a:ext>
              </a:extLst>
            </p:cNvPr>
            <p:cNvGrpSpPr>
              <a:grpSpLocks/>
            </p:cNvGrpSpPr>
            <p:nvPr/>
          </p:nvGrpSpPr>
          <p:grpSpPr bwMode="auto">
            <a:xfrm rot="-5554259">
              <a:off x="2931806" y="5428598"/>
              <a:ext cx="159346" cy="201476"/>
              <a:chOff x="7870229" y="1556916"/>
              <a:chExt cx="159346" cy="201476"/>
            </a:xfrm>
          </p:grpSpPr>
          <p:cxnSp>
            <p:nvCxnSpPr>
              <p:cNvPr id="30807" name="241 Conector recto">
                <a:extLst>
                  <a:ext uri="{FF2B5EF4-FFF2-40B4-BE49-F238E27FC236}">
                    <a16:creationId xmlns:a16="http://schemas.microsoft.com/office/drawing/2014/main" id="{F4D552F1-FF0D-4AF7-9379-EB0BAE25718C}"/>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08" name="242 Conector recto">
                <a:extLst>
                  <a:ext uri="{FF2B5EF4-FFF2-40B4-BE49-F238E27FC236}">
                    <a16:creationId xmlns:a16="http://schemas.microsoft.com/office/drawing/2014/main" id="{D528BE74-D4CA-47D1-8F72-3E2D48F4132F}"/>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30806" name="240 Elipse">
              <a:extLst>
                <a:ext uri="{FF2B5EF4-FFF2-40B4-BE49-F238E27FC236}">
                  <a16:creationId xmlns:a16="http://schemas.microsoft.com/office/drawing/2014/main" id="{0CF0676D-AC81-43B0-A023-C7EC197C52FD}"/>
                </a:ext>
              </a:extLst>
            </p:cNvPr>
            <p:cNvSpPr>
              <a:spLocks noChangeArrowheads="1"/>
            </p:cNvSpPr>
            <p:nvPr/>
          </p:nvSpPr>
          <p:spPr bwMode="auto">
            <a:xfrm rot="-5554259">
              <a:off x="2798355" y="5458188"/>
              <a:ext cx="109570" cy="1080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AR" sz="1400">
                <a:solidFill>
                  <a:schemeClr val="folHlink"/>
                </a:solidFill>
              </a:endParaRPr>
            </a:p>
          </p:txBody>
        </p:sp>
      </p:grpSp>
      <p:sp>
        <p:nvSpPr>
          <p:cNvPr id="30786" name="AutoShape 40">
            <a:extLst>
              <a:ext uri="{FF2B5EF4-FFF2-40B4-BE49-F238E27FC236}">
                <a16:creationId xmlns:a16="http://schemas.microsoft.com/office/drawing/2014/main" id="{E6EA551A-A6C6-4492-9283-61AECA6FA152}"/>
              </a:ext>
            </a:extLst>
          </p:cNvPr>
          <p:cNvSpPr>
            <a:spLocks noChangeArrowheads="1"/>
          </p:cNvSpPr>
          <p:nvPr/>
        </p:nvSpPr>
        <p:spPr bwMode="auto">
          <a:xfrm>
            <a:off x="2247900" y="3644900"/>
            <a:ext cx="412750" cy="401638"/>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cxnSp>
        <p:nvCxnSpPr>
          <p:cNvPr id="30787" name="252 Conector recto">
            <a:extLst>
              <a:ext uri="{FF2B5EF4-FFF2-40B4-BE49-F238E27FC236}">
                <a16:creationId xmlns:a16="http://schemas.microsoft.com/office/drawing/2014/main" id="{4F2F976C-08BD-408C-A96C-481763304266}"/>
              </a:ext>
            </a:extLst>
          </p:cNvPr>
          <p:cNvCxnSpPr>
            <a:cxnSpLocks noChangeShapeType="1"/>
            <a:stCxn id="30782" idx="3"/>
            <a:endCxn id="30786" idx="1"/>
          </p:cNvCxnSpPr>
          <p:nvPr/>
        </p:nvCxnSpPr>
        <p:spPr bwMode="auto">
          <a:xfrm flipV="1">
            <a:off x="1692275" y="3846513"/>
            <a:ext cx="555625" cy="317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88" name="258 Conector recto">
            <a:extLst>
              <a:ext uri="{FF2B5EF4-FFF2-40B4-BE49-F238E27FC236}">
                <a16:creationId xmlns:a16="http://schemas.microsoft.com/office/drawing/2014/main" id="{E306D407-BB03-4356-B629-7D632CA41842}"/>
              </a:ext>
            </a:extLst>
          </p:cNvPr>
          <p:cNvCxnSpPr>
            <a:cxnSpLocks noChangeShapeType="1"/>
            <a:stCxn id="30748" idx="0"/>
            <a:endCxn id="30786" idx="2"/>
          </p:cNvCxnSpPr>
          <p:nvPr/>
        </p:nvCxnSpPr>
        <p:spPr bwMode="auto">
          <a:xfrm flipH="1" flipV="1">
            <a:off x="2454275" y="4046538"/>
            <a:ext cx="315913" cy="17303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30789" name="261 Grupo">
            <a:extLst>
              <a:ext uri="{FF2B5EF4-FFF2-40B4-BE49-F238E27FC236}">
                <a16:creationId xmlns:a16="http://schemas.microsoft.com/office/drawing/2014/main" id="{A98DD739-4FF5-4E24-B441-5A3B7E698724}"/>
              </a:ext>
            </a:extLst>
          </p:cNvPr>
          <p:cNvGrpSpPr>
            <a:grpSpLocks/>
          </p:cNvGrpSpPr>
          <p:nvPr/>
        </p:nvGrpSpPr>
        <p:grpSpPr bwMode="auto">
          <a:xfrm rot="10800000">
            <a:off x="1692275" y="3751263"/>
            <a:ext cx="206375" cy="188912"/>
            <a:chOff x="5796136" y="5689631"/>
            <a:chExt cx="207640" cy="187641"/>
          </a:xfrm>
        </p:grpSpPr>
        <p:grpSp>
          <p:nvGrpSpPr>
            <p:cNvPr id="30801" name="262 Grupo">
              <a:extLst>
                <a:ext uri="{FF2B5EF4-FFF2-40B4-BE49-F238E27FC236}">
                  <a16:creationId xmlns:a16="http://schemas.microsoft.com/office/drawing/2014/main" id="{0DCB9D13-12CE-44A7-A66A-612D67A65731}"/>
                </a:ext>
              </a:extLst>
            </p:cNvPr>
            <p:cNvGrpSpPr>
              <a:grpSpLocks/>
            </p:cNvGrpSpPr>
            <p:nvPr/>
          </p:nvGrpSpPr>
          <p:grpSpPr bwMode="auto">
            <a:xfrm rot="-5400000">
              <a:off x="5823365" y="5668566"/>
              <a:ext cx="159346" cy="201476"/>
              <a:chOff x="7870229" y="1556916"/>
              <a:chExt cx="159346" cy="201476"/>
            </a:xfrm>
          </p:grpSpPr>
          <p:cxnSp>
            <p:nvCxnSpPr>
              <p:cNvPr id="30803" name="264 Conector recto">
                <a:extLst>
                  <a:ext uri="{FF2B5EF4-FFF2-40B4-BE49-F238E27FC236}">
                    <a16:creationId xmlns:a16="http://schemas.microsoft.com/office/drawing/2014/main" id="{E6B62A94-133B-4A75-895A-46879542B75F}"/>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04" name="265 Conector recto">
                <a:extLst>
                  <a:ext uri="{FF2B5EF4-FFF2-40B4-BE49-F238E27FC236}">
                    <a16:creationId xmlns:a16="http://schemas.microsoft.com/office/drawing/2014/main" id="{7A4A4858-F047-45AA-BC9F-04EB42F09524}"/>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802" name="263 Conector recto">
              <a:extLst>
                <a:ext uri="{FF2B5EF4-FFF2-40B4-BE49-F238E27FC236}">
                  <a16:creationId xmlns:a16="http://schemas.microsoft.com/office/drawing/2014/main" id="{7E96E998-C84C-4116-B7B4-647D02E97E48}"/>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30790" name="266 Grupo">
            <a:extLst>
              <a:ext uri="{FF2B5EF4-FFF2-40B4-BE49-F238E27FC236}">
                <a16:creationId xmlns:a16="http://schemas.microsoft.com/office/drawing/2014/main" id="{B85DA639-86E8-4AEF-99E8-5DBE58D6D14C}"/>
              </a:ext>
            </a:extLst>
          </p:cNvPr>
          <p:cNvGrpSpPr>
            <a:grpSpLocks/>
          </p:cNvGrpSpPr>
          <p:nvPr/>
        </p:nvGrpSpPr>
        <p:grpSpPr bwMode="auto">
          <a:xfrm>
            <a:off x="3140075" y="3789363"/>
            <a:ext cx="207963" cy="187325"/>
            <a:chOff x="5796136" y="5689631"/>
            <a:chExt cx="207640" cy="187641"/>
          </a:xfrm>
        </p:grpSpPr>
        <p:grpSp>
          <p:nvGrpSpPr>
            <p:cNvPr id="30797" name="267 Grupo">
              <a:extLst>
                <a:ext uri="{FF2B5EF4-FFF2-40B4-BE49-F238E27FC236}">
                  <a16:creationId xmlns:a16="http://schemas.microsoft.com/office/drawing/2014/main" id="{19B72738-D49C-451D-8222-9ADB058F781E}"/>
                </a:ext>
              </a:extLst>
            </p:cNvPr>
            <p:cNvGrpSpPr>
              <a:grpSpLocks/>
            </p:cNvGrpSpPr>
            <p:nvPr/>
          </p:nvGrpSpPr>
          <p:grpSpPr bwMode="auto">
            <a:xfrm rot="-5400000">
              <a:off x="5823365" y="5668566"/>
              <a:ext cx="159346" cy="201476"/>
              <a:chOff x="7870229" y="1556916"/>
              <a:chExt cx="159346" cy="201476"/>
            </a:xfrm>
          </p:grpSpPr>
          <p:cxnSp>
            <p:nvCxnSpPr>
              <p:cNvPr id="30799" name="269 Conector recto">
                <a:extLst>
                  <a:ext uri="{FF2B5EF4-FFF2-40B4-BE49-F238E27FC236}">
                    <a16:creationId xmlns:a16="http://schemas.microsoft.com/office/drawing/2014/main" id="{F50C4772-F87D-4116-A5D7-EE058CDCA821}"/>
                  </a:ext>
                </a:extLst>
              </p:cNvPr>
              <p:cNvCxnSpPr>
                <a:cxnSpLocks noChangeShapeType="1"/>
              </p:cNvCxnSpPr>
              <p:nvPr/>
            </p:nvCxnSpPr>
            <p:spPr bwMode="auto">
              <a:xfrm flipH="1">
                <a:off x="7870229" y="1556916"/>
                <a:ext cx="80569" cy="20147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800" name="270 Conector recto">
                <a:extLst>
                  <a:ext uri="{FF2B5EF4-FFF2-40B4-BE49-F238E27FC236}">
                    <a16:creationId xmlns:a16="http://schemas.microsoft.com/office/drawing/2014/main" id="{D2BFD689-13DD-42F0-904B-4B8025CFCEFB}"/>
                  </a:ext>
                </a:extLst>
              </p:cNvPr>
              <p:cNvCxnSpPr>
                <a:cxnSpLocks noChangeShapeType="1"/>
              </p:cNvCxnSpPr>
              <p:nvPr/>
            </p:nvCxnSpPr>
            <p:spPr bwMode="auto">
              <a:xfrm>
                <a:off x="7957905" y="1556916"/>
                <a:ext cx="71670" cy="2004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798" name="268 Conector recto">
              <a:extLst>
                <a:ext uri="{FF2B5EF4-FFF2-40B4-BE49-F238E27FC236}">
                  <a16:creationId xmlns:a16="http://schemas.microsoft.com/office/drawing/2014/main" id="{45D12401-4531-4A03-9B33-4EAD04094518}"/>
                </a:ext>
              </a:extLst>
            </p:cNvPr>
            <p:cNvCxnSpPr>
              <a:cxnSpLocks noChangeShapeType="1"/>
            </p:cNvCxnSpPr>
            <p:nvPr/>
          </p:nvCxnSpPr>
          <p:spPr bwMode="auto">
            <a:xfrm rot="5400000">
              <a:off x="5702808" y="5783944"/>
              <a:ext cx="186656"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cxnSp>
        <p:nvCxnSpPr>
          <p:cNvPr id="30791" name="276 Conector recto">
            <a:extLst>
              <a:ext uri="{FF2B5EF4-FFF2-40B4-BE49-F238E27FC236}">
                <a16:creationId xmlns:a16="http://schemas.microsoft.com/office/drawing/2014/main" id="{5F510A32-0367-4079-B082-7EB30DF76BBD}"/>
              </a:ext>
            </a:extLst>
          </p:cNvPr>
          <p:cNvCxnSpPr>
            <a:cxnSpLocks noChangeShapeType="1"/>
            <a:stCxn id="30783" idx="3"/>
          </p:cNvCxnSpPr>
          <p:nvPr/>
        </p:nvCxnSpPr>
        <p:spPr bwMode="auto">
          <a:xfrm>
            <a:off x="200025" y="2601913"/>
            <a:ext cx="211138" cy="96678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0792" name="279 Conector recto">
            <a:extLst>
              <a:ext uri="{FF2B5EF4-FFF2-40B4-BE49-F238E27FC236}">
                <a16:creationId xmlns:a16="http://schemas.microsoft.com/office/drawing/2014/main" id="{04C63C55-3F06-41AF-AC11-1C79004FF5A5}"/>
              </a:ext>
            </a:extLst>
          </p:cNvPr>
          <p:cNvCxnSpPr>
            <a:cxnSpLocks noChangeShapeType="1"/>
            <a:stCxn id="30784" idx="3"/>
            <a:endCxn id="30782" idx="0"/>
          </p:cNvCxnSpPr>
          <p:nvPr/>
        </p:nvCxnSpPr>
        <p:spPr bwMode="auto">
          <a:xfrm flipH="1">
            <a:off x="900113" y="3324225"/>
            <a:ext cx="63500" cy="2492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0793" name="Line 67">
            <a:extLst>
              <a:ext uri="{FF2B5EF4-FFF2-40B4-BE49-F238E27FC236}">
                <a16:creationId xmlns:a16="http://schemas.microsoft.com/office/drawing/2014/main" id="{8437B1E5-B1CF-430D-9BEF-9EFF1254E6D4}"/>
              </a:ext>
            </a:extLst>
          </p:cNvPr>
          <p:cNvSpPr>
            <a:spLocks noChangeShapeType="1"/>
          </p:cNvSpPr>
          <p:nvPr/>
        </p:nvSpPr>
        <p:spPr bwMode="auto">
          <a:xfrm>
            <a:off x="7827963" y="4919663"/>
            <a:ext cx="792162" cy="1587"/>
          </a:xfrm>
          <a:prstGeom prst="line">
            <a:avLst/>
          </a:prstGeom>
          <a:noFill/>
          <a:ln w="9525">
            <a:solidFill>
              <a:srgbClr val="0000FF"/>
            </a:solidFill>
            <a:prstDash val="dash"/>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02" name="Rectangle 3">
            <a:extLst>
              <a:ext uri="{FF2B5EF4-FFF2-40B4-BE49-F238E27FC236}">
                <a16:creationId xmlns:a16="http://schemas.microsoft.com/office/drawing/2014/main" id="{0C05FD0F-CA49-4BBC-A660-9955366EB500}"/>
              </a:ext>
            </a:extLst>
          </p:cNvPr>
          <p:cNvSpPr txBox="1">
            <a:spLocks noChangeArrowheads="1"/>
          </p:cNvSpPr>
          <p:nvPr/>
        </p:nvSpPr>
        <p:spPr bwMode="auto">
          <a:xfrm>
            <a:off x="0" y="304800"/>
            <a:ext cx="89439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a:lstStyle>
          <a:p>
            <a:pPr algn="ctr" eaLnBrk="1" hangingPunct="1">
              <a:defRPr/>
            </a:pPr>
            <a:r>
              <a:rPr lang="es-ES" altLang="es-ES" kern="0">
                <a:solidFill>
                  <a:schemeClr val="folHlink"/>
                </a:solidFill>
              </a:rPr>
              <a:t>   Ejercicio Resuelto</a:t>
            </a:r>
            <a:endParaRPr lang="es-AR" altLang="es-ES" kern="0">
              <a:solidFill>
                <a:schemeClr val="folHlink"/>
              </a:solidFill>
            </a:endParaRPr>
          </a:p>
        </p:txBody>
      </p:sp>
      <p:sp>
        <p:nvSpPr>
          <p:cNvPr id="30795" name="Oval 14">
            <a:extLst>
              <a:ext uri="{FF2B5EF4-FFF2-40B4-BE49-F238E27FC236}">
                <a16:creationId xmlns:a16="http://schemas.microsoft.com/office/drawing/2014/main" id="{C98FFC5A-86AE-461C-974C-32F619CE65F3}"/>
              </a:ext>
            </a:extLst>
          </p:cNvPr>
          <p:cNvSpPr>
            <a:spLocks noChangeArrowheads="1"/>
          </p:cNvSpPr>
          <p:nvPr/>
        </p:nvSpPr>
        <p:spPr bwMode="auto">
          <a:xfrm>
            <a:off x="1979613" y="2060575"/>
            <a:ext cx="889000" cy="431800"/>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a:solidFill>
                  <a:schemeClr val="folHlink"/>
                </a:solidFill>
              </a:rPr>
              <a:t>Edad</a:t>
            </a:r>
          </a:p>
        </p:txBody>
      </p:sp>
      <p:cxnSp>
        <p:nvCxnSpPr>
          <p:cNvPr id="30796" name="303 Conector recto">
            <a:extLst>
              <a:ext uri="{FF2B5EF4-FFF2-40B4-BE49-F238E27FC236}">
                <a16:creationId xmlns:a16="http://schemas.microsoft.com/office/drawing/2014/main" id="{551B008B-0019-4046-8151-A77DCFD90706}"/>
              </a:ext>
            </a:extLst>
          </p:cNvPr>
          <p:cNvCxnSpPr>
            <a:cxnSpLocks noChangeShapeType="1"/>
            <a:stCxn id="30795" idx="6"/>
          </p:cNvCxnSpPr>
          <p:nvPr/>
        </p:nvCxnSpPr>
        <p:spPr bwMode="auto">
          <a:xfrm>
            <a:off x="2868613" y="2276475"/>
            <a:ext cx="1441450" cy="234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073C737-066A-47B2-A03A-8A50AA06C774}"/>
              </a:ext>
            </a:extLst>
          </p:cNvPr>
          <p:cNvSpPr>
            <a:spLocks noGrp="1" noChangeArrowheads="1"/>
          </p:cNvSpPr>
          <p:nvPr>
            <p:ph type="title"/>
          </p:nvPr>
        </p:nvSpPr>
        <p:spPr>
          <a:xfrm>
            <a:off x="1187450" y="260350"/>
            <a:ext cx="7793038" cy="1143000"/>
          </a:xfrm>
        </p:spPr>
        <p:txBody>
          <a:bodyPr/>
          <a:lstStyle/>
          <a:p>
            <a:pPr eaLnBrk="1" hangingPunct="1"/>
            <a:r>
              <a:rPr lang="es-ES" altLang="es-ES" sz="3200">
                <a:solidFill>
                  <a:schemeClr val="folHlink"/>
                </a:solidFill>
              </a:rPr>
              <a:t>    Métodos: diseño conceptual -&gt; lógico</a:t>
            </a:r>
            <a:endParaRPr lang="es-AR" altLang="es-ES" sz="3200">
              <a:solidFill>
                <a:schemeClr val="folHlink"/>
              </a:solidFill>
            </a:endParaRPr>
          </a:p>
        </p:txBody>
      </p:sp>
      <p:sp>
        <p:nvSpPr>
          <p:cNvPr id="32771" name="Rectangle 8">
            <a:extLst>
              <a:ext uri="{FF2B5EF4-FFF2-40B4-BE49-F238E27FC236}">
                <a16:creationId xmlns:a16="http://schemas.microsoft.com/office/drawing/2014/main" id="{DA110B15-27EE-4454-A18C-0E5F872B96E7}"/>
              </a:ext>
            </a:extLst>
          </p:cNvPr>
          <p:cNvSpPr>
            <a:spLocks noChangeArrowheads="1"/>
          </p:cNvSpPr>
          <p:nvPr/>
        </p:nvSpPr>
        <p:spPr bwMode="auto">
          <a:xfrm>
            <a:off x="3635375" y="2997200"/>
            <a:ext cx="1873250" cy="881063"/>
          </a:xfrm>
          <a:prstGeom prst="rect">
            <a:avLst/>
          </a:prstGeom>
          <a:solidFill>
            <a:srgbClr val="A2E2A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b="1">
                <a:latin typeface="Arial" panose="020B0604020202020204" pitchFamily="34" charset="0"/>
              </a:rPr>
              <a:t>Conjunto de </a:t>
            </a:r>
          </a:p>
          <a:p>
            <a:pPr algn="ctr" eaLnBrk="1" hangingPunct="1">
              <a:spcBef>
                <a:spcPct val="0"/>
              </a:spcBef>
              <a:buClrTx/>
              <a:buSzTx/>
              <a:buFontTx/>
              <a:buNone/>
            </a:pPr>
            <a:r>
              <a:rPr lang="es-AR" altLang="es-ES" sz="1400" b="1">
                <a:latin typeface="Arial" panose="020B0604020202020204" pitchFamily="34" charset="0"/>
              </a:rPr>
              <a:t>entidades </a:t>
            </a:r>
          </a:p>
          <a:p>
            <a:pPr algn="ctr" eaLnBrk="1" hangingPunct="1">
              <a:spcBef>
                <a:spcPct val="0"/>
              </a:spcBef>
              <a:buClrTx/>
              <a:buSzTx/>
              <a:buFontTx/>
              <a:buNone/>
            </a:pPr>
            <a:r>
              <a:rPr lang="es-AR" altLang="es-ES" sz="1400" b="1">
                <a:latin typeface="Arial" panose="020B0604020202020204" pitchFamily="34" charset="0"/>
              </a:rPr>
              <a:t>bien diseñadas</a:t>
            </a:r>
          </a:p>
          <a:p>
            <a:pPr algn="ctr" eaLnBrk="1" hangingPunct="1">
              <a:spcBef>
                <a:spcPct val="0"/>
              </a:spcBef>
              <a:buClrTx/>
              <a:buSzTx/>
              <a:buFontTx/>
              <a:buNone/>
            </a:pPr>
            <a:r>
              <a:rPr lang="es-AR" altLang="es-ES" sz="1400" b="1">
                <a:latin typeface="Arial" panose="020B0604020202020204" pitchFamily="34" charset="0"/>
              </a:rPr>
              <a:t>(modelo lógico)</a:t>
            </a:r>
          </a:p>
        </p:txBody>
      </p:sp>
      <p:sp>
        <p:nvSpPr>
          <p:cNvPr id="32772" name="Rectangle 9">
            <a:extLst>
              <a:ext uri="{FF2B5EF4-FFF2-40B4-BE49-F238E27FC236}">
                <a16:creationId xmlns:a16="http://schemas.microsoft.com/office/drawing/2014/main" id="{2F2F6208-F8B2-4D89-9F27-C21F29B33E78}"/>
              </a:ext>
            </a:extLst>
          </p:cNvPr>
          <p:cNvSpPr>
            <a:spLocks noChangeArrowheads="1"/>
          </p:cNvSpPr>
          <p:nvPr/>
        </p:nvSpPr>
        <p:spPr bwMode="auto">
          <a:xfrm>
            <a:off x="468313" y="2420938"/>
            <a:ext cx="2016125" cy="1728787"/>
          </a:xfrm>
          <a:prstGeom prst="rect">
            <a:avLst/>
          </a:prstGeom>
          <a:solidFill>
            <a:srgbClr val="A2E2A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179388" indent="85725">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b="1">
                <a:latin typeface="Arial" panose="020B0604020202020204" pitchFamily="34" charset="0"/>
              </a:rPr>
              <a:t>Fuentes de </a:t>
            </a:r>
          </a:p>
          <a:p>
            <a:pPr eaLnBrk="1" hangingPunct="1">
              <a:spcBef>
                <a:spcPct val="0"/>
              </a:spcBef>
              <a:buClrTx/>
              <a:buSzTx/>
              <a:buFontTx/>
              <a:buNone/>
            </a:pPr>
            <a:r>
              <a:rPr lang="es-AR" altLang="es-ES" sz="1400" b="1">
                <a:latin typeface="Arial" panose="020B0604020202020204" pitchFamily="34" charset="0"/>
              </a:rPr>
              <a:t>relevamiento: </a:t>
            </a:r>
          </a:p>
          <a:p>
            <a:pPr lvl="1" eaLnBrk="1" hangingPunct="1">
              <a:spcBef>
                <a:spcPct val="0"/>
              </a:spcBef>
              <a:buClrTx/>
              <a:buSzTx/>
              <a:buFontTx/>
              <a:buChar char="•"/>
            </a:pPr>
            <a:r>
              <a:rPr lang="es-AR" altLang="es-ES" sz="1200">
                <a:latin typeface="Arial" panose="020B0604020202020204" pitchFamily="34" charset="0"/>
              </a:rPr>
              <a:t>Usuarios</a:t>
            </a:r>
          </a:p>
          <a:p>
            <a:pPr lvl="1" eaLnBrk="1" hangingPunct="1">
              <a:spcBef>
                <a:spcPct val="0"/>
              </a:spcBef>
              <a:buClrTx/>
              <a:buSzTx/>
              <a:buFontTx/>
              <a:buChar char="•"/>
            </a:pPr>
            <a:r>
              <a:rPr lang="es-AR" altLang="es-ES" sz="1200">
                <a:latin typeface="Arial" panose="020B0604020202020204" pitchFamily="34" charset="0"/>
              </a:rPr>
              <a:t>Especificación de </a:t>
            </a:r>
          </a:p>
          <a:p>
            <a:pPr lvl="1" eaLnBrk="1" hangingPunct="1">
              <a:spcBef>
                <a:spcPct val="0"/>
              </a:spcBef>
              <a:buClrTx/>
              <a:buSzTx/>
              <a:buFontTx/>
              <a:buNone/>
            </a:pPr>
            <a:r>
              <a:rPr lang="es-AR" altLang="es-ES" sz="1200">
                <a:latin typeface="Arial" panose="020B0604020202020204" pitchFamily="34" charset="0"/>
              </a:rPr>
              <a:t>requisitos</a:t>
            </a:r>
          </a:p>
          <a:p>
            <a:pPr lvl="1" eaLnBrk="1" hangingPunct="1">
              <a:spcBef>
                <a:spcPct val="0"/>
              </a:spcBef>
              <a:buClrTx/>
              <a:buSzTx/>
              <a:buFontTx/>
              <a:buChar char="•"/>
            </a:pPr>
            <a:r>
              <a:rPr lang="es-AR" altLang="es-ES" sz="1200">
                <a:latin typeface="Arial" panose="020B0604020202020204" pitchFamily="34" charset="0"/>
              </a:rPr>
              <a:t>Informes existentes</a:t>
            </a:r>
          </a:p>
          <a:p>
            <a:pPr lvl="1" eaLnBrk="1" hangingPunct="1">
              <a:spcBef>
                <a:spcPct val="0"/>
              </a:spcBef>
              <a:buClrTx/>
              <a:buSzTx/>
              <a:buFontTx/>
              <a:buNone/>
            </a:pPr>
            <a:r>
              <a:rPr lang="es-AR" altLang="es-ES" sz="1200">
                <a:latin typeface="Arial" panose="020B0604020202020204" pitchFamily="34" charset="0"/>
              </a:rPr>
              <a:t> y futuros</a:t>
            </a:r>
          </a:p>
          <a:p>
            <a:pPr lvl="1" eaLnBrk="1" hangingPunct="1">
              <a:spcBef>
                <a:spcPct val="0"/>
              </a:spcBef>
              <a:buClrTx/>
              <a:buSzTx/>
              <a:buFontTx/>
              <a:buChar char="•"/>
            </a:pPr>
            <a:r>
              <a:rPr lang="es-AR" altLang="es-ES" sz="1200">
                <a:latin typeface="Arial" panose="020B0604020202020204" pitchFamily="34" charset="0"/>
              </a:rPr>
              <a:t>Etc.</a:t>
            </a:r>
          </a:p>
        </p:txBody>
      </p:sp>
      <p:grpSp>
        <p:nvGrpSpPr>
          <p:cNvPr id="13" name="12 Grupo">
            <a:extLst>
              <a:ext uri="{FF2B5EF4-FFF2-40B4-BE49-F238E27FC236}">
                <a16:creationId xmlns:a16="http://schemas.microsoft.com/office/drawing/2014/main" id="{8C98500B-5F5D-428B-B41C-E9A810759A94}"/>
              </a:ext>
            </a:extLst>
          </p:cNvPr>
          <p:cNvGrpSpPr>
            <a:grpSpLocks/>
          </p:cNvGrpSpPr>
          <p:nvPr/>
        </p:nvGrpSpPr>
        <p:grpSpPr bwMode="auto">
          <a:xfrm>
            <a:off x="5508625" y="3068638"/>
            <a:ext cx="2951163" cy="633412"/>
            <a:chOff x="5508103" y="3068638"/>
            <a:chExt cx="2951685" cy="633412"/>
          </a:xfrm>
        </p:grpSpPr>
        <p:sp>
          <p:nvSpPr>
            <p:cNvPr id="32792" name="Rectangle 14">
              <a:extLst>
                <a:ext uri="{FF2B5EF4-FFF2-40B4-BE49-F238E27FC236}">
                  <a16:creationId xmlns:a16="http://schemas.microsoft.com/office/drawing/2014/main" id="{1C125743-73FA-4DD4-9E42-6BA19673BDB2}"/>
                </a:ext>
              </a:extLst>
            </p:cNvPr>
            <p:cNvSpPr>
              <a:spLocks noChangeArrowheads="1"/>
            </p:cNvSpPr>
            <p:nvPr/>
          </p:nvSpPr>
          <p:spPr bwMode="auto">
            <a:xfrm>
              <a:off x="6370638" y="3068638"/>
              <a:ext cx="2089150" cy="633412"/>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a:solidFill>
                    <a:schemeClr val="bg1"/>
                  </a:solidFill>
                  <a:latin typeface="Arial" panose="020B0604020202020204" pitchFamily="34" charset="0"/>
                </a:rPr>
                <a:t>Técnica de validación, </a:t>
              </a:r>
            </a:p>
            <a:p>
              <a:pPr algn="ctr" eaLnBrk="1" hangingPunct="1">
                <a:spcBef>
                  <a:spcPct val="0"/>
                </a:spcBef>
                <a:buClrTx/>
                <a:buSzTx/>
                <a:buFontTx/>
                <a:buNone/>
              </a:pPr>
              <a:r>
                <a:rPr lang="es-AR" altLang="es-ES" sz="1200">
                  <a:solidFill>
                    <a:schemeClr val="bg1"/>
                  </a:solidFill>
                  <a:latin typeface="Arial" panose="020B0604020202020204" pitchFamily="34" charset="0"/>
                </a:rPr>
                <a:t>para comprobar la estructura </a:t>
              </a:r>
            </a:p>
          </p:txBody>
        </p:sp>
        <p:sp>
          <p:nvSpPr>
            <p:cNvPr id="32793" name="Line 15">
              <a:extLst>
                <a:ext uri="{FF2B5EF4-FFF2-40B4-BE49-F238E27FC236}">
                  <a16:creationId xmlns:a16="http://schemas.microsoft.com/office/drawing/2014/main" id="{AE049E83-BEDD-47F3-B322-D67E7E0A3759}"/>
                </a:ext>
              </a:extLst>
            </p:cNvPr>
            <p:cNvSpPr>
              <a:spLocks noChangeShapeType="1"/>
            </p:cNvSpPr>
            <p:nvPr/>
          </p:nvSpPr>
          <p:spPr bwMode="auto">
            <a:xfrm flipH="1" flipV="1">
              <a:off x="5508103" y="3341688"/>
              <a:ext cx="864122" cy="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grpSp>
      <p:grpSp>
        <p:nvGrpSpPr>
          <p:cNvPr id="3" name="2 Grupo">
            <a:extLst>
              <a:ext uri="{FF2B5EF4-FFF2-40B4-BE49-F238E27FC236}">
                <a16:creationId xmlns:a16="http://schemas.microsoft.com/office/drawing/2014/main" id="{911D4A12-C9F9-425E-B3DF-9E7153E5C2A6}"/>
              </a:ext>
            </a:extLst>
          </p:cNvPr>
          <p:cNvGrpSpPr>
            <a:grpSpLocks/>
          </p:cNvGrpSpPr>
          <p:nvPr/>
        </p:nvGrpSpPr>
        <p:grpSpPr bwMode="auto">
          <a:xfrm>
            <a:off x="1547813" y="1570038"/>
            <a:ext cx="4968875" cy="1401762"/>
            <a:chOff x="1547813" y="1739901"/>
            <a:chExt cx="4968403" cy="1401762"/>
          </a:xfrm>
        </p:grpSpPr>
        <p:sp>
          <p:nvSpPr>
            <p:cNvPr id="32788" name="Rectangle 6">
              <a:extLst>
                <a:ext uri="{FF2B5EF4-FFF2-40B4-BE49-F238E27FC236}">
                  <a16:creationId xmlns:a16="http://schemas.microsoft.com/office/drawing/2014/main" id="{EE476A5A-8B14-4EEA-A387-7935E528A15A}"/>
                </a:ext>
              </a:extLst>
            </p:cNvPr>
            <p:cNvSpPr>
              <a:spLocks noChangeArrowheads="1"/>
            </p:cNvSpPr>
            <p:nvPr/>
          </p:nvSpPr>
          <p:spPr bwMode="auto">
            <a:xfrm>
              <a:off x="3779838" y="2132013"/>
              <a:ext cx="2736378" cy="576262"/>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600" b="1">
                  <a:solidFill>
                    <a:schemeClr val="bg1"/>
                  </a:solidFill>
                  <a:latin typeface="Arial" panose="020B0604020202020204" pitchFamily="34" charset="0"/>
                </a:rPr>
                <a:t>Método arriba-abajo</a:t>
              </a:r>
              <a:r>
                <a:rPr lang="es-AR" altLang="es-ES" sz="1200">
                  <a:solidFill>
                    <a:schemeClr val="bg1"/>
                  </a:solidFill>
                  <a:latin typeface="Arial" panose="020B0604020202020204" pitchFamily="34" charset="0"/>
                </a:rPr>
                <a:t>:</a:t>
              </a:r>
            </a:p>
            <a:p>
              <a:pPr algn="ctr" eaLnBrk="1" hangingPunct="1">
                <a:spcBef>
                  <a:spcPct val="0"/>
                </a:spcBef>
                <a:buClrTx/>
                <a:buSzTx/>
                <a:buFontTx/>
                <a:buNone/>
              </a:pPr>
              <a:r>
                <a:rPr lang="es-AR" altLang="es-ES" sz="1200">
                  <a:solidFill>
                    <a:schemeClr val="bg1"/>
                  </a:solidFill>
                  <a:latin typeface="Arial" panose="020B0604020202020204" pitchFamily="34" charset="0"/>
                </a:rPr>
                <a:t>MER y reglas de transformación</a:t>
              </a:r>
            </a:p>
          </p:txBody>
        </p:sp>
        <p:sp>
          <p:nvSpPr>
            <p:cNvPr id="32789" name="Freeform 10">
              <a:extLst>
                <a:ext uri="{FF2B5EF4-FFF2-40B4-BE49-F238E27FC236}">
                  <a16:creationId xmlns:a16="http://schemas.microsoft.com/office/drawing/2014/main" id="{E6E3B47F-7A10-45C2-9588-5D3C5F311D10}"/>
                </a:ext>
              </a:extLst>
            </p:cNvPr>
            <p:cNvSpPr>
              <a:spLocks/>
            </p:cNvSpPr>
            <p:nvPr/>
          </p:nvSpPr>
          <p:spPr bwMode="auto">
            <a:xfrm>
              <a:off x="1547813" y="2205038"/>
              <a:ext cx="2160587" cy="269875"/>
            </a:xfrm>
            <a:custGeom>
              <a:avLst/>
              <a:gdLst>
                <a:gd name="T0" fmla="*/ 0 w 1361"/>
                <a:gd name="T1" fmla="*/ 2147483646 h 136"/>
                <a:gd name="T2" fmla="*/ 0 w 1361"/>
                <a:gd name="T3" fmla="*/ 2147483646 h 136"/>
                <a:gd name="T4" fmla="*/ 2147483646 w 1361"/>
                <a:gd name="T5" fmla="*/ 0 h 136"/>
                <a:gd name="T6" fmla="*/ 0 60000 65536"/>
                <a:gd name="T7" fmla="*/ 0 60000 65536"/>
                <a:gd name="T8" fmla="*/ 0 60000 65536"/>
                <a:gd name="T9" fmla="*/ 0 w 1361"/>
                <a:gd name="T10" fmla="*/ 0 h 136"/>
                <a:gd name="T11" fmla="*/ 1361 w 1361"/>
                <a:gd name="T12" fmla="*/ 136 h 136"/>
              </a:gdLst>
              <a:ahLst/>
              <a:cxnLst>
                <a:cxn ang="T6">
                  <a:pos x="T0" y="T1"/>
                </a:cxn>
                <a:cxn ang="T7">
                  <a:pos x="T2" y="T3"/>
                </a:cxn>
                <a:cxn ang="T8">
                  <a:pos x="T4" y="T5"/>
                </a:cxn>
              </a:cxnLst>
              <a:rect l="T9" t="T10" r="T11" b="T12"/>
              <a:pathLst>
                <a:path w="1361" h="136">
                  <a:moveTo>
                    <a:pt x="0" y="136"/>
                  </a:moveTo>
                  <a:lnTo>
                    <a:pt x="0" y="1"/>
                  </a:lnTo>
                  <a:lnTo>
                    <a:pt x="1361" y="0"/>
                  </a:lnTo>
                </a:path>
              </a:pathLst>
            </a:custGeom>
            <a:noFill/>
            <a:ln w="57150" cmpd="sng">
              <a:solidFill>
                <a:schemeClr val="folHlink"/>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32790" name="Line 11">
              <a:extLst>
                <a:ext uri="{FF2B5EF4-FFF2-40B4-BE49-F238E27FC236}">
                  <a16:creationId xmlns:a16="http://schemas.microsoft.com/office/drawing/2014/main" id="{69143EAC-16E6-4B53-9624-15BA51CB74D9}"/>
                </a:ext>
              </a:extLst>
            </p:cNvPr>
            <p:cNvSpPr>
              <a:spLocks noChangeShapeType="1"/>
            </p:cNvSpPr>
            <p:nvPr/>
          </p:nvSpPr>
          <p:spPr bwMode="auto">
            <a:xfrm>
              <a:off x="4427538" y="2708275"/>
              <a:ext cx="0" cy="433388"/>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32791" name="Oval 16">
              <a:extLst>
                <a:ext uri="{FF2B5EF4-FFF2-40B4-BE49-F238E27FC236}">
                  <a16:creationId xmlns:a16="http://schemas.microsoft.com/office/drawing/2014/main" id="{C080E628-09F6-4D3C-B5C1-09FB1276E952}"/>
                </a:ext>
              </a:extLst>
            </p:cNvPr>
            <p:cNvSpPr>
              <a:spLocks noChangeArrowheads="1"/>
            </p:cNvSpPr>
            <p:nvPr/>
          </p:nvSpPr>
          <p:spPr bwMode="auto">
            <a:xfrm>
              <a:off x="2547143" y="1739901"/>
              <a:ext cx="358775" cy="392112"/>
            </a:xfrm>
            <a:prstGeom prst="ellipse">
              <a:avLst/>
            </a:prstGeom>
            <a:solidFill>
              <a:schemeClr val="folHlink"/>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solidFill>
                    <a:schemeClr val="bg1"/>
                  </a:solidFill>
                  <a:latin typeface="Arial" panose="020B0604020202020204" pitchFamily="34" charset="0"/>
                </a:rPr>
                <a:t>1</a:t>
              </a:r>
            </a:p>
          </p:txBody>
        </p:sp>
      </p:grpSp>
      <p:grpSp>
        <p:nvGrpSpPr>
          <p:cNvPr id="5" name="4 Grupo">
            <a:extLst>
              <a:ext uri="{FF2B5EF4-FFF2-40B4-BE49-F238E27FC236}">
                <a16:creationId xmlns:a16="http://schemas.microsoft.com/office/drawing/2014/main" id="{622872C4-3238-4699-A34A-CE02CA97F76A}"/>
              </a:ext>
            </a:extLst>
          </p:cNvPr>
          <p:cNvGrpSpPr>
            <a:grpSpLocks/>
          </p:cNvGrpSpPr>
          <p:nvPr/>
        </p:nvGrpSpPr>
        <p:grpSpPr bwMode="auto">
          <a:xfrm>
            <a:off x="1476375" y="3860800"/>
            <a:ext cx="5110163" cy="1204913"/>
            <a:chOff x="1476375" y="3860800"/>
            <a:chExt cx="5110163" cy="1204119"/>
          </a:xfrm>
        </p:grpSpPr>
        <p:sp>
          <p:nvSpPr>
            <p:cNvPr id="32783" name="Line 12">
              <a:extLst>
                <a:ext uri="{FF2B5EF4-FFF2-40B4-BE49-F238E27FC236}">
                  <a16:creationId xmlns:a16="http://schemas.microsoft.com/office/drawing/2014/main" id="{629BCDC3-559E-4B5B-8388-F249637FF5E1}"/>
                </a:ext>
              </a:extLst>
            </p:cNvPr>
            <p:cNvSpPr>
              <a:spLocks noChangeShapeType="1"/>
            </p:cNvSpPr>
            <p:nvPr/>
          </p:nvSpPr>
          <p:spPr bwMode="auto">
            <a:xfrm rot="10800000">
              <a:off x="4427538" y="3860800"/>
              <a:ext cx="0" cy="431800"/>
            </a:xfrm>
            <a:prstGeom prst="line">
              <a:avLst/>
            </a:prstGeom>
            <a:noFill/>
            <a:ln w="57150">
              <a:solidFill>
                <a:srgbClr val="857D19"/>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grpSp>
          <p:nvGrpSpPr>
            <p:cNvPr id="32784" name="3 Grupo">
              <a:extLst>
                <a:ext uri="{FF2B5EF4-FFF2-40B4-BE49-F238E27FC236}">
                  <a16:creationId xmlns:a16="http://schemas.microsoft.com/office/drawing/2014/main" id="{BA1882FA-5E1A-44D4-B891-556A6E61AC58}"/>
                </a:ext>
              </a:extLst>
            </p:cNvPr>
            <p:cNvGrpSpPr>
              <a:grpSpLocks/>
            </p:cNvGrpSpPr>
            <p:nvPr/>
          </p:nvGrpSpPr>
          <p:grpSpPr bwMode="auto">
            <a:xfrm>
              <a:off x="1476375" y="4221163"/>
              <a:ext cx="5110163" cy="843756"/>
              <a:chOff x="1476375" y="4221163"/>
              <a:chExt cx="5110163" cy="843756"/>
            </a:xfrm>
          </p:grpSpPr>
          <p:sp>
            <p:nvSpPr>
              <p:cNvPr id="32785" name="Rectangle 7">
                <a:extLst>
                  <a:ext uri="{FF2B5EF4-FFF2-40B4-BE49-F238E27FC236}">
                    <a16:creationId xmlns:a16="http://schemas.microsoft.com/office/drawing/2014/main" id="{A01DB64D-C95D-4D7C-9741-448C1C7B3522}"/>
                  </a:ext>
                </a:extLst>
              </p:cNvPr>
              <p:cNvSpPr>
                <a:spLocks noChangeArrowheads="1"/>
              </p:cNvSpPr>
              <p:nvPr/>
            </p:nvSpPr>
            <p:spPr bwMode="auto">
              <a:xfrm>
                <a:off x="3708400" y="4292600"/>
                <a:ext cx="2878138" cy="576263"/>
              </a:xfrm>
              <a:prstGeom prst="rect">
                <a:avLst/>
              </a:prstGeom>
              <a:solidFill>
                <a:srgbClr val="857D19"/>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 typeface="Wingdings" panose="05000000000000000000" pitchFamily="2" charset="2"/>
                  <a:buNone/>
                </a:pPr>
                <a:r>
                  <a:rPr lang="es-AR" altLang="es-ES" sz="1600" b="1">
                    <a:latin typeface="Arial" panose="020B0604020202020204" pitchFamily="34" charset="0"/>
                  </a:rPr>
                  <a:t>Método abajo-arriba:</a:t>
                </a:r>
              </a:p>
              <a:p>
                <a:pPr algn="ctr" eaLnBrk="1" hangingPunct="1">
                  <a:spcBef>
                    <a:spcPct val="0"/>
                  </a:spcBef>
                  <a:buClrTx/>
                  <a:buSzTx/>
                  <a:buFont typeface="Wingdings" panose="05000000000000000000" pitchFamily="2" charset="2"/>
                  <a:buNone/>
                </a:pPr>
                <a:r>
                  <a:rPr lang="es-AR" altLang="es-ES" sz="1200">
                    <a:latin typeface="Arial" panose="020B0604020202020204" pitchFamily="34" charset="0"/>
                  </a:rPr>
                  <a:t>Relación “universal” y descomposición</a:t>
                </a:r>
              </a:p>
            </p:txBody>
          </p:sp>
          <p:sp>
            <p:nvSpPr>
              <p:cNvPr id="32786" name="Freeform 13">
                <a:extLst>
                  <a:ext uri="{FF2B5EF4-FFF2-40B4-BE49-F238E27FC236}">
                    <a16:creationId xmlns:a16="http://schemas.microsoft.com/office/drawing/2014/main" id="{55C65FBC-4236-4F30-8A30-CB8F70560B55}"/>
                  </a:ext>
                </a:extLst>
              </p:cNvPr>
              <p:cNvSpPr>
                <a:spLocks/>
              </p:cNvSpPr>
              <p:nvPr/>
            </p:nvSpPr>
            <p:spPr bwMode="auto">
              <a:xfrm>
                <a:off x="1476375" y="4221163"/>
                <a:ext cx="2225675" cy="392112"/>
              </a:xfrm>
              <a:custGeom>
                <a:avLst/>
                <a:gdLst>
                  <a:gd name="T0" fmla="*/ 2147483646 w 1403"/>
                  <a:gd name="T1" fmla="*/ 0 h 337"/>
                  <a:gd name="T2" fmla="*/ 0 w 1403"/>
                  <a:gd name="T3" fmla="*/ 2147483646 h 337"/>
                  <a:gd name="T4" fmla="*/ 2147483646 w 1403"/>
                  <a:gd name="T5" fmla="*/ 2147483646 h 337"/>
                  <a:gd name="T6" fmla="*/ 0 60000 65536"/>
                  <a:gd name="T7" fmla="*/ 0 60000 65536"/>
                  <a:gd name="T8" fmla="*/ 0 60000 65536"/>
                  <a:gd name="T9" fmla="*/ 0 w 1403"/>
                  <a:gd name="T10" fmla="*/ 0 h 337"/>
                  <a:gd name="T11" fmla="*/ 1403 w 1403"/>
                  <a:gd name="T12" fmla="*/ 337 h 337"/>
                </a:gdLst>
                <a:ahLst/>
                <a:cxnLst>
                  <a:cxn ang="T6">
                    <a:pos x="T0" y="T1"/>
                  </a:cxn>
                  <a:cxn ang="T7">
                    <a:pos x="T2" y="T3"/>
                  </a:cxn>
                  <a:cxn ang="T8">
                    <a:pos x="T4" y="T5"/>
                  </a:cxn>
                </a:cxnLst>
                <a:rect l="T9" t="T10" r="T11" b="T12"/>
                <a:pathLst>
                  <a:path w="1403" h="337">
                    <a:moveTo>
                      <a:pt x="1" y="0"/>
                    </a:moveTo>
                    <a:lnTo>
                      <a:pt x="0" y="337"/>
                    </a:lnTo>
                    <a:lnTo>
                      <a:pt x="1403" y="337"/>
                    </a:lnTo>
                  </a:path>
                </a:pathLst>
              </a:custGeom>
              <a:noFill/>
              <a:ln w="57150" cmpd="sng">
                <a:solidFill>
                  <a:srgbClr val="857D19"/>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32787" name="Oval 18">
                <a:extLst>
                  <a:ext uri="{FF2B5EF4-FFF2-40B4-BE49-F238E27FC236}">
                    <a16:creationId xmlns:a16="http://schemas.microsoft.com/office/drawing/2014/main" id="{81DC2432-0B69-46EF-9034-3BE8A46525FF}"/>
                  </a:ext>
                </a:extLst>
              </p:cNvPr>
              <p:cNvSpPr>
                <a:spLocks noChangeArrowheads="1"/>
              </p:cNvSpPr>
              <p:nvPr/>
            </p:nvSpPr>
            <p:spPr bwMode="auto">
              <a:xfrm>
                <a:off x="2409824" y="4672806"/>
                <a:ext cx="358775" cy="392113"/>
              </a:xfrm>
              <a:prstGeom prst="ellipse">
                <a:avLst/>
              </a:prstGeom>
              <a:solidFill>
                <a:srgbClr val="857D19"/>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latin typeface="Arial" panose="020B0604020202020204" pitchFamily="34" charset="0"/>
                  </a:rPr>
                  <a:t>2</a:t>
                </a:r>
              </a:p>
            </p:txBody>
          </p:sp>
        </p:grpSp>
      </p:grpSp>
      <p:sp>
        <p:nvSpPr>
          <p:cNvPr id="2" name="1 Rectángulo">
            <a:extLst>
              <a:ext uri="{FF2B5EF4-FFF2-40B4-BE49-F238E27FC236}">
                <a16:creationId xmlns:a16="http://schemas.microsoft.com/office/drawing/2014/main" id="{50B81648-D793-421E-81D1-6783A17F6964}"/>
              </a:ext>
            </a:extLst>
          </p:cNvPr>
          <p:cNvSpPr>
            <a:spLocks noChangeArrowheads="1"/>
          </p:cNvSpPr>
          <p:nvPr/>
        </p:nvSpPr>
        <p:spPr bwMode="auto">
          <a:xfrm>
            <a:off x="3702050" y="4868863"/>
            <a:ext cx="2735263" cy="439737"/>
          </a:xfrm>
          <a:prstGeom prst="rect">
            <a:avLst/>
          </a:prstGeom>
          <a:solidFill>
            <a:srgbClr val="857D19"/>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a:latin typeface="Arial" panose="020B0604020202020204" pitchFamily="34" charset="0"/>
              </a:rPr>
              <a:t>Técnica para crear relaciones</a:t>
            </a:r>
          </a:p>
        </p:txBody>
      </p:sp>
      <p:grpSp>
        <p:nvGrpSpPr>
          <p:cNvPr id="14" name="13 Grupo">
            <a:extLst>
              <a:ext uri="{FF2B5EF4-FFF2-40B4-BE49-F238E27FC236}">
                <a16:creationId xmlns:a16="http://schemas.microsoft.com/office/drawing/2014/main" id="{2A4B54B6-D5EE-41FA-992C-3A09B5B4CCED}"/>
              </a:ext>
            </a:extLst>
          </p:cNvPr>
          <p:cNvGrpSpPr>
            <a:grpSpLocks/>
          </p:cNvGrpSpPr>
          <p:nvPr/>
        </p:nvGrpSpPr>
        <p:grpSpPr bwMode="auto">
          <a:xfrm>
            <a:off x="6437313" y="4022725"/>
            <a:ext cx="2468562" cy="1587500"/>
            <a:chOff x="6436519" y="4022447"/>
            <a:chExt cx="2469508" cy="1586985"/>
          </a:xfrm>
        </p:grpSpPr>
        <p:sp>
          <p:nvSpPr>
            <p:cNvPr id="32778" name="5 Rectángulo">
              <a:extLst>
                <a:ext uri="{FF2B5EF4-FFF2-40B4-BE49-F238E27FC236}">
                  <a16:creationId xmlns:a16="http://schemas.microsoft.com/office/drawing/2014/main" id="{E04CDD44-35D6-400E-936A-60C23E9E13E2}"/>
                </a:ext>
              </a:extLst>
            </p:cNvPr>
            <p:cNvSpPr>
              <a:spLocks noChangeArrowheads="1"/>
            </p:cNvSpPr>
            <p:nvPr/>
          </p:nvSpPr>
          <p:spPr bwMode="auto">
            <a:xfrm>
              <a:off x="7094313" y="4907260"/>
              <a:ext cx="18117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800" b="1">
                  <a:latin typeface="Arial" panose="020B0604020202020204" pitchFamily="34" charset="0"/>
                </a:rPr>
                <a:t>Normalización</a:t>
              </a:r>
              <a:r>
                <a:rPr lang="es-AR" altLang="es-ES" sz="1600" b="1">
                  <a:latin typeface="Arial" panose="020B0604020202020204" pitchFamily="34" charset="0"/>
                </a:rPr>
                <a:t> </a:t>
              </a:r>
              <a:endParaRPr lang="es-AR" altLang="es-AR" sz="1800"/>
            </a:p>
          </p:txBody>
        </p:sp>
        <p:cxnSp>
          <p:nvCxnSpPr>
            <p:cNvPr id="32779" name="7 Conector recto de flecha">
              <a:extLst>
                <a:ext uri="{FF2B5EF4-FFF2-40B4-BE49-F238E27FC236}">
                  <a16:creationId xmlns:a16="http://schemas.microsoft.com/office/drawing/2014/main" id="{84001146-52D9-4BAB-ADC4-ABA80CC6EA66}"/>
                </a:ext>
              </a:extLst>
            </p:cNvPr>
            <p:cNvCxnSpPr>
              <a:cxnSpLocks noChangeShapeType="1"/>
            </p:cNvCxnSpPr>
            <p:nvPr/>
          </p:nvCxnSpPr>
          <p:spPr bwMode="auto">
            <a:xfrm flipV="1">
              <a:off x="7596336" y="4022447"/>
              <a:ext cx="0" cy="789543"/>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10" name="9 Conector recto de flecha">
              <a:extLst>
                <a:ext uri="{FF2B5EF4-FFF2-40B4-BE49-F238E27FC236}">
                  <a16:creationId xmlns:a16="http://schemas.microsoft.com/office/drawing/2014/main" id="{55D32BA6-33D6-4393-B15D-B8A3401D77C5}"/>
                </a:ext>
              </a:extLst>
            </p:cNvPr>
            <p:cNvCxnSpPr>
              <a:stCxn id="32778" idx="1"/>
              <a:endCxn id="2" idx="3"/>
            </p:cNvCxnSpPr>
            <p:nvPr/>
          </p:nvCxnSpPr>
          <p:spPr bwMode="auto">
            <a:xfrm flipH="1" flipV="1">
              <a:off x="6436519" y="5088901"/>
              <a:ext cx="657477" cy="3174"/>
            </a:xfrm>
            <a:prstGeom prst="straightConnector1">
              <a:avLst/>
            </a:prstGeom>
            <a:noFill/>
            <a:ln w="28575" cap="flat" cmpd="sng" algn="ctr">
              <a:solidFill>
                <a:schemeClr val="accent2">
                  <a:lumMod val="75000"/>
                </a:schemeClr>
              </a:solidFill>
              <a:prstDash val="solid"/>
              <a:round/>
              <a:headEnd type="none" w="med" len="med"/>
              <a:tailEnd type="arrow"/>
            </a:ln>
            <a:effectLst/>
          </p:spPr>
        </p:cxnSp>
        <p:sp>
          <p:nvSpPr>
            <p:cNvPr id="32781" name="Oval 16">
              <a:extLst>
                <a:ext uri="{FF2B5EF4-FFF2-40B4-BE49-F238E27FC236}">
                  <a16:creationId xmlns:a16="http://schemas.microsoft.com/office/drawing/2014/main" id="{38F70F0B-F958-478A-B025-7B56577065E0}"/>
                </a:ext>
              </a:extLst>
            </p:cNvPr>
            <p:cNvSpPr>
              <a:spLocks noChangeArrowheads="1"/>
            </p:cNvSpPr>
            <p:nvPr/>
          </p:nvSpPr>
          <p:spPr bwMode="auto">
            <a:xfrm>
              <a:off x="7820782" y="4280694"/>
              <a:ext cx="358775" cy="392112"/>
            </a:xfrm>
            <a:prstGeom prst="ellipse">
              <a:avLst/>
            </a:prstGeom>
            <a:solidFill>
              <a:schemeClr val="folHlink"/>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solidFill>
                    <a:schemeClr val="bg1"/>
                  </a:solidFill>
                  <a:latin typeface="Arial" panose="020B0604020202020204" pitchFamily="34" charset="0"/>
                </a:rPr>
                <a:t>1</a:t>
              </a:r>
            </a:p>
          </p:txBody>
        </p:sp>
        <p:sp>
          <p:nvSpPr>
            <p:cNvPr id="32782" name="Oval 18">
              <a:extLst>
                <a:ext uri="{FF2B5EF4-FFF2-40B4-BE49-F238E27FC236}">
                  <a16:creationId xmlns:a16="http://schemas.microsoft.com/office/drawing/2014/main" id="{6DD098B9-5DBC-484D-B6FE-DBA08755DB8B}"/>
                </a:ext>
              </a:extLst>
            </p:cNvPr>
            <p:cNvSpPr>
              <a:spLocks noChangeArrowheads="1"/>
            </p:cNvSpPr>
            <p:nvPr/>
          </p:nvSpPr>
          <p:spPr bwMode="auto">
            <a:xfrm>
              <a:off x="6735538" y="5217319"/>
              <a:ext cx="358775" cy="392113"/>
            </a:xfrm>
            <a:prstGeom prst="ellipse">
              <a:avLst/>
            </a:prstGeom>
            <a:solidFill>
              <a:srgbClr val="857D19"/>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latin typeface="Arial" panose="020B0604020202020204" pitchFamily="34" charset="0"/>
                </a:rPr>
                <a:t>2</a:t>
              </a:r>
            </a:p>
          </p:txBody>
        </p: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3526E5AC-4D34-46DA-B875-33C01D95EB7E}"/>
              </a:ext>
            </a:extLst>
          </p:cNvPr>
          <p:cNvSpPr>
            <a:spLocks noChangeArrowheads="1"/>
          </p:cNvSpPr>
          <p:nvPr/>
        </p:nvSpPr>
        <p:spPr bwMode="auto">
          <a:xfrm>
            <a:off x="15298" y="4842742"/>
            <a:ext cx="9144001" cy="2060575"/>
          </a:xfrm>
          <a:prstGeom prst="rect">
            <a:avLst/>
          </a:prstGeom>
          <a:solidFill>
            <a:srgbClr val="EFF3D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4819" name="Rectangle 3">
            <a:extLst>
              <a:ext uri="{FF2B5EF4-FFF2-40B4-BE49-F238E27FC236}">
                <a16:creationId xmlns:a16="http://schemas.microsoft.com/office/drawing/2014/main" id="{538AF48F-61F8-4C0E-84F0-77BF092221A1}"/>
              </a:ext>
            </a:extLst>
          </p:cNvPr>
          <p:cNvSpPr>
            <a:spLocks noGrp="1" noChangeArrowheads="1"/>
          </p:cNvSpPr>
          <p:nvPr>
            <p:ph type="title"/>
          </p:nvPr>
        </p:nvSpPr>
        <p:spPr>
          <a:xfrm>
            <a:off x="0" y="304800"/>
            <a:ext cx="8943975" cy="1143000"/>
          </a:xfrm>
        </p:spPr>
        <p:txBody>
          <a:bodyPr/>
          <a:lstStyle/>
          <a:p>
            <a:pPr algn="ctr" eaLnBrk="1" hangingPunct="1"/>
            <a:r>
              <a:rPr lang="es-ES" altLang="es-ES">
                <a:solidFill>
                  <a:schemeClr val="folHlink"/>
                </a:solidFill>
              </a:rPr>
              <a:t>    M ER</a:t>
            </a:r>
            <a:endParaRPr lang="es-AR" altLang="es-ES">
              <a:solidFill>
                <a:schemeClr val="folHlink"/>
              </a:solidFill>
            </a:endParaRPr>
          </a:p>
        </p:txBody>
      </p:sp>
      <p:sp>
        <p:nvSpPr>
          <p:cNvPr id="128004" name="Rectangle 4">
            <a:extLst>
              <a:ext uri="{FF2B5EF4-FFF2-40B4-BE49-F238E27FC236}">
                <a16:creationId xmlns:a16="http://schemas.microsoft.com/office/drawing/2014/main" id="{8821A667-D119-4AAA-8E6C-3E0827E309A7}"/>
              </a:ext>
            </a:extLst>
          </p:cNvPr>
          <p:cNvSpPr>
            <a:spLocks noChangeArrowheads="1"/>
          </p:cNvSpPr>
          <p:nvPr/>
        </p:nvSpPr>
        <p:spPr bwMode="auto">
          <a:xfrm>
            <a:off x="2087563" y="2276475"/>
            <a:ext cx="971550" cy="5588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VENTA</a:t>
            </a:r>
          </a:p>
          <a:p>
            <a:pPr algn="ctr" eaLnBrk="1" hangingPunct="1">
              <a:spcBef>
                <a:spcPct val="0"/>
              </a:spcBef>
              <a:buClrTx/>
              <a:buSzTx/>
              <a:buFontTx/>
              <a:buNone/>
            </a:pPr>
            <a:endParaRPr lang="en-US" altLang="es-ES" sz="1200">
              <a:solidFill>
                <a:schemeClr val="folHlink"/>
              </a:solidFill>
            </a:endParaRPr>
          </a:p>
        </p:txBody>
      </p:sp>
      <p:sp>
        <p:nvSpPr>
          <p:cNvPr id="34821" name="Rectangle 5">
            <a:extLst>
              <a:ext uri="{FF2B5EF4-FFF2-40B4-BE49-F238E27FC236}">
                <a16:creationId xmlns:a16="http://schemas.microsoft.com/office/drawing/2014/main" id="{B3D661C2-65FC-478D-9D6B-BBE3F7E1F89D}"/>
              </a:ext>
            </a:extLst>
          </p:cNvPr>
          <p:cNvSpPr>
            <a:spLocks noChangeArrowheads="1"/>
          </p:cNvSpPr>
          <p:nvPr/>
        </p:nvSpPr>
        <p:spPr bwMode="auto">
          <a:xfrm>
            <a:off x="3617913" y="2986088"/>
            <a:ext cx="1474787"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PRODUCTO </a:t>
            </a:r>
          </a:p>
          <a:p>
            <a:pPr algn="ctr" eaLnBrk="1" hangingPunct="1">
              <a:spcBef>
                <a:spcPct val="0"/>
              </a:spcBef>
              <a:buClrTx/>
              <a:buSzTx/>
              <a:buFontTx/>
              <a:buNone/>
            </a:pPr>
            <a:endParaRPr lang="en-US" altLang="es-ES" sz="1000">
              <a:solidFill>
                <a:schemeClr val="folHlink"/>
              </a:solidFill>
            </a:endParaRPr>
          </a:p>
        </p:txBody>
      </p:sp>
      <p:sp>
        <p:nvSpPr>
          <p:cNvPr id="34822" name="Rectangle 6">
            <a:extLst>
              <a:ext uri="{FF2B5EF4-FFF2-40B4-BE49-F238E27FC236}">
                <a16:creationId xmlns:a16="http://schemas.microsoft.com/office/drawing/2014/main" id="{1235B48E-5F51-4C0D-AA2B-DB6C053886FF}"/>
              </a:ext>
            </a:extLst>
          </p:cNvPr>
          <p:cNvSpPr>
            <a:spLocks noChangeArrowheads="1"/>
          </p:cNvSpPr>
          <p:nvPr/>
        </p:nvSpPr>
        <p:spPr bwMode="auto">
          <a:xfrm>
            <a:off x="2051050" y="3751263"/>
            <a:ext cx="10795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CLIENTE </a:t>
            </a:r>
          </a:p>
          <a:p>
            <a:pPr algn="ctr" eaLnBrk="1" hangingPunct="1">
              <a:spcBef>
                <a:spcPct val="0"/>
              </a:spcBef>
              <a:buClrTx/>
              <a:buSzTx/>
              <a:buFontTx/>
              <a:buNone/>
            </a:pPr>
            <a:endParaRPr lang="en-US" altLang="es-ES" sz="1000">
              <a:solidFill>
                <a:schemeClr val="folHlink"/>
              </a:solidFill>
            </a:endParaRPr>
          </a:p>
        </p:txBody>
      </p:sp>
      <p:sp>
        <p:nvSpPr>
          <p:cNvPr id="34823" name="Line 7">
            <a:extLst>
              <a:ext uri="{FF2B5EF4-FFF2-40B4-BE49-F238E27FC236}">
                <a16:creationId xmlns:a16="http://schemas.microsoft.com/office/drawing/2014/main" id="{D9DC432A-16C0-41D5-B797-2840149892E6}"/>
              </a:ext>
            </a:extLst>
          </p:cNvPr>
          <p:cNvSpPr>
            <a:spLocks noChangeShapeType="1"/>
          </p:cNvSpPr>
          <p:nvPr/>
        </p:nvSpPr>
        <p:spPr bwMode="auto">
          <a:xfrm>
            <a:off x="2484438" y="2852738"/>
            <a:ext cx="0" cy="895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24" name="Freeform 8">
            <a:extLst>
              <a:ext uri="{FF2B5EF4-FFF2-40B4-BE49-F238E27FC236}">
                <a16:creationId xmlns:a16="http://schemas.microsoft.com/office/drawing/2014/main" id="{A59F846C-1DB1-4DF5-893A-A039C00F5D56}"/>
              </a:ext>
            </a:extLst>
          </p:cNvPr>
          <p:cNvSpPr>
            <a:spLocks/>
          </p:cNvSpPr>
          <p:nvPr/>
        </p:nvSpPr>
        <p:spPr bwMode="auto">
          <a:xfrm>
            <a:off x="3059113" y="2581275"/>
            <a:ext cx="1081087" cy="504825"/>
          </a:xfrm>
          <a:custGeom>
            <a:avLst/>
            <a:gdLst>
              <a:gd name="T0" fmla="*/ 0 w 685"/>
              <a:gd name="T1" fmla="*/ 0 h 318"/>
              <a:gd name="T2" fmla="*/ 2147483646 w 685"/>
              <a:gd name="T3" fmla="*/ 2147483646 h 318"/>
              <a:gd name="T4" fmla="*/ 2147483646 w 685"/>
              <a:gd name="T5" fmla="*/ 2147483646 h 318"/>
              <a:gd name="T6" fmla="*/ 0 60000 65536"/>
              <a:gd name="T7" fmla="*/ 0 60000 65536"/>
              <a:gd name="T8" fmla="*/ 0 60000 65536"/>
              <a:gd name="T9" fmla="*/ 0 w 685"/>
              <a:gd name="T10" fmla="*/ 0 h 318"/>
              <a:gd name="T11" fmla="*/ 685 w 685"/>
              <a:gd name="T12" fmla="*/ 318 h 318"/>
            </a:gdLst>
            <a:ahLst/>
            <a:cxnLst>
              <a:cxn ang="T6">
                <a:pos x="T0" y="T1"/>
              </a:cxn>
              <a:cxn ang="T7">
                <a:pos x="T2" y="T3"/>
              </a:cxn>
              <a:cxn ang="T8">
                <a:pos x="T4" y="T5"/>
              </a:cxn>
            </a:cxnLst>
            <a:rect l="T9" t="T10" r="T11" b="T12"/>
            <a:pathLst>
              <a:path w="685" h="318">
                <a:moveTo>
                  <a:pt x="0" y="0"/>
                </a:moveTo>
                <a:lnTo>
                  <a:pt x="685" y="2"/>
                </a:lnTo>
                <a:lnTo>
                  <a:pt x="681" y="31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s-ES"/>
          </a:p>
        </p:txBody>
      </p:sp>
      <p:grpSp>
        <p:nvGrpSpPr>
          <p:cNvPr id="34825" name="Group 9">
            <a:extLst>
              <a:ext uri="{FF2B5EF4-FFF2-40B4-BE49-F238E27FC236}">
                <a16:creationId xmlns:a16="http://schemas.microsoft.com/office/drawing/2014/main" id="{C19FA912-4E9A-4F01-829E-55176E224770}"/>
              </a:ext>
            </a:extLst>
          </p:cNvPr>
          <p:cNvGrpSpPr>
            <a:grpSpLocks/>
          </p:cNvGrpSpPr>
          <p:nvPr/>
        </p:nvGrpSpPr>
        <p:grpSpPr bwMode="auto">
          <a:xfrm>
            <a:off x="4013200" y="2781300"/>
            <a:ext cx="304800" cy="312738"/>
            <a:chOff x="2520" y="1597"/>
            <a:chExt cx="192" cy="197"/>
          </a:xfrm>
        </p:grpSpPr>
        <p:sp>
          <p:nvSpPr>
            <p:cNvPr id="34898" name="Text Box 10">
              <a:extLst>
                <a:ext uri="{FF2B5EF4-FFF2-40B4-BE49-F238E27FC236}">
                  <a16:creationId xmlns:a16="http://schemas.microsoft.com/office/drawing/2014/main" id="{3A6C49D3-CFF3-45D1-851A-6C7BBB35A252}"/>
                </a:ext>
              </a:extLst>
            </p:cNvPr>
            <p:cNvSpPr txBox="1">
              <a:spLocks noChangeArrowheads="1"/>
            </p:cNvSpPr>
            <p:nvPr/>
          </p:nvSpPr>
          <p:spPr bwMode="auto">
            <a:xfrm rot="5400000">
              <a:off x="2517" y="160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4899" name="Line 11">
              <a:extLst>
                <a:ext uri="{FF2B5EF4-FFF2-40B4-BE49-F238E27FC236}">
                  <a16:creationId xmlns:a16="http://schemas.microsoft.com/office/drawing/2014/main" id="{BBF50CCB-E93D-435E-A20A-2BEA3626AE8F}"/>
                </a:ext>
              </a:extLst>
            </p:cNvPr>
            <p:cNvSpPr>
              <a:spLocks noChangeShapeType="1"/>
            </p:cNvSpPr>
            <p:nvPr/>
          </p:nvSpPr>
          <p:spPr bwMode="auto">
            <a:xfrm rot="5400000">
              <a:off x="2601" y="158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4826" name="Group 12">
            <a:extLst>
              <a:ext uri="{FF2B5EF4-FFF2-40B4-BE49-F238E27FC236}">
                <a16:creationId xmlns:a16="http://schemas.microsoft.com/office/drawing/2014/main" id="{0630E65D-852C-4DB7-8CFB-A6E94E0882EA}"/>
              </a:ext>
            </a:extLst>
          </p:cNvPr>
          <p:cNvGrpSpPr>
            <a:grpSpLocks/>
          </p:cNvGrpSpPr>
          <p:nvPr/>
        </p:nvGrpSpPr>
        <p:grpSpPr bwMode="auto">
          <a:xfrm>
            <a:off x="2317750" y="2722563"/>
            <a:ext cx="312738" cy="412750"/>
            <a:chOff x="4502" y="2127"/>
            <a:chExt cx="197" cy="260"/>
          </a:xfrm>
        </p:grpSpPr>
        <p:sp>
          <p:nvSpPr>
            <p:cNvPr id="34896" name="Text Box 13">
              <a:extLst>
                <a:ext uri="{FF2B5EF4-FFF2-40B4-BE49-F238E27FC236}">
                  <a16:creationId xmlns:a16="http://schemas.microsoft.com/office/drawing/2014/main" id="{2007F937-7A24-4552-99AB-5599B6E1BB57}"/>
                </a:ext>
              </a:extLst>
            </p:cNvPr>
            <p:cNvSpPr txBox="1">
              <a:spLocks noChangeArrowheads="1"/>
            </p:cNvSpPr>
            <p:nvPr/>
          </p:nvSpPr>
          <p:spPr bwMode="auto">
            <a:xfrm rot="-5400000">
              <a:off x="4499" y="213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4897" name="Text Box 14">
              <a:extLst>
                <a:ext uri="{FF2B5EF4-FFF2-40B4-BE49-F238E27FC236}">
                  <a16:creationId xmlns:a16="http://schemas.microsoft.com/office/drawing/2014/main" id="{66C07ED1-70AB-4F37-8B5D-FBA8BF77757A}"/>
                </a:ext>
              </a:extLst>
            </p:cNvPr>
            <p:cNvSpPr txBox="1">
              <a:spLocks noChangeArrowheads="1"/>
            </p:cNvSpPr>
            <p:nvPr/>
          </p:nvSpPr>
          <p:spPr bwMode="auto">
            <a:xfrm>
              <a:off x="4522" y="2195"/>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o</a:t>
              </a:r>
            </a:p>
          </p:txBody>
        </p:sp>
      </p:grpSp>
      <p:grpSp>
        <p:nvGrpSpPr>
          <p:cNvPr id="34827" name="Group 15">
            <a:extLst>
              <a:ext uri="{FF2B5EF4-FFF2-40B4-BE49-F238E27FC236}">
                <a16:creationId xmlns:a16="http://schemas.microsoft.com/office/drawing/2014/main" id="{006AB831-E1D6-40AC-8382-454A31141EC9}"/>
              </a:ext>
            </a:extLst>
          </p:cNvPr>
          <p:cNvGrpSpPr>
            <a:grpSpLocks/>
          </p:cNvGrpSpPr>
          <p:nvPr/>
        </p:nvGrpSpPr>
        <p:grpSpPr bwMode="auto">
          <a:xfrm rot="5400000">
            <a:off x="2466975" y="3589338"/>
            <a:ext cx="42863" cy="217487"/>
            <a:chOff x="2672" y="3368"/>
            <a:chExt cx="27" cy="137"/>
          </a:xfrm>
        </p:grpSpPr>
        <p:sp>
          <p:nvSpPr>
            <p:cNvPr id="34894" name="Line 16">
              <a:extLst>
                <a:ext uri="{FF2B5EF4-FFF2-40B4-BE49-F238E27FC236}">
                  <a16:creationId xmlns:a16="http://schemas.microsoft.com/office/drawing/2014/main" id="{C4A19C4F-794C-4B00-BC1F-F0312A88D6B4}"/>
                </a:ext>
              </a:extLst>
            </p:cNvPr>
            <p:cNvSpPr>
              <a:spLocks noChangeShapeType="1"/>
            </p:cNvSpPr>
            <p:nvPr/>
          </p:nvSpPr>
          <p:spPr bwMode="auto">
            <a:xfrm>
              <a:off x="267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4895" name="Line 17">
              <a:extLst>
                <a:ext uri="{FF2B5EF4-FFF2-40B4-BE49-F238E27FC236}">
                  <a16:creationId xmlns:a16="http://schemas.microsoft.com/office/drawing/2014/main" id="{AE29626C-04CE-41A3-9325-3EE9193ED398}"/>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4828" name="Group 18">
            <a:extLst>
              <a:ext uri="{FF2B5EF4-FFF2-40B4-BE49-F238E27FC236}">
                <a16:creationId xmlns:a16="http://schemas.microsoft.com/office/drawing/2014/main" id="{06D235E4-5777-403B-9C16-464DB59D9679}"/>
              </a:ext>
            </a:extLst>
          </p:cNvPr>
          <p:cNvGrpSpPr>
            <a:grpSpLocks/>
          </p:cNvGrpSpPr>
          <p:nvPr/>
        </p:nvGrpSpPr>
        <p:grpSpPr bwMode="auto">
          <a:xfrm>
            <a:off x="2946400" y="2451100"/>
            <a:ext cx="312738" cy="304800"/>
            <a:chOff x="1887" y="1615"/>
            <a:chExt cx="197" cy="192"/>
          </a:xfrm>
        </p:grpSpPr>
        <p:sp>
          <p:nvSpPr>
            <p:cNvPr id="34892" name="Text Box 19">
              <a:extLst>
                <a:ext uri="{FF2B5EF4-FFF2-40B4-BE49-F238E27FC236}">
                  <a16:creationId xmlns:a16="http://schemas.microsoft.com/office/drawing/2014/main" id="{0740C94C-3E8E-48AD-AEB2-204532CB185D}"/>
                </a:ext>
              </a:extLst>
            </p:cNvPr>
            <p:cNvSpPr txBox="1">
              <a:spLocks noChangeArrowheads="1"/>
            </p:cNvSpPr>
            <p:nvPr/>
          </p:nvSpPr>
          <p:spPr bwMode="auto">
            <a:xfrm rot="10800000">
              <a:off x="1887" y="1615"/>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4893" name="Line 20">
              <a:extLst>
                <a:ext uri="{FF2B5EF4-FFF2-40B4-BE49-F238E27FC236}">
                  <a16:creationId xmlns:a16="http://schemas.microsoft.com/office/drawing/2014/main" id="{A3E8AC81-48A6-4F0F-AFB7-9BDDF1BACDA9}"/>
                </a:ext>
              </a:extLst>
            </p:cNvPr>
            <p:cNvSpPr>
              <a:spLocks noChangeShapeType="1"/>
            </p:cNvSpPr>
            <p:nvPr/>
          </p:nvSpPr>
          <p:spPr bwMode="auto">
            <a:xfrm>
              <a:off x="2018" y="1631"/>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4829" name="Line 21">
            <a:extLst>
              <a:ext uri="{FF2B5EF4-FFF2-40B4-BE49-F238E27FC236}">
                <a16:creationId xmlns:a16="http://schemas.microsoft.com/office/drawing/2014/main" id="{E631E217-F203-4B49-A1AF-F9E64E3A6C86}"/>
              </a:ext>
            </a:extLst>
          </p:cNvPr>
          <p:cNvSpPr>
            <a:spLocks noChangeShapeType="1"/>
          </p:cNvSpPr>
          <p:nvPr/>
        </p:nvSpPr>
        <p:spPr bwMode="auto">
          <a:xfrm flipH="1" flipV="1">
            <a:off x="1651000" y="2205038"/>
            <a:ext cx="433388"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30" name="Oval 22">
            <a:extLst>
              <a:ext uri="{FF2B5EF4-FFF2-40B4-BE49-F238E27FC236}">
                <a16:creationId xmlns:a16="http://schemas.microsoft.com/office/drawing/2014/main" id="{E0E7A45C-6C5A-4F3D-B927-BD5D884F7DC1}"/>
              </a:ext>
            </a:extLst>
          </p:cNvPr>
          <p:cNvSpPr>
            <a:spLocks noChangeArrowheads="1"/>
          </p:cNvSpPr>
          <p:nvPr/>
        </p:nvSpPr>
        <p:spPr bwMode="auto">
          <a:xfrm>
            <a:off x="95250" y="1844675"/>
            <a:ext cx="19240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Numero factura</a:t>
            </a:r>
          </a:p>
        </p:txBody>
      </p:sp>
      <p:sp>
        <p:nvSpPr>
          <p:cNvPr id="34831" name="Oval 23">
            <a:extLst>
              <a:ext uri="{FF2B5EF4-FFF2-40B4-BE49-F238E27FC236}">
                <a16:creationId xmlns:a16="http://schemas.microsoft.com/office/drawing/2014/main" id="{891B7DD3-5925-4F41-B711-77D913DECFEC}"/>
              </a:ext>
            </a:extLst>
          </p:cNvPr>
          <p:cNvSpPr>
            <a:spLocks noChangeArrowheads="1"/>
          </p:cNvSpPr>
          <p:nvPr/>
        </p:nvSpPr>
        <p:spPr bwMode="auto">
          <a:xfrm>
            <a:off x="1835150" y="1557338"/>
            <a:ext cx="1536700"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venta</a:t>
            </a:r>
          </a:p>
        </p:txBody>
      </p:sp>
      <p:sp>
        <p:nvSpPr>
          <p:cNvPr id="34832" name="Oval 24">
            <a:extLst>
              <a:ext uri="{FF2B5EF4-FFF2-40B4-BE49-F238E27FC236}">
                <a16:creationId xmlns:a16="http://schemas.microsoft.com/office/drawing/2014/main" id="{5DF44B94-6667-4EDB-98EB-63ABA327B7CE}"/>
              </a:ext>
            </a:extLst>
          </p:cNvPr>
          <p:cNvSpPr>
            <a:spLocks noChangeArrowheads="1"/>
          </p:cNvSpPr>
          <p:nvPr/>
        </p:nvSpPr>
        <p:spPr bwMode="auto">
          <a:xfrm>
            <a:off x="3419475" y="1514475"/>
            <a:ext cx="2112963"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Cantidad vendida</a:t>
            </a:r>
          </a:p>
        </p:txBody>
      </p:sp>
      <p:sp>
        <p:nvSpPr>
          <p:cNvPr id="34833" name="Line 25">
            <a:extLst>
              <a:ext uri="{FF2B5EF4-FFF2-40B4-BE49-F238E27FC236}">
                <a16:creationId xmlns:a16="http://schemas.microsoft.com/office/drawing/2014/main" id="{F25502B6-A4E5-4920-9BFC-5021173588B6}"/>
              </a:ext>
            </a:extLst>
          </p:cNvPr>
          <p:cNvSpPr>
            <a:spLocks noChangeShapeType="1"/>
          </p:cNvSpPr>
          <p:nvPr/>
        </p:nvSpPr>
        <p:spPr bwMode="auto">
          <a:xfrm flipV="1">
            <a:off x="2627313" y="1974850"/>
            <a:ext cx="0" cy="287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34" name="Oval 26">
            <a:extLst>
              <a:ext uri="{FF2B5EF4-FFF2-40B4-BE49-F238E27FC236}">
                <a16:creationId xmlns:a16="http://schemas.microsoft.com/office/drawing/2014/main" id="{D3DF306C-6CC7-4E0B-BF6D-E57E02E9DF47}"/>
              </a:ext>
            </a:extLst>
          </p:cNvPr>
          <p:cNvSpPr>
            <a:spLocks noChangeArrowheads="1"/>
          </p:cNvSpPr>
          <p:nvPr/>
        </p:nvSpPr>
        <p:spPr bwMode="auto">
          <a:xfrm>
            <a:off x="4140200" y="1947863"/>
            <a:ext cx="1782763"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unitario</a:t>
            </a:r>
          </a:p>
        </p:txBody>
      </p:sp>
      <p:sp>
        <p:nvSpPr>
          <p:cNvPr id="34835" name="Line 27">
            <a:extLst>
              <a:ext uri="{FF2B5EF4-FFF2-40B4-BE49-F238E27FC236}">
                <a16:creationId xmlns:a16="http://schemas.microsoft.com/office/drawing/2014/main" id="{5D3FBADB-8044-474B-8CFC-1DBD0AC3F16E}"/>
              </a:ext>
            </a:extLst>
          </p:cNvPr>
          <p:cNvSpPr>
            <a:spLocks noChangeShapeType="1"/>
          </p:cNvSpPr>
          <p:nvPr/>
        </p:nvSpPr>
        <p:spPr bwMode="auto">
          <a:xfrm flipH="1" flipV="1">
            <a:off x="3924300" y="1916113"/>
            <a:ext cx="142875"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36" name="Line 28">
            <a:extLst>
              <a:ext uri="{FF2B5EF4-FFF2-40B4-BE49-F238E27FC236}">
                <a16:creationId xmlns:a16="http://schemas.microsoft.com/office/drawing/2014/main" id="{1F05022B-315D-40CC-88B1-CF43B3D2C550}"/>
              </a:ext>
            </a:extLst>
          </p:cNvPr>
          <p:cNvSpPr>
            <a:spLocks noChangeShapeType="1"/>
          </p:cNvSpPr>
          <p:nvPr/>
        </p:nvSpPr>
        <p:spPr bwMode="auto">
          <a:xfrm flipV="1">
            <a:off x="4211638" y="2276475"/>
            <a:ext cx="21590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37" name="Oval 29">
            <a:extLst>
              <a:ext uri="{FF2B5EF4-FFF2-40B4-BE49-F238E27FC236}">
                <a16:creationId xmlns:a16="http://schemas.microsoft.com/office/drawing/2014/main" id="{FE32145D-77F3-4F59-92FF-D24DD55BB8FB}"/>
              </a:ext>
            </a:extLst>
          </p:cNvPr>
          <p:cNvSpPr>
            <a:spLocks noChangeArrowheads="1"/>
          </p:cNvSpPr>
          <p:nvPr/>
        </p:nvSpPr>
        <p:spPr bwMode="auto">
          <a:xfrm>
            <a:off x="0" y="2676525"/>
            <a:ext cx="1897063"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cliente</a:t>
            </a:r>
          </a:p>
        </p:txBody>
      </p:sp>
      <p:sp>
        <p:nvSpPr>
          <p:cNvPr id="34838" name="Oval 30">
            <a:extLst>
              <a:ext uri="{FF2B5EF4-FFF2-40B4-BE49-F238E27FC236}">
                <a16:creationId xmlns:a16="http://schemas.microsoft.com/office/drawing/2014/main" id="{40A165C3-0BCF-478A-A5C7-5AC99D29D407}"/>
              </a:ext>
            </a:extLst>
          </p:cNvPr>
          <p:cNvSpPr>
            <a:spLocks noChangeArrowheads="1"/>
          </p:cNvSpPr>
          <p:nvPr/>
        </p:nvSpPr>
        <p:spPr bwMode="auto">
          <a:xfrm>
            <a:off x="5289550" y="3849688"/>
            <a:ext cx="2014538"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producto</a:t>
            </a:r>
          </a:p>
        </p:txBody>
      </p:sp>
      <p:sp>
        <p:nvSpPr>
          <p:cNvPr id="34839" name="Oval 31">
            <a:extLst>
              <a:ext uri="{FF2B5EF4-FFF2-40B4-BE49-F238E27FC236}">
                <a16:creationId xmlns:a16="http://schemas.microsoft.com/office/drawing/2014/main" id="{7CA6CD2B-B571-40EA-A555-AF9D8AAAA49B}"/>
              </a:ext>
            </a:extLst>
          </p:cNvPr>
          <p:cNvSpPr>
            <a:spLocks noChangeArrowheads="1"/>
          </p:cNvSpPr>
          <p:nvPr/>
        </p:nvSpPr>
        <p:spPr bwMode="auto">
          <a:xfrm>
            <a:off x="73025" y="3165475"/>
            <a:ext cx="1693863" cy="43338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Razon social</a:t>
            </a:r>
          </a:p>
        </p:txBody>
      </p:sp>
      <p:sp>
        <p:nvSpPr>
          <p:cNvPr id="34840" name="Oval 32">
            <a:extLst>
              <a:ext uri="{FF2B5EF4-FFF2-40B4-BE49-F238E27FC236}">
                <a16:creationId xmlns:a16="http://schemas.microsoft.com/office/drawing/2014/main" id="{D4E5B3CF-4C32-4334-B762-FE2DCD68D65D}"/>
              </a:ext>
            </a:extLst>
          </p:cNvPr>
          <p:cNvSpPr>
            <a:spLocks noChangeArrowheads="1"/>
          </p:cNvSpPr>
          <p:nvPr/>
        </p:nvSpPr>
        <p:spPr bwMode="auto">
          <a:xfrm>
            <a:off x="252413" y="3679825"/>
            <a:ext cx="12001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Domicilio</a:t>
            </a:r>
          </a:p>
        </p:txBody>
      </p:sp>
      <p:sp>
        <p:nvSpPr>
          <p:cNvPr id="34841" name="Oval 33">
            <a:extLst>
              <a:ext uri="{FF2B5EF4-FFF2-40B4-BE49-F238E27FC236}">
                <a16:creationId xmlns:a16="http://schemas.microsoft.com/office/drawing/2014/main" id="{EB583552-EA52-4D57-9F92-0315C9583A88}"/>
              </a:ext>
            </a:extLst>
          </p:cNvPr>
          <p:cNvSpPr>
            <a:spLocks noChangeArrowheads="1"/>
          </p:cNvSpPr>
          <p:nvPr/>
        </p:nvSpPr>
        <p:spPr bwMode="auto">
          <a:xfrm>
            <a:off x="5216525" y="4306888"/>
            <a:ext cx="2592388" cy="43338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Descripcion producto</a:t>
            </a:r>
          </a:p>
        </p:txBody>
      </p:sp>
      <p:sp>
        <p:nvSpPr>
          <p:cNvPr id="34842" name="Line 34">
            <a:extLst>
              <a:ext uri="{FF2B5EF4-FFF2-40B4-BE49-F238E27FC236}">
                <a16:creationId xmlns:a16="http://schemas.microsoft.com/office/drawing/2014/main" id="{650C44EB-633F-4101-A8D9-B6BFE66441D4}"/>
              </a:ext>
            </a:extLst>
          </p:cNvPr>
          <p:cNvSpPr>
            <a:spLocks noChangeShapeType="1"/>
          </p:cNvSpPr>
          <p:nvPr/>
        </p:nvSpPr>
        <p:spPr bwMode="auto">
          <a:xfrm>
            <a:off x="4932363" y="3514725"/>
            <a:ext cx="501650" cy="828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43" name="Line 35">
            <a:extLst>
              <a:ext uri="{FF2B5EF4-FFF2-40B4-BE49-F238E27FC236}">
                <a16:creationId xmlns:a16="http://schemas.microsoft.com/office/drawing/2014/main" id="{F968B372-BAD3-48BD-B410-E84BE546302E}"/>
              </a:ext>
            </a:extLst>
          </p:cNvPr>
          <p:cNvSpPr>
            <a:spLocks noChangeShapeType="1"/>
          </p:cNvSpPr>
          <p:nvPr/>
        </p:nvSpPr>
        <p:spPr bwMode="auto">
          <a:xfrm>
            <a:off x="5080000" y="3533775"/>
            <a:ext cx="536575"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44" name="Line 36">
            <a:extLst>
              <a:ext uri="{FF2B5EF4-FFF2-40B4-BE49-F238E27FC236}">
                <a16:creationId xmlns:a16="http://schemas.microsoft.com/office/drawing/2014/main" id="{038C2747-6032-4380-BDBF-7BEAE99CFC1A}"/>
              </a:ext>
            </a:extLst>
          </p:cNvPr>
          <p:cNvSpPr>
            <a:spLocks noChangeShapeType="1"/>
          </p:cNvSpPr>
          <p:nvPr/>
        </p:nvSpPr>
        <p:spPr bwMode="auto">
          <a:xfrm flipH="1" flipV="1">
            <a:off x="1476375" y="3556000"/>
            <a:ext cx="574675" cy="346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45" name="Line 37">
            <a:extLst>
              <a:ext uri="{FF2B5EF4-FFF2-40B4-BE49-F238E27FC236}">
                <a16:creationId xmlns:a16="http://schemas.microsoft.com/office/drawing/2014/main" id="{C9D186E1-71F4-45F2-8D48-0137AECE7EE8}"/>
              </a:ext>
            </a:extLst>
          </p:cNvPr>
          <p:cNvSpPr>
            <a:spLocks noChangeShapeType="1"/>
          </p:cNvSpPr>
          <p:nvPr/>
        </p:nvSpPr>
        <p:spPr bwMode="auto">
          <a:xfrm flipH="1" flipV="1">
            <a:off x="1452563" y="3902075"/>
            <a:ext cx="592137" cy="1793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46" name="Line 38">
            <a:extLst>
              <a:ext uri="{FF2B5EF4-FFF2-40B4-BE49-F238E27FC236}">
                <a16:creationId xmlns:a16="http://schemas.microsoft.com/office/drawing/2014/main" id="{3BF28579-BF32-4D6F-99D0-388C1959E24A}"/>
              </a:ext>
            </a:extLst>
          </p:cNvPr>
          <p:cNvSpPr>
            <a:spLocks noChangeShapeType="1"/>
          </p:cNvSpPr>
          <p:nvPr/>
        </p:nvSpPr>
        <p:spPr bwMode="auto">
          <a:xfrm flipH="1" flipV="1">
            <a:off x="1476375" y="3038475"/>
            <a:ext cx="831850" cy="7127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47" name="AutoShape 39">
            <a:extLst>
              <a:ext uri="{FF2B5EF4-FFF2-40B4-BE49-F238E27FC236}">
                <a16:creationId xmlns:a16="http://schemas.microsoft.com/office/drawing/2014/main" id="{3DCB0F3E-55C6-48DB-96E6-354EAF8AFCF9}"/>
              </a:ext>
            </a:extLst>
          </p:cNvPr>
          <p:cNvSpPr>
            <a:spLocks noChangeArrowheads="1"/>
          </p:cNvSpPr>
          <p:nvPr/>
        </p:nvSpPr>
        <p:spPr bwMode="auto">
          <a:xfrm>
            <a:off x="2308225" y="3108325"/>
            <a:ext cx="361950" cy="371475"/>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128040" name="AutoShape 40">
            <a:extLst>
              <a:ext uri="{FF2B5EF4-FFF2-40B4-BE49-F238E27FC236}">
                <a16:creationId xmlns:a16="http://schemas.microsoft.com/office/drawing/2014/main" id="{31C5C078-4429-4165-8AC2-E74FF808DEE5}"/>
              </a:ext>
            </a:extLst>
          </p:cNvPr>
          <p:cNvSpPr>
            <a:spLocks noChangeArrowheads="1"/>
          </p:cNvSpPr>
          <p:nvPr/>
        </p:nvSpPr>
        <p:spPr bwMode="auto">
          <a:xfrm>
            <a:off x="3956050" y="2420938"/>
            <a:ext cx="360363" cy="311150"/>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128041" name="Rectangle 41">
            <a:extLst>
              <a:ext uri="{FF2B5EF4-FFF2-40B4-BE49-F238E27FC236}">
                <a16:creationId xmlns:a16="http://schemas.microsoft.com/office/drawing/2014/main" id="{2B80081C-B35C-4CCE-BD24-7252DCF97014}"/>
              </a:ext>
            </a:extLst>
          </p:cNvPr>
          <p:cNvSpPr>
            <a:spLocks noChangeArrowheads="1"/>
          </p:cNvSpPr>
          <p:nvPr/>
        </p:nvSpPr>
        <p:spPr bwMode="auto">
          <a:xfrm>
            <a:off x="6121400" y="1557338"/>
            <a:ext cx="2914650" cy="1200150"/>
          </a:xfrm>
          <a:prstGeom prst="rect">
            <a:avLst/>
          </a:prstGeom>
          <a:solidFill>
            <a:srgbClr val="EFF3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200">
                <a:solidFill>
                  <a:schemeClr val="tx2"/>
                </a:solidFill>
              </a:rPr>
              <a:t>1. Entidades débiles no llevan clave primaria: llevan discriminante.</a:t>
            </a:r>
          </a:p>
          <a:p>
            <a:pPr>
              <a:spcBef>
                <a:spcPct val="0"/>
              </a:spcBef>
              <a:buClrTx/>
              <a:buSzTx/>
              <a:buFontTx/>
              <a:buNone/>
            </a:pPr>
            <a:r>
              <a:rPr lang="es-ES" altLang="es-ES" sz="1200">
                <a:solidFill>
                  <a:schemeClr val="tx2"/>
                </a:solidFill>
              </a:rPr>
              <a:t>2. No se formalizan las claves foráneas.</a:t>
            </a:r>
          </a:p>
          <a:p>
            <a:pPr>
              <a:spcBef>
                <a:spcPct val="0"/>
              </a:spcBef>
              <a:buClrTx/>
              <a:buSzTx/>
              <a:buFontTx/>
              <a:buNone/>
            </a:pPr>
            <a:r>
              <a:rPr lang="es-ES" altLang="es-ES" sz="1200">
                <a:solidFill>
                  <a:schemeClr val="tx2"/>
                </a:solidFill>
              </a:rPr>
              <a:t>3. Existen relaciones M-M.</a:t>
            </a:r>
          </a:p>
          <a:p>
            <a:pPr>
              <a:spcBef>
                <a:spcPct val="0"/>
              </a:spcBef>
              <a:buClrTx/>
              <a:buSzTx/>
              <a:buFontTx/>
              <a:buNone/>
            </a:pPr>
            <a:r>
              <a:rPr lang="es-ES" altLang="es-ES" sz="1200">
                <a:solidFill>
                  <a:schemeClr val="tx2"/>
                </a:solidFill>
              </a:rPr>
              <a:t>4. Atributos multivalorados o entidades débiles.</a:t>
            </a:r>
            <a:endParaRPr lang="es-ES" altLang="es-ES" sz="1200"/>
          </a:p>
        </p:txBody>
      </p:sp>
      <p:grpSp>
        <p:nvGrpSpPr>
          <p:cNvPr id="6" name="Group 42">
            <a:extLst>
              <a:ext uri="{FF2B5EF4-FFF2-40B4-BE49-F238E27FC236}">
                <a16:creationId xmlns:a16="http://schemas.microsoft.com/office/drawing/2014/main" id="{24CD23AF-DF29-4074-9878-736659F6B167}"/>
              </a:ext>
            </a:extLst>
          </p:cNvPr>
          <p:cNvGrpSpPr>
            <a:grpSpLocks/>
          </p:cNvGrpSpPr>
          <p:nvPr/>
        </p:nvGrpSpPr>
        <p:grpSpPr bwMode="auto">
          <a:xfrm>
            <a:off x="73025" y="5009976"/>
            <a:ext cx="1646238" cy="1803400"/>
            <a:chOff x="46" y="3022"/>
            <a:chExt cx="1037" cy="1136"/>
          </a:xfrm>
        </p:grpSpPr>
        <p:sp>
          <p:nvSpPr>
            <p:cNvPr id="34890" name="Rectangle 43">
              <a:extLst>
                <a:ext uri="{FF2B5EF4-FFF2-40B4-BE49-F238E27FC236}">
                  <a16:creationId xmlns:a16="http://schemas.microsoft.com/office/drawing/2014/main" id="{0131303B-F141-4125-A083-DFDD62C20259}"/>
                </a:ext>
              </a:extLst>
            </p:cNvPr>
            <p:cNvSpPr>
              <a:spLocks noChangeArrowheads="1"/>
            </p:cNvSpPr>
            <p:nvPr/>
          </p:nvSpPr>
          <p:spPr bwMode="auto">
            <a:xfrm>
              <a:off x="46" y="3022"/>
              <a:ext cx="1020"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600" b="1">
                  <a:solidFill>
                    <a:schemeClr val="tx2"/>
                  </a:solidFill>
                </a:rPr>
                <a:t>Reglas</a:t>
              </a:r>
              <a:r>
                <a:rPr lang="es-ES" altLang="es-ES" sz="1600">
                  <a:solidFill>
                    <a:schemeClr val="tx2"/>
                  </a:solidFill>
                </a:rPr>
                <a:t> de transformación:</a:t>
              </a:r>
            </a:p>
            <a:p>
              <a:pPr eaLnBrk="1" hangingPunct="1">
                <a:spcBef>
                  <a:spcPct val="0"/>
                </a:spcBef>
                <a:buClrTx/>
                <a:buSzTx/>
                <a:buFontTx/>
                <a:buNone/>
              </a:pPr>
              <a:r>
                <a:rPr lang="es-ES" altLang="es-ES" sz="1600">
                  <a:solidFill>
                    <a:schemeClr val="tx2"/>
                  </a:solidFill>
                </a:rPr>
                <a:t>MER -&gt; entidades en el Esquema de la base de datos (Tablas).</a:t>
              </a:r>
            </a:p>
          </p:txBody>
        </p:sp>
        <p:sp>
          <p:nvSpPr>
            <p:cNvPr id="34891" name="AutoShape 44">
              <a:extLst>
                <a:ext uri="{FF2B5EF4-FFF2-40B4-BE49-F238E27FC236}">
                  <a16:creationId xmlns:a16="http://schemas.microsoft.com/office/drawing/2014/main" id="{CAEB3D42-2F85-4E4F-B406-4ADD36259B14}"/>
                </a:ext>
              </a:extLst>
            </p:cNvPr>
            <p:cNvSpPr>
              <a:spLocks/>
            </p:cNvSpPr>
            <p:nvPr/>
          </p:nvSpPr>
          <p:spPr bwMode="auto">
            <a:xfrm>
              <a:off x="988" y="3041"/>
              <a:ext cx="95" cy="1117"/>
            </a:xfrm>
            <a:prstGeom prst="leftBrace">
              <a:avLst>
                <a:gd name="adj1" fmla="val 36637"/>
                <a:gd name="adj2" fmla="val 50000"/>
              </a:avLst>
            </a:prstGeom>
            <a:noFill/>
            <a:ln w="9525">
              <a:solidFill>
                <a:srgbClr val="002060"/>
              </a:solidFill>
              <a:round/>
              <a:headEnd/>
              <a:tailEnd/>
            </a:ln>
          </p:spPr>
          <p:txBody>
            <a:bodyPr wrap="squar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tx2"/>
                </a:solidFill>
              </a:endParaRPr>
            </a:p>
          </p:txBody>
        </p:sp>
      </p:grpSp>
      <p:sp>
        <p:nvSpPr>
          <p:cNvPr id="128045" name="Rectangle 45">
            <a:extLst>
              <a:ext uri="{FF2B5EF4-FFF2-40B4-BE49-F238E27FC236}">
                <a16:creationId xmlns:a16="http://schemas.microsoft.com/office/drawing/2014/main" id="{15D4DAFF-26C6-4C87-90F3-FBD507F99571}"/>
              </a:ext>
            </a:extLst>
          </p:cNvPr>
          <p:cNvSpPr>
            <a:spLocks noChangeArrowheads="1"/>
          </p:cNvSpPr>
          <p:nvPr/>
        </p:nvSpPr>
        <p:spPr bwMode="auto">
          <a:xfrm>
            <a:off x="1763688" y="5157192"/>
            <a:ext cx="7451725" cy="1465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AutoNum type="arabicPeriod"/>
            </a:pPr>
            <a:r>
              <a:rPr lang="es-ES" altLang="es-ES" sz="1800">
                <a:solidFill>
                  <a:schemeClr val="tx2"/>
                </a:solidFill>
              </a:rPr>
              <a:t>Entidad fuerte: Se crea una relación que incluya los atributos simples.</a:t>
            </a:r>
          </a:p>
          <a:p>
            <a:pPr eaLnBrk="1" hangingPunct="1">
              <a:spcBef>
                <a:spcPct val="0"/>
              </a:spcBef>
              <a:buClrTx/>
              <a:buSzTx/>
              <a:buFontTx/>
              <a:buAutoNum type="arabicPeriod"/>
            </a:pPr>
            <a:r>
              <a:rPr lang="es-ES" altLang="es-ES" sz="1800">
                <a:solidFill>
                  <a:schemeClr val="tx2"/>
                </a:solidFill>
              </a:rPr>
              <a:t>Entidad débil: Se crea una relación que incluya los atributos simples y agregar la clave primaria de la entidad identificadora, luego se define clave primaria de la entidad.</a:t>
            </a:r>
          </a:p>
        </p:txBody>
      </p:sp>
      <p:grpSp>
        <p:nvGrpSpPr>
          <p:cNvPr id="7" name="Group 46">
            <a:extLst>
              <a:ext uri="{FF2B5EF4-FFF2-40B4-BE49-F238E27FC236}">
                <a16:creationId xmlns:a16="http://schemas.microsoft.com/office/drawing/2014/main" id="{A4D8F793-DB99-486F-A9C3-1035554BC2B0}"/>
              </a:ext>
            </a:extLst>
          </p:cNvPr>
          <p:cNvGrpSpPr>
            <a:grpSpLocks/>
          </p:cNvGrpSpPr>
          <p:nvPr/>
        </p:nvGrpSpPr>
        <p:grpSpPr bwMode="auto">
          <a:xfrm>
            <a:off x="2484438" y="4279900"/>
            <a:ext cx="1335087" cy="635000"/>
            <a:chOff x="2078" y="2394"/>
            <a:chExt cx="841" cy="400"/>
          </a:xfrm>
        </p:grpSpPr>
        <p:grpSp>
          <p:nvGrpSpPr>
            <p:cNvPr id="34886" name="Group 47">
              <a:extLst>
                <a:ext uri="{FF2B5EF4-FFF2-40B4-BE49-F238E27FC236}">
                  <a16:creationId xmlns:a16="http://schemas.microsoft.com/office/drawing/2014/main" id="{628BB61B-5AD8-49F5-836C-9E3A492E87A5}"/>
                </a:ext>
              </a:extLst>
            </p:cNvPr>
            <p:cNvGrpSpPr>
              <a:grpSpLocks/>
            </p:cNvGrpSpPr>
            <p:nvPr/>
          </p:nvGrpSpPr>
          <p:grpSpPr bwMode="auto">
            <a:xfrm>
              <a:off x="2135" y="2432"/>
              <a:ext cx="784" cy="362"/>
              <a:chOff x="2040" y="2448"/>
              <a:chExt cx="784" cy="362"/>
            </a:xfrm>
          </p:grpSpPr>
          <p:sp>
            <p:nvSpPr>
              <p:cNvPr id="34888" name="Oval 48">
                <a:extLst>
                  <a:ext uri="{FF2B5EF4-FFF2-40B4-BE49-F238E27FC236}">
                    <a16:creationId xmlns:a16="http://schemas.microsoft.com/office/drawing/2014/main" id="{EE10CBAD-782B-4544-AB7A-AFE8FEC7EE82}"/>
                  </a:ext>
                </a:extLst>
              </p:cNvPr>
              <p:cNvSpPr>
                <a:spLocks noChangeArrowheads="1"/>
              </p:cNvSpPr>
              <p:nvPr/>
            </p:nvSpPr>
            <p:spPr bwMode="auto">
              <a:xfrm>
                <a:off x="2069" y="2487"/>
                <a:ext cx="755" cy="2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Teléfono</a:t>
                </a:r>
              </a:p>
            </p:txBody>
          </p:sp>
          <p:sp>
            <p:nvSpPr>
              <p:cNvPr id="34889" name="Oval 49">
                <a:extLst>
                  <a:ext uri="{FF2B5EF4-FFF2-40B4-BE49-F238E27FC236}">
                    <a16:creationId xmlns:a16="http://schemas.microsoft.com/office/drawing/2014/main" id="{5406FC03-6CE8-4D2B-AC83-D7B9C3EF7610}"/>
                  </a:ext>
                </a:extLst>
              </p:cNvPr>
              <p:cNvSpPr>
                <a:spLocks noChangeArrowheads="1"/>
              </p:cNvSpPr>
              <p:nvPr/>
            </p:nvSpPr>
            <p:spPr bwMode="auto">
              <a:xfrm>
                <a:off x="2040" y="2448"/>
                <a:ext cx="771" cy="36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34887" name="Line 50">
              <a:extLst>
                <a:ext uri="{FF2B5EF4-FFF2-40B4-BE49-F238E27FC236}">
                  <a16:creationId xmlns:a16="http://schemas.microsoft.com/office/drawing/2014/main" id="{91BB06D2-ED1D-42A7-A17F-C92DD6B86A62}"/>
                </a:ext>
              </a:extLst>
            </p:cNvPr>
            <p:cNvSpPr>
              <a:spLocks noChangeShapeType="1"/>
            </p:cNvSpPr>
            <p:nvPr/>
          </p:nvSpPr>
          <p:spPr bwMode="auto">
            <a:xfrm>
              <a:off x="2078" y="2394"/>
              <a:ext cx="136" cy="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grpSp>
        <p:nvGrpSpPr>
          <p:cNvPr id="9" name="Group 51">
            <a:extLst>
              <a:ext uri="{FF2B5EF4-FFF2-40B4-BE49-F238E27FC236}">
                <a16:creationId xmlns:a16="http://schemas.microsoft.com/office/drawing/2014/main" id="{FE7AFFD2-8B32-40D2-9568-064A87B1AD5B}"/>
              </a:ext>
            </a:extLst>
          </p:cNvPr>
          <p:cNvGrpSpPr>
            <a:grpSpLocks/>
          </p:cNvGrpSpPr>
          <p:nvPr/>
        </p:nvGrpSpPr>
        <p:grpSpPr bwMode="auto">
          <a:xfrm>
            <a:off x="5092700" y="2997200"/>
            <a:ext cx="3871913" cy="904875"/>
            <a:chOff x="3028" y="1888"/>
            <a:chExt cx="2439" cy="570"/>
          </a:xfrm>
        </p:grpSpPr>
        <p:sp>
          <p:nvSpPr>
            <p:cNvPr id="34870" name="Line 52">
              <a:extLst>
                <a:ext uri="{FF2B5EF4-FFF2-40B4-BE49-F238E27FC236}">
                  <a16:creationId xmlns:a16="http://schemas.microsoft.com/office/drawing/2014/main" id="{00E9C07E-475E-47DD-B1AB-470913CA098E}"/>
                </a:ext>
              </a:extLst>
            </p:cNvPr>
            <p:cNvSpPr>
              <a:spLocks noChangeShapeType="1"/>
            </p:cNvSpPr>
            <p:nvPr/>
          </p:nvSpPr>
          <p:spPr bwMode="auto">
            <a:xfrm flipV="1">
              <a:off x="3028" y="2140"/>
              <a:ext cx="623" cy="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71" name="AutoShape 53">
              <a:extLst>
                <a:ext uri="{FF2B5EF4-FFF2-40B4-BE49-F238E27FC236}">
                  <a16:creationId xmlns:a16="http://schemas.microsoft.com/office/drawing/2014/main" id="{DE3C184C-2C88-42F8-BB59-F6A986906482}"/>
                </a:ext>
              </a:extLst>
            </p:cNvPr>
            <p:cNvSpPr>
              <a:spLocks noChangeArrowheads="1"/>
            </p:cNvSpPr>
            <p:nvPr/>
          </p:nvSpPr>
          <p:spPr bwMode="auto">
            <a:xfrm>
              <a:off x="3243" y="2024"/>
              <a:ext cx="228" cy="234"/>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4872" name="Rectangle 54">
              <a:extLst>
                <a:ext uri="{FF2B5EF4-FFF2-40B4-BE49-F238E27FC236}">
                  <a16:creationId xmlns:a16="http://schemas.microsoft.com/office/drawing/2014/main" id="{1FED64BD-679E-4BBD-9FE7-BA22382CF18E}"/>
                </a:ext>
              </a:extLst>
            </p:cNvPr>
            <p:cNvSpPr>
              <a:spLocks noChangeArrowheads="1"/>
            </p:cNvSpPr>
            <p:nvPr/>
          </p:nvSpPr>
          <p:spPr bwMode="auto">
            <a:xfrm>
              <a:off x="3656" y="1941"/>
              <a:ext cx="902" cy="44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a:t>
              </a:r>
              <a:br>
                <a:rPr lang="en-US" altLang="es-ES" sz="1400">
                  <a:solidFill>
                    <a:schemeClr val="folHlink"/>
                  </a:solidFill>
                </a:rPr>
              </a:br>
              <a:r>
                <a:rPr lang="en-US" altLang="es-ES" sz="1400">
                  <a:solidFill>
                    <a:schemeClr val="folHlink"/>
                  </a:solidFill>
                </a:rPr>
                <a:t>HISTORICO</a:t>
              </a:r>
              <a:r>
                <a:rPr lang="en-US" altLang="es-ES" sz="1800">
                  <a:solidFill>
                    <a:schemeClr val="folHlink"/>
                  </a:solidFill>
                </a:rPr>
                <a:t> </a:t>
              </a:r>
              <a:br>
                <a:rPr lang="en-US" altLang="es-ES" sz="1800">
                  <a:solidFill>
                    <a:schemeClr val="folHlink"/>
                  </a:solidFill>
                </a:rPr>
              </a:br>
              <a:br>
                <a:rPr lang="en-US" altLang="es-ES" sz="400">
                  <a:solidFill>
                    <a:schemeClr val="folHlink"/>
                  </a:solidFill>
                </a:rPr>
              </a:br>
              <a:endParaRPr lang="en-US" altLang="es-ES" sz="400">
                <a:solidFill>
                  <a:schemeClr val="folHlink"/>
                </a:solidFill>
              </a:endParaRPr>
            </a:p>
          </p:txBody>
        </p:sp>
        <p:sp>
          <p:nvSpPr>
            <p:cNvPr id="34873" name="Rectangle 55">
              <a:extLst>
                <a:ext uri="{FF2B5EF4-FFF2-40B4-BE49-F238E27FC236}">
                  <a16:creationId xmlns:a16="http://schemas.microsoft.com/office/drawing/2014/main" id="{51B6DC89-5163-4081-91A3-05CC978E8F74}"/>
                </a:ext>
              </a:extLst>
            </p:cNvPr>
            <p:cNvSpPr>
              <a:spLocks noChangeArrowheads="1"/>
            </p:cNvSpPr>
            <p:nvPr/>
          </p:nvSpPr>
          <p:spPr bwMode="auto">
            <a:xfrm>
              <a:off x="3696" y="1979"/>
              <a:ext cx="816" cy="36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4874" name="AutoShape 56">
              <a:extLst>
                <a:ext uri="{FF2B5EF4-FFF2-40B4-BE49-F238E27FC236}">
                  <a16:creationId xmlns:a16="http://schemas.microsoft.com/office/drawing/2014/main" id="{924DF250-ED30-4735-B1C0-937179BC66FF}"/>
                </a:ext>
              </a:extLst>
            </p:cNvPr>
            <p:cNvSpPr>
              <a:spLocks noChangeArrowheads="1"/>
            </p:cNvSpPr>
            <p:nvPr/>
          </p:nvSpPr>
          <p:spPr bwMode="auto">
            <a:xfrm>
              <a:off x="3283" y="2059"/>
              <a:ext cx="151" cy="156"/>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nvGrpSpPr>
            <p:cNvPr id="34875" name="Group 57">
              <a:extLst>
                <a:ext uri="{FF2B5EF4-FFF2-40B4-BE49-F238E27FC236}">
                  <a16:creationId xmlns:a16="http://schemas.microsoft.com/office/drawing/2014/main" id="{FA4A4A5A-E2AB-43F3-81A5-BD7529FED5AA}"/>
                </a:ext>
              </a:extLst>
            </p:cNvPr>
            <p:cNvGrpSpPr>
              <a:grpSpLocks/>
            </p:cNvGrpSpPr>
            <p:nvPr/>
          </p:nvGrpSpPr>
          <p:grpSpPr bwMode="auto">
            <a:xfrm>
              <a:off x="3045" y="2099"/>
              <a:ext cx="19" cy="91"/>
              <a:chOff x="5057" y="2225"/>
              <a:chExt cx="19" cy="91"/>
            </a:xfrm>
          </p:grpSpPr>
          <p:sp>
            <p:nvSpPr>
              <p:cNvPr id="34884" name="Line 58">
                <a:extLst>
                  <a:ext uri="{FF2B5EF4-FFF2-40B4-BE49-F238E27FC236}">
                    <a16:creationId xmlns:a16="http://schemas.microsoft.com/office/drawing/2014/main" id="{26F9E84C-DF5F-4AB1-83CB-982DD05073F9}"/>
                  </a:ext>
                </a:extLst>
              </p:cNvPr>
              <p:cNvSpPr>
                <a:spLocks noChangeShapeType="1"/>
              </p:cNvSpPr>
              <p:nvPr/>
            </p:nvSpPr>
            <p:spPr bwMode="auto">
              <a:xfrm>
                <a:off x="5057"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4885" name="Line 59">
                <a:extLst>
                  <a:ext uri="{FF2B5EF4-FFF2-40B4-BE49-F238E27FC236}">
                    <a16:creationId xmlns:a16="http://schemas.microsoft.com/office/drawing/2014/main" id="{F1F4D448-DA73-409F-83A1-4A0D8AC0E2C9}"/>
                  </a:ext>
                </a:extLst>
              </p:cNvPr>
              <p:cNvSpPr>
                <a:spLocks noChangeShapeType="1"/>
              </p:cNvSpPr>
              <p:nvPr/>
            </p:nvSpPr>
            <p:spPr bwMode="auto">
              <a:xfrm>
                <a:off x="5076"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4876" name="Group 60">
              <a:extLst>
                <a:ext uri="{FF2B5EF4-FFF2-40B4-BE49-F238E27FC236}">
                  <a16:creationId xmlns:a16="http://schemas.microsoft.com/office/drawing/2014/main" id="{423BD353-1032-492E-80D0-486AB6DEAB45}"/>
                </a:ext>
              </a:extLst>
            </p:cNvPr>
            <p:cNvGrpSpPr>
              <a:grpSpLocks/>
            </p:cNvGrpSpPr>
            <p:nvPr/>
          </p:nvGrpSpPr>
          <p:grpSpPr bwMode="auto">
            <a:xfrm>
              <a:off x="3525" y="2034"/>
              <a:ext cx="317" cy="192"/>
              <a:chOff x="4785" y="2185"/>
              <a:chExt cx="317" cy="192"/>
            </a:xfrm>
          </p:grpSpPr>
          <p:sp>
            <p:nvSpPr>
              <p:cNvPr id="34882" name="Line 61">
                <a:extLst>
                  <a:ext uri="{FF2B5EF4-FFF2-40B4-BE49-F238E27FC236}">
                    <a16:creationId xmlns:a16="http://schemas.microsoft.com/office/drawing/2014/main" id="{CEF11A8C-845E-4C18-B2F4-39EBA39E6CA6}"/>
                  </a:ext>
                </a:extLst>
              </p:cNvPr>
              <p:cNvSpPr>
                <a:spLocks noChangeShapeType="1"/>
              </p:cNvSpPr>
              <p:nvPr/>
            </p:nvSpPr>
            <p:spPr bwMode="auto">
              <a:xfrm>
                <a:off x="4830"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4883" name="Text Box 62">
                <a:extLst>
                  <a:ext uri="{FF2B5EF4-FFF2-40B4-BE49-F238E27FC236}">
                    <a16:creationId xmlns:a16="http://schemas.microsoft.com/office/drawing/2014/main" id="{9CAD5596-512B-4700-B7F7-E09113AF0396}"/>
                  </a:ext>
                </a:extLst>
              </p:cNvPr>
              <p:cNvSpPr txBox="1">
                <a:spLocks noChangeArrowheads="1"/>
              </p:cNvSpPr>
              <p:nvPr/>
            </p:nvSpPr>
            <p:spPr bwMode="auto">
              <a:xfrm>
                <a:off x="4785" y="2185"/>
                <a:ext cx="3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s-ES" sz="1400"/>
                  <a:t>&lt;</a:t>
                </a:r>
              </a:p>
            </p:txBody>
          </p:sp>
        </p:grpSp>
        <p:sp>
          <p:nvSpPr>
            <p:cNvPr id="34877" name="Oval 63">
              <a:extLst>
                <a:ext uri="{FF2B5EF4-FFF2-40B4-BE49-F238E27FC236}">
                  <a16:creationId xmlns:a16="http://schemas.microsoft.com/office/drawing/2014/main" id="{AA0840B3-F473-46E5-AC35-2B4565EABF44}"/>
                </a:ext>
              </a:extLst>
            </p:cNvPr>
            <p:cNvSpPr>
              <a:spLocks noChangeArrowheads="1"/>
            </p:cNvSpPr>
            <p:nvPr/>
          </p:nvSpPr>
          <p:spPr bwMode="auto">
            <a:xfrm>
              <a:off x="4929" y="1888"/>
              <a:ext cx="532"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a:t>
              </a:r>
            </a:p>
          </p:txBody>
        </p:sp>
        <p:sp>
          <p:nvSpPr>
            <p:cNvPr id="34878" name="Oval 64">
              <a:extLst>
                <a:ext uri="{FF2B5EF4-FFF2-40B4-BE49-F238E27FC236}">
                  <a16:creationId xmlns:a16="http://schemas.microsoft.com/office/drawing/2014/main" id="{72B2EDC4-F810-4499-9B0D-AECB11D52F42}"/>
                </a:ext>
              </a:extLst>
            </p:cNvPr>
            <p:cNvSpPr>
              <a:spLocks noChangeArrowheads="1"/>
            </p:cNvSpPr>
            <p:nvPr/>
          </p:nvSpPr>
          <p:spPr bwMode="auto">
            <a:xfrm>
              <a:off x="4921" y="2205"/>
              <a:ext cx="546"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a:t>
              </a:r>
            </a:p>
          </p:txBody>
        </p:sp>
        <p:sp>
          <p:nvSpPr>
            <p:cNvPr id="34879" name="Line 65">
              <a:extLst>
                <a:ext uri="{FF2B5EF4-FFF2-40B4-BE49-F238E27FC236}">
                  <a16:creationId xmlns:a16="http://schemas.microsoft.com/office/drawing/2014/main" id="{8495DC29-F624-435E-952D-82A503C08EF1}"/>
                </a:ext>
              </a:extLst>
            </p:cNvPr>
            <p:cNvSpPr>
              <a:spLocks noChangeShapeType="1"/>
            </p:cNvSpPr>
            <p:nvPr/>
          </p:nvSpPr>
          <p:spPr bwMode="auto">
            <a:xfrm flipV="1">
              <a:off x="4558" y="2024"/>
              <a:ext cx="363"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4880" name="Line 66">
              <a:extLst>
                <a:ext uri="{FF2B5EF4-FFF2-40B4-BE49-F238E27FC236}">
                  <a16:creationId xmlns:a16="http://schemas.microsoft.com/office/drawing/2014/main" id="{E0E6ED4D-3AD1-49D9-A0E4-D76EB903DF68}"/>
                </a:ext>
              </a:extLst>
            </p:cNvPr>
            <p:cNvSpPr>
              <a:spLocks noChangeShapeType="1"/>
            </p:cNvSpPr>
            <p:nvPr/>
          </p:nvSpPr>
          <p:spPr bwMode="auto">
            <a:xfrm>
              <a:off x="4558" y="2205"/>
              <a:ext cx="363"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81" name="Line 67">
              <a:extLst>
                <a:ext uri="{FF2B5EF4-FFF2-40B4-BE49-F238E27FC236}">
                  <a16:creationId xmlns:a16="http://schemas.microsoft.com/office/drawing/2014/main" id="{7ACD5E5C-9B0D-4FD1-A3B1-429D8888772A}"/>
                </a:ext>
              </a:extLst>
            </p:cNvPr>
            <p:cNvSpPr>
              <a:spLocks noChangeShapeType="1"/>
            </p:cNvSpPr>
            <p:nvPr/>
          </p:nvSpPr>
          <p:spPr bwMode="auto">
            <a:xfrm>
              <a:off x="5022" y="2079"/>
              <a:ext cx="31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4854" name="Oval 32">
            <a:extLst>
              <a:ext uri="{FF2B5EF4-FFF2-40B4-BE49-F238E27FC236}">
                <a16:creationId xmlns:a16="http://schemas.microsoft.com/office/drawing/2014/main" id="{59F2DF37-3D7F-4781-A555-E484384AF5D2}"/>
              </a:ext>
            </a:extLst>
          </p:cNvPr>
          <p:cNvSpPr>
            <a:spLocks noChangeArrowheads="1"/>
          </p:cNvSpPr>
          <p:nvPr/>
        </p:nvSpPr>
        <p:spPr bwMode="auto">
          <a:xfrm>
            <a:off x="-6350" y="4189413"/>
            <a:ext cx="817563" cy="3683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Calle</a:t>
            </a:r>
          </a:p>
        </p:txBody>
      </p:sp>
      <p:sp>
        <p:nvSpPr>
          <p:cNvPr id="34855" name="Oval 32">
            <a:extLst>
              <a:ext uri="{FF2B5EF4-FFF2-40B4-BE49-F238E27FC236}">
                <a16:creationId xmlns:a16="http://schemas.microsoft.com/office/drawing/2014/main" id="{465D9E43-EBE3-4601-867E-EEE001E2536A}"/>
              </a:ext>
            </a:extLst>
          </p:cNvPr>
          <p:cNvSpPr>
            <a:spLocks noChangeArrowheads="1"/>
          </p:cNvSpPr>
          <p:nvPr/>
        </p:nvSpPr>
        <p:spPr bwMode="auto">
          <a:xfrm>
            <a:off x="711200" y="4392613"/>
            <a:ext cx="960438" cy="3683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Número</a:t>
            </a:r>
          </a:p>
        </p:txBody>
      </p:sp>
      <p:sp>
        <p:nvSpPr>
          <p:cNvPr id="34856" name="Oval 32">
            <a:extLst>
              <a:ext uri="{FF2B5EF4-FFF2-40B4-BE49-F238E27FC236}">
                <a16:creationId xmlns:a16="http://schemas.microsoft.com/office/drawing/2014/main" id="{FC484977-2C2A-4B25-92B2-1F9F0A6AC540}"/>
              </a:ext>
            </a:extLst>
          </p:cNvPr>
          <p:cNvSpPr>
            <a:spLocks noChangeArrowheads="1"/>
          </p:cNvSpPr>
          <p:nvPr/>
        </p:nvSpPr>
        <p:spPr bwMode="auto">
          <a:xfrm>
            <a:off x="1719263" y="4376738"/>
            <a:ext cx="769937" cy="3683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Piso</a:t>
            </a:r>
          </a:p>
        </p:txBody>
      </p:sp>
      <p:cxnSp>
        <p:nvCxnSpPr>
          <p:cNvPr id="34857" name="2 Conector recto">
            <a:extLst>
              <a:ext uri="{FF2B5EF4-FFF2-40B4-BE49-F238E27FC236}">
                <a16:creationId xmlns:a16="http://schemas.microsoft.com/office/drawing/2014/main" id="{2CB669C3-C7A4-467D-8EA1-D51D6C5DFA49}"/>
              </a:ext>
            </a:extLst>
          </p:cNvPr>
          <p:cNvCxnSpPr>
            <a:cxnSpLocks noChangeShapeType="1"/>
            <a:stCxn id="34854" idx="0"/>
            <a:endCxn id="34840" idx="4"/>
          </p:cNvCxnSpPr>
          <p:nvPr/>
        </p:nvCxnSpPr>
        <p:spPr bwMode="auto">
          <a:xfrm flipV="1">
            <a:off x="403225" y="4081463"/>
            <a:ext cx="449263" cy="1079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4858" name="4 Conector recto">
            <a:extLst>
              <a:ext uri="{FF2B5EF4-FFF2-40B4-BE49-F238E27FC236}">
                <a16:creationId xmlns:a16="http://schemas.microsoft.com/office/drawing/2014/main" id="{D0BC0D94-3314-4099-8FBA-5949640D8A03}"/>
              </a:ext>
            </a:extLst>
          </p:cNvPr>
          <p:cNvCxnSpPr>
            <a:cxnSpLocks noChangeShapeType="1"/>
            <a:stCxn id="34855" idx="0"/>
            <a:endCxn id="34840" idx="4"/>
          </p:cNvCxnSpPr>
          <p:nvPr/>
        </p:nvCxnSpPr>
        <p:spPr bwMode="auto">
          <a:xfrm flipH="1" flipV="1">
            <a:off x="852488" y="4081463"/>
            <a:ext cx="339725" cy="3111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4859" name="9 Conector recto">
            <a:extLst>
              <a:ext uri="{FF2B5EF4-FFF2-40B4-BE49-F238E27FC236}">
                <a16:creationId xmlns:a16="http://schemas.microsoft.com/office/drawing/2014/main" id="{E0840C78-23DD-4CBD-8742-85127F39ECAB}"/>
              </a:ext>
            </a:extLst>
          </p:cNvPr>
          <p:cNvCxnSpPr>
            <a:cxnSpLocks noChangeShapeType="1"/>
            <a:stCxn id="34856" idx="1"/>
            <a:endCxn id="34840" idx="4"/>
          </p:cNvCxnSpPr>
          <p:nvPr/>
        </p:nvCxnSpPr>
        <p:spPr bwMode="auto">
          <a:xfrm flipH="1" flipV="1">
            <a:off x="852488" y="4081463"/>
            <a:ext cx="979487" cy="3492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4860" name="Oval 26">
            <a:extLst>
              <a:ext uri="{FF2B5EF4-FFF2-40B4-BE49-F238E27FC236}">
                <a16:creationId xmlns:a16="http://schemas.microsoft.com/office/drawing/2014/main" id="{0C7427FF-5FC8-4E7D-B7F3-155C86654CF1}"/>
              </a:ext>
            </a:extLst>
          </p:cNvPr>
          <p:cNvSpPr>
            <a:spLocks noChangeArrowheads="1"/>
          </p:cNvSpPr>
          <p:nvPr/>
        </p:nvSpPr>
        <p:spPr bwMode="auto">
          <a:xfrm>
            <a:off x="4503738" y="2436813"/>
            <a:ext cx="1360487" cy="431800"/>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Total item</a:t>
            </a:r>
          </a:p>
        </p:txBody>
      </p:sp>
      <p:sp>
        <p:nvSpPr>
          <p:cNvPr id="34861" name="Line 28">
            <a:extLst>
              <a:ext uri="{FF2B5EF4-FFF2-40B4-BE49-F238E27FC236}">
                <a16:creationId xmlns:a16="http://schemas.microsoft.com/office/drawing/2014/main" id="{0EC72BCA-0C96-4D9B-89AA-CEAFE4269CBA}"/>
              </a:ext>
            </a:extLst>
          </p:cNvPr>
          <p:cNvSpPr>
            <a:spLocks noChangeShapeType="1"/>
          </p:cNvSpPr>
          <p:nvPr/>
        </p:nvSpPr>
        <p:spPr bwMode="auto">
          <a:xfrm>
            <a:off x="4300538" y="2581275"/>
            <a:ext cx="203200" cy="714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4862" name="10 Rectángulo">
            <a:extLst>
              <a:ext uri="{FF2B5EF4-FFF2-40B4-BE49-F238E27FC236}">
                <a16:creationId xmlns:a16="http://schemas.microsoft.com/office/drawing/2014/main" id="{249BA900-DD79-43E6-B2AC-A75DD5151BB9}"/>
              </a:ext>
            </a:extLst>
          </p:cNvPr>
          <p:cNvSpPr>
            <a:spLocks noChangeArrowheads="1"/>
          </p:cNvSpPr>
          <p:nvPr/>
        </p:nvSpPr>
        <p:spPr bwMode="auto">
          <a:xfrm>
            <a:off x="3892550" y="4171950"/>
            <a:ext cx="981075" cy="403225"/>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34863" name="11 CuadroTexto">
            <a:extLst>
              <a:ext uri="{FF2B5EF4-FFF2-40B4-BE49-F238E27FC236}">
                <a16:creationId xmlns:a16="http://schemas.microsoft.com/office/drawing/2014/main" id="{F6EEF225-8A25-404E-BCC0-65E5081B6772}"/>
              </a:ext>
            </a:extLst>
          </p:cNvPr>
          <p:cNvSpPr txBox="1">
            <a:spLocks noChangeArrowheads="1"/>
          </p:cNvSpPr>
          <p:nvPr/>
        </p:nvSpPr>
        <p:spPr bwMode="auto">
          <a:xfrm>
            <a:off x="4067175" y="4222750"/>
            <a:ext cx="6254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a:solidFill>
                  <a:schemeClr val="folHlink"/>
                </a:solidFill>
              </a:rPr>
              <a:t>ROPA</a:t>
            </a:r>
          </a:p>
        </p:txBody>
      </p:sp>
      <p:grpSp>
        <p:nvGrpSpPr>
          <p:cNvPr id="34864" name="Group 18">
            <a:extLst>
              <a:ext uri="{FF2B5EF4-FFF2-40B4-BE49-F238E27FC236}">
                <a16:creationId xmlns:a16="http://schemas.microsoft.com/office/drawing/2014/main" id="{195FEBE9-3F2A-4726-AC0E-CA8BBEFA29AF}"/>
              </a:ext>
            </a:extLst>
          </p:cNvPr>
          <p:cNvGrpSpPr>
            <a:grpSpLocks/>
          </p:cNvGrpSpPr>
          <p:nvPr/>
        </p:nvGrpSpPr>
        <p:grpSpPr bwMode="auto">
          <a:xfrm>
            <a:off x="4140200" y="3500438"/>
            <a:ext cx="398463" cy="671512"/>
            <a:chOff x="476" y="2251"/>
            <a:chExt cx="364" cy="544"/>
          </a:xfrm>
        </p:grpSpPr>
        <p:sp>
          <p:nvSpPr>
            <p:cNvPr id="34867" name="AutoShape 19">
              <a:extLst>
                <a:ext uri="{FF2B5EF4-FFF2-40B4-BE49-F238E27FC236}">
                  <a16:creationId xmlns:a16="http://schemas.microsoft.com/office/drawing/2014/main" id="{C5245675-7488-4436-BB6C-ABC67386117C}"/>
                </a:ext>
              </a:extLst>
            </p:cNvPr>
            <p:cNvSpPr>
              <a:spLocks noChangeArrowheads="1"/>
            </p:cNvSpPr>
            <p:nvPr/>
          </p:nvSpPr>
          <p:spPr bwMode="auto">
            <a:xfrm rot="10800000">
              <a:off x="476" y="2341"/>
              <a:ext cx="364" cy="352"/>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000">
                  <a:solidFill>
                    <a:schemeClr val="folHlink"/>
                  </a:solidFill>
                </a:rPr>
                <a:t>ES</a:t>
              </a:r>
            </a:p>
          </p:txBody>
        </p:sp>
        <p:sp>
          <p:nvSpPr>
            <p:cNvPr id="34868" name="Line 20">
              <a:extLst>
                <a:ext uri="{FF2B5EF4-FFF2-40B4-BE49-F238E27FC236}">
                  <a16:creationId xmlns:a16="http://schemas.microsoft.com/office/drawing/2014/main" id="{DC191F11-14A2-4A9C-BD50-210E4F5F2A37}"/>
                </a:ext>
              </a:extLst>
            </p:cNvPr>
            <p:cNvSpPr>
              <a:spLocks noChangeShapeType="1"/>
            </p:cNvSpPr>
            <p:nvPr/>
          </p:nvSpPr>
          <p:spPr bwMode="auto">
            <a:xfrm flipV="1">
              <a:off x="657"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4869" name="Line 21">
              <a:extLst>
                <a:ext uri="{FF2B5EF4-FFF2-40B4-BE49-F238E27FC236}">
                  <a16:creationId xmlns:a16="http://schemas.microsoft.com/office/drawing/2014/main" id="{E1B4BBEA-5A10-4AED-BA36-06E1F8D6FD3F}"/>
                </a:ext>
              </a:extLst>
            </p:cNvPr>
            <p:cNvSpPr>
              <a:spLocks noChangeShapeType="1"/>
            </p:cNvSpPr>
            <p:nvPr/>
          </p:nvSpPr>
          <p:spPr bwMode="auto">
            <a:xfrm flipV="1">
              <a:off x="657" y="2705"/>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4865" name="Oval 32">
            <a:extLst>
              <a:ext uri="{FF2B5EF4-FFF2-40B4-BE49-F238E27FC236}">
                <a16:creationId xmlns:a16="http://schemas.microsoft.com/office/drawing/2014/main" id="{6723196D-306F-4CA6-9919-113342D0C8CA}"/>
              </a:ext>
            </a:extLst>
          </p:cNvPr>
          <p:cNvSpPr>
            <a:spLocks noChangeArrowheads="1"/>
          </p:cNvSpPr>
          <p:nvPr/>
        </p:nvSpPr>
        <p:spPr bwMode="auto">
          <a:xfrm>
            <a:off x="4578350" y="4681538"/>
            <a:ext cx="769938" cy="368300"/>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Talle</a:t>
            </a:r>
          </a:p>
        </p:txBody>
      </p:sp>
      <p:cxnSp>
        <p:nvCxnSpPr>
          <p:cNvPr id="34866" name="14 Conector recto">
            <a:extLst>
              <a:ext uri="{FF2B5EF4-FFF2-40B4-BE49-F238E27FC236}">
                <a16:creationId xmlns:a16="http://schemas.microsoft.com/office/drawing/2014/main" id="{8B92A006-A46B-488D-8FF6-A2C9D81F08CD}"/>
              </a:ext>
            </a:extLst>
          </p:cNvPr>
          <p:cNvCxnSpPr>
            <a:cxnSpLocks noChangeShapeType="1"/>
            <a:stCxn id="34865" idx="1"/>
            <a:endCxn id="34862" idx="2"/>
          </p:cNvCxnSpPr>
          <p:nvPr/>
        </p:nvCxnSpPr>
        <p:spPr bwMode="auto">
          <a:xfrm flipH="1" flipV="1">
            <a:off x="4383088" y="4575175"/>
            <a:ext cx="307975" cy="16033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8041">
                                            <p:bg/>
                                          </p:spTgt>
                                        </p:tgtEl>
                                        <p:attrNameLst>
                                          <p:attrName>style.visibility</p:attrName>
                                        </p:attrNameLst>
                                      </p:cBhvr>
                                      <p:to>
                                        <p:strVal val="visible"/>
                                      </p:to>
                                    </p:set>
                                    <p:animEffect transition="in" filter="circle(in)">
                                      <p:cBhvr>
                                        <p:cTn id="7" dur="2000"/>
                                        <p:tgtEl>
                                          <p:spTgt spid="128041">
                                            <p:bg/>
                                          </p:spTgt>
                                        </p:tgtEl>
                                      </p:cBhvr>
                                    </p:animEffect>
                                  </p:childTnLst>
                                </p:cTn>
                              </p:par>
                            </p:childTnLst>
                          </p:cTn>
                        </p:par>
                        <p:par>
                          <p:cTn id="8" fill="hold" nodeType="afterGroup">
                            <p:stCondLst>
                              <p:cond delay="2000"/>
                            </p:stCondLst>
                            <p:childTnLst>
                              <p:par>
                                <p:cTn id="9" presetID="3" presetClass="entr" presetSubtype="10" fill="hold" nodeType="afterEffect">
                                  <p:stCondLst>
                                    <p:cond delay="0"/>
                                  </p:stCondLst>
                                  <p:childTnLst>
                                    <p:set>
                                      <p:cBhvr>
                                        <p:cTn id="10" dur="1" fill="hold">
                                          <p:stCondLst>
                                            <p:cond delay="0"/>
                                          </p:stCondLst>
                                        </p:cTn>
                                        <p:tgtEl>
                                          <p:spTgt spid="128041">
                                            <p:txEl>
                                              <p:pRg st="0" end="0"/>
                                            </p:txEl>
                                          </p:spTgt>
                                        </p:tgtEl>
                                        <p:attrNameLst>
                                          <p:attrName>style.visibility</p:attrName>
                                        </p:attrNameLst>
                                      </p:cBhvr>
                                      <p:to>
                                        <p:strVal val="visible"/>
                                      </p:to>
                                    </p:set>
                                    <p:animEffect transition="in" filter="blinds(horizontal)">
                                      <p:cBhvr>
                                        <p:cTn id="11" dur="500"/>
                                        <p:tgtEl>
                                          <p:spTgt spid="128041">
                                            <p:txEl>
                                              <p:pRg st="0" end="0"/>
                                            </p:txEl>
                                          </p:spTgt>
                                        </p:tgtEl>
                                      </p:cBhvr>
                                    </p:animEffect>
                                  </p:childTnLst>
                                </p:cTn>
                              </p:par>
                            </p:childTnLst>
                          </p:cTn>
                        </p:par>
                        <p:par>
                          <p:cTn id="12" fill="hold" nodeType="afterGroup">
                            <p:stCondLst>
                              <p:cond delay="2500"/>
                            </p:stCondLst>
                            <p:childTnLst>
                              <p:par>
                                <p:cTn id="13" presetID="6" presetClass="emph" presetSubtype="0" fill="hold" nodeType="afterEffect">
                                  <p:stCondLst>
                                    <p:cond delay="0"/>
                                  </p:stCondLst>
                                  <p:childTnLst>
                                    <p:animScale>
                                      <p:cBhvr>
                                        <p:cTn id="14" dur="2000" fill="hold"/>
                                        <p:tgtEl>
                                          <p:spTgt spid="9"/>
                                        </p:tgtEl>
                                      </p:cBhvr>
                                      <p:by x="150000" y="150000"/>
                                    </p:animScale>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128041">
                                            <p:txEl>
                                              <p:pRg st="1" end="1"/>
                                            </p:txEl>
                                          </p:spTgt>
                                        </p:tgtEl>
                                        <p:attrNameLst>
                                          <p:attrName>style.visibility</p:attrName>
                                        </p:attrNameLst>
                                      </p:cBhvr>
                                      <p:to>
                                        <p:strVal val="visible"/>
                                      </p:to>
                                    </p:set>
                                    <p:animEffect transition="in" filter="blinds(horizontal)">
                                      <p:cBhvr>
                                        <p:cTn id="19" dur="500"/>
                                        <p:tgtEl>
                                          <p:spTgt spid="128041">
                                            <p:txEl>
                                              <p:pRg st="1" end="1"/>
                                            </p:txEl>
                                          </p:spTgt>
                                        </p:tgtEl>
                                      </p:cBhvr>
                                    </p:animEffect>
                                  </p:childTnLst>
                                </p:cTn>
                              </p:par>
                            </p:childTnLst>
                          </p:cTn>
                        </p:par>
                        <p:par>
                          <p:cTn id="20" fill="hold" nodeType="afterGroup">
                            <p:stCondLst>
                              <p:cond delay="500"/>
                            </p:stCondLst>
                            <p:childTnLst>
                              <p:par>
                                <p:cTn id="21" presetID="35" presetClass="emph" presetSubtype="0" fill="hold" grpId="0" nodeType="afterEffect">
                                  <p:stCondLst>
                                    <p:cond delay="0"/>
                                  </p:stCondLst>
                                  <p:childTnLst>
                                    <p:anim calcmode="discrete" valueType="str">
                                      <p:cBhvr>
                                        <p:cTn id="22" dur="2000" fill="hold"/>
                                        <p:tgtEl>
                                          <p:spTgt spid="128004"/>
                                        </p:tgtEl>
                                        <p:attrNameLst>
                                          <p:attrName>style.visibility</p:attrName>
                                        </p:attrNameLst>
                                      </p:cBhvr>
                                      <p:tavLst>
                                        <p:tav tm="0">
                                          <p:val>
                                            <p:strVal val="hidden"/>
                                          </p:val>
                                        </p:tav>
                                        <p:tav tm="50000">
                                          <p:val>
                                            <p:strVal val="visible"/>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28041">
                                            <p:txEl>
                                              <p:pRg st="2" end="2"/>
                                            </p:txEl>
                                          </p:spTgt>
                                        </p:tgtEl>
                                        <p:attrNameLst>
                                          <p:attrName>style.visibility</p:attrName>
                                        </p:attrNameLst>
                                      </p:cBhvr>
                                      <p:to>
                                        <p:strVal val="visible"/>
                                      </p:to>
                                    </p:set>
                                    <p:animEffect transition="in" filter="blinds(horizontal)">
                                      <p:cBhvr>
                                        <p:cTn id="27" dur="500"/>
                                        <p:tgtEl>
                                          <p:spTgt spid="128041">
                                            <p:txEl>
                                              <p:pRg st="2" end="2"/>
                                            </p:txEl>
                                          </p:spTgt>
                                        </p:tgtEl>
                                      </p:cBhvr>
                                    </p:animEffect>
                                  </p:childTnLst>
                                </p:cTn>
                              </p:par>
                            </p:childTnLst>
                          </p:cTn>
                        </p:par>
                        <p:par>
                          <p:cTn id="28" fill="hold" nodeType="afterGroup">
                            <p:stCondLst>
                              <p:cond delay="500"/>
                            </p:stCondLst>
                            <p:childTnLst>
                              <p:par>
                                <p:cTn id="29" presetID="35" presetClass="emph" presetSubtype="0" fill="hold" grpId="0" nodeType="afterEffect">
                                  <p:stCondLst>
                                    <p:cond delay="0"/>
                                  </p:stCondLst>
                                  <p:childTnLst>
                                    <p:anim calcmode="discrete" valueType="str">
                                      <p:cBhvr>
                                        <p:cTn id="30" dur="2000" fill="hold"/>
                                        <p:tgtEl>
                                          <p:spTgt spid="128040"/>
                                        </p:tgtEl>
                                        <p:attrNameLst>
                                          <p:attrName>style.visibility</p:attrName>
                                        </p:attrNameLst>
                                      </p:cBhvr>
                                      <p:tavLst>
                                        <p:tav tm="0">
                                          <p:val>
                                            <p:strVal val="hidden"/>
                                          </p:val>
                                        </p:tav>
                                        <p:tav tm="50000">
                                          <p:val>
                                            <p:strVal val="visible"/>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128041">
                                            <p:txEl>
                                              <p:pRg st="3" end="3"/>
                                            </p:txEl>
                                          </p:spTgt>
                                        </p:tgtEl>
                                        <p:attrNameLst>
                                          <p:attrName>style.visibility</p:attrName>
                                        </p:attrNameLst>
                                      </p:cBhvr>
                                      <p:to>
                                        <p:strVal val="visible"/>
                                      </p:to>
                                    </p:set>
                                    <p:animEffect transition="in" filter="blinds(horizontal)">
                                      <p:cBhvr>
                                        <p:cTn id="35" dur="500"/>
                                        <p:tgtEl>
                                          <p:spTgt spid="128041">
                                            <p:txEl>
                                              <p:pRg st="3" end="3"/>
                                            </p:txEl>
                                          </p:spTgt>
                                        </p:tgtEl>
                                      </p:cBhvr>
                                    </p:animEffect>
                                  </p:childTnLst>
                                </p:cTn>
                              </p:par>
                            </p:childTnLst>
                          </p:cTn>
                        </p:par>
                        <p:par>
                          <p:cTn id="36" fill="hold" nodeType="afterGroup">
                            <p:stCondLst>
                              <p:cond delay="500"/>
                            </p:stCondLst>
                            <p:childTnLst>
                              <p:par>
                                <p:cTn id="37" presetID="26" presetClass="emph" presetSubtype="0" fill="hold" nodeType="afterEffect">
                                  <p:stCondLst>
                                    <p:cond delay="0"/>
                                  </p:stCondLst>
                                  <p:childTnLst>
                                    <p:animEffect transition="out" filter="fade">
                                      <p:cBhvr>
                                        <p:cTn id="38" dur="2000" tmFilter="0, 0; .2, .5; .8, .5; 1, 0"/>
                                        <p:tgtEl>
                                          <p:spTgt spid="7"/>
                                        </p:tgtEl>
                                      </p:cBhvr>
                                    </p:animEffect>
                                    <p:animScale>
                                      <p:cBhvr>
                                        <p:cTn id="39" dur="1000" autoRev="1" fill="hold"/>
                                        <p:tgtEl>
                                          <p:spTgt spid="7"/>
                                        </p:tgtEl>
                                      </p:cBhvr>
                                      <p:by x="105000" y="105000"/>
                                    </p:animScale>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128002"/>
                                        </p:tgtEl>
                                        <p:attrNameLst>
                                          <p:attrName>style.visibility</p:attrName>
                                        </p:attrNameLst>
                                      </p:cBhvr>
                                      <p:to>
                                        <p:strVal val="visible"/>
                                      </p:to>
                                    </p:set>
                                    <p:animEffect transition="in" filter="checkerboard(across)">
                                      <p:cBhvr>
                                        <p:cTn id="44" dur="500"/>
                                        <p:tgtEl>
                                          <p:spTgt spid="128002"/>
                                        </p:tgtEl>
                                      </p:cBhvr>
                                    </p:animEffect>
                                  </p:childTnLst>
                                </p:cTn>
                              </p:par>
                            </p:childTnLst>
                          </p:cTn>
                        </p:par>
                        <p:par>
                          <p:cTn id="45" fill="hold" nodeType="afterGroup">
                            <p:stCondLst>
                              <p:cond delay="500"/>
                            </p:stCondLst>
                            <p:childTnLst>
                              <p:par>
                                <p:cTn id="46" presetID="3" presetClass="entr" presetSubtype="10" fill="hold" nodeType="after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blinds(horizontal)">
                                      <p:cBhvr>
                                        <p:cTn id="48" dur="500"/>
                                        <p:tgtEl>
                                          <p:spTgt spid="6"/>
                                        </p:tgtEl>
                                      </p:cBhvr>
                                    </p:animEffect>
                                  </p:childTnLst>
                                </p:cTn>
                              </p:par>
                            </p:childTnLst>
                          </p:cTn>
                        </p:par>
                        <p:par>
                          <p:cTn id="49" fill="hold" nodeType="afterGroup">
                            <p:stCondLst>
                              <p:cond delay="1000"/>
                            </p:stCondLst>
                            <p:childTnLst>
                              <p:par>
                                <p:cTn id="50" presetID="2" presetClass="entr" presetSubtype="4" fill="hold" grpId="0" nodeType="afterEffect">
                                  <p:stCondLst>
                                    <p:cond delay="0"/>
                                  </p:stCondLst>
                                  <p:childTnLst>
                                    <p:set>
                                      <p:cBhvr>
                                        <p:cTn id="51" dur="1" fill="hold">
                                          <p:stCondLst>
                                            <p:cond delay="0"/>
                                          </p:stCondLst>
                                        </p:cTn>
                                        <p:tgtEl>
                                          <p:spTgt spid="128045"/>
                                        </p:tgtEl>
                                        <p:attrNameLst>
                                          <p:attrName>style.visibility</p:attrName>
                                        </p:attrNameLst>
                                      </p:cBhvr>
                                      <p:to>
                                        <p:strVal val="visible"/>
                                      </p:to>
                                    </p:set>
                                    <p:anim calcmode="lin" valueType="num">
                                      <p:cBhvr additive="base">
                                        <p:cTn id="52" dur="500" fill="hold"/>
                                        <p:tgtEl>
                                          <p:spTgt spid="128045"/>
                                        </p:tgtEl>
                                        <p:attrNameLst>
                                          <p:attrName>ppt_x</p:attrName>
                                        </p:attrNameLst>
                                      </p:cBhvr>
                                      <p:tavLst>
                                        <p:tav tm="0">
                                          <p:val>
                                            <p:strVal val="#ppt_x"/>
                                          </p:val>
                                        </p:tav>
                                        <p:tav tm="100000">
                                          <p:val>
                                            <p:strVal val="#ppt_x"/>
                                          </p:val>
                                        </p:tav>
                                      </p:tavLst>
                                    </p:anim>
                                    <p:anim calcmode="lin" valueType="num">
                                      <p:cBhvr additive="base">
                                        <p:cTn id="53" dur="500" fill="hold"/>
                                        <p:tgtEl>
                                          <p:spTgt spid="12804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804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2" grpId="0" animBg="1"/>
      <p:bldP spid="128004" grpId="0" animBg="1"/>
      <p:bldP spid="128040" grpId="0" animBg="1"/>
      <p:bldP spid="128041" grpId="0" build="allAtOnce" animBg="1"/>
      <p:bldP spid="1280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9B77707D-49EF-4F58-8B94-553B85C72E2D}"/>
              </a:ext>
            </a:extLst>
          </p:cNvPr>
          <p:cNvSpPr>
            <a:spLocks noChangeArrowheads="1"/>
          </p:cNvSpPr>
          <p:nvPr/>
        </p:nvSpPr>
        <p:spPr bwMode="auto">
          <a:xfrm>
            <a:off x="0" y="4797425"/>
            <a:ext cx="9144000" cy="2060575"/>
          </a:xfrm>
          <a:prstGeom prst="rect">
            <a:avLst/>
          </a:prstGeom>
          <a:solidFill>
            <a:srgbClr val="EFF3D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6867" name="Rectangle 3">
            <a:extLst>
              <a:ext uri="{FF2B5EF4-FFF2-40B4-BE49-F238E27FC236}">
                <a16:creationId xmlns:a16="http://schemas.microsoft.com/office/drawing/2014/main" id="{FF2FDA49-3F1D-46AC-B566-499DE39895E1}"/>
              </a:ext>
            </a:extLst>
          </p:cNvPr>
          <p:cNvSpPr>
            <a:spLocks noGrp="1" noChangeArrowheads="1"/>
          </p:cNvSpPr>
          <p:nvPr>
            <p:ph type="title" idx="4294967295"/>
          </p:nvPr>
        </p:nvSpPr>
        <p:spPr>
          <a:xfrm>
            <a:off x="0" y="304800"/>
            <a:ext cx="8943975" cy="1143000"/>
          </a:xfrm>
        </p:spPr>
        <p:txBody>
          <a:bodyPr/>
          <a:lstStyle/>
          <a:p>
            <a:pPr algn="ctr" eaLnBrk="1" hangingPunct="1"/>
            <a:r>
              <a:rPr lang="es-ES" altLang="es-ES">
                <a:solidFill>
                  <a:schemeClr val="folHlink"/>
                </a:solidFill>
              </a:rPr>
              <a:t>    M ER</a:t>
            </a:r>
            <a:endParaRPr lang="es-AR" altLang="es-ES">
              <a:solidFill>
                <a:schemeClr val="folHlink"/>
              </a:solidFill>
            </a:endParaRPr>
          </a:p>
        </p:txBody>
      </p:sp>
      <p:sp>
        <p:nvSpPr>
          <p:cNvPr id="36868" name="Rectangle 41">
            <a:extLst>
              <a:ext uri="{FF2B5EF4-FFF2-40B4-BE49-F238E27FC236}">
                <a16:creationId xmlns:a16="http://schemas.microsoft.com/office/drawing/2014/main" id="{8ABFD95E-08C2-43B5-BCBB-4987033C3789}"/>
              </a:ext>
            </a:extLst>
          </p:cNvPr>
          <p:cNvSpPr>
            <a:spLocks noChangeArrowheads="1"/>
          </p:cNvSpPr>
          <p:nvPr/>
        </p:nvSpPr>
        <p:spPr bwMode="auto">
          <a:xfrm>
            <a:off x="6121400" y="1557338"/>
            <a:ext cx="2914650" cy="1187450"/>
          </a:xfrm>
          <a:prstGeom prst="rect">
            <a:avLst/>
          </a:prstGeom>
          <a:solidFill>
            <a:srgbClr val="EFF3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200">
                <a:solidFill>
                  <a:schemeClr val="tx2"/>
                </a:solidFill>
              </a:rPr>
              <a:t>1. Entidades débiles no llevan clave primaria: llevan discriminante.</a:t>
            </a:r>
          </a:p>
          <a:p>
            <a:pPr>
              <a:spcBef>
                <a:spcPct val="0"/>
              </a:spcBef>
              <a:buClrTx/>
              <a:buSzTx/>
              <a:buFontTx/>
              <a:buNone/>
            </a:pPr>
            <a:r>
              <a:rPr lang="es-ES" altLang="es-ES" sz="1200">
                <a:solidFill>
                  <a:schemeClr val="tx2"/>
                </a:solidFill>
              </a:rPr>
              <a:t>2. No se formalizan las claves foráneas.</a:t>
            </a:r>
          </a:p>
          <a:p>
            <a:pPr>
              <a:spcBef>
                <a:spcPct val="0"/>
              </a:spcBef>
              <a:buClrTx/>
              <a:buSzTx/>
              <a:buFontTx/>
              <a:buNone/>
            </a:pPr>
            <a:r>
              <a:rPr lang="es-ES" altLang="es-ES" sz="1200">
                <a:solidFill>
                  <a:schemeClr val="tx2"/>
                </a:solidFill>
              </a:rPr>
              <a:t>3. Existen relaciones M-M.</a:t>
            </a:r>
          </a:p>
          <a:p>
            <a:pPr>
              <a:spcBef>
                <a:spcPct val="0"/>
              </a:spcBef>
              <a:buClrTx/>
              <a:buSzTx/>
              <a:buFontTx/>
              <a:buNone/>
            </a:pPr>
            <a:r>
              <a:rPr lang="es-ES" altLang="es-ES" sz="1200">
                <a:solidFill>
                  <a:schemeClr val="tx2"/>
                </a:solidFill>
              </a:rPr>
              <a:t>4. Los grupos repetitivos: con atributos multivaluados o entidades débiles.</a:t>
            </a:r>
            <a:endParaRPr lang="es-ES" altLang="es-ES" sz="1200"/>
          </a:p>
        </p:txBody>
      </p:sp>
      <p:grpSp>
        <p:nvGrpSpPr>
          <p:cNvPr id="36869" name="Group 42">
            <a:extLst>
              <a:ext uri="{FF2B5EF4-FFF2-40B4-BE49-F238E27FC236}">
                <a16:creationId xmlns:a16="http://schemas.microsoft.com/office/drawing/2014/main" id="{191D75E2-1803-41AB-84C8-7C6628BF024D}"/>
              </a:ext>
            </a:extLst>
          </p:cNvPr>
          <p:cNvGrpSpPr>
            <a:grpSpLocks/>
          </p:cNvGrpSpPr>
          <p:nvPr/>
        </p:nvGrpSpPr>
        <p:grpSpPr bwMode="auto">
          <a:xfrm>
            <a:off x="73025" y="4792663"/>
            <a:ext cx="1763713" cy="1876425"/>
            <a:chOff x="46" y="2976"/>
            <a:chExt cx="1111" cy="1182"/>
          </a:xfrm>
        </p:grpSpPr>
        <p:sp>
          <p:nvSpPr>
            <p:cNvPr id="36948" name="Rectangle 43">
              <a:extLst>
                <a:ext uri="{FF2B5EF4-FFF2-40B4-BE49-F238E27FC236}">
                  <a16:creationId xmlns:a16="http://schemas.microsoft.com/office/drawing/2014/main" id="{D1430F7C-B2C1-4C1A-8A27-548DA31A2B86}"/>
                </a:ext>
              </a:extLst>
            </p:cNvPr>
            <p:cNvSpPr>
              <a:spLocks noChangeArrowheads="1"/>
            </p:cNvSpPr>
            <p:nvPr/>
          </p:nvSpPr>
          <p:spPr bwMode="auto">
            <a:xfrm>
              <a:off x="46" y="3022"/>
              <a:ext cx="1020"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600">
                  <a:solidFill>
                    <a:srgbClr val="990033"/>
                  </a:solidFill>
                </a:rPr>
                <a:t>Reglas de transformación:</a:t>
              </a:r>
            </a:p>
            <a:p>
              <a:pPr eaLnBrk="1" hangingPunct="1">
                <a:spcBef>
                  <a:spcPct val="0"/>
                </a:spcBef>
                <a:buClrTx/>
                <a:buSzTx/>
                <a:buFontTx/>
                <a:buNone/>
              </a:pPr>
              <a:r>
                <a:rPr lang="es-ES" altLang="es-ES" sz="1600">
                  <a:solidFill>
                    <a:srgbClr val="990033"/>
                  </a:solidFill>
                </a:rPr>
                <a:t>MER -&gt; entidades en el Esquema de la base de datos (Tablas).</a:t>
              </a:r>
            </a:p>
          </p:txBody>
        </p:sp>
        <p:sp>
          <p:nvSpPr>
            <p:cNvPr id="36949" name="AutoShape 44">
              <a:extLst>
                <a:ext uri="{FF2B5EF4-FFF2-40B4-BE49-F238E27FC236}">
                  <a16:creationId xmlns:a16="http://schemas.microsoft.com/office/drawing/2014/main" id="{5381800F-8B0A-479A-8A1A-A930AFE91E24}"/>
                </a:ext>
              </a:extLst>
            </p:cNvPr>
            <p:cNvSpPr>
              <a:spLocks/>
            </p:cNvSpPr>
            <p:nvPr/>
          </p:nvSpPr>
          <p:spPr bwMode="auto">
            <a:xfrm>
              <a:off x="930" y="2976"/>
              <a:ext cx="227" cy="998"/>
            </a:xfrm>
            <a:prstGeom prst="leftBrace">
              <a:avLst>
                <a:gd name="adj1" fmla="val 36637"/>
                <a:gd name="adj2" fmla="val 50000"/>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128068" name="Rectangle 68">
            <a:extLst>
              <a:ext uri="{FF2B5EF4-FFF2-40B4-BE49-F238E27FC236}">
                <a16:creationId xmlns:a16="http://schemas.microsoft.com/office/drawing/2014/main" id="{571C9E28-90A5-4037-B8D8-9A8AAEA23501}"/>
              </a:ext>
            </a:extLst>
          </p:cNvPr>
          <p:cNvSpPr>
            <a:spLocks noChangeArrowheads="1"/>
          </p:cNvSpPr>
          <p:nvPr/>
        </p:nvSpPr>
        <p:spPr bwMode="auto">
          <a:xfrm>
            <a:off x="1835150" y="5013325"/>
            <a:ext cx="7272338"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AutoNum type="arabicPeriod" startAt="3"/>
            </a:pPr>
            <a:r>
              <a:rPr lang="es-ES" altLang="es-ES" sz="1800">
                <a:solidFill>
                  <a:srgbClr val="990033"/>
                </a:solidFill>
              </a:rPr>
              <a:t>Incluir claves foráneas en las entidades, del lado del muchos de las relaciones. </a:t>
            </a:r>
          </a:p>
          <a:p>
            <a:pPr eaLnBrk="1" hangingPunct="1">
              <a:spcBef>
                <a:spcPct val="0"/>
              </a:spcBef>
              <a:buClrTx/>
              <a:buSzTx/>
              <a:buFontTx/>
              <a:buAutoNum type="arabicPeriod" startAt="3"/>
            </a:pPr>
            <a:r>
              <a:rPr lang="es-ES" altLang="es-ES" sz="1800">
                <a:solidFill>
                  <a:srgbClr val="990033"/>
                </a:solidFill>
              </a:rPr>
              <a:t>Incluir la clave foránea en las relaciones de uno a uno (del lado en que es sub tipo - participación opcional-), en donde será además clave primaria.</a:t>
            </a:r>
          </a:p>
        </p:txBody>
      </p:sp>
      <p:grpSp>
        <p:nvGrpSpPr>
          <p:cNvPr id="36871" name="3 Grupo">
            <a:extLst>
              <a:ext uri="{FF2B5EF4-FFF2-40B4-BE49-F238E27FC236}">
                <a16:creationId xmlns:a16="http://schemas.microsoft.com/office/drawing/2014/main" id="{735A8BA6-7354-42FA-AB9C-BDD5DBBDFF33}"/>
              </a:ext>
            </a:extLst>
          </p:cNvPr>
          <p:cNvGrpSpPr>
            <a:grpSpLocks/>
          </p:cNvGrpSpPr>
          <p:nvPr/>
        </p:nvGrpSpPr>
        <p:grpSpPr bwMode="auto">
          <a:xfrm>
            <a:off x="-6350" y="1514475"/>
            <a:ext cx="9042400" cy="3535363"/>
            <a:chOff x="-6215" y="1514475"/>
            <a:chExt cx="9042265" cy="3535149"/>
          </a:xfrm>
        </p:grpSpPr>
        <p:sp>
          <p:nvSpPr>
            <p:cNvPr id="36872" name="Rectangle 4">
              <a:extLst>
                <a:ext uri="{FF2B5EF4-FFF2-40B4-BE49-F238E27FC236}">
                  <a16:creationId xmlns:a16="http://schemas.microsoft.com/office/drawing/2014/main" id="{2CB22B1C-C078-4E37-9D9A-E2063D1BC8FB}"/>
                </a:ext>
              </a:extLst>
            </p:cNvPr>
            <p:cNvSpPr>
              <a:spLocks noChangeArrowheads="1"/>
            </p:cNvSpPr>
            <p:nvPr/>
          </p:nvSpPr>
          <p:spPr bwMode="auto">
            <a:xfrm>
              <a:off x="2087563" y="2276872"/>
              <a:ext cx="971550" cy="5588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VENTA</a:t>
              </a:r>
            </a:p>
            <a:p>
              <a:pPr algn="ctr" eaLnBrk="1" hangingPunct="1">
                <a:spcBef>
                  <a:spcPct val="0"/>
                </a:spcBef>
                <a:buClrTx/>
                <a:buSzTx/>
                <a:buFontTx/>
                <a:buNone/>
              </a:pPr>
              <a:endParaRPr lang="en-US" altLang="es-ES" sz="1200">
                <a:solidFill>
                  <a:schemeClr val="folHlink"/>
                </a:solidFill>
              </a:endParaRPr>
            </a:p>
          </p:txBody>
        </p:sp>
        <p:sp>
          <p:nvSpPr>
            <p:cNvPr id="36873" name="Rectangle 5">
              <a:extLst>
                <a:ext uri="{FF2B5EF4-FFF2-40B4-BE49-F238E27FC236}">
                  <a16:creationId xmlns:a16="http://schemas.microsoft.com/office/drawing/2014/main" id="{8CFF1FB1-143C-40DD-B632-507DF00BC08A}"/>
                </a:ext>
              </a:extLst>
            </p:cNvPr>
            <p:cNvSpPr>
              <a:spLocks noChangeArrowheads="1"/>
            </p:cNvSpPr>
            <p:nvPr/>
          </p:nvSpPr>
          <p:spPr bwMode="auto">
            <a:xfrm>
              <a:off x="3618135" y="2985716"/>
              <a:ext cx="1474787"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PRODUCTO </a:t>
              </a:r>
            </a:p>
            <a:p>
              <a:pPr algn="ctr" eaLnBrk="1" hangingPunct="1">
                <a:spcBef>
                  <a:spcPct val="0"/>
                </a:spcBef>
                <a:buClrTx/>
                <a:buSzTx/>
                <a:buFontTx/>
                <a:buNone/>
              </a:pPr>
              <a:endParaRPr lang="en-US" altLang="es-ES" sz="1000">
                <a:solidFill>
                  <a:schemeClr val="folHlink"/>
                </a:solidFill>
              </a:endParaRPr>
            </a:p>
          </p:txBody>
        </p:sp>
        <p:sp>
          <p:nvSpPr>
            <p:cNvPr id="36874" name="Rectangle 6">
              <a:extLst>
                <a:ext uri="{FF2B5EF4-FFF2-40B4-BE49-F238E27FC236}">
                  <a16:creationId xmlns:a16="http://schemas.microsoft.com/office/drawing/2014/main" id="{CAC9DDEA-3EAC-4D3A-8E95-824441B1C225}"/>
                </a:ext>
              </a:extLst>
            </p:cNvPr>
            <p:cNvSpPr>
              <a:spLocks noChangeArrowheads="1"/>
            </p:cNvSpPr>
            <p:nvPr/>
          </p:nvSpPr>
          <p:spPr bwMode="auto">
            <a:xfrm>
              <a:off x="2051050" y="3750811"/>
              <a:ext cx="10795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CLIENTE </a:t>
              </a:r>
            </a:p>
            <a:p>
              <a:pPr algn="ctr" eaLnBrk="1" hangingPunct="1">
                <a:spcBef>
                  <a:spcPct val="0"/>
                </a:spcBef>
                <a:buClrTx/>
                <a:buSzTx/>
                <a:buFontTx/>
                <a:buNone/>
              </a:pPr>
              <a:endParaRPr lang="en-US" altLang="es-ES" sz="1000">
                <a:solidFill>
                  <a:schemeClr val="folHlink"/>
                </a:solidFill>
              </a:endParaRPr>
            </a:p>
          </p:txBody>
        </p:sp>
        <p:sp>
          <p:nvSpPr>
            <p:cNvPr id="36875" name="Line 7">
              <a:extLst>
                <a:ext uri="{FF2B5EF4-FFF2-40B4-BE49-F238E27FC236}">
                  <a16:creationId xmlns:a16="http://schemas.microsoft.com/office/drawing/2014/main" id="{15D8C6ED-11A8-4E2A-8E87-075D7C2D075E}"/>
                </a:ext>
              </a:extLst>
            </p:cNvPr>
            <p:cNvSpPr>
              <a:spLocks noChangeShapeType="1"/>
            </p:cNvSpPr>
            <p:nvPr/>
          </p:nvSpPr>
          <p:spPr bwMode="auto">
            <a:xfrm>
              <a:off x="2483768" y="2852936"/>
              <a:ext cx="0" cy="895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76" name="Freeform 8">
              <a:extLst>
                <a:ext uri="{FF2B5EF4-FFF2-40B4-BE49-F238E27FC236}">
                  <a16:creationId xmlns:a16="http://schemas.microsoft.com/office/drawing/2014/main" id="{B90E911F-0D7C-41DF-A65B-B21E641A63EB}"/>
                </a:ext>
              </a:extLst>
            </p:cNvPr>
            <p:cNvSpPr>
              <a:spLocks/>
            </p:cNvSpPr>
            <p:nvPr/>
          </p:nvSpPr>
          <p:spPr bwMode="auto">
            <a:xfrm>
              <a:off x="3059832" y="2581101"/>
              <a:ext cx="1081087" cy="504825"/>
            </a:xfrm>
            <a:custGeom>
              <a:avLst/>
              <a:gdLst>
                <a:gd name="T0" fmla="*/ 0 w 685"/>
                <a:gd name="T1" fmla="*/ 0 h 318"/>
                <a:gd name="T2" fmla="*/ 2147483646 w 685"/>
                <a:gd name="T3" fmla="*/ 2147483646 h 318"/>
                <a:gd name="T4" fmla="*/ 2147483646 w 685"/>
                <a:gd name="T5" fmla="*/ 2147483646 h 318"/>
                <a:gd name="T6" fmla="*/ 0 60000 65536"/>
                <a:gd name="T7" fmla="*/ 0 60000 65536"/>
                <a:gd name="T8" fmla="*/ 0 60000 65536"/>
                <a:gd name="T9" fmla="*/ 0 w 685"/>
                <a:gd name="T10" fmla="*/ 0 h 318"/>
                <a:gd name="T11" fmla="*/ 685 w 685"/>
                <a:gd name="T12" fmla="*/ 318 h 318"/>
              </a:gdLst>
              <a:ahLst/>
              <a:cxnLst>
                <a:cxn ang="T6">
                  <a:pos x="T0" y="T1"/>
                </a:cxn>
                <a:cxn ang="T7">
                  <a:pos x="T2" y="T3"/>
                </a:cxn>
                <a:cxn ang="T8">
                  <a:pos x="T4" y="T5"/>
                </a:cxn>
              </a:cxnLst>
              <a:rect l="T9" t="T10" r="T11" b="T12"/>
              <a:pathLst>
                <a:path w="685" h="318">
                  <a:moveTo>
                    <a:pt x="0" y="0"/>
                  </a:moveTo>
                  <a:lnTo>
                    <a:pt x="685" y="2"/>
                  </a:lnTo>
                  <a:lnTo>
                    <a:pt x="681" y="31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s-ES"/>
            </a:p>
          </p:txBody>
        </p:sp>
        <p:grpSp>
          <p:nvGrpSpPr>
            <p:cNvPr id="36877" name="Group 9">
              <a:extLst>
                <a:ext uri="{FF2B5EF4-FFF2-40B4-BE49-F238E27FC236}">
                  <a16:creationId xmlns:a16="http://schemas.microsoft.com/office/drawing/2014/main" id="{E0109C8F-CDD4-41F4-84C4-FBF68AB1EB96}"/>
                </a:ext>
              </a:extLst>
            </p:cNvPr>
            <p:cNvGrpSpPr>
              <a:grpSpLocks/>
            </p:cNvGrpSpPr>
            <p:nvPr/>
          </p:nvGrpSpPr>
          <p:grpSpPr bwMode="auto">
            <a:xfrm>
              <a:off x="4013188" y="2780928"/>
              <a:ext cx="304800" cy="312738"/>
              <a:chOff x="2520" y="1597"/>
              <a:chExt cx="192" cy="197"/>
            </a:xfrm>
          </p:grpSpPr>
          <p:sp>
            <p:nvSpPr>
              <p:cNvPr id="36946" name="Text Box 10">
                <a:extLst>
                  <a:ext uri="{FF2B5EF4-FFF2-40B4-BE49-F238E27FC236}">
                    <a16:creationId xmlns:a16="http://schemas.microsoft.com/office/drawing/2014/main" id="{D5DCD944-E4CB-4536-80C0-34ECC01CBCED}"/>
                  </a:ext>
                </a:extLst>
              </p:cNvPr>
              <p:cNvSpPr txBox="1">
                <a:spLocks noChangeArrowheads="1"/>
              </p:cNvSpPr>
              <p:nvPr/>
            </p:nvSpPr>
            <p:spPr bwMode="auto">
              <a:xfrm rot="5400000">
                <a:off x="2517" y="160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6947" name="Line 11">
                <a:extLst>
                  <a:ext uri="{FF2B5EF4-FFF2-40B4-BE49-F238E27FC236}">
                    <a16:creationId xmlns:a16="http://schemas.microsoft.com/office/drawing/2014/main" id="{FC66C4FF-B7D0-47C1-8115-E9CE7641D423}"/>
                  </a:ext>
                </a:extLst>
              </p:cNvPr>
              <p:cNvSpPr>
                <a:spLocks noChangeShapeType="1"/>
              </p:cNvSpPr>
              <p:nvPr/>
            </p:nvSpPr>
            <p:spPr bwMode="auto">
              <a:xfrm rot="5400000">
                <a:off x="2601" y="158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6878" name="Group 12">
              <a:extLst>
                <a:ext uri="{FF2B5EF4-FFF2-40B4-BE49-F238E27FC236}">
                  <a16:creationId xmlns:a16="http://schemas.microsoft.com/office/drawing/2014/main" id="{E9278F62-079D-47FB-BE66-48EEDC7E878D}"/>
                </a:ext>
              </a:extLst>
            </p:cNvPr>
            <p:cNvGrpSpPr>
              <a:grpSpLocks/>
            </p:cNvGrpSpPr>
            <p:nvPr/>
          </p:nvGrpSpPr>
          <p:grpSpPr bwMode="auto">
            <a:xfrm>
              <a:off x="2318213" y="2722568"/>
              <a:ext cx="312737" cy="412750"/>
              <a:chOff x="4502" y="2127"/>
              <a:chExt cx="197" cy="260"/>
            </a:xfrm>
          </p:grpSpPr>
          <p:sp>
            <p:nvSpPr>
              <p:cNvPr id="36944" name="Text Box 13">
                <a:extLst>
                  <a:ext uri="{FF2B5EF4-FFF2-40B4-BE49-F238E27FC236}">
                    <a16:creationId xmlns:a16="http://schemas.microsoft.com/office/drawing/2014/main" id="{FC99B44C-E445-42EF-B8DF-CCA7374B8739}"/>
                  </a:ext>
                </a:extLst>
              </p:cNvPr>
              <p:cNvSpPr txBox="1">
                <a:spLocks noChangeArrowheads="1"/>
              </p:cNvSpPr>
              <p:nvPr/>
            </p:nvSpPr>
            <p:spPr bwMode="auto">
              <a:xfrm rot="-5400000">
                <a:off x="4499" y="213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6945" name="Text Box 14">
                <a:extLst>
                  <a:ext uri="{FF2B5EF4-FFF2-40B4-BE49-F238E27FC236}">
                    <a16:creationId xmlns:a16="http://schemas.microsoft.com/office/drawing/2014/main" id="{9C6D638B-618F-4AB4-BAFB-071035FB2B22}"/>
                  </a:ext>
                </a:extLst>
              </p:cNvPr>
              <p:cNvSpPr txBox="1">
                <a:spLocks noChangeArrowheads="1"/>
              </p:cNvSpPr>
              <p:nvPr/>
            </p:nvSpPr>
            <p:spPr bwMode="auto">
              <a:xfrm>
                <a:off x="4522" y="2195"/>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o</a:t>
                </a:r>
              </a:p>
            </p:txBody>
          </p:sp>
        </p:grpSp>
        <p:grpSp>
          <p:nvGrpSpPr>
            <p:cNvPr id="36879" name="Group 15">
              <a:extLst>
                <a:ext uri="{FF2B5EF4-FFF2-40B4-BE49-F238E27FC236}">
                  <a16:creationId xmlns:a16="http://schemas.microsoft.com/office/drawing/2014/main" id="{18A0E595-10AB-455F-8BB7-763EF084B4D6}"/>
                </a:ext>
              </a:extLst>
            </p:cNvPr>
            <p:cNvGrpSpPr>
              <a:grpSpLocks/>
            </p:cNvGrpSpPr>
            <p:nvPr/>
          </p:nvGrpSpPr>
          <p:grpSpPr bwMode="auto">
            <a:xfrm rot="5400000">
              <a:off x="2466920" y="3589725"/>
              <a:ext cx="42863" cy="217488"/>
              <a:chOff x="2672" y="3368"/>
              <a:chExt cx="27" cy="137"/>
            </a:xfrm>
          </p:grpSpPr>
          <p:sp>
            <p:nvSpPr>
              <p:cNvPr id="36942" name="Line 16">
                <a:extLst>
                  <a:ext uri="{FF2B5EF4-FFF2-40B4-BE49-F238E27FC236}">
                    <a16:creationId xmlns:a16="http://schemas.microsoft.com/office/drawing/2014/main" id="{1696E7D9-CE68-4B12-938E-0579ADE56488}"/>
                  </a:ext>
                </a:extLst>
              </p:cNvPr>
              <p:cNvSpPr>
                <a:spLocks noChangeShapeType="1"/>
              </p:cNvSpPr>
              <p:nvPr/>
            </p:nvSpPr>
            <p:spPr bwMode="auto">
              <a:xfrm>
                <a:off x="267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6943" name="Line 17">
                <a:extLst>
                  <a:ext uri="{FF2B5EF4-FFF2-40B4-BE49-F238E27FC236}">
                    <a16:creationId xmlns:a16="http://schemas.microsoft.com/office/drawing/2014/main" id="{418D1FEC-1672-425F-9D4D-3DF7E58B9403}"/>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6880" name="Group 18">
              <a:extLst>
                <a:ext uri="{FF2B5EF4-FFF2-40B4-BE49-F238E27FC236}">
                  <a16:creationId xmlns:a16="http://schemas.microsoft.com/office/drawing/2014/main" id="{7715A725-AF20-44FA-9F43-A1FFEEA3F8E7}"/>
                </a:ext>
              </a:extLst>
            </p:cNvPr>
            <p:cNvGrpSpPr>
              <a:grpSpLocks/>
            </p:cNvGrpSpPr>
            <p:nvPr/>
          </p:nvGrpSpPr>
          <p:grpSpPr bwMode="auto">
            <a:xfrm>
              <a:off x="2946400" y="2450412"/>
              <a:ext cx="312737" cy="304800"/>
              <a:chOff x="1887" y="1615"/>
              <a:chExt cx="197" cy="192"/>
            </a:xfrm>
          </p:grpSpPr>
          <p:sp>
            <p:nvSpPr>
              <p:cNvPr id="36940" name="Text Box 19">
                <a:extLst>
                  <a:ext uri="{FF2B5EF4-FFF2-40B4-BE49-F238E27FC236}">
                    <a16:creationId xmlns:a16="http://schemas.microsoft.com/office/drawing/2014/main" id="{58C8DDE5-1B0A-40CA-8D64-D841D058FCC0}"/>
                  </a:ext>
                </a:extLst>
              </p:cNvPr>
              <p:cNvSpPr txBox="1">
                <a:spLocks noChangeArrowheads="1"/>
              </p:cNvSpPr>
              <p:nvPr/>
            </p:nvSpPr>
            <p:spPr bwMode="auto">
              <a:xfrm rot="10800000">
                <a:off x="1887" y="1615"/>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6941" name="Line 20">
                <a:extLst>
                  <a:ext uri="{FF2B5EF4-FFF2-40B4-BE49-F238E27FC236}">
                    <a16:creationId xmlns:a16="http://schemas.microsoft.com/office/drawing/2014/main" id="{E82E525F-BE92-47A0-89D4-97767DB78B96}"/>
                  </a:ext>
                </a:extLst>
              </p:cNvPr>
              <p:cNvSpPr>
                <a:spLocks noChangeShapeType="1"/>
              </p:cNvSpPr>
              <p:nvPr/>
            </p:nvSpPr>
            <p:spPr bwMode="auto">
              <a:xfrm>
                <a:off x="2018" y="1631"/>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6881" name="Line 21">
              <a:extLst>
                <a:ext uri="{FF2B5EF4-FFF2-40B4-BE49-F238E27FC236}">
                  <a16:creationId xmlns:a16="http://schemas.microsoft.com/office/drawing/2014/main" id="{87C19842-5AC4-4AAD-AE51-8E4521BEE6EA}"/>
                </a:ext>
              </a:extLst>
            </p:cNvPr>
            <p:cNvSpPr>
              <a:spLocks noChangeShapeType="1"/>
            </p:cNvSpPr>
            <p:nvPr/>
          </p:nvSpPr>
          <p:spPr bwMode="auto">
            <a:xfrm flipH="1" flipV="1">
              <a:off x="1651000" y="2205038"/>
              <a:ext cx="433388"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82" name="Oval 22">
              <a:extLst>
                <a:ext uri="{FF2B5EF4-FFF2-40B4-BE49-F238E27FC236}">
                  <a16:creationId xmlns:a16="http://schemas.microsoft.com/office/drawing/2014/main" id="{91F3CC70-56E1-4EF5-B600-BA5D2138E0E5}"/>
                </a:ext>
              </a:extLst>
            </p:cNvPr>
            <p:cNvSpPr>
              <a:spLocks noChangeArrowheads="1"/>
            </p:cNvSpPr>
            <p:nvPr/>
          </p:nvSpPr>
          <p:spPr bwMode="auto">
            <a:xfrm>
              <a:off x="95250" y="1844675"/>
              <a:ext cx="19240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Numero factura</a:t>
              </a:r>
            </a:p>
          </p:txBody>
        </p:sp>
        <p:sp>
          <p:nvSpPr>
            <p:cNvPr id="36883" name="Oval 23">
              <a:extLst>
                <a:ext uri="{FF2B5EF4-FFF2-40B4-BE49-F238E27FC236}">
                  <a16:creationId xmlns:a16="http://schemas.microsoft.com/office/drawing/2014/main" id="{F85DCF7B-7D96-4B87-B2B3-5CC0E34F0201}"/>
                </a:ext>
              </a:extLst>
            </p:cNvPr>
            <p:cNvSpPr>
              <a:spLocks noChangeArrowheads="1"/>
            </p:cNvSpPr>
            <p:nvPr/>
          </p:nvSpPr>
          <p:spPr bwMode="auto">
            <a:xfrm>
              <a:off x="1835696" y="1556792"/>
              <a:ext cx="153670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venta</a:t>
              </a:r>
            </a:p>
          </p:txBody>
        </p:sp>
        <p:sp>
          <p:nvSpPr>
            <p:cNvPr id="36884" name="Oval 24">
              <a:extLst>
                <a:ext uri="{FF2B5EF4-FFF2-40B4-BE49-F238E27FC236}">
                  <a16:creationId xmlns:a16="http://schemas.microsoft.com/office/drawing/2014/main" id="{398FED25-9560-46C0-949C-CF6534332142}"/>
                </a:ext>
              </a:extLst>
            </p:cNvPr>
            <p:cNvSpPr>
              <a:spLocks noChangeArrowheads="1"/>
            </p:cNvSpPr>
            <p:nvPr/>
          </p:nvSpPr>
          <p:spPr bwMode="auto">
            <a:xfrm>
              <a:off x="3419475" y="1514475"/>
              <a:ext cx="2112963"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Cantidad vendida</a:t>
              </a:r>
            </a:p>
          </p:txBody>
        </p:sp>
        <p:sp>
          <p:nvSpPr>
            <p:cNvPr id="36885" name="Line 25">
              <a:extLst>
                <a:ext uri="{FF2B5EF4-FFF2-40B4-BE49-F238E27FC236}">
                  <a16:creationId xmlns:a16="http://schemas.microsoft.com/office/drawing/2014/main" id="{BD40F5CB-C24B-4302-9FF5-4E192E30D323}"/>
                </a:ext>
              </a:extLst>
            </p:cNvPr>
            <p:cNvSpPr>
              <a:spLocks noChangeShapeType="1"/>
            </p:cNvSpPr>
            <p:nvPr/>
          </p:nvSpPr>
          <p:spPr bwMode="auto">
            <a:xfrm flipV="1">
              <a:off x="2627313" y="1975192"/>
              <a:ext cx="0" cy="287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86" name="Oval 26">
              <a:extLst>
                <a:ext uri="{FF2B5EF4-FFF2-40B4-BE49-F238E27FC236}">
                  <a16:creationId xmlns:a16="http://schemas.microsoft.com/office/drawing/2014/main" id="{3AF5EB7E-A629-4C03-BCA6-F3431D39F9DA}"/>
                </a:ext>
              </a:extLst>
            </p:cNvPr>
            <p:cNvSpPr>
              <a:spLocks noChangeArrowheads="1"/>
            </p:cNvSpPr>
            <p:nvPr/>
          </p:nvSpPr>
          <p:spPr bwMode="auto">
            <a:xfrm>
              <a:off x="4140200" y="1947863"/>
              <a:ext cx="1782763"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unitario</a:t>
              </a:r>
            </a:p>
          </p:txBody>
        </p:sp>
        <p:sp>
          <p:nvSpPr>
            <p:cNvPr id="36887" name="Line 27">
              <a:extLst>
                <a:ext uri="{FF2B5EF4-FFF2-40B4-BE49-F238E27FC236}">
                  <a16:creationId xmlns:a16="http://schemas.microsoft.com/office/drawing/2014/main" id="{562DB7C3-6D43-49C1-B97A-D963C2CAAE0D}"/>
                </a:ext>
              </a:extLst>
            </p:cNvPr>
            <p:cNvSpPr>
              <a:spLocks noChangeShapeType="1"/>
            </p:cNvSpPr>
            <p:nvPr/>
          </p:nvSpPr>
          <p:spPr bwMode="auto">
            <a:xfrm flipH="1" flipV="1">
              <a:off x="3924300" y="1916113"/>
              <a:ext cx="142875"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88" name="Line 28">
              <a:extLst>
                <a:ext uri="{FF2B5EF4-FFF2-40B4-BE49-F238E27FC236}">
                  <a16:creationId xmlns:a16="http://schemas.microsoft.com/office/drawing/2014/main" id="{470A596D-0AD7-4C19-8672-43DFD21EC2FD}"/>
                </a:ext>
              </a:extLst>
            </p:cNvPr>
            <p:cNvSpPr>
              <a:spLocks noChangeShapeType="1"/>
            </p:cNvSpPr>
            <p:nvPr/>
          </p:nvSpPr>
          <p:spPr bwMode="auto">
            <a:xfrm flipV="1">
              <a:off x="4211638" y="2276475"/>
              <a:ext cx="21590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89" name="Oval 29">
              <a:extLst>
                <a:ext uri="{FF2B5EF4-FFF2-40B4-BE49-F238E27FC236}">
                  <a16:creationId xmlns:a16="http://schemas.microsoft.com/office/drawing/2014/main" id="{48942BB6-DE79-4E43-B0D7-B7BF3237BB7D}"/>
                </a:ext>
              </a:extLst>
            </p:cNvPr>
            <p:cNvSpPr>
              <a:spLocks noChangeArrowheads="1"/>
            </p:cNvSpPr>
            <p:nvPr/>
          </p:nvSpPr>
          <p:spPr bwMode="auto">
            <a:xfrm>
              <a:off x="0" y="2676525"/>
              <a:ext cx="1897062"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cliente</a:t>
              </a:r>
            </a:p>
          </p:txBody>
        </p:sp>
        <p:sp>
          <p:nvSpPr>
            <p:cNvPr id="36890" name="Oval 30">
              <a:extLst>
                <a:ext uri="{FF2B5EF4-FFF2-40B4-BE49-F238E27FC236}">
                  <a16:creationId xmlns:a16="http://schemas.microsoft.com/office/drawing/2014/main" id="{22CB5441-D982-4E83-9E0A-87ACB8FAA92D}"/>
                </a:ext>
              </a:extLst>
            </p:cNvPr>
            <p:cNvSpPr>
              <a:spLocks noChangeArrowheads="1"/>
            </p:cNvSpPr>
            <p:nvPr/>
          </p:nvSpPr>
          <p:spPr bwMode="auto">
            <a:xfrm>
              <a:off x="5289772" y="3849688"/>
              <a:ext cx="2014538"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producto</a:t>
              </a:r>
            </a:p>
          </p:txBody>
        </p:sp>
        <p:sp>
          <p:nvSpPr>
            <p:cNvPr id="36891" name="Oval 31">
              <a:extLst>
                <a:ext uri="{FF2B5EF4-FFF2-40B4-BE49-F238E27FC236}">
                  <a16:creationId xmlns:a16="http://schemas.microsoft.com/office/drawing/2014/main" id="{D337C4D1-5A70-4EDA-91E1-BC65F92BC7C2}"/>
                </a:ext>
              </a:extLst>
            </p:cNvPr>
            <p:cNvSpPr>
              <a:spLocks noChangeArrowheads="1"/>
            </p:cNvSpPr>
            <p:nvPr/>
          </p:nvSpPr>
          <p:spPr bwMode="auto">
            <a:xfrm>
              <a:off x="73024" y="3165773"/>
              <a:ext cx="1693129" cy="43279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Razon social</a:t>
              </a:r>
            </a:p>
          </p:txBody>
        </p:sp>
        <p:sp>
          <p:nvSpPr>
            <p:cNvPr id="36892" name="Oval 32">
              <a:extLst>
                <a:ext uri="{FF2B5EF4-FFF2-40B4-BE49-F238E27FC236}">
                  <a16:creationId xmlns:a16="http://schemas.microsoft.com/office/drawing/2014/main" id="{FBDE258B-1B28-47C1-B2E1-63A97F3A85BF}"/>
                </a:ext>
              </a:extLst>
            </p:cNvPr>
            <p:cNvSpPr>
              <a:spLocks noChangeArrowheads="1"/>
            </p:cNvSpPr>
            <p:nvPr/>
          </p:nvSpPr>
          <p:spPr bwMode="auto">
            <a:xfrm>
              <a:off x="252752" y="3679115"/>
              <a:ext cx="12001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Domicilio</a:t>
              </a:r>
            </a:p>
          </p:txBody>
        </p:sp>
        <p:sp>
          <p:nvSpPr>
            <p:cNvPr id="36893" name="Oval 33">
              <a:extLst>
                <a:ext uri="{FF2B5EF4-FFF2-40B4-BE49-F238E27FC236}">
                  <a16:creationId xmlns:a16="http://schemas.microsoft.com/office/drawing/2014/main" id="{E6E3E86B-E5F4-4655-B6E1-BA2466BAD8F5}"/>
                </a:ext>
              </a:extLst>
            </p:cNvPr>
            <p:cNvSpPr>
              <a:spLocks noChangeArrowheads="1"/>
            </p:cNvSpPr>
            <p:nvPr/>
          </p:nvSpPr>
          <p:spPr bwMode="auto">
            <a:xfrm>
              <a:off x="5216228" y="4307185"/>
              <a:ext cx="2593354" cy="43279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Descripcion producto</a:t>
              </a:r>
            </a:p>
          </p:txBody>
        </p:sp>
        <p:sp>
          <p:nvSpPr>
            <p:cNvPr id="36894" name="Line 34">
              <a:extLst>
                <a:ext uri="{FF2B5EF4-FFF2-40B4-BE49-F238E27FC236}">
                  <a16:creationId xmlns:a16="http://schemas.microsoft.com/office/drawing/2014/main" id="{7ACD7D14-E160-495A-932F-4BAD8956CADA}"/>
                </a:ext>
              </a:extLst>
            </p:cNvPr>
            <p:cNvSpPr>
              <a:spLocks noChangeShapeType="1"/>
            </p:cNvSpPr>
            <p:nvPr/>
          </p:nvSpPr>
          <p:spPr bwMode="auto">
            <a:xfrm>
              <a:off x="4932040" y="3514656"/>
              <a:ext cx="501848" cy="8294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95" name="Line 35">
              <a:extLst>
                <a:ext uri="{FF2B5EF4-FFF2-40B4-BE49-F238E27FC236}">
                  <a16:creationId xmlns:a16="http://schemas.microsoft.com/office/drawing/2014/main" id="{0EA09D1A-9A3C-426B-A1DF-49DCA2D30376}"/>
                </a:ext>
              </a:extLst>
            </p:cNvPr>
            <p:cNvSpPr>
              <a:spLocks noChangeShapeType="1"/>
            </p:cNvSpPr>
            <p:nvPr/>
          </p:nvSpPr>
          <p:spPr bwMode="auto">
            <a:xfrm>
              <a:off x="5080222" y="3533775"/>
              <a:ext cx="536575"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96" name="Line 36">
              <a:extLst>
                <a:ext uri="{FF2B5EF4-FFF2-40B4-BE49-F238E27FC236}">
                  <a16:creationId xmlns:a16="http://schemas.microsoft.com/office/drawing/2014/main" id="{84326548-26FC-45AD-8D88-C888B05C7138}"/>
                </a:ext>
              </a:extLst>
            </p:cNvPr>
            <p:cNvSpPr>
              <a:spLocks noChangeShapeType="1"/>
            </p:cNvSpPr>
            <p:nvPr/>
          </p:nvSpPr>
          <p:spPr bwMode="auto">
            <a:xfrm flipH="1" flipV="1">
              <a:off x="1476374" y="3556562"/>
              <a:ext cx="574672" cy="3455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97" name="Line 37">
              <a:extLst>
                <a:ext uri="{FF2B5EF4-FFF2-40B4-BE49-F238E27FC236}">
                  <a16:creationId xmlns:a16="http://schemas.microsoft.com/office/drawing/2014/main" id="{4506042C-1171-4548-8BAF-EC80EC3921F2}"/>
                </a:ext>
              </a:extLst>
            </p:cNvPr>
            <p:cNvSpPr>
              <a:spLocks noChangeShapeType="1"/>
            </p:cNvSpPr>
            <p:nvPr/>
          </p:nvSpPr>
          <p:spPr bwMode="auto">
            <a:xfrm flipH="1" flipV="1">
              <a:off x="1452902" y="3902076"/>
              <a:ext cx="592275" cy="178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98" name="Line 38">
              <a:extLst>
                <a:ext uri="{FF2B5EF4-FFF2-40B4-BE49-F238E27FC236}">
                  <a16:creationId xmlns:a16="http://schemas.microsoft.com/office/drawing/2014/main" id="{70B7410F-75FC-46BC-BBFE-A11AF655C93E}"/>
                </a:ext>
              </a:extLst>
            </p:cNvPr>
            <p:cNvSpPr>
              <a:spLocks noChangeShapeType="1"/>
            </p:cNvSpPr>
            <p:nvPr/>
          </p:nvSpPr>
          <p:spPr bwMode="auto">
            <a:xfrm flipH="1" flipV="1">
              <a:off x="1476374" y="3038474"/>
              <a:ext cx="832314" cy="712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899" name="AutoShape 39">
              <a:extLst>
                <a:ext uri="{FF2B5EF4-FFF2-40B4-BE49-F238E27FC236}">
                  <a16:creationId xmlns:a16="http://schemas.microsoft.com/office/drawing/2014/main" id="{047E2F14-A97D-4FFD-873C-EC850BFDB7BF}"/>
                </a:ext>
              </a:extLst>
            </p:cNvPr>
            <p:cNvSpPr>
              <a:spLocks noChangeArrowheads="1"/>
            </p:cNvSpPr>
            <p:nvPr/>
          </p:nvSpPr>
          <p:spPr bwMode="auto">
            <a:xfrm>
              <a:off x="2308688" y="3108578"/>
              <a:ext cx="361950" cy="371475"/>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6900" name="AutoShape 40">
              <a:extLst>
                <a:ext uri="{FF2B5EF4-FFF2-40B4-BE49-F238E27FC236}">
                  <a16:creationId xmlns:a16="http://schemas.microsoft.com/office/drawing/2014/main" id="{2261F514-FB23-4ECB-8423-5944CBC6F3C0}"/>
                </a:ext>
              </a:extLst>
            </p:cNvPr>
            <p:cNvSpPr>
              <a:spLocks noChangeArrowheads="1"/>
            </p:cNvSpPr>
            <p:nvPr/>
          </p:nvSpPr>
          <p:spPr bwMode="auto">
            <a:xfrm>
              <a:off x="3956050" y="2420888"/>
              <a:ext cx="360363" cy="311150"/>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6901" name="Rectangle 41">
              <a:extLst>
                <a:ext uri="{FF2B5EF4-FFF2-40B4-BE49-F238E27FC236}">
                  <a16:creationId xmlns:a16="http://schemas.microsoft.com/office/drawing/2014/main" id="{2F9A421C-8A56-42C2-A426-4DBC8A4B2E80}"/>
                </a:ext>
              </a:extLst>
            </p:cNvPr>
            <p:cNvSpPr>
              <a:spLocks noChangeArrowheads="1"/>
            </p:cNvSpPr>
            <p:nvPr/>
          </p:nvSpPr>
          <p:spPr bwMode="auto">
            <a:xfrm>
              <a:off x="6121400" y="1557338"/>
              <a:ext cx="2914650" cy="1187450"/>
            </a:xfrm>
            <a:prstGeom prst="rect">
              <a:avLst/>
            </a:prstGeom>
            <a:solidFill>
              <a:srgbClr val="EFF3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200">
                  <a:solidFill>
                    <a:schemeClr val="tx2"/>
                  </a:solidFill>
                </a:rPr>
                <a:t>1. Entidades débiles no llevan clave primaria: llevan discriminante.</a:t>
              </a:r>
            </a:p>
            <a:p>
              <a:pPr>
                <a:spcBef>
                  <a:spcPct val="0"/>
                </a:spcBef>
                <a:buClrTx/>
                <a:buSzTx/>
                <a:buFontTx/>
                <a:buNone/>
              </a:pPr>
              <a:r>
                <a:rPr lang="es-ES" altLang="es-ES" sz="1200">
                  <a:solidFill>
                    <a:schemeClr val="tx2"/>
                  </a:solidFill>
                </a:rPr>
                <a:t>2. No se formalizan las claves foráneas.</a:t>
              </a:r>
            </a:p>
            <a:p>
              <a:pPr>
                <a:spcBef>
                  <a:spcPct val="0"/>
                </a:spcBef>
                <a:buClrTx/>
                <a:buSzTx/>
                <a:buFontTx/>
                <a:buNone/>
              </a:pPr>
              <a:r>
                <a:rPr lang="es-ES" altLang="es-ES" sz="1200">
                  <a:solidFill>
                    <a:schemeClr val="tx2"/>
                  </a:solidFill>
                </a:rPr>
                <a:t>3. Existen relaciones M-M.</a:t>
              </a:r>
            </a:p>
            <a:p>
              <a:pPr>
                <a:spcBef>
                  <a:spcPct val="0"/>
                </a:spcBef>
                <a:buClrTx/>
                <a:buSzTx/>
                <a:buFontTx/>
                <a:buNone/>
              </a:pPr>
              <a:r>
                <a:rPr lang="es-ES" altLang="es-ES" sz="1200">
                  <a:solidFill>
                    <a:schemeClr val="tx2"/>
                  </a:solidFill>
                </a:rPr>
                <a:t>4. Los grupos repetitivos: con atributos multivaluados o entidades débiles.</a:t>
              </a:r>
              <a:endParaRPr lang="es-ES" altLang="es-ES" sz="1200"/>
            </a:p>
          </p:txBody>
        </p:sp>
        <p:grpSp>
          <p:nvGrpSpPr>
            <p:cNvPr id="36902" name="Group 46">
              <a:extLst>
                <a:ext uri="{FF2B5EF4-FFF2-40B4-BE49-F238E27FC236}">
                  <a16:creationId xmlns:a16="http://schemas.microsoft.com/office/drawing/2014/main" id="{B6FCB1DF-45BD-41DF-8985-49C24CE3ABD3}"/>
                </a:ext>
              </a:extLst>
            </p:cNvPr>
            <p:cNvGrpSpPr>
              <a:grpSpLocks/>
            </p:cNvGrpSpPr>
            <p:nvPr/>
          </p:nvGrpSpPr>
          <p:grpSpPr bwMode="auto">
            <a:xfrm>
              <a:off x="2484217" y="4279907"/>
              <a:ext cx="1335088" cy="635001"/>
              <a:chOff x="2078" y="2394"/>
              <a:chExt cx="841" cy="400"/>
            </a:xfrm>
          </p:grpSpPr>
          <p:grpSp>
            <p:nvGrpSpPr>
              <p:cNvPr id="36936" name="Group 47">
                <a:extLst>
                  <a:ext uri="{FF2B5EF4-FFF2-40B4-BE49-F238E27FC236}">
                    <a16:creationId xmlns:a16="http://schemas.microsoft.com/office/drawing/2014/main" id="{6C401A84-D3CF-4E3A-9D6C-8CEA442CCF9F}"/>
                  </a:ext>
                </a:extLst>
              </p:cNvPr>
              <p:cNvGrpSpPr>
                <a:grpSpLocks/>
              </p:cNvGrpSpPr>
              <p:nvPr/>
            </p:nvGrpSpPr>
            <p:grpSpPr bwMode="auto">
              <a:xfrm>
                <a:off x="2135" y="2432"/>
                <a:ext cx="784" cy="362"/>
                <a:chOff x="2040" y="2448"/>
                <a:chExt cx="784" cy="362"/>
              </a:xfrm>
            </p:grpSpPr>
            <p:sp>
              <p:nvSpPr>
                <p:cNvPr id="36938" name="Oval 48">
                  <a:extLst>
                    <a:ext uri="{FF2B5EF4-FFF2-40B4-BE49-F238E27FC236}">
                      <a16:creationId xmlns:a16="http://schemas.microsoft.com/office/drawing/2014/main" id="{A96DA26F-9B2C-4FBD-81C4-B853EF70A9AB}"/>
                    </a:ext>
                  </a:extLst>
                </p:cNvPr>
                <p:cNvSpPr>
                  <a:spLocks noChangeArrowheads="1"/>
                </p:cNvSpPr>
                <p:nvPr/>
              </p:nvSpPr>
              <p:spPr bwMode="auto">
                <a:xfrm>
                  <a:off x="2069" y="2487"/>
                  <a:ext cx="755" cy="2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Teléfono</a:t>
                  </a:r>
                </a:p>
              </p:txBody>
            </p:sp>
            <p:sp>
              <p:nvSpPr>
                <p:cNvPr id="36939" name="Oval 49">
                  <a:extLst>
                    <a:ext uri="{FF2B5EF4-FFF2-40B4-BE49-F238E27FC236}">
                      <a16:creationId xmlns:a16="http://schemas.microsoft.com/office/drawing/2014/main" id="{F3E1E59A-781F-468B-B284-142531B5E36C}"/>
                    </a:ext>
                  </a:extLst>
                </p:cNvPr>
                <p:cNvSpPr>
                  <a:spLocks noChangeArrowheads="1"/>
                </p:cNvSpPr>
                <p:nvPr/>
              </p:nvSpPr>
              <p:spPr bwMode="auto">
                <a:xfrm>
                  <a:off x="2040" y="2448"/>
                  <a:ext cx="771" cy="36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36937" name="Line 50">
                <a:extLst>
                  <a:ext uri="{FF2B5EF4-FFF2-40B4-BE49-F238E27FC236}">
                    <a16:creationId xmlns:a16="http://schemas.microsoft.com/office/drawing/2014/main" id="{CE3326D1-23C6-4BB5-917F-17A412EEB282}"/>
                  </a:ext>
                </a:extLst>
              </p:cNvPr>
              <p:cNvSpPr>
                <a:spLocks noChangeShapeType="1"/>
              </p:cNvSpPr>
              <p:nvPr/>
            </p:nvSpPr>
            <p:spPr bwMode="auto">
              <a:xfrm>
                <a:off x="2078" y="2394"/>
                <a:ext cx="136" cy="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grpSp>
          <p:nvGrpSpPr>
            <p:cNvPr id="36903" name="Group 51">
              <a:extLst>
                <a:ext uri="{FF2B5EF4-FFF2-40B4-BE49-F238E27FC236}">
                  <a16:creationId xmlns:a16="http://schemas.microsoft.com/office/drawing/2014/main" id="{62746BB2-42B1-4F7F-9DF8-2FBAFC57773A}"/>
                </a:ext>
              </a:extLst>
            </p:cNvPr>
            <p:cNvGrpSpPr>
              <a:grpSpLocks/>
            </p:cNvGrpSpPr>
            <p:nvPr/>
          </p:nvGrpSpPr>
          <p:grpSpPr bwMode="auto">
            <a:xfrm>
              <a:off x="5092576" y="2997200"/>
              <a:ext cx="3871913" cy="904875"/>
              <a:chOff x="3028" y="1888"/>
              <a:chExt cx="2439" cy="570"/>
            </a:xfrm>
          </p:grpSpPr>
          <p:sp>
            <p:nvSpPr>
              <p:cNvPr id="36920" name="Line 52">
                <a:extLst>
                  <a:ext uri="{FF2B5EF4-FFF2-40B4-BE49-F238E27FC236}">
                    <a16:creationId xmlns:a16="http://schemas.microsoft.com/office/drawing/2014/main" id="{0EED5E92-8214-4FAC-AA76-EAB8BDB65974}"/>
                  </a:ext>
                </a:extLst>
              </p:cNvPr>
              <p:cNvSpPr>
                <a:spLocks noChangeShapeType="1"/>
              </p:cNvSpPr>
              <p:nvPr/>
            </p:nvSpPr>
            <p:spPr bwMode="auto">
              <a:xfrm flipV="1">
                <a:off x="3028" y="2140"/>
                <a:ext cx="623" cy="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921" name="AutoShape 53">
                <a:extLst>
                  <a:ext uri="{FF2B5EF4-FFF2-40B4-BE49-F238E27FC236}">
                    <a16:creationId xmlns:a16="http://schemas.microsoft.com/office/drawing/2014/main" id="{84B0D3CF-1C30-44C4-88B7-EA994FA3EFA7}"/>
                  </a:ext>
                </a:extLst>
              </p:cNvPr>
              <p:cNvSpPr>
                <a:spLocks noChangeArrowheads="1"/>
              </p:cNvSpPr>
              <p:nvPr/>
            </p:nvSpPr>
            <p:spPr bwMode="auto">
              <a:xfrm>
                <a:off x="3243" y="2024"/>
                <a:ext cx="228" cy="234"/>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6922" name="Rectangle 54">
                <a:extLst>
                  <a:ext uri="{FF2B5EF4-FFF2-40B4-BE49-F238E27FC236}">
                    <a16:creationId xmlns:a16="http://schemas.microsoft.com/office/drawing/2014/main" id="{8CB2B6F9-15CB-44D6-B1BF-455B4C1FBA29}"/>
                  </a:ext>
                </a:extLst>
              </p:cNvPr>
              <p:cNvSpPr>
                <a:spLocks noChangeArrowheads="1"/>
              </p:cNvSpPr>
              <p:nvPr/>
            </p:nvSpPr>
            <p:spPr bwMode="auto">
              <a:xfrm>
                <a:off x="3656" y="1941"/>
                <a:ext cx="902" cy="44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a:t>
                </a:r>
                <a:br>
                  <a:rPr lang="en-US" altLang="es-ES" sz="1400">
                    <a:solidFill>
                      <a:schemeClr val="folHlink"/>
                    </a:solidFill>
                  </a:rPr>
                </a:br>
                <a:r>
                  <a:rPr lang="en-US" altLang="es-ES" sz="1400">
                    <a:solidFill>
                      <a:schemeClr val="folHlink"/>
                    </a:solidFill>
                  </a:rPr>
                  <a:t>HISTORICO</a:t>
                </a:r>
                <a:r>
                  <a:rPr lang="en-US" altLang="es-ES" sz="1800">
                    <a:solidFill>
                      <a:schemeClr val="folHlink"/>
                    </a:solidFill>
                  </a:rPr>
                  <a:t> </a:t>
                </a:r>
                <a:br>
                  <a:rPr lang="en-US" altLang="es-ES" sz="1800">
                    <a:solidFill>
                      <a:schemeClr val="folHlink"/>
                    </a:solidFill>
                  </a:rPr>
                </a:br>
                <a:br>
                  <a:rPr lang="en-US" altLang="es-ES" sz="400">
                    <a:solidFill>
                      <a:schemeClr val="folHlink"/>
                    </a:solidFill>
                  </a:rPr>
                </a:br>
                <a:endParaRPr lang="en-US" altLang="es-ES" sz="400">
                  <a:solidFill>
                    <a:schemeClr val="folHlink"/>
                  </a:solidFill>
                </a:endParaRPr>
              </a:p>
            </p:txBody>
          </p:sp>
          <p:sp>
            <p:nvSpPr>
              <p:cNvPr id="36923" name="Rectangle 55">
                <a:extLst>
                  <a:ext uri="{FF2B5EF4-FFF2-40B4-BE49-F238E27FC236}">
                    <a16:creationId xmlns:a16="http://schemas.microsoft.com/office/drawing/2014/main" id="{CCD8C93F-1D58-48DB-879E-2CBBFCD2EEBC}"/>
                  </a:ext>
                </a:extLst>
              </p:cNvPr>
              <p:cNvSpPr>
                <a:spLocks noChangeArrowheads="1"/>
              </p:cNvSpPr>
              <p:nvPr/>
            </p:nvSpPr>
            <p:spPr bwMode="auto">
              <a:xfrm>
                <a:off x="3696" y="1979"/>
                <a:ext cx="816" cy="36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6924" name="AutoShape 56">
                <a:extLst>
                  <a:ext uri="{FF2B5EF4-FFF2-40B4-BE49-F238E27FC236}">
                    <a16:creationId xmlns:a16="http://schemas.microsoft.com/office/drawing/2014/main" id="{A7413A77-BF61-4CF7-B42C-141FF950B1DF}"/>
                  </a:ext>
                </a:extLst>
              </p:cNvPr>
              <p:cNvSpPr>
                <a:spLocks noChangeArrowheads="1"/>
              </p:cNvSpPr>
              <p:nvPr/>
            </p:nvSpPr>
            <p:spPr bwMode="auto">
              <a:xfrm>
                <a:off x="3283" y="2059"/>
                <a:ext cx="151" cy="156"/>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nvGrpSpPr>
              <p:cNvPr id="36925" name="Group 57">
                <a:extLst>
                  <a:ext uri="{FF2B5EF4-FFF2-40B4-BE49-F238E27FC236}">
                    <a16:creationId xmlns:a16="http://schemas.microsoft.com/office/drawing/2014/main" id="{AF806BC7-822E-4E49-BF6C-6D39300D5743}"/>
                  </a:ext>
                </a:extLst>
              </p:cNvPr>
              <p:cNvGrpSpPr>
                <a:grpSpLocks/>
              </p:cNvGrpSpPr>
              <p:nvPr/>
            </p:nvGrpSpPr>
            <p:grpSpPr bwMode="auto">
              <a:xfrm>
                <a:off x="3045" y="2099"/>
                <a:ext cx="19" cy="91"/>
                <a:chOff x="5057" y="2225"/>
                <a:chExt cx="19" cy="91"/>
              </a:xfrm>
            </p:grpSpPr>
            <p:sp>
              <p:nvSpPr>
                <p:cNvPr id="36934" name="Line 58">
                  <a:extLst>
                    <a:ext uri="{FF2B5EF4-FFF2-40B4-BE49-F238E27FC236}">
                      <a16:creationId xmlns:a16="http://schemas.microsoft.com/office/drawing/2014/main" id="{2BAF1204-9474-4B48-825E-1C61C4E46E06}"/>
                    </a:ext>
                  </a:extLst>
                </p:cNvPr>
                <p:cNvSpPr>
                  <a:spLocks noChangeShapeType="1"/>
                </p:cNvSpPr>
                <p:nvPr/>
              </p:nvSpPr>
              <p:spPr bwMode="auto">
                <a:xfrm>
                  <a:off x="5057"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6935" name="Line 59">
                  <a:extLst>
                    <a:ext uri="{FF2B5EF4-FFF2-40B4-BE49-F238E27FC236}">
                      <a16:creationId xmlns:a16="http://schemas.microsoft.com/office/drawing/2014/main" id="{FE9D051E-6A26-45BC-9C78-600941BE4354}"/>
                    </a:ext>
                  </a:extLst>
                </p:cNvPr>
                <p:cNvSpPr>
                  <a:spLocks noChangeShapeType="1"/>
                </p:cNvSpPr>
                <p:nvPr/>
              </p:nvSpPr>
              <p:spPr bwMode="auto">
                <a:xfrm>
                  <a:off x="5076"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6926" name="Group 60">
                <a:extLst>
                  <a:ext uri="{FF2B5EF4-FFF2-40B4-BE49-F238E27FC236}">
                    <a16:creationId xmlns:a16="http://schemas.microsoft.com/office/drawing/2014/main" id="{4331C2A8-9612-44E1-9303-7998F0CDE586}"/>
                  </a:ext>
                </a:extLst>
              </p:cNvPr>
              <p:cNvGrpSpPr>
                <a:grpSpLocks/>
              </p:cNvGrpSpPr>
              <p:nvPr/>
            </p:nvGrpSpPr>
            <p:grpSpPr bwMode="auto">
              <a:xfrm>
                <a:off x="3525" y="2034"/>
                <a:ext cx="317" cy="192"/>
                <a:chOff x="4785" y="2185"/>
                <a:chExt cx="317" cy="192"/>
              </a:xfrm>
            </p:grpSpPr>
            <p:sp>
              <p:nvSpPr>
                <p:cNvPr id="36932" name="Line 61">
                  <a:extLst>
                    <a:ext uri="{FF2B5EF4-FFF2-40B4-BE49-F238E27FC236}">
                      <a16:creationId xmlns:a16="http://schemas.microsoft.com/office/drawing/2014/main" id="{94B89789-7858-4B57-A257-490FA16A8047}"/>
                    </a:ext>
                  </a:extLst>
                </p:cNvPr>
                <p:cNvSpPr>
                  <a:spLocks noChangeShapeType="1"/>
                </p:cNvSpPr>
                <p:nvPr/>
              </p:nvSpPr>
              <p:spPr bwMode="auto">
                <a:xfrm>
                  <a:off x="4830"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6933" name="Text Box 62">
                  <a:extLst>
                    <a:ext uri="{FF2B5EF4-FFF2-40B4-BE49-F238E27FC236}">
                      <a16:creationId xmlns:a16="http://schemas.microsoft.com/office/drawing/2014/main" id="{93C13691-C7CD-4788-BEE5-A4DC477016B4}"/>
                    </a:ext>
                  </a:extLst>
                </p:cNvPr>
                <p:cNvSpPr txBox="1">
                  <a:spLocks noChangeArrowheads="1"/>
                </p:cNvSpPr>
                <p:nvPr/>
              </p:nvSpPr>
              <p:spPr bwMode="auto">
                <a:xfrm>
                  <a:off x="4785" y="2185"/>
                  <a:ext cx="3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s-ES" sz="1400"/>
                    <a:t>&lt;</a:t>
                  </a:r>
                </a:p>
              </p:txBody>
            </p:sp>
          </p:grpSp>
          <p:sp>
            <p:nvSpPr>
              <p:cNvPr id="36927" name="Oval 63">
                <a:extLst>
                  <a:ext uri="{FF2B5EF4-FFF2-40B4-BE49-F238E27FC236}">
                    <a16:creationId xmlns:a16="http://schemas.microsoft.com/office/drawing/2014/main" id="{5ED4683B-3544-4C55-BDC1-4B864E5AA0D9}"/>
                  </a:ext>
                </a:extLst>
              </p:cNvPr>
              <p:cNvSpPr>
                <a:spLocks noChangeArrowheads="1"/>
              </p:cNvSpPr>
              <p:nvPr/>
            </p:nvSpPr>
            <p:spPr bwMode="auto">
              <a:xfrm>
                <a:off x="4929" y="1888"/>
                <a:ext cx="532"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a:t>
                </a:r>
              </a:p>
            </p:txBody>
          </p:sp>
          <p:sp>
            <p:nvSpPr>
              <p:cNvPr id="36928" name="Oval 64">
                <a:extLst>
                  <a:ext uri="{FF2B5EF4-FFF2-40B4-BE49-F238E27FC236}">
                    <a16:creationId xmlns:a16="http://schemas.microsoft.com/office/drawing/2014/main" id="{88DE2BAD-A39D-4C54-BF3F-3E874A59B269}"/>
                  </a:ext>
                </a:extLst>
              </p:cNvPr>
              <p:cNvSpPr>
                <a:spLocks noChangeArrowheads="1"/>
              </p:cNvSpPr>
              <p:nvPr/>
            </p:nvSpPr>
            <p:spPr bwMode="auto">
              <a:xfrm>
                <a:off x="4921" y="2205"/>
                <a:ext cx="546"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a:t>
                </a:r>
              </a:p>
            </p:txBody>
          </p:sp>
          <p:sp>
            <p:nvSpPr>
              <p:cNvPr id="36929" name="Line 65">
                <a:extLst>
                  <a:ext uri="{FF2B5EF4-FFF2-40B4-BE49-F238E27FC236}">
                    <a16:creationId xmlns:a16="http://schemas.microsoft.com/office/drawing/2014/main" id="{C23E8270-6249-494F-8A49-953B1726E462}"/>
                  </a:ext>
                </a:extLst>
              </p:cNvPr>
              <p:cNvSpPr>
                <a:spLocks noChangeShapeType="1"/>
              </p:cNvSpPr>
              <p:nvPr/>
            </p:nvSpPr>
            <p:spPr bwMode="auto">
              <a:xfrm flipV="1">
                <a:off x="4558" y="2024"/>
                <a:ext cx="363"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6930" name="Line 66">
                <a:extLst>
                  <a:ext uri="{FF2B5EF4-FFF2-40B4-BE49-F238E27FC236}">
                    <a16:creationId xmlns:a16="http://schemas.microsoft.com/office/drawing/2014/main" id="{5EF04EA7-D91D-441B-9BF5-A43E1C0AC193}"/>
                  </a:ext>
                </a:extLst>
              </p:cNvPr>
              <p:cNvSpPr>
                <a:spLocks noChangeShapeType="1"/>
              </p:cNvSpPr>
              <p:nvPr/>
            </p:nvSpPr>
            <p:spPr bwMode="auto">
              <a:xfrm>
                <a:off x="4558" y="2205"/>
                <a:ext cx="363"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931" name="Line 67">
                <a:extLst>
                  <a:ext uri="{FF2B5EF4-FFF2-40B4-BE49-F238E27FC236}">
                    <a16:creationId xmlns:a16="http://schemas.microsoft.com/office/drawing/2014/main" id="{18D11B41-B01C-444F-A61A-BBBDB239954E}"/>
                  </a:ext>
                </a:extLst>
              </p:cNvPr>
              <p:cNvSpPr>
                <a:spLocks noChangeShapeType="1"/>
              </p:cNvSpPr>
              <p:nvPr/>
            </p:nvSpPr>
            <p:spPr bwMode="auto">
              <a:xfrm>
                <a:off x="5022" y="2079"/>
                <a:ext cx="31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6904" name="Oval 32">
              <a:extLst>
                <a:ext uri="{FF2B5EF4-FFF2-40B4-BE49-F238E27FC236}">
                  <a16:creationId xmlns:a16="http://schemas.microsoft.com/office/drawing/2014/main" id="{BC5CB515-A047-4ABD-8FA7-3BB6ECF14AF3}"/>
                </a:ext>
              </a:extLst>
            </p:cNvPr>
            <p:cNvSpPr>
              <a:spLocks noChangeArrowheads="1"/>
            </p:cNvSpPr>
            <p:nvPr/>
          </p:nvSpPr>
          <p:spPr bwMode="auto">
            <a:xfrm>
              <a:off x="-6215" y="4189178"/>
              <a:ext cx="817331"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Calle</a:t>
              </a:r>
            </a:p>
          </p:txBody>
        </p:sp>
        <p:sp>
          <p:nvSpPr>
            <p:cNvPr id="36905" name="Oval 32">
              <a:extLst>
                <a:ext uri="{FF2B5EF4-FFF2-40B4-BE49-F238E27FC236}">
                  <a16:creationId xmlns:a16="http://schemas.microsoft.com/office/drawing/2014/main" id="{375B547D-34E2-42D7-8574-C47E770DD4F1}"/>
                </a:ext>
              </a:extLst>
            </p:cNvPr>
            <p:cNvSpPr>
              <a:spLocks noChangeArrowheads="1"/>
            </p:cNvSpPr>
            <p:nvPr/>
          </p:nvSpPr>
          <p:spPr bwMode="auto">
            <a:xfrm>
              <a:off x="710864" y="4392400"/>
              <a:ext cx="961206"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Número</a:t>
              </a:r>
            </a:p>
          </p:txBody>
        </p:sp>
        <p:sp>
          <p:nvSpPr>
            <p:cNvPr id="36906" name="Oval 32">
              <a:extLst>
                <a:ext uri="{FF2B5EF4-FFF2-40B4-BE49-F238E27FC236}">
                  <a16:creationId xmlns:a16="http://schemas.microsoft.com/office/drawing/2014/main" id="{0D2C95FA-32BF-4007-B67B-E209CC7BF064}"/>
                </a:ext>
              </a:extLst>
            </p:cNvPr>
            <p:cNvSpPr>
              <a:spLocks noChangeArrowheads="1"/>
            </p:cNvSpPr>
            <p:nvPr/>
          </p:nvSpPr>
          <p:spPr bwMode="auto">
            <a:xfrm>
              <a:off x="1719029" y="4377399"/>
              <a:ext cx="770065"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Piso</a:t>
              </a:r>
            </a:p>
          </p:txBody>
        </p:sp>
        <p:cxnSp>
          <p:nvCxnSpPr>
            <p:cNvPr id="36907" name="273 Conector recto">
              <a:extLst>
                <a:ext uri="{FF2B5EF4-FFF2-40B4-BE49-F238E27FC236}">
                  <a16:creationId xmlns:a16="http://schemas.microsoft.com/office/drawing/2014/main" id="{FBA9BF9E-17A6-4DF5-88B6-97BDD7786AAC}"/>
                </a:ext>
              </a:extLst>
            </p:cNvPr>
            <p:cNvCxnSpPr>
              <a:cxnSpLocks noChangeShapeType="1"/>
              <a:stCxn id="36904" idx="0"/>
              <a:endCxn id="36892" idx="4"/>
            </p:cNvCxnSpPr>
            <p:nvPr/>
          </p:nvCxnSpPr>
          <p:spPr bwMode="auto">
            <a:xfrm flipV="1">
              <a:off x="402451" y="4080753"/>
              <a:ext cx="450376" cy="1084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6908" name="274 Conector recto">
              <a:extLst>
                <a:ext uri="{FF2B5EF4-FFF2-40B4-BE49-F238E27FC236}">
                  <a16:creationId xmlns:a16="http://schemas.microsoft.com/office/drawing/2014/main" id="{952BA20D-1DE5-4DD3-9A8C-8894865816DD}"/>
                </a:ext>
              </a:extLst>
            </p:cNvPr>
            <p:cNvCxnSpPr>
              <a:cxnSpLocks noChangeShapeType="1"/>
              <a:stCxn id="36905" idx="0"/>
              <a:endCxn id="36892" idx="4"/>
            </p:cNvCxnSpPr>
            <p:nvPr/>
          </p:nvCxnSpPr>
          <p:spPr bwMode="auto">
            <a:xfrm flipH="1" flipV="1">
              <a:off x="852827" y="4080753"/>
              <a:ext cx="338640" cy="3116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6909" name="275 Conector recto">
              <a:extLst>
                <a:ext uri="{FF2B5EF4-FFF2-40B4-BE49-F238E27FC236}">
                  <a16:creationId xmlns:a16="http://schemas.microsoft.com/office/drawing/2014/main" id="{ED509F14-5198-4677-BE58-B302BD78C1F8}"/>
                </a:ext>
              </a:extLst>
            </p:cNvPr>
            <p:cNvCxnSpPr>
              <a:cxnSpLocks noChangeShapeType="1"/>
              <a:stCxn id="36906" idx="1"/>
              <a:endCxn id="36892" idx="4"/>
            </p:cNvCxnSpPr>
            <p:nvPr/>
          </p:nvCxnSpPr>
          <p:spPr bwMode="auto">
            <a:xfrm flipH="1" flipV="1">
              <a:off x="852827" y="4080753"/>
              <a:ext cx="978975" cy="3505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6910" name="Oval 26">
              <a:extLst>
                <a:ext uri="{FF2B5EF4-FFF2-40B4-BE49-F238E27FC236}">
                  <a16:creationId xmlns:a16="http://schemas.microsoft.com/office/drawing/2014/main" id="{0F2188DF-0F8C-4982-9516-4D1E418B880B}"/>
                </a:ext>
              </a:extLst>
            </p:cNvPr>
            <p:cNvSpPr>
              <a:spLocks noChangeArrowheads="1"/>
            </p:cNvSpPr>
            <p:nvPr/>
          </p:nvSpPr>
          <p:spPr bwMode="auto">
            <a:xfrm>
              <a:off x="4504407" y="2436416"/>
              <a:ext cx="1359148" cy="432792"/>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Total item</a:t>
              </a:r>
            </a:p>
          </p:txBody>
        </p:sp>
        <p:sp>
          <p:nvSpPr>
            <p:cNvPr id="36911" name="Line 28">
              <a:extLst>
                <a:ext uri="{FF2B5EF4-FFF2-40B4-BE49-F238E27FC236}">
                  <a16:creationId xmlns:a16="http://schemas.microsoft.com/office/drawing/2014/main" id="{0130DEF4-2163-4738-80FE-F71432971649}"/>
                </a:ext>
              </a:extLst>
            </p:cNvPr>
            <p:cNvSpPr>
              <a:spLocks noChangeShapeType="1"/>
            </p:cNvSpPr>
            <p:nvPr/>
          </p:nvSpPr>
          <p:spPr bwMode="auto">
            <a:xfrm>
              <a:off x="4299942" y="2581100"/>
              <a:ext cx="204466" cy="717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6912" name="278 Rectángulo">
              <a:extLst>
                <a:ext uri="{FF2B5EF4-FFF2-40B4-BE49-F238E27FC236}">
                  <a16:creationId xmlns:a16="http://schemas.microsoft.com/office/drawing/2014/main" id="{CC1FB607-187F-4CED-B3FB-2D1C5893E154}"/>
                </a:ext>
              </a:extLst>
            </p:cNvPr>
            <p:cNvSpPr>
              <a:spLocks noChangeArrowheads="1"/>
            </p:cNvSpPr>
            <p:nvPr/>
          </p:nvSpPr>
          <p:spPr bwMode="auto">
            <a:xfrm>
              <a:off x="3892406" y="4172599"/>
              <a:ext cx="981274" cy="40299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36913" name="279 CuadroTexto">
              <a:extLst>
                <a:ext uri="{FF2B5EF4-FFF2-40B4-BE49-F238E27FC236}">
                  <a16:creationId xmlns:a16="http://schemas.microsoft.com/office/drawing/2014/main" id="{499677BB-498A-46EF-AE74-8B4711003E3F}"/>
                </a:ext>
              </a:extLst>
            </p:cNvPr>
            <p:cNvSpPr txBox="1">
              <a:spLocks noChangeArrowheads="1"/>
            </p:cNvSpPr>
            <p:nvPr/>
          </p:nvSpPr>
          <p:spPr bwMode="auto">
            <a:xfrm>
              <a:off x="4067175" y="4223510"/>
              <a:ext cx="6261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a:solidFill>
                    <a:schemeClr val="folHlink"/>
                  </a:solidFill>
                </a:rPr>
                <a:t>ROPA</a:t>
              </a:r>
            </a:p>
          </p:txBody>
        </p:sp>
        <p:grpSp>
          <p:nvGrpSpPr>
            <p:cNvPr id="36914" name="Group 18">
              <a:extLst>
                <a:ext uri="{FF2B5EF4-FFF2-40B4-BE49-F238E27FC236}">
                  <a16:creationId xmlns:a16="http://schemas.microsoft.com/office/drawing/2014/main" id="{2C69CAB1-ECEA-40A5-9282-047C689AAC0A}"/>
                </a:ext>
              </a:extLst>
            </p:cNvPr>
            <p:cNvGrpSpPr>
              <a:grpSpLocks/>
            </p:cNvGrpSpPr>
            <p:nvPr/>
          </p:nvGrpSpPr>
          <p:grpSpPr bwMode="auto">
            <a:xfrm>
              <a:off x="4139952" y="3501008"/>
              <a:ext cx="398173" cy="671591"/>
              <a:chOff x="476" y="2251"/>
              <a:chExt cx="364" cy="544"/>
            </a:xfrm>
          </p:grpSpPr>
          <p:sp>
            <p:nvSpPr>
              <p:cNvPr id="36917" name="AutoShape 19">
                <a:extLst>
                  <a:ext uri="{FF2B5EF4-FFF2-40B4-BE49-F238E27FC236}">
                    <a16:creationId xmlns:a16="http://schemas.microsoft.com/office/drawing/2014/main" id="{7EA9B9A2-4B96-422D-A0CC-FB4F4631687C}"/>
                  </a:ext>
                </a:extLst>
              </p:cNvPr>
              <p:cNvSpPr>
                <a:spLocks noChangeArrowheads="1"/>
              </p:cNvSpPr>
              <p:nvPr/>
            </p:nvSpPr>
            <p:spPr bwMode="auto">
              <a:xfrm rot="10800000">
                <a:off x="476" y="2341"/>
                <a:ext cx="364" cy="352"/>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000">
                    <a:solidFill>
                      <a:schemeClr val="folHlink"/>
                    </a:solidFill>
                  </a:rPr>
                  <a:t>ES</a:t>
                </a:r>
              </a:p>
            </p:txBody>
          </p:sp>
          <p:sp>
            <p:nvSpPr>
              <p:cNvPr id="36918" name="Line 20">
                <a:extLst>
                  <a:ext uri="{FF2B5EF4-FFF2-40B4-BE49-F238E27FC236}">
                    <a16:creationId xmlns:a16="http://schemas.microsoft.com/office/drawing/2014/main" id="{20E86ADC-0B65-42A5-A554-3FFC748B231E}"/>
                  </a:ext>
                </a:extLst>
              </p:cNvPr>
              <p:cNvSpPr>
                <a:spLocks noChangeShapeType="1"/>
              </p:cNvSpPr>
              <p:nvPr/>
            </p:nvSpPr>
            <p:spPr bwMode="auto">
              <a:xfrm flipV="1">
                <a:off x="657"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6919" name="Line 21">
                <a:extLst>
                  <a:ext uri="{FF2B5EF4-FFF2-40B4-BE49-F238E27FC236}">
                    <a16:creationId xmlns:a16="http://schemas.microsoft.com/office/drawing/2014/main" id="{0B115AC9-EE79-45A1-AFEA-C8B9115F80AF}"/>
                  </a:ext>
                </a:extLst>
              </p:cNvPr>
              <p:cNvSpPr>
                <a:spLocks noChangeShapeType="1"/>
              </p:cNvSpPr>
              <p:nvPr/>
            </p:nvSpPr>
            <p:spPr bwMode="auto">
              <a:xfrm flipV="1">
                <a:off x="657" y="2705"/>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6915" name="Oval 32">
              <a:extLst>
                <a:ext uri="{FF2B5EF4-FFF2-40B4-BE49-F238E27FC236}">
                  <a16:creationId xmlns:a16="http://schemas.microsoft.com/office/drawing/2014/main" id="{FFF5CF72-42EC-4237-834A-00E63541E5D9}"/>
                </a:ext>
              </a:extLst>
            </p:cNvPr>
            <p:cNvSpPr>
              <a:spLocks noChangeArrowheads="1"/>
            </p:cNvSpPr>
            <p:nvPr/>
          </p:nvSpPr>
          <p:spPr bwMode="auto">
            <a:xfrm>
              <a:off x="4578444" y="4681751"/>
              <a:ext cx="770065"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Talle</a:t>
              </a:r>
            </a:p>
          </p:txBody>
        </p:sp>
        <p:cxnSp>
          <p:nvCxnSpPr>
            <p:cNvPr id="36916" name="285 Conector recto">
              <a:extLst>
                <a:ext uri="{FF2B5EF4-FFF2-40B4-BE49-F238E27FC236}">
                  <a16:creationId xmlns:a16="http://schemas.microsoft.com/office/drawing/2014/main" id="{C727FDB8-28FE-40B6-B7A9-47692010AD34}"/>
                </a:ext>
              </a:extLst>
            </p:cNvPr>
            <p:cNvCxnSpPr>
              <a:cxnSpLocks noChangeShapeType="1"/>
              <a:stCxn id="36915" idx="1"/>
              <a:endCxn id="36912" idx="2"/>
            </p:cNvCxnSpPr>
            <p:nvPr/>
          </p:nvCxnSpPr>
          <p:spPr bwMode="auto">
            <a:xfrm flipH="1" flipV="1">
              <a:off x="4383043" y="4575589"/>
              <a:ext cx="308174" cy="16003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068"/>
                                        </p:tgtEl>
                                        <p:attrNameLst>
                                          <p:attrName>style.visibility</p:attrName>
                                        </p:attrNameLst>
                                      </p:cBhvr>
                                      <p:to>
                                        <p:strVal val="visible"/>
                                      </p:to>
                                    </p:set>
                                    <p:anim calcmode="lin" valueType="num">
                                      <p:cBhvr additive="base">
                                        <p:cTn id="7" dur="500" fill="hold"/>
                                        <p:tgtEl>
                                          <p:spTgt spid="128068"/>
                                        </p:tgtEl>
                                        <p:attrNameLst>
                                          <p:attrName>ppt_x</p:attrName>
                                        </p:attrNameLst>
                                      </p:cBhvr>
                                      <p:tavLst>
                                        <p:tav tm="0">
                                          <p:val>
                                            <p:strVal val="#ppt_x"/>
                                          </p:val>
                                        </p:tav>
                                        <p:tav tm="100000">
                                          <p:val>
                                            <p:strVal val="#ppt_x"/>
                                          </p:val>
                                        </p:tav>
                                      </p:tavLst>
                                    </p:anim>
                                    <p:anim calcmode="lin" valueType="num">
                                      <p:cBhvr additive="base">
                                        <p:cTn id="8" dur="500" fill="hold"/>
                                        <p:tgtEl>
                                          <p:spTgt spid="12806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806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6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91E772A-A92C-4557-8D14-424D4C689FB7}"/>
              </a:ext>
            </a:extLst>
          </p:cNvPr>
          <p:cNvSpPr>
            <a:spLocks noChangeArrowheads="1"/>
          </p:cNvSpPr>
          <p:nvPr/>
        </p:nvSpPr>
        <p:spPr bwMode="auto">
          <a:xfrm>
            <a:off x="0" y="4797425"/>
            <a:ext cx="9144000" cy="2060575"/>
          </a:xfrm>
          <a:prstGeom prst="rect">
            <a:avLst/>
          </a:prstGeom>
          <a:solidFill>
            <a:srgbClr val="EFF3D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8915" name="Rectangle 3">
            <a:extLst>
              <a:ext uri="{FF2B5EF4-FFF2-40B4-BE49-F238E27FC236}">
                <a16:creationId xmlns:a16="http://schemas.microsoft.com/office/drawing/2014/main" id="{680E397B-9521-4319-A20A-0F24E89F7FAE}"/>
              </a:ext>
            </a:extLst>
          </p:cNvPr>
          <p:cNvSpPr>
            <a:spLocks noGrp="1" noChangeArrowheads="1"/>
          </p:cNvSpPr>
          <p:nvPr>
            <p:ph type="title" idx="4294967295"/>
          </p:nvPr>
        </p:nvSpPr>
        <p:spPr>
          <a:xfrm>
            <a:off x="0" y="63255"/>
            <a:ext cx="8943975" cy="1143000"/>
          </a:xfrm>
        </p:spPr>
        <p:txBody>
          <a:bodyPr/>
          <a:lstStyle/>
          <a:p>
            <a:pPr algn="ctr" eaLnBrk="1" hangingPunct="1"/>
            <a:r>
              <a:rPr lang="es-ES" altLang="es-ES">
                <a:solidFill>
                  <a:schemeClr val="folHlink"/>
                </a:solidFill>
              </a:rPr>
              <a:t>    M ER</a:t>
            </a:r>
            <a:endParaRPr lang="es-AR" altLang="es-ES">
              <a:solidFill>
                <a:schemeClr val="folHlink"/>
              </a:solidFill>
            </a:endParaRPr>
          </a:p>
        </p:txBody>
      </p:sp>
      <p:sp>
        <p:nvSpPr>
          <p:cNvPr id="38916" name="Rectangle 41">
            <a:extLst>
              <a:ext uri="{FF2B5EF4-FFF2-40B4-BE49-F238E27FC236}">
                <a16:creationId xmlns:a16="http://schemas.microsoft.com/office/drawing/2014/main" id="{73630A8B-52E0-456D-B0E5-38770A7FFADC}"/>
              </a:ext>
            </a:extLst>
          </p:cNvPr>
          <p:cNvSpPr>
            <a:spLocks noChangeArrowheads="1"/>
          </p:cNvSpPr>
          <p:nvPr/>
        </p:nvSpPr>
        <p:spPr bwMode="auto">
          <a:xfrm>
            <a:off x="6121400" y="1557338"/>
            <a:ext cx="2914650" cy="1187450"/>
          </a:xfrm>
          <a:prstGeom prst="rect">
            <a:avLst/>
          </a:prstGeom>
          <a:solidFill>
            <a:srgbClr val="EFF3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200">
                <a:solidFill>
                  <a:schemeClr val="tx2"/>
                </a:solidFill>
              </a:rPr>
              <a:t>1. Entidades débiles no llevan clave primaria: llevan discriminante.</a:t>
            </a:r>
          </a:p>
          <a:p>
            <a:pPr>
              <a:spcBef>
                <a:spcPct val="0"/>
              </a:spcBef>
              <a:buClrTx/>
              <a:buSzTx/>
              <a:buFontTx/>
              <a:buNone/>
            </a:pPr>
            <a:r>
              <a:rPr lang="es-ES" altLang="es-ES" sz="1200">
                <a:solidFill>
                  <a:schemeClr val="tx2"/>
                </a:solidFill>
              </a:rPr>
              <a:t>2. No se formalizan las claves foráneas.</a:t>
            </a:r>
          </a:p>
          <a:p>
            <a:pPr>
              <a:spcBef>
                <a:spcPct val="0"/>
              </a:spcBef>
              <a:buClrTx/>
              <a:buSzTx/>
              <a:buFontTx/>
              <a:buNone/>
            </a:pPr>
            <a:r>
              <a:rPr lang="es-ES" altLang="es-ES" sz="1200">
                <a:solidFill>
                  <a:schemeClr val="tx2"/>
                </a:solidFill>
              </a:rPr>
              <a:t>3. Existen relaciones M-M.</a:t>
            </a:r>
          </a:p>
          <a:p>
            <a:pPr>
              <a:spcBef>
                <a:spcPct val="0"/>
              </a:spcBef>
              <a:buClrTx/>
              <a:buSzTx/>
              <a:buFontTx/>
              <a:buNone/>
            </a:pPr>
            <a:r>
              <a:rPr lang="es-ES" altLang="es-ES" sz="1200">
                <a:solidFill>
                  <a:schemeClr val="tx2"/>
                </a:solidFill>
              </a:rPr>
              <a:t>4. Los grupos repetitivos: con atributos multivaluados o entidades débiles.</a:t>
            </a:r>
            <a:endParaRPr lang="es-ES" altLang="es-ES" sz="1200"/>
          </a:p>
        </p:txBody>
      </p:sp>
      <p:grpSp>
        <p:nvGrpSpPr>
          <p:cNvPr id="38917" name="Group 42">
            <a:extLst>
              <a:ext uri="{FF2B5EF4-FFF2-40B4-BE49-F238E27FC236}">
                <a16:creationId xmlns:a16="http://schemas.microsoft.com/office/drawing/2014/main" id="{CD48DC6C-2160-4068-8A0E-ADF956DD665E}"/>
              </a:ext>
            </a:extLst>
          </p:cNvPr>
          <p:cNvGrpSpPr>
            <a:grpSpLocks/>
          </p:cNvGrpSpPr>
          <p:nvPr/>
        </p:nvGrpSpPr>
        <p:grpSpPr bwMode="auto">
          <a:xfrm>
            <a:off x="73025" y="4869160"/>
            <a:ext cx="1690688" cy="1892301"/>
            <a:chOff x="46" y="3022"/>
            <a:chExt cx="1065" cy="1192"/>
          </a:xfrm>
        </p:grpSpPr>
        <p:sp>
          <p:nvSpPr>
            <p:cNvPr id="38996" name="Rectangle 43">
              <a:extLst>
                <a:ext uri="{FF2B5EF4-FFF2-40B4-BE49-F238E27FC236}">
                  <a16:creationId xmlns:a16="http://schemas.microsoft.com/office/drawing/2014/main" id="{2BDA985B-67DC-461E-8B72-9594197985C3}"/>
                </a:ext>
              </a:extLst>
            </p:cNvPr>
            <p:cNvSpPr>
              <a:spLocks noChangeArrowheads="1"/>
            </p:cNvSpPr>
            <p:nvPr/>
          </p:nvSpPr>
          <p:spPr bwMode="auto">
            <a:xfrm>
              <a:off x="46" y="3022"/>
              <a:ext cx="1020" cy="1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p>
              <a:pPr eaLnBrk="1" hangingPunct="1"/>
              <a:r>
                <a:rPr lang="es-ES" altLang="es-ES" sz="1600" b="1">
                  <a:solidFill>
                    <a:schemeClr val="tx2"/>
                  </a:solidFill>
                </a:rPr>
                <a:t>Reglas </a:t>
              </a:r>
              <a:r>
                <a:rPr lang="es-ES" altLang="es-ES" sz="1600">
                  <a:solidFill>
                    <a:schemeClr val="tx2"/>
                  </a:solidFill>
                </a:rPr>
                <a:t>de transformación:</a:t>
              </a:r>
            </a:p>
            <a:p>
              <a:pPr eaLnBrk="1" hangingPunct="1"/>
              <a:r>
                <a:rPr lang="es-ES" altLang="es-ES" sz="1600">
                  <a:solidFill>
                    <a:schemeClr val="tx2"/>
                  </a:solidFill>
                </a:rPr>
                <a:t>MER -&gt; entidades en el Esquema de la base de datos (Tablas).</a:t>
              </a:r>
            </a:p>
          </p:txBody>
        </p:sp>
        <p:sp>
          <p:nvSpPr>
            <p:cNvPr id="38997" name="AutoShape 44">
              <a:extLst>
                <a:ext uri="{FF2B5EF4-FFF2-40B4-BE49-F238E27FC236}">
                  <a16:creationId xmlns:a16="http://schemas.microsoft.com/office/drawing/2014/main" id="{962D22AE-DBC9-46BE-AE9D-1BDADDE062B8}"/>
                </a:ext>
              </a:extLst>
            </p:cNvPr>
            <p:cNvSpPr>
              <a:spLocks/>
            </p:cNvSpPr>
            <p:nvPr/>
          </p:nvSpPr>
          <p:spPr bwMode="auto">
            <a:xfrm>
              <a:off x="988" y="3024"/>
              <a:ext cx="123" cy="1190"/>
            </a:xfrm>
            <a:prstGeom prst="leftBrace">
              <a:avLst>
                <a:gd name="adj1" fmla="val 36637"/>
                <a:gd name="adj2" fmla="val 50000"/>
              </a:avLst>
            </a:prstGeom>
            <a:noFill/>
            <a:ln w="9525">
              <a:solidFill>
                <a:srgbClr val="00206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128069" name="Rectangle 69">
            <a:extLst>
              <a:ext uri="{FF2B5EF4-FFF2-40B4-BE49-F238E27FC236}">
                <a16:creationId xmlns:a16="http://schemas.microsoft.com/office/drawing/2014/main" id="{93669098-3B90-4335-B729-5F01B600687F}"/>
              </a:ext>
            </a:extLst>
          </p:cNvPr>
          <p:cNvSpPr>
            <a:spLocks noChangeArrowheads="1"/>
          </p:cNvSpPr>
          <p:nvPr/>
        </p:nvSpPr>
        <p:spPr bwMode="auto">
          <a:xfrm>
            <a:off x="1692275" y="4997494"/>
            <a:ext cx="712946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AutoNum type="arabicPeriod" startAt="5"/>
            </a:pPr>
            <a:r>
              <a:rPr lang="es-ES" altLang="es-ES" sz="1400">
                <a:solidFill>
                  <a:schemeClr val="tx2"/>
                </a:solidFill>
              </a:rPr>
              <a:t>Crear una tabla para representar las relaciones muchos a muchos, su clave primaria se compone de las claves primarias de las entidades que relaciona (por otro lado cada una actúa como clave foránea), y se le agregan los atributos de la relación si los tuviese.</a:t>
            </a:r>
          </a:p>
          <a:p>
            <a:pPr eaLnBrk="1" hangingPunct="1">
              <a:spcBef>
                <a:spcPct val="0"/>
              </a:spcBef>
              <a:buClrTx/>
              <a:buSzTx/>
              <a:buFontTx/>
              <a:buAutoNum type="arabicPeriod" startAt="5"/>
            </a:pPr>
            <a:r>
              <a:rPr lang="es-ES" altLang="es-ES" sz="1400">
                <a:solidFill>
                  <a:schemeClr val="tx2"/>
                </a:solidFill>
              </a:rPr>
              <a:t>Crear una tabla para representar un atributo </a:t>
            </a:r>
            <a:r>
              <a:rPr lang="es-ES" altLang="es-ES" sz="1400" err="1">
                <a:solidFill>
                  <a:schemeClr val="tx2"/>
                </a:solidFill>
              </a:rPr>
              <a:t>multivalorado</a:t>
            </a:r>
            <a:r>
              <a:rPr lang="es-ES" altLang="es-ES" sz="1400">
                <a:solidFill>
                  <a:schemeClr val="tx2"/>
                </a:solidFill>
              </a:rPr>
              <a:t> e incluir también un atributo la calve primaria de la entidad propietaria (identificadora) en la nueva tabla, la misma actuará como clave externa. También hay que definir su clave primaria.</a:t>
            </a:r>
          </a:p>
        </p:txBody>
      </p:sp>
      <p:grpSp>
        <p:nvGrpSpPr>
          <p:cNvPr id="38919" name="141 Grupo">
            <a:extLst>
              <a:ext uri="{FF2B5EF4-FFF2-40B4-BE49-F238E27FC236}">
                <a16:creationId xmlns:a16="http://schemas.microsoft.com/office/drawing/2014/main" id="{EF75541C-EBF1-4D19-80EA-6CA172169D90}"/>
              </a:ext>
            </a:extLst>
          </p:cNvPr>
          <p:cNvGrpSpPr>
            <a:grpSpLocks/>
          </p:cNvGrpSpPr>
          <p:nvPr/>
        </p:nvGrpSpPr>
        <p:grpSpPr bwMode="auto">
          <a:xfrm>
            <a:off x="-6350" y="1514475"/>
            <a:ext cx="9042400" cy="3535363"/>
            <a:chOff x="-6215" y="1514475"/>
            <a:chExt cx="9042265" cy="3535149"/>
          </a:xfrm>
        </p:grpSpPr>
        <p:sp>
          <p:nvSpPr>
            <p:cNvPr id="38920" name="Rectangle 4">
              <a:extLst>
                <a:ext uri="{FF2B5EF4-FFF2-40B4-BE49-F238E27FC236}">
                  <a16:creationId xmlns:a16="http://schemas.microsoft.com/office/drawing/2014/main" id="{63641696-5656-4D2E-8D02-076E142BA39B}"/>
                </a:ext>
              </a:extLst>
            </p:cNvPr>
            <p:cNvSpPr>
              <a:spLocks noChangeArrowheads="1"/>
            </p:cNvSpPr>
            <p:nvPr/>
          </p:nvSpPr>
          <p:spPr bwMode="auto">
            <a:xfrm>
              <a:off x="2087563" y="2276872"/>
              <a:ext cx="971550" cy="5588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VENTA</a:t>
              </a:r>
            </a:p>
            <a:p>
              <a:pPr algn="ctr" eaLnBrk="1" hangingPunct="1">
                <a:spcBef>
                  <a:spcPct val="0"/>
                </a:spcBef>
                <a:buClrTx/>
                <a:buSzTx/>
                <a:buFontTx/>
                <a:buNone/>
              </a:pPr>
              <a:endParaRPr lang="en-US" altLang="es-ES" sz="1200">
                <a:solidFill>
                  <a:schemeClr val="folHlink"/>
                </a:solidFill>
              </a:endParaRPr>
            </a:p>
          </p:txBody>
        </p:sp>
        <p:sp>
          <p:nvSpPr>
            <p:cNvPr id="38921" name="Rectangle 5">
              <a:extLst>
                <a:ext uri="{FF2B5EF4-FFF2-40B4-BE49-F238E27FC236}">
                  <a16:creationId xmlns:a16="http://schemas.microsoft.com/office/drawing/2014/main" id="{3ED0F763-A9C9-4388-8BB1-8489FE73DDCD}"/>
                </a:ext>
              </a:extLst>
            </p:cNvPr>
            <p:cNvSpPr>
              <a:spLocks noChangeArrowheads="1"/>
            </p:cNvSpPr>
            <p:nvPr/>
          </p:nvSpPr>
          <p:spPr bwMode="auto">
            <a:xfrm>
              <a:off x="3618135" y="2985716"/>
              <a:ext cx="1474787"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PRODUCTO </a:t>
              </a:r>
            </a:p>
            <a:p>
              <a:pPr algn="ctr" eaLnBrk="1" hangingPunct="1">
                <a:spcBef>
                  <a:spcPct val="0"/>
                </a:spcBef>
                <a:buClrTx/>
                <a:buSzTx/>
                <a:buFontTx/>
                <a:buNone/>
              </a:pPr>
              <a:endParaRPr lang="en-US" altLang="es-ES" sz="1000">
                <a:solidFill>
                  <a:schemeClr val="folHlink"/>
                </a:solidFill>
              </a:endParaRPr>
            </a:p>
          </p:txBody>
        </p:sp>
        <p:sp>
          <p:nvSpPr>
            <p:cNvPr id="38922" name="Rectangle 6">
              <a:extLst>
                <a:ext uri="{FF2B5EF4-FFF2-40B4-BE49-F238E27FC236}">
                  <a16:creationId xmlns:a16="http://schemas.microsoft.com/office/drawing/2014/main" id="{3325CD43-C06E-41FE-9EDB-C6ECB8C730E3}"/>
                </a:ext>
              </a:extLst>
            </p:cNvPr>
            <p:cNvSpPr>
              <a:spLocks noChangeArrowheads="1"/>
            </p:cNvSpPr>
            <p:nvPr/>
          </p:nvSpPr>
          <p:spPr bwMode="auto">
            <a:xfrm>
              <a:off x="2051050" y="3750811"/>
              <a:ext cx="10795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CLIENTE </a:t>
              </a:r>
            </a:p>
            <a:p>
              <a:pPr algn="ctr" eaLnBrk="1" hangingPunct="1">
                <a:spcBef>
                  <a:spcPct val="0"/>
                </a:spcBef>
                <a:buClrTx/>
                <a:buSzTx/>
                <a:buFontTx/>
                <a:buNone/>
              </a:pPr>
              <a:endParaRPr lang="en-US" altLang="es-ES" sz="1000">
                <a:solidFill>
                  <a:schemeClr val="folHlink"/>
                </a:solidFill>
              </a:endParaRPr>
            </a:p>
          </p:txBody>
        </p:sp>
        <p:sp>
          <p:nvSpPr>
            <p:cNvPr id="38923" name="Line 7">
              <a:extLst>
                <a:ext uri="{FF2B5EF4-FFF2-40B4-BE49-F238E27FC236}">
                  <a16:creationId xmlns:a16="http://schemas.microsoft.com/office/drawing/2014/main" id="{5C2E73C9-0B9C-47DE-9BF0-3AE571F8B3F6}"/>
                </a:ext>
              </a:extLst>
            </p:cNvPr>
            <p:cNvSpPr>
              <a:spLocks noChangeShapeType="1"/>
            </p:cNvSpPr>
            <p:nvPr/>
          </p:nvSpPr>
          <p:spPr bwMode="auto">
            <a:xfrm>
              <a:off x="2483768" y="2852936"/>
              <a:ext cx="0" cy="895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24" name="Freeform 8">
              <a:extLst>
                <a:ext uri="{FF2B5EF4-FFF2-40B4-BE49-F238E27FC236}">
                  <a16:creationId xmlns:a16="http://schemas.microsoft.com/office/drawing/2014/main" id="{6A936814-C313-43CC-95CD-A95BD9CE178F}"/>
                </a:ext>
              </a:extLst>
            </p:cNvPr>
            <p:cNvSpPr>
              <a:spLocks/>
            </p:cNvSpPr>
            <p:nvPr/>
          </p:nvSpPr>
          <p:spPr bwMode="auto">
            <a:xfrm>
              <a:off x="3059832" y="2581101"/>
              <a:ext cx="1081087" cy="504825"/>
            </a:xfrm>
            <a:custGeom>
              <a:avLst/>
              <a:gdLst>
                <a:gd name="T0" fmla="*/ 0 w 685"/>
                <a:gd name="T1" fmla="*/ 0 h 318"/>
                <a:gd name="T2" fmla="*/ 2147483646 w 685"/>
                <a:gd name="T3" fmla="*/ 2147483646 h 318"/>
                <a:gd name="T4" fmla="*/ 2147483646 w 685"/>
                <a:gd name="T5" fmla="*/ 2147483646 h 318"/>
                <a:gd name="T6" fmla="*/ 0 60000 65536"/>
                <a:gd name="T7" fmla="*/ 0 60000 65536"/>
                <a:gd name="T8" fmla="*/ 0 60000 65536"/>
                <a:gd name="T9" fmla="*/ 0 w 685"/>
                <a:gd name="T10" fmla="*/ 0 h 318"/>
                <a:gd name="T11" fmla="*/ 685 w 685"/>
                <a:gd name="T12" fmla="*/ 318 h 318"/>
              </a:gdLst>
              <a:ahLst/>
              <a:cxnLst>
                <a:cxn ang="T6">
                  <a:pos x="T0" y="T1"/>
                </a:cxn>
                <a:cxn ang="T7">
                  <a:pos x="T2" y="T3"/>
                </a:cxn>
                <a:cxn ang="T8">
                  <a:pos x="T4" y="T5"/>
                </a:cxn>
              </a:cxnLst>
              <a:rect l="T9" t="T10" r="T11" b="T12"/>
              <a:pathLst>
                <a:path w="685" h="318">
                  <a:moveTo>
                    <a:pt x="0" y="0"/>
                  </a:moveTo>
                  <a:lnTo>
                    <a:pt x="685" y="2"/>
                  </a:lnTo>
                  <a:lnTo>
                    <a:pt x="681" y="31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s-ES"/>
            </a:p>
          </p:txBody>
        </p:sp>
        <p:grpSp>
          <p:nvGrpSpPr>
            <p:cNvPr id="38925" name="Group 9">
              <a:extLst>
                <a:ext uri="{FF2B5EF4-FFF2-40B4-BE49-F238E27FC236}">
                  <a16:creationId xmlns:a16="http://schemas.microsoft.com/office/drawing/2014/main" id="{FDC8CC42-0885-40D2-A0BF-EF19EE406CF1}"/>
                </a:ext>
              </a:extLst>
            </p:cNvPr>
            <p:cNvGrpSpPr>
              <a:grpSpLocks/>
            </p:cNvGrpSpPr>
            <p:nvPr/>
          </p:nvGrpSpPr>
          <p:grpSpPr bwMode="auto">
            <a:xfrm>
              <a:off x="4013188" y="2780928"/>
              <a:ext cx="304800" cy="312738"/>
              <a:chOff x="2520" y="1597"/>
              <a:chExt cx="192" cy="197"/>
            </a:xfrm>
          </p:grpSpPr>
          <p:sp>
            <p:nvSpPr>
              <p:cNvPr id="38994" name="Text Box 10">
                <a:extLst>
                  <a:ext uri="{FF2B5EF4-FFF2-40B4-BE49-F238E27FC236}">
                    <a16:creationId xmlns:a16="http://schemas.microsoft.com/office/drawing/2014/main" id="{7DD49B0F-8209-4FE3-8617-02923C07EE10}"/>
                  </a:ext>
                </a:extLst>
              </p:cNvPr>
              <p:cNvSpPr txBox="1">
                <a:spLocks noChangeArrowheads="1"/>
              </p:cNvSpPr>
              <p:nvPr/>
            </p:nvSpPr>
            <p:spPr bwMode="auto">
              <a:xfrm rot="5400000">
                <a:off x="2517" y="160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8995" name="Line 11">
                <a:extLst>
                  <a:ext uri="{FF2B5EF4-FFF2-40B4-BE49-F238E27FC236}">
                    <a16:creationId xmlns:a16="http://schemas.microsoft.com/office/drawing/2014/main" id="{CDF3DF94-4BD7-426B-AC27-C3A438CE9A3F}"/>
                  </a:ext>
                </a:extLst>
              </p:cNvPr>
              <p:cNvSpPr>
                <a:spLocks noChangeShapeType="1"/>
              </p:cNvSpPr>
              <p:nvPr/>
            </p:nvSpPr>
            <p:spPr bwMode="auto">
              <a:xfrm rot="5400000">
                <a:off x="2601" y="158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8926" name="Group 12">
              <a:extLst>
                <a:ext uri="{FF2B5EF4-FFF2-40B4-BE49-F238E27FC236}">
                  <a16:creationId xmlns:a16="http://schemas.microsoft.com/office/drawing/2014/main" id="{74A15487-A23F-43F7-B70A-3CA7FFB4D070}"/>
                </a:ext>
              </a:extLst>
            </p:cNvPr>
            <p:cNvGrpSpPr>
              <a:grpSpLocks/>
            </p:cNvGrpSpPr>
            <p:nvPr/>
          </p:nvGrpSpPr>
          <p:grpSpPr bwMode="auto">
            <a:xfrm>
              <a:off x="2318213" y="2722568"/>
              <a:ext cx="312737" cy="412750"/>
              <a:chOff x="4502" y="2127"/>
              <a:chExt cx="197" cy="260"/>
            </a:xfrm>
          </p:grpSpPr>
          <p:sp>
            <p:nvSpPr>
              <p:cNvPr id="38992" name="Text Box 13">
                <a:extLst>
                  <a:ext uri="{FF2B5EF4-FFF2-40B4-BE49-F238E27FC236}">
                    <a16:creationId xmlns:a16="http://schemas.microsoft.com/office/drawing/2014/main" id="{05A96882-C968-4ACE-8D48-C81FA2F6952D}"/>
                  </a:ext>
                </a:extLst>
              </p:cNvPr>
              <p:cNvSpPr txBox="1">
                <a:spLocks noChangeArrowheads="1"/>
              </p:cNvSpPr>
              <p:nvPr/>
            </p:nvSpPr>
            <p:spPr bwMode="auto">
              <a:xfrm rot="-5400000">
                <a:off x="4499" y="213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8993" name="Text Box 14">
                <a:extLst>
                  <a:ext uri="{FF2B5EF4-FFF2-40B4-BE49-F238E27FC236}">
                    <a16:creationId xmlns:a16="http://schemas.microsoft.com/office/drawing/2014/main" id="{9FFFC590-EF56-41A0-9853-585D9620D168}"/>
                  </a:ext>
                </a:extLst>
              </p:cNvPr>
              <p:cNvSpPr txBox="1">
                <a:spLocks noChangeArrowheads="1"/>
              </p:cNvSpPr>
              <p:nvPr/>
            </p:nvSpPr>
            <p:spPr bwMode="auto">
              <a:xfrm>
                <a:off x="4522" y="2195"/>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o</a:t>
                </a:r>
              </a:p>
            </p:txBody>
          </p:sp>
        </p:grpSp>
        <p:grpSp>
          <p:nvGrpSpPr>
            <p:cNvPr id="38927" name="Group 15">
              <a:extLst>
                <a:ext uri="{FF2B5EF4-FFF2-40B4-BE49-F238E27FC236}">
                  <a16:creationId xmlns:a16="http://schemas.microsoft.com/office/drawing/2014/main" id="{68D93A2E-62DB-4232-9FEB-1F129490BDD0}"/>
                </a:ext>
              </a:extLst>
            </p:cNvPr>
            <p:cNvGrpSpPr>
              <a:grpSpLocks/>
            </p:cNvGrpSpPr>
            <p:nvPr/>
          </p:nvGrpSpPr>
          <p:grpSpPr bwMode="auto">
            <a:xfrm rot="5400000">
              <a:off x="2466920" y="3589725"/>
              <a:ext cx="42863" cy="217488"/>
              <a:chOff x="2672" y="3368"/>
              <a:chExt cx="27" cy="137"/>
            </a:xfrm>
          </p:grpSpPr>
          <p:sp>
            <p:nvSpPr>
              <p:cNvPr id="38990" name="Line 16">
                <a:extLst>
                  <a:ext uri="{FF2B5EF4-FFF2-40B4-BE49-F238E27FC236}">
                    <a16:creationId xmlns:a16="http://schemas.microsoft.com/office/drawing/2014/main" id="{9804CEBE-9E75-4F84-AAA9-0BE8A10AB3A4}"/>
                  </a:ext>
                </a:extLst>
              </p:cNvPr>
              <p:cNvSpPr>
                <a:spLocks noChangeShapeType="1"/>
              </p:cNvSpPr>
              <p:nvPr/>
            </p:nvSpPr>
            <p:spPr bwMode="auto">
              <a:xfrm>
                <a:off x="267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8991" name="Line 17">
                <a:extLst>
                  <a:ext uri="{FF2B5EF4-FFF2-40B4-BE49-F238E27FC236}">
                    <a16:creationId xmlns:a16="http://schemas.microsoft.com/office/drawing/2014/main" id="{B84D82BD-1BA6-4611-9905-E28EF3CEC75B}"/>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8928" name="Group 18">
              <a:extLst>
                <a:ext uri="{FF2B5EF4-FFF2-40B4-BE49-F238E27FC236}">
                  <a16:creationId xmlns:a16="http://schemas.microsoft.com/office/drawing/2014/main" id="{356A2BD9-3D35-40BB-ADE8-F0F8BA4FD877}"/>
                </a:ext>
              </a:extLst>
            </p:cNvPr>
            <p:cNvGrpSpPr>
              <a:grpSpLocks/>
            </p:cNvGrpSpPr>
            <p:nvPr/>
          </p:nvGrpSpPr>
          <p:grpSpPr bwMode="auto">
            <a:xfrm>
              <a:off x="2946400" y="2450412"/>
              <a:ext cx="312737" cy="304800"/>
              <a:chOff x="1887" y="1615"/>
              <a:chExt cx="197" cy="192"/>
            </a:xfrm>
          </p:grpSpPr>
          <p:sp>
            <p:nvSpPr>
              <p:cNvPr id="38988" name="Text Box 19">
                <a:extLst>
                  <a:ext uri="{FF2B5EF4-FFF2-40B4-BE49-F238E27FC236}">
                    <a16:creationId xmlns:a16="http://schemas.microsoft.com/office/drawing/2014/main" id="{86548971-1315-4A64-9915-DE2BC98A4DAD}"/>
                  </a:ext>
                </a:extLst>
              </p:cNvPr>
              <p:cNvSpPr txBox="1">
                <a:spLocks noChangeArrowheads="1"/>
              </p:cNvSpPr>
              <p:nvPr/>
            </p:nvSpPr>
            <p:spPr bwMode="auto">
              <a:xfrm rot="10800000">
                <a:off x="1887" y="1615"/>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38989" name="Line 20">
                <a:extLst>
                  <a:ext uri="{FF2B5EF4-FFF2-40B4-BE49-F238E27FC236}">
                    <a16:creationId xmlns:a16="http://schemas.microsoft.com/office/drawing/2014/main" id="{1410448B-A2A1-4A3D-BED9-59759F52B257}"/>
                  </a:ext>
                </a:extLst>
              </p:cNvPr>
              <p:cNvSpPr>
                <a:spLocks noChangeShapeType="1"/>
              </p:cNvSpPr>
              <p:nvPr/>
            </p:nvSpPr>
            <p:spPr bwMode="auto">
              <a:xfrm>
                <a:off x="2018" y="1631"/>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8929" name="Line 21">
              <a:extLst>
                <a:ext uri="{FF2B5EF4-FFF2-40B4-BE49-F238E27FC236}">
                  <a16:creationId xmlns:a16="http://schemas.microsoft.com/office/drawing/2014/main" id="{FDED6CC8-5E1E-4A75-AE06-ACE477DF795D}"/>
                </a:ext>
              </a:extLst>
            </p:cNvPr>
            <p:cNvSpPr>
              <a:spLocks noChangeShapeType="1"/>
            </p:cNvSpPr>
            <p:nvPr/>
          </p:nvSpPr>
          <p:spPr bwMode="auto">
            <a:xfrm flipH="1" flipV="1">
              <a:off x="1651000" y="2205038"/>
              <a:ext cx="433388"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30" name="Oval 22">
              <a:extLst>
                <a:ext uri="{FF2B5EF4-FFF2-40B4-BE49-F238E27FC236}">
                  <a16:creationId xmlns:a16="http://schemas.microsoft.com/office/drawing/2014/main" id="{05BFD20A-BCE8-486B-B39D-3AB735348A81}"/>
                </a:ext>
              </a:extLst>
            </p:cNvPr>
            <p:cNvSpPr>
              <a:spLocks noChangeArrowheads="1"/>
            </p:cNvSpPr>
            <p:nvPr/>
          </p:nvSpPr>
          <p:spPr bwMode="auto">
            <a:xfrm>
              <a:off x="95250" y="1844675"/>
              <a:ext cx="19240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Numero factura</a:t>
              </a:r>
            </a:p>
          </p:txBody>
        </p:sp>
        <p:sp>
          <p:nvSpPr>
            <p:cNvPr id="38931" name="Oval 23">
              <a:extLst>
                <a:ext uri="{FF2B5EF4-FFF2-40B4-BE49-F238E27FC236}">
                  <a16:creationId xmlns:a16="http://schemas.microsoft.com/office/drawing/2014/main" id="{FFDC71F6-4D26-4CEC-B497-EAD72A188153}"/>
                </a:ext>
              </a:extLst>
            </p:cNvPr>
            <p:cNvSpPr>
              <a:spLocks noChangeArrowheads="1"/>
            </p:cNvSpPr>
            <p:nvPr/>
          </p:nvSpPr>
          <p:spPr bwMode="auto">
            <a:xfrm>
              <a:off x="1835696" y="1556792"/>
              <a:ext cx="153670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venta</a:t>
              </a:r>
            </a:p>
          </p:txBody>
        </p:sp>
        <p:sp>
          <p:nvSpPr>
            <p:cNvPr id="38932" name="Oval 24">
              <a:extLst>
                <a:ext uri="{FF2B5EF4-FFF2-40B4-BE49-F238E27FC236}">
                  <a16:creationId xmlns:a16="http://schemas.microsoft.com/office/drawing/2014/main" id="{CB5252A5-8A5E-4649-AFFC-D2B1A232BF89}"/>
                </a:ext>
              </a:extLst>
            </p:cNvPr>
            <p:cNvSpPr>
              <a:spLocks noChangeArrowheads="1"/>
            </p:cNvSpPr>
            <p:nvPr/>
          </p:nvSpPr>
          <p:spPr bwMode="auto">
            <a:xfrm>
              <a:off x="3419475" y="1514475"/>
              <a:ext cx="2112963"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Cantidad vendida</a:t>
              </a:r>
            </a:p>
          </p:txBody>
        </p:sp>
        <p:sp>
          <p:nvSpPr>
            <p:cNvPr id="38933" name="Line 25">
              <a:extLst>
                <a:ext uri="{FF2B5EF4-FFF2-40B4-BE49-F238E27FC236}">
                  <a16:creationId xmlns:a16="http://schemas.microsoft.com/office/drawing/2014/main" id="{959D160A-6C8F-465A-84B6-020B1259E72B}"/>
                </a:ext>
              </a:extLst>
            </p:cNvPr>
            <p:cNvSpPr>
              <a:spLocks noChangeShapeType="1"/>
            </p:cNvSpPr>
            <p:nvPr/>
          </p:nvSpPr>
          <p:spPr bwMode="auto">
            <a:xfrm flipV="1">
              <a:off x="2627313" y="1975192"/>
              <a:ext cx="0" cy="287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34" name="Oval 26">
              <a:extLst>
                <a:ext uri="{FF2B5EF4-FFF2-40B4-BE49-F238E27FC236}">
                  <a16:creationId xmlns:a16="http://schemas.microsoft.com/office/drawing/2014/main" id="{AF44868B-396A-4E97-A1BA-521789E3FF8B}"/>
                </a:ext>
              </a:extLst>
            </p:cNvPr>
            <p:cNvSpPr>
              <a:spLocks noChangeArrowheads="1"/>
            </p:cNvSpPr>
            <p:nvPr/>
          </p:nvSpPr>
          <p:spPr bwMode="auto">
            <a:xfrm>
              <a:off x="4140200" y="1947863"/>
              <a:ext cx="1782763"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unitario</a:t>
              </a:r>
            </a:p>
          </p:txBody>
        </p:sp>
        <p:sp>
          <p:nvSpPr>
            <p:cNvPr id="38935" name="Line 27">
              <a:extLst>
                <a:ext uri="{FF2B5EF4-FFF2-40B4-BE49-F238E27FC236}">
                  <a16:creationId xmlns:a16="http://schemas.microsoft.com/office/drawing/2014/main" id="{2F9A62CA-26DD-433E-B762-85E2E518D009}"/>
                </a:ext>
              </a:extLst>
            </p:cNvPr>
            <p:cNvSpPr>
              <a:spLocks noChangeShapeType="1"/>
            </p:cNvSpPr>
            <p:nvPr/>
          </p:nvSpPr>
          <p:spPr bwMode="auto">
            <a:xfrm flipH="1" flipV="1">
              <a:off x="3924300" y="1916113"/>
              <a:ext cx="142875"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36" name="Line 28">
              <a:extLst>
                <a:ext uri="{FF2B5EF4-FFF2-40B4-BE49-F238E27FC236}">
                  <a16:creationId xmlns:a16="http://schemas.microsoft.com/office/drawing/2014/main" id="{1D44E413-0A36-4F00-B28D-F64570CCBD30}"/>
                </a:ext>
              </a:extLst>
            </p:cNvPr>
            <p:cNvSpPr>
              <a:spLocks noChangeShapeType="1"/>
            </p:cNvSpPr>
            <p:nvPr/>
          </p:nvSpPr>
          <p:spPr bwMode="auto">
            <a:xfrm flipV="1">
              <a:off x="4211638" y="2276475"/>
              <a:ext cx="21590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37" name="Oval 29">
              <a:extLst>
                <a:ext uri="{FF2B5EF4-FFF2-40B4-BE49-F238E27FC236}">
                  <a16:creationId xmlns:a16="http://schemas.microsoft.com/office/drawing/2014/main" id="{6580B18F-D5A1-4E00-B53F-74CF6A937FA3}"/>
                </a:ext>
              </a:extLst>
            </p:cNvPr>
            <p:cNvSpPr>
              <a:spLocks noChangeArrowheads="1"/>
            </p:cNvSpPr>
            <p:nvPr/>
          </p:nvSpPr>
          <p:spPr bwMode="auto">
            <a:xfrm>
              <a:off x="0" y="2676525"/>
              <a:ext cx="1897062"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cliente</a:t>
              </a:r>
            </a:p>
          </p:txBody>
        </p:sp>
        <p:sp>
          <p:nvSpPr>
            <p:cNvPr id="38938" name="Oval 30">
              <a:extLst>
                <a:ext uri="{FF2B5EF4-FFF2-40B4-BE49-F238E27FC236}">
                  <a16:creationId xmlns:a16="http://schemas.microsoft.com/office/drawing/2014/main" id="{FCA9C7A8-804E-4B6A-82F0-EF3963FB7336}"/>
                </a:ext>
              </a:extLst>
            </p:cNvPr>
            <p:cNvSpPr>
              <a:spLocks noChangeArrowheads="1"/>
            </p:cNvSpPr>
            <p:nvPr/>
          </p:nvSpPr>
          <p:spPr bwMode="auto">
            <a:xfrm>
              <a:off x="5289772" y="3849688"/>
              <a:ext cx="2014538"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producto</a:t>
              </a:r>
            </a:p>
          </p:txBody>
        </p:sp>
        <p:sp>
          <p:nvSpPr>
            <p:cNvPr id="38939" name="Oval 31">
              <a:extLst>
                <a:ext uri="{FF2B5EF4-FFF2-40B4-BE49-F238E27FC236}">
                  <a16:creationId xmlns:a16="http://schemas.microsoft.com/office/drawing/2014/main" id="{6A8919F0-8D1A-4E12-A3A9-EC94B427D235}"/>
                </a:ext>
              </a:extLst>
            </p:cNvPr>
            <p:cNvSpPr>
              <a:spLocks noChangeArrowheads="1"/>
            </p:cNvSpPr>
            <p:nvPr/>
          </p:nvSpPr>
          <p:spPr bwMode="auto">
            <a:xfrm>
              <a:off x="73024" y="3165773"/>
              <a:ext cx="1693129" cy="43279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Razon social</a:t>
              </a:r>
            </a:p>
          </p:txBody>
        </p:sp>
        <p:sp>
          <p:nvSpPr>
            <p:cNvPr id="38940" name="Oval 32">
              <a:extLst>
                <a:ext uri="{FF2B5EF4-FFF2-40B4-BE49-F238E27FC236}">
                  <a16:creationId xmlns:a16="http://schemas.microsoft.com/office/drawing/2014/main" id="{806D4746-7F07-4031-B843-BE0EAACC805E}"/>
                </a:ext>
              </a:extLst>
            </p:cNvPr>
            <p:cNvSpPr>
              <a:spLocks noChangeArrowheads="1"/>
            </p:cNvSpPr>
            <p:nvPr/>
          </p:nvSpPr>
          <p:spPr bwMode="auto">
            <a:xfrm>
              <a:off x="252752" y="3679115"/>
              <a:ext cx="12001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Domicilio</a:t>
              </a:r>
            </a:p>
          </p:txBody>
        </p:sp>
        <p:sp>
          <p:nvSpPr>
            <p:cNvPr id="38941" name="Oval 33">
              <a:extLst>
                <a:ext uri="{FF2B5EF4-FFF2-40B4-BE49-F238E27FC236}">
                  <a16:creationId xmlns:a16="http://schemas.microsoft.com/office/drawing/2014/main" id="{965D7DF6-8686-4ECF-9F78-6673AB8416EE}"/>
                </a:ext>
              </a:extLst>
            </p:cNvPr>
            <p:cNvSpPr>
              <a:spLocks noChangeArrowheads="1"/>
            </p:cNvSpPr>
            <p:nvPr/>
          </p:nvSpPr>
          <p:spPr bwMode="auto">
            <a:xfrm>
              <a:off x="5216228" y="4307185"/>
              <a:ext cx="2593354" cy="43279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Descripcion producto</a:t>
              </a:r>
            </a:p>
          </p:txBody>
        </p:sp>
        <p:sp>
          <p:nvSpPr>
            <p:cNvPr id="38942" name="Line 34">
              <a:extLst>
                <a:ext uri="{FF2B5EF4-FFF2-40B4-BE49-F238E27FC236}">
                  <a16:creationId xmlns:a16="http://schemas.microsoft.com/office/drawing/2014/main" id="{3D7315CD-4DEE-40BC-9157-8D21CDE2FAEA}"/>
                </a:ext>
              </a:extLst>
            </p:cNvPr>
            <p:cNvSpPr>
              <a:spLocks noChangeShapeType="1"/>
            </p:cNvSpPr>
            <p:nvPr/>
          </p:nvSpPr>
          <p:spPr bwMode="auto">
            <a:xfrm>
              <a:off x="4932040" y="3514656"/>
              <a:ext cx="501848" cy="8294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43" name="Line 35">
              <a:extLst>
                <a:ext uri="{FF2B5EF4-FFF2-40B4-BE49-F238E27FC236}">
                  <a16:creationId xmlns:a16="http://schemas.microsoft.com/office/drawing/2014/main" id="{C737EFB1-E7DD-4DEA-BEBB-06A2FEB2629E}"/>
                </a:ext>
              </a:extLst>
            </p:cNvPr>
            <p:cNvSpPr>
              <a:spLocks noChangeShapeType="1"/>
            </p:cNvSpPr>
            <p:nvPr/>
          </p:nvSpPr>
          <p:spPr bwMode="auto">
            <a:xfrm>
              <a:off x="5080222" y="3533775"/>
              <a:ext cx="536575"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44" name="Line 36">
              <a:extLst>
                <a:ext uri="{FF2B5EF4-FFF2-40B4-BE49-F238E27FC236}">
                  <a16:creationId xmlns:a16="http://schemas.microsoft.com/office/drawing/2014/main" id="{76CAAD7D-D315-42DC-B93C-A7F5ACCC6EF5}"/>
                </a:ext>
              </a:extLst>
            </p:cNvPr>
            <p:cNvSpPr>
              <a:spLocks noChangeShapeType="1"/>
            </p:cNvSpPr>
            <p:nvPr/>
          </p:nvSpPr>
          <p:spPr bwMode="auto">
            <a:xfrm flipH="1" flipV="1">
              <a:off x="1476374" y="3556562"/>
              <a:ext cx="574672" cy="3455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45" name="Line 37">
              <a:extLst>
                <a:ext uri="{FF2B5EF4-FFF2-40B4-BE49-F238E27FC236}">
                  <a16:creationId xmlns:a16="http://schemas.microsoft.com/office/drawing/2014/main" id="{B6B1660B-99DE-40F8-B5A4-24172ADDE14E}"/>
                </a:ext>
              </a:extLst>
            </p:cNvPr>
            <p:cNvSpPr>
              <a:spLocks noChangeShapeType="1"/>
            </p:cNvSpPr>
            <p:nvPr/>
          </p:nvSpPr>
          <p:spPr bwMode="auto">
            <a:xfrm flipH="1" flipV="1">
              <a:off x="1452902" y="3902076"/>
              <a:ext cx="592275" cy="178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46" name="Line 38">
              <a:extLst>
                <a:ext uri="{FF2B5EF4-FFF2-40B4-BE49-F238E27FC236}">
                  <a16:creationId xmlns:a16="http://schemas.microsoft.com/office/drawing/2014/main" id="{8E329C60-520C-443C-AAF6-3409C69D7E1C}"/>
                </a:ext>
              </a:extLst>
            </p:cNvPr>
            <p:cNvSpPr>
              <a:spLocks noChangeShapeType="1"/>
            </p:cNvSpPr>
            <p:nvPr/>
          </p:nvSpPr>
          <p:spPr bwMode="auto">
            <a:xfrm flipH="1" flipV="1">
              <a:off x="1476374" y="3038474"/>
              <a:ext cx="832314" cy="712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47" name="AutoShape 39">
              <a:extLst>
                <a:ext uri="{FF2B5EF4-FFF2-40B4-BE49-F238E27FC236}">
                  <a16:creationId xmlns:a16="http://schemas.microsoft.com/office/drawing/2014/main" id="{54A224DD-F59F-4DDD-8A7F-0D9252384069}"/>
                </a:ext>
              </a:extLst>
            </p:cNvPr>
            <p:cNvSpPr>
              <a:spLocks noChangeArrowheads="1"/>
            </p:cNvSpPr>
            <p:nvPr/>
          </p:nvSpPr>
          <p:spPr bwMode="auto">
            <a:xfrm>
              <a:off x="2308688" y="3108578"/>
              <a:ext cx="361950" cy="371475"/>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8948" name="AutoShape 40">
              <a:extLst>
                <a:ext uri="{FF2B5EF4-FFF2-40B4-BE49-F238E27FC236}">
                  <a16:creationId xmlns:a16="http://schemas.microsoft.com/office/drawing/2014/main" id="{43EFCE55-8F35-4D2F-A7D4-FB68200EBD40}"/>
                </a:ext>
              </a:extLst>
            </p:cNvPr>
            <p:cNvSpPr>
              <a:spLocks noChangeArrowheads="1"/>
            </p:cNvSpPr>
            <p:nvPr/>
          </p:nvSpPr>
          <p:spPr bwMode="auto">
            <a:xfrm>
              <a:off x="3956050" y="2420888"/>
              <a:ext cx="360363" cy="311150"/>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8949" name="Rectangle 41">
              <a:extLst>
                <a:ext uri="{FF2B5EF4-FFF2-40B4-BE49-F238E27FC236}">
                  <a16:creationId xmlns:a16="http://schemas.microsoft.com/office/drawing/2014/main" id="{E43468D6-22FE-4720-9A49-1E1DE45FEE41}"/>
                </a:ext>
              </a:extLst>
            </p:cNvPr>
            <p:cNvSpPr>
              <a:spLocks noChangeArrowheads="1"/>
            </p:cNvSpPr>
            <p:nvPr/>
          </p:nvSpPr>
          <p:spPr bwMode="auto">
            <a:xfrm>
              <a:off x="6121400" y="1557338"/>
              <a:ext cx="2914650" cy="1187450"/>
            </a:xfrm>
            <a:prstGeom prst="rect">
              <a:avLst/>
            </a:prstGeom>
            <a:solidFill>
              <a:srgbClr val="EFF3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200">
                  <a:solidFill>
                    <a:schemeClr val="tx2"/>
                  </a:solidFill>
                </a:rPr>
                <a:t>1. Entidades débiles no llevan clave primaria: llevan discriminante.</a:t>
              </a:r>
            </a:p>
            <a:p>
              <a:pPr>
                <a:spcBef>
                  <a:spcPct val="0"/>
                </a:spcBef>
                <a:buClrTx/>
                <a:buSzTx/>
                <a:buFontTx/>
                <a:buNone/>
              </a:pPr>
              <a:r>
                <a:rPr lang="es-ES" altLang="es-ES" sz="1200">
                  <a:solidFill>
                    <a:schemeClr val="tx2"/>
                  </a:solidFill>
                </a:rPr>
                <a:t>2. No se formalizan las claves foráneas.</a:t>
              </a:r>
            </a:p>
            <a:p>
              <a:pPr>
                <a:spcBef>
                  <a:spcPct val="0"/>
                </a:spcBef>
                <a:buClrTx/>
                <a:buSzTx/>
                <a:buFontTx/>
                <a:buNone/>
              </a:pPr>
              <a:r>
                <a:rPr lang="es-ES" altLang="es-ES" sz="1200">
                  <a:solidFill>
                    <a:schemeClr val="tx2"/>
                  </a:solidFill>
                </a:rPr>
                <a:t>3. Existen relaciones M-M.</a:t>
              </a:r>
            </a:p>
            <a:p>
              <a:pPr>
                <a:spcBef>
                  <a:spcPct val="0"/>
                </a:spcBef>
                <a:buClrTx/>
                <a:buSzTx/>
                <a:buFontTx/>
                <a:buNone/>
              </a:pPr>
              <a:r>
                <a:rPr lang="es-ES" altLang="es-ES" sz="1200">
                  <a:solidFill>
                    <a:schemeClr val="tx2"/>
                  </a:solidFill>
                </a:rPr>
                <a:t>4. Los grupos repetitivos: con atributos multivaluados o entidades débiles.</a:t>
              </a:r>
              <a:endParaRPr lang="es-ES" altLang="es-ES" sz="1200"/>
            </a:p>
          </p:txBody>
        </p:sp>
        <p:grpSp>
          <p:nvGrpSpPr>
            <p:cNvPr id="38950" name="Group 46">
              <a:extLst>
                <a:ext uri="{FF2B5EF4-FFF2-40B4-BE49-F238E27FC236}">
                  <a16:creationId xmlns:a16="http://schemas.microsoft.com/office/drawing/2014/main" id="{0BF5D0B4-F221-4ED1-9C78-75457565FB70}"/>
                </a:ext>
              </a:extLst>
            </p:cNvPr>
            <p:cNvGrpSpPr>
              <a:grpSpLocks/>
            </p:cNvGrpSpPr>
            <p:nvPr/>
          </p:nvGrpSpPr>
          <p:grpSpPr bwMode="auto">
            <a:xfrm>
              <a:off x="2484217" y="4279907"/>
              <a:ext cx="1335088" cy="635001"/>
              <a:chOff x="2078" y="2394"/>
              <a:chExt cx="841" cy="400"/>
            </a:xfrm>
          </p:grpSpPr>
          <p:grpSp>
            <p:nvGrpSpPr>
              <p:cNvPr id="38984" name="Group 47">
                <a:extLst>
                  <a:ext uri="{FF2B5EF4-FFF2-40B4-BE49-F238E27FC236}">
                    <a16:creationId xmlns:a16="http://schemas.microsoft.com/office/drawing/2014/main" id="{2F56BE33-2E5D-48B3-AD35-B88132BD9FE6}"/>
                  </a:ext>
                </a:extLst>
              </p:cNvPr>
              <p:cNvGrpSpPr>
                <a:grpSpLocks/>
              </p:cNvGrpSpPr>
              <p:nvPr/>
            </p:nvGrpSpPr>
            <p:grpSpPr bwMode="auto">
              <a:xfrm>
                <a:off x="2135" y="2432"/>
                <a:ext cx="784" cy="362"/>
                <a:chOff x="2040" y="2448"/>
                <a:chExt cx="784" cy="362"/>
              </a:xfrm>
            </p:grpSpPr>
            <p:sp>
              <p:nvSpPr>
                <p:cNvPr id="38986" name="Oval 48">
                  <a:extLst>
                    <a:ext uri="{FF2B5EF4-FFF2-40B4-BE49-F238E27FC236}">
                      <a16:creationId xmlns:a16="http://schemas.microsoft.com/office/drawing/2014/main" id="{465D43B2-4480-4FEE-839F-0DE8FCBACC63}"/>
                    </a:ext>
                  </a:extLst>
                </p:cNvPr>
                <p:cNvSpPr>
                  <a:spLocks noChangeArrowheads="1"/>
                </p:cNvSpPr>
                <p:nvPr/>
              </p:nvSpPr>
              <p:spPr bwMode="auto">
                <a:xfrm>
                  <a:off x="2069" y="2487"/>
                  <a:ext cx="755" cy="2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Teléfono</a:t>
                  </a:r>
                </a:p>
              </p:txBody>
            </p:sp>
            <p:sp>
              <p:nvSpPr>
                <p:cNvPr id="38987" name="Oval 49">
                  <a:extLst>
                    <a:ext uri="{FF2B5EF4-FFF2-40B4-BE49-F238E27FC236}">
                      <a16:creationId xmlns:a16="http://schemas.microsoft.com/office/drawing/2014/main" id="{64E22473-4D23-4789-88C3-D8F966BA69C3}"/>
                    </a:ext>
                  </a:extLst>
                </p:cNvPr>
                <p:cNvSpPr>
                  <a:spLocks noChangeArrowheads="1"/>
                </p:cNvSpPr>
                <p:nvPr/>
              </p:nvSpPr>
              <p:spPr bwMode="auto">
                <a:xfrm>
                  <a:off x="2040" y="2448"/>
                  <a:ext cx="771" cy="36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38985" name="Line 50">
                <a:extLst>
                  <a:ext uri="{FF2B5EF4-FFF2-40B4-BE49-F238E27FC236}">
                    <a16:creationId xmlns:a16="http://schemas.microsoft.com/office/drawing/2014/main" id="{FFD33562-0142-45AA-8BF6-B81E9BB74353}"/>
                  </a:ext>
                </a:extLst>
              </p:cNvPr>
              <p:cNvSpPr>
                <a:spLocks noChangeShapeType="1"/>
              </p:cNvSpPr>
              <p:nvPr/>
            </p:nvSpPr>
            <p:spPr bwMode="auto">
              <a:xfrm>
                <a:off x="2078" y="2394"/>
                <a:ext cx="136" cy="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grpSp>
          <p:nvGrpSpPr>
            <p:cNvPr id="38951" name="Group 51">
              <a:extLst>
                <a:ext uri="{FF2B5EF4-FFF2-40B4-BE49-F238E27FC236}">
                  <a16:creationId xmlns:a16="http://schemas.microsoft.com/office/drawing/2014/main" id="{4196BB29-3398-4CBE-99E9-7A54ACC9DF93}"/>
                </a:ext>
              </a:extLst>
            </p:cNvPr>
            <p:cNvGrpSpPr>
              <a:grpSpLocks/>
            </p:cNvGrpSpPr>
            <p:nvPr/>
          </p:nvGrpSpPr>
          <p:grpSpPr bwMode="auto">
            <a:xfrm>
              <a:off x="5092576" y="2997200"/>
              <a:ext cx="3871913" cy="904875"/>
              <a:chOff x="3028" y="1888"/>
              <a:chExt cx="2439" cy="570"/>
            </a:xfrm>
          </p:grpSpPr>
          <p:sp>
            <p:nvSpPr>
              <p:cNvPr id="38968" name="Line 52">
                <a:extLst>
                  <a:ext uri="{FF2B5EF4-FFF2-40B4-BE49-F238E27FC236}">
                    <a16:creationId xmlns:a16="http://schemas.microsoft.com/office/drawing/2014/main" id="{9F1E5D7F-3160-47B4-B64E-B0B96876463A}"/>
                  </a:ext>
                </a:extLst>
              </p:cNvPr>
              <p:cNvSpPr>
                <a:spLocks noChangeShapeType="1"/>
              </p:cNvSpPr>
              <p:nvPr/>
            </p:nvSpPr>
            <p:spPr bwMode="auto">
              <a:xfrm flipV="1">
                <a:off x="3028" y="2140"/>
                <a:ext cx="623" cy="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69" name="AutoShape 53">
                <a:extLst>
                  <a:ext uri="{FF2B5EF4-FFF2-40B4-BE49-F238E27FC236}">
                    <a16:creationId xmlns:a16="http://schemas.microsoft.com/office/drawing/2014/main" id="{46303D00-F094-4202-8957-0E6A69D43DDA}"/>
                  </a:ext>
                </a:extLst>
              </p:cNvPr>
              <p:cNvSpPr>
                <a:spLocks noChangeArrowheads="1"/>
              </p:cNvSpPr>
              <p:nvPr/>
            </p:nvSpPr>
            <p:spPr bwMode="auto">
              <a:xfrm>
                <a:off x="3243" y="2024"/>
                <a:ext cx="228" cy="234"/>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8970" name="Rectangle 54">
                <a:extLst>
                  <a:ext uri="{FF2B5EF4-FFF2-40B4-BE49-F238E27FC236}">
                    <a16:creationId xmlns:a16="http://schemas.microsoft.com/office/drawing/2014/main" id="{D8D2943F-9CF5-4875-9619-6BE440B69F0C}"/>
                  </a:ext>
                </a:extLst>
              </p:cNvPr>
              <p:cNvSpPr>
                <a:spLocks noChangeArrowheads="1"/>
              </p:cNvSpPr>
              <p:nvPr/>
            </p:nvSpPr>
            <p:spPr bwMode="auto">
              <a:xfrm>
                <a:off x="3656" y="1941"/>
                <a:ext cx="902" cy="44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a:t>
                </a:r>
                <a:br>
                  <a:rPr lang="en-US" altLang="es-ES" sz="1400">
                    <a:solidFill>
                      <a:schemeClr val="folHlink"/>
                    </a:solidFill>
                  </a:rPr>
                </a:br>
                <a:r>
                  <a:rPr lang="en-US" altLang="es-ES" sz="1400">
                    <a:solidFill>
                      <a:schemeClr val="folHlink"/>
                    </a:solidFill>
                  </a:rPr>
                  <a:t>HISTORICO</a:t>
                </a:r>
                <a:r>
                  <a:rPr lang="en-US" altLang="es-ES" sz="1800">
                    <a:solidFill>
                      <a:schemeClr val="folHlink"/>
                    </a:solidFill>
                  </a:rPr>
                  <a:t> </a:t>
                </a:r>
                <a:br>
                  <a:rPr lang="en-US" altLang="es-ES" sz="1800">
                    <a:solidFill>
                      <a:schemeClr val="folHlink"/>
                    </a:solidFill>
                  </a:rPr>
                </a:br>
                <a:br>
                  <a:rPr lang="en-US" altLang="es-ES" sz="400">
                    <a:solidFill>
                      <a:schemeClr val="folHlink"/>
                    </a:solidFill>
                  </a:rPr>
                </a:br>
                <a:endParaRPr lang="en-US" altLang="es-ES" sz="400">
                  <a:solidFill>
                    <a:schemeClr val="folHlink"/>
                  </a:solidFill>
                </a:endParaRPr>
              </a:p>
            </p:txBody>
          </p:sp>
          <p:sp>
            <p:nvSpPr>
              <p:cNvPr id="38971" name="Rectangle 55">
                <a:extLst>
                  <a:ext uri="{FF2B5EF4-FFF2-40B4-BE49-F238E27FC236}">
                    <a16:creationId xmlns:a16="http://schemas.microsoft.com/office/drawing/2014/main" id="{6F3F84FE-1762-4367-B57B-C464A78B29C1}"/>
                  </a:ext>
                </a:extLst>
              </p:cNvPr>
              <p:cNvSpPr>
                <a:spLocks noChangeArrowheads="1"/>
              </p:cNvSpPr>
              <p:nvPr/>
            </p:nvSpPr>
            <p:spPr bwMode="auto">
              <a:xfrm>
                <a:off x="3696" y="1979"/>
                <a:ext cx="816" cy="36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38972" name="AutoShape 56">
                <a:extLst>
                  <a:ext uri="{FF2B5EF4-FFF2-40B4-BE49-F238E27FC236}">
                    <a16:creationId xmlns:a16="http://schemas.microsoft.com/office/drawing/2014/main" id="{51CCF413-AD84-4B09-A58E-091EE66EBC42}"/>
                  </a:ext>
                </a:extLst>
              </p:cNvPr>
              <p:cNvSpPr>
                <a:spLocks noChangeArrowheads="1"/>
              </p:cNvSpPr>
              <p:nvPr/>
            </p:nvSpPr>
            <p:spPr bwMode="auto">
              <a:xfrm>
                <a:off x="3283" y="2059"/>
                <a:ext cx="151" cy="156"/>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nvGrpSpPr>
              <p:cNvPr id="38973" name="Group 57">
                <a:extLst>
                  <a:ext uri="{FF2B5EF4-FFF2-40B4-BE49-F238E27FC236}">
                    <a16:creationId xmlns:a16="http://schemas.microsoft.com/office/drawing/2014/main" id="{38B5BF6B-66AC-467E-B987-68DEFA685BD2}"/>
                  </a:ext>
                </a:extLst>
              </p:cNvPr>
              <p:cNvGrpSpPr>
                <a:grpSpLocks/>
              </p:cNvGrpSpPr>
              <p:nvPr/>
            </p:nvGrpSpPr>
            <p:grpSpPr bwMode="auto">
              <a:xfrm>
                <a:off x="3045" y="2099"/>
                <a:ext cx="19" cy="91"/>
                <a:chOff x="5057" y="2225"/>
                <a:chExt cx="19" cy="91"/>
              </a:xfrm>
            </p:grpSpPr>
            <p:sp>
              <p:nvSpPr>
                <p:cNvPr id="38982" name="Line 58">
                  <a:extLst>
                    <a:ext uri="{FF2B5EF4-FFF2-40B4-BE49-F238E27FC236}">
                      <a16:creationId xmlns:a16="http://schemas.microsoft.com/office/drawing/2014/main" id="{88F7819B-3BFC-41F8-B431-34E57A66E5CF}"/>
                    </a:ext>
                  </a:extLst>
                </p:cNvPr>
                <p:cNvSpPr>
                  <a:spLocks noChangeShapeType="1"/>
                </p:cNvSpPr>
                <p:nvPr/>
              </p:nvSpPr>
              <p:spPr bwMode="auto">
                <a:xfrm>
                  <a:off x="5057"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8983" name="Line 59">
                  <a:extLst>
                    <a:ext uri="{FF2B5EF4-FFF2-40B4-BE49-F238E27FC236}">
                      <a16:creationId xmlns:a16="http://schemas.microsoft.com/office/drawing/2014/main" id="{36C75A72-DCBD-4F72-8A73-D5CB17680407}"/>
                    </a:ext>
                  </a:extLst>
                </p:cNvPr>
                <p:cNvSpPr>
                  <a:spLocks noChangeShapeType="1"/>
                </p:cNvSpPr>
                <p:nvPr/>
              </p:nvSpPr>
              <p:spPr bwMode="auto">
                <a:xfrm>
                  <a:off x="5076"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8974" name="Group 60">
                <a:extLst>
                  <a:ext uri="{FF2B5EF4-FFF2-40B4-BE49-F238E27FC236}">
                    <a16:creationId xmlns:a16="http://schemas.microsoft.com/office/drawing/2014/main" id="{10A181E5-CE8D-4AAA-AE8D-FAD6EED60746}"/>
                  </a:ext>
                </a:extLst>
              </p:cNvPr>
              <p:cNvGrpSpPr>
                <a:grpSpLocks/>
              </p:cNvGrpSpPr>
              <p:nvPr/>
            </p:nvGrpSpPr>
            <p:grpSpPr bwMode="auto">
              <a:xfrm>
                <a:off x="3525" y="2034"/>
                <a:ext cx="317" cy="192"/>
                <a:chOff x="4785" y="2185"/>
                <a:chExt cx="317" cy="192"/>
              </a:xfrm>
            </p:grpSpPr>
            <p:sp>
              <p:nvSpPr>
                <p:cNvPr id="38980" name="Line 61">
                  <a:extLst>
                    <a:ext uri="{FF2B5EF4-FFF2-40B4-BE49-F238E27FC236}">
                      <a16:creationId xmlns:a16="http://schemas.microsoft.com/office/drawing/2014/main" id="{EAB92F0B-71D6-47C3-A063-73CE7EAC54D1}"/>
                    </a:ext>
                  </a:extLst>
                </p:cNvPr>
                <p:cNvSpPr>
                  <a:spLocks noChangeShapeType="1"/>
                </p:cNvSpPr>
                <p:nvPr/>
              </p:nvSpPr>
              <p:spPr bwMode="auto">
                <a:xfrm>
                  <a:off x="4830"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8981" name="Text Box 62">
                  <a:extLst>
                    <a:ext uri="{FF2B5EF4-FFF2-40B4-BE49-F238E27FC236}">
                      <a16:creationId xmlns:a16="http://schemas.microsoft.com/office/drawing/2014/main" id="{D3EB38EB-3CDF-4FAD-A066-FCAD9753D4A9}"/>
                    </a:ext>
                  </a:extLst>
                </p:cNvPr>
                <p:cNvSpPr txBox="1">
                  <a:spLocks noChangeArrowheads="1"/>
                </p:cNvSpPr>
                <p:nvPr/>
              </p:nvSpPr>
              <p:spPr bwMode="auto">
                <a:xfrm>
                  <a:off x="4785" y="2185"/>
                  <a:ext cx="3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s-ES" sz="1400"/>
                    <a:t>&lt;</a:t>
                  </a:r>
                </a:p>
              </p:txBody>
            </p:sp>
          </p:grpSp>
          <p:sp>
            <p:nvSpPr>
              <p:cNvPr id="38975" name="Oval 63">
                <a:extLst>
                  <a:ext uri="{FF2B5EF4-FFF2-40B4-BE49-F238E27FC236}">
                    <a16:creationId xmlns:a16="http://schemas.microsoft.com/office/drawing/2014/main" id="{D2C0B4A0-3017-49E6-BC4B-E7941F4885DE}"/>
                  </a:ext>
                </a:extLst>
              </p:cNvPr>
              <p:cNvSpPr>
                <a:spLocks noChangeArrowheads="1"/>
              </p:cNvSpPr>
              <p:nvPr/>
            </p:nvSpPr>
            <p:spPr bwMode="auto">
              <a:xfrm>
                <a:off x="4929" y="1888"/>
                <a:ext cx="532"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a:t>
                </a:r>
              </a:p>
            </p:txBody>
          </p:sp>
          <p:sp>
            <p:nvSpPr>
              <p:cNvPr id="38976" name="Oval 64">
                <a:extLst>
                  <a:ext uri="{FF2B5EF4-FFF2-40B4-BE49-F238E27FC236}">
                    <a16:creationId xmlns:a16="http://schemas.microsoft.com/office/drawing/2014/main" id="{195A69C4-913E-4F4B-B521-712EF57BED63}"/>
                  </a:ext>
                </a:extLst>
              </p:cNvPr>
              <p:cNvSpPr>
                <a:spLocks noChangeArrowheads="1"/>
              </p:cNvSpPr>
              <p:nvPr/>
            </p:nvSpPr>
            <p:spPr bwMode="auto">
              <a:xfrm>
                <a:off x="4921" y="2205"/>
                <a:ext cx="546"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a:t>
                </a:r>
              </a:p>
            </p:txBody>
          </p:sp>
          <p:sp>
            <p:nvSpPr>
              <p:cNvPr id="38977" name="Line 65">
                <a:extLst>
                  <a:ext uri="{FF2B5EF4-FFF2-40B4-BE49-F238E27FC236}">
                    <a16:creationId xmlns:a16="http://schemas.microsoft.com/office/drawing/2014/main" id="{91FEF5EE-A979-4086-9769-4F468FE07B3B}"/>
                  </a:ext>
                </a:extLst>
              </p:cNvPr>
              <p:cNvSpPr>
                <a:spLocks noChangeShapeType="1"/>
              </p:cNvSpPr>
              <p:nvPr/>
            </p:nvSpPr>
            <p:spPr bwMode="auto">
              <a:xfrm flipV="1">
                <a:off x="4558" y="2024"/>
                <a:ext cx="363"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8978" name="Line 66">
                <a:extLst>
                  <a:ext uri="{FF2B5EF4-FFF2-40B4-BE49-F238E27FC236}">
                    <a16:creationId xmlns:a16="http://schemas.microsoft.com/office/drawing/2014/main" id="{0C334CC3-641B-41AD-ADD2-BBA4A9FD0036}"/>
                  </a:ext>
                </a:extLst>
              </p:cNvPr>
              <p:cNvSpPr>
                <a:spLocks noChangeShapeType="1"/>
              </p:cNvSpPr>
              <p:nvPr/>
            </p:nvSpPr>
            <p:spPr bwMode="auto">
              <a:xfrm>
                <a:off x="4558" y="2205"/>
                <a:ext cx="363"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79" name="Line 67">
                <a:extLst>
                  <a:ext uri="{FF2B5EF4-FFF2-40B4-BE49-F238E27FC236}">
                    <a16:creationId xmlns:a16="http://schemas.microsoft.com/office/drawing/2014/main" id="{C4B61411-B0DF-4658-8197-75F502265699}"/>
                  </a:ext>
                </a:extLst>
              </p:cNvPr>
              <p:cNvSpPr>
                <a:spLocks noChangeShapeType="1"/>
              </p:cNvSpPr>
              <p:nvPr/>
            </p:nvSpPr>
            <p:spPr bwMode="auto">
              <a:xfrm>
                <a:off x="5022" y="2079"/>
                <a:ext cx="31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8952" name="Oval 32">
              <a:extLst>
                <a:ext uri="{FF2B5EF4-FFF2-40B4-BE49-F238E27FC236}">
                  <a16:creationId xmlns:a16="http://schemas.microsoft.com/office/drawing/2014/main" id="{C2BC9C64-419A-4E70-8F10-B5243EAC9BFC}"/>
                </a:ext>
              </a:extLst>
            </p:cNvPr>
            <p:cNvSpPr>
              <a:spLocks noChangeArrowheads="1"/>
            </p:cNvSpPr>
            <p:nvPr/>
          </p:nvSpPr>
          <p:spPr bwMode="auto">
            <a:xfrm>
              <a:off x="-6215" y="4189178"/>
              <a:ext cx="817331"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Calle</a:t>
              </a:r>
            </a:p>
          </p:txBody>
        </p:sp>
        <p:sp>
          <p:nvSpPr>
            <p:cNvPr id="38953" name="Oval 32">
              <a:extLst>
                <a:ext uri="{FF2B5EF4-FFF2-40B4-BE49-F238E27FC236}">
                  <a16:creationId xmlns:a16="http://schemas.microsoft.com/office/drawing/2014/main" id="{6E8598E8-7B36-4B31-B94D-7BFC12080E6F}"/>
                </a:ext>
              </a:extLst>
            </p:cNvPr>
            <p:cNvSpPr>
              <a:spLocks noChangeArrowheads="1"/>
            </p:cNvSpPr>
            <p:nvPr/>
          </p:nvSpPr>
          <p:spPr bwMode="auto">
            <a:xfrm>
              <a:off x="710864" y="4392400"/>
              <a:ext cx="961206"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Número</a:t>
              </a:r>
            </a:p>
          </p:txBody>
        </p:sp>
        <p:sp>
          <p:nvSpPr>
            <p:cNvPr id="38954" name="Oval 32">
              <a:extLst>
                <a:ext uri="{FF2B5EF4-FFF2-40B4-BE49-F238E27FC236}">
                  <a16:creationId xmlns:a16="http://schemas.microsoft.com/office/drawing/2014/main" id="{3C4B30DC-B2A5-40A1-A8D0-DCFA62AC7731}"/>
                </a:ext>
              </a:extLst>
            </p:cNvPr>
            <p:cNvSpPr>
              <a:spLocks noChangeArrowheads="1"/>
            </p:cNvSpPr>
            <p:nvPr/>
          </p:nvSpPr>
          <p:spPr bwMode="auto">
            <a:xfrm>
              <a:off x="1719029" y="4377399"/>
              <a:ext cx="770065"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Piso</a:t>
              </a:r>
            </a:p>
          </p:txBody>
        </p:sp>
        <p:cxnSp>
          <p:nvCxnSpPr>
            <p:cNvPr id="38955" name="177 Conector recto">
              <a:extLst>
                <a:ext uri="{FF2B5EF4-FFF2-40B4-BE49-F238E27FC236}">
                  <a16:creationId xmlns:a16="http://schemas.microsoft.com/office/drawing/2014/main" id="{0EECB451-E62D-4420-AB6F-AC6124941C75}"/>
                </a:ext>
              </a:extLst>
            </p:cNvPr>
            <p:cNvCxnSpPr>
              <a:cxnSpLocks noChangeShapeType="1"/>
              <a:stCxn id="38952" idx="0"/>
              <a:endCxn id="38940" idx="4"/>
            </p:cNvCxnSpPr>
            <p:nvPr/>
          </p:nvCxnSpPr>
          <p:spPr bwMode="auto">
            <a:xfrm flipV="1">
              <a:off x="402451" y="4080753"/>
              <a:ext cx="450376" cy="1084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8956" name="178 Conector recto">
              <a:extLst>
                <a:ext uri="{FF2B5EF4-FFF2-40B4-BE49-F238E27FC236}">
                  <a16:creationId xmlns:a16="http://schemas.microsoft.com/office/drawing/2014/main" id="{13D7217D-453F-4A04-A284-E2098CAD4F23}"/>
                </a:ext>
              </a:extLst>
            </p:cNvPr>
            <p:cNvCxnSpPr>
              <a:cxnSpLocks noChangeShapeType="1"/>
              <a:stCxn id="38953" idx="0"/>
              <a:endCxn id="38940" idx="4"/>
            </p:cNvCxnSpPr>
            <p:nvPr/>
          </p:nvCxnSpPr>
          <p:spPr bwMode="auto">
            <a:xfrm flipH="1" flipV="1">
              <a:off x="852827" y="4080753"/>
              <a:ext cx="338640" cy="3116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38957" name="179 Conector recto">
              <a:extLst>
                <a:ext uri="{FF2B5EF4-FFF2-40B4-BE49-F238E27FC236}">
                  <a16:creationId xmlns:a16="http://schemas.microsoft.com/office/drawing/2014/main" id="{B3C6B40C-3CB8-420A-B1CA-5B0EA75D70FC}"/>
                </a:ext>
              </a:extLst>
            </p:cNvPr>
            <p:cNvCxnSpPr>
              <a:cxnSpLocks noChangeShapeType="1"/>
              <a:stCxn id="38954" idx="1"/>
              <a:endCxn id="38940" idx="4"/>
            </p:cNvCxnSpPr>
            <p:nvPr/>
          </p:nvCxnSpPr>
          <p:spPr bwMode="auto">
            <a:xfrm flipH="1" flipV="1">
              <a:off x="852827" y="4080753"/>
              <a:ext cx="978975" cy="3505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38958" name="Oval 26">
              <a:extLst>
                <a:ext uri="{FF2B5EF4-FFF2-40B4-BE49-F238E27FC236}">
                  <a16:creationId xmlns:a16="http://schemas.microsoft.com/office/drawing/2014/main" id="{25C6FE08-FC1C-492D-AD2D-078472035159}"/>
                </a:ext>
              </a:extLst>
            </p:cNvPr>
            <p:cNvSpPr>
              <a:spLocks noChangeArrowheads="1"/>
            </p:cNvSpPr>
            <p:nvPr/>
          </p:nvSpPr>
          <p:spPr bwMode="auto">
            <a:xfrm>
              <a:off x="4504407" y="2436416"/>
              <a:ext cx="1359148" cy="432792"/>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Total item</a:t>
              </a:r>
            </a:p>
          </p:txBody>
        </p:sp>
        <p:sp>
          <p:nvSpPr>
            <p:cNvPr id="38959" name="Line 28">
              <a:extLst>
                <a:ext uri="{FF2B5EF4-FFF2-40B4-BE49-F238E27FC236}">
                  <a16:creationId xmlns:a16="http://schemas.microsoft.com/office/drawing/2014/main" id="{8D441689-2CA5-40A6-BF7B-E3119FE2B0DC}"/>
                </a:ext>
              </a:extLst>
            </p:cNvPr>
            <p:cNvSpPr>
              <a:spLocks noChangeShapeType="1"/>
            </p:cNvSpPr>
            <p:nvPr/>
          </p:nvSpPr>
          <p:spPr bwMode="auto">
            <a:xfrm>
              <a:off x="4299942" y="2581100"/>
              <a:ext cx="204466" cy="717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38960" name="182 Rectángulo">
              <a:extLst>
                <a:ext uri="{FF2B5EF4-FFF2-40B4-BE49-F238E27FC236}">
                  <a16:creationId xmlns:a16="http://schemas.microsoft.com/office/drawing/2014/main" id="{FF7214AD-DA76-4643-8418-8FDACC6F67E9}"/>
                </a:ext>
              </a:extLst>
            </p:cNvPr>
            <p:cNvSpPr>
              <a:spLocks noChangeArrowheads="1"/>
            </p:cNvSpPr>
            <p:nvPr/>
          </p:nvSpPr>
          <p:spPr bwMode="auto">
            <a:xfrm>
              <a:off x="3892406" y="4172599"/>
              <a:ext cx="981274" cy="40299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38961" name="183 CuadroTexto">
              <a:extLst>
                <a:ext uri="{FF2B5EF4-FFF2-40B4-BE49-F238E27FC236}">
                  <a16:creationId xmlns:a16="http://schemas.microsoft.com/office/drawing/2014/main" id="{C04C10C9-A764-4268-BB7B-957BCBE1B631}"/>
                </a:ext>
              </a:extLst>
            </p:cNvPr>
            <p:cNvSpPr txBox="1">
              <a:spLocks noChangeArrowheads="1"/>
            </p:cNvSpPr>
            <p:nvPr/>
          </p:nvSpPr>
          <p:spPr bwMode="auto">
            <a:xfrm>
              <a:off x="4067175" y="4223510"/>
              <a:ext cx="6261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a:solidFill>
                    <a:schemeClr val="folHlink"/>
                  </a:solidFill>
                </a:rPr>
                <a:t>ROPA</a:t>
              </a:r>
            </a:p>
          </p:txBody>
        </p:sp>
        <p:grpSp>
          <p:nvGrpSpPr>
            <p:cNvPr id="38962" name="Group 18">
              <a:extLst>
                <a:ext uri="{FF2B5EF4-FFF2-40B4-BE49-F238E27FC236}">
                  <a16:creationId xmlns:a16="http://schemas.microsoft.com/office/drawing/2014/main" id="{6A43194F-6A27-4DEE-94DF-4203481BB39C}"/>
                </a:ext>
              </a:extLst>
            </p:cNvPr>
            <p:cNvGrpSpPr>
              <a:grpSpLocks/>
            </p:cNvGrpSpPr>
            <p:nvPr/>
          </p:nvGrpSpPr>
          <p:grpSpPr bwMode="auto">
            <a:xfrm>
              <a:off x="4139952" y="3501008"/>
              <a:ext cx="398173" cy="671591"/>
              <a:chOff x="476" y="2251"/>
              <a:chExt cx="364" cy="544"/>
            </a:xfrm>
          </p:grpSpPr>
          <p:sp>
            <p:nvSpPr>
              <p:cNvPr id="38965" name="AutoShape 19">
                <a:extLst>
                  <a:ext uri="{FF2B5EF4-FFF2-40B4-BE49-F238E27FC236}">
                    <a16:creationId xmlns:a16="http://schemas.microsoft.com/office/drawing/2014/main" id="{AC5147D8-BCD6-48ED-9EEC-A12CC18DE695}"/>
                  </a:ext>
                </a:extLst>
              </p:cNvPr>
              <p:cNvSpPr>
                <a:spLocks noChangeArrowheads="1"/>
              </p:cNvSpPr>
              <p:nvPr/>
            </p:nvSpPr>
            <p:spPr bwMode="auto">
              <a:xfrm rot="10800000">
                <a:off x="476" y="2341"/>
                <a:ext cx="364" cy="352"/>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000">
                    <a:solidFill>
                      <a:schemeClr val="folHlink"/>
                    </a:solidFill>
                  </a:rPr>
                  <a:t>ES</a:t>
                </a:r>
              </a:p>
            </p:txBody>
          </p:sp>
          <p:sp>
            <p:nvSpPr>
              <p:cNvPr id="38966" name="Line 20">
                <a:extLst>
                  <a:ext uri="{FF2B5EF4-FFF2-40B4-BE49-F238E27FC236}">
                    <a16:creationId xmlns:a16="http://schemas.microsoft.com/office/drawing/2014/main" id="{6AF8BD9B-F077-44A3-9AD3-9490364CFDCB}"/>
                  </a:ext>
                </a:extLst>
              </p:cNvPr>
              <p:cNvSpPr>
                <a:spLocks noChangeShapeType="1"/>
              </p:cNvSpPr>
              <p:nvPr/>
            </p:nvSpPr>
            <p:spPr bwMode="auto">
              <a:xfrm flipV="1">
                <a:off x="657"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38967" name="Line 21">
                <a:extLst>
                  <a:ext uri="{FF2B5EF4-FFF2-40B4-BE49-F238E27FC236}">
                    <a16:creationId xmlns:a16="http://schemas.microsoft.com/office/drawing/2014/main" id="{F39D4827-9881-4890-AF8D-4B57E017CF80}"/>
                  </a:ext>
                </a:extLst>
              </p:cNvPr>
              <p:cNvSpPr>
                <a:spLocks noChangeShapeType="1"/>
              </p:cNvSpPr>
              <p:nvPr/>
            </p:nvSpPr>
            <p:spPr bwMode="auto">
              <a:xfrm flipV="1">
                <a:off x="657" y="2705"/>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38963" name="Oval 32">
              <a:extLst>
                <a:ext uri="{FF2B5EF4-FFF2-40B4-BE49-F238E27FC236}">
                  <a16:creationId xmlns:a16="http://schemas.microsoft.com/office/drawing/2014/main" id="{E6C31609-2419-419F-8F46-F6E207F5F692}"/>
                </a:ext>
              </a:extLst>
            </p:cNvPr>
            <p:cNvSpPr>
              <a:spLocks noChangeArrowheads="1"/>
            </p:cNvSpPr>
            <p:nvPr/>
          </p:nvSpPr>
          <p:spPr bwMode="auto">
            <a:xfrm>
              <a:off x="4578444" y="4681751"/>
              <a:ext cx="770065"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Talle</a:t>
              </a:r>
            </a:p>
          </p:txBody>
        </p:sp>
        <p:cxnSp>
          <p:nvCxnSpPr>
            <p:cNvPr id="38964" name="186 Conector recto">
              <a:extLst>
                <a:ext uri="{FF2B5EF4-FFF2-40B4-BE49-F238E27FC236}">
                  <a16:creationId xmlns:a16="http://schemas.microsoft.com/office/drawing/2014/main" id="{C589516C-5469-4D97-AA54-3B091794694E}"/>
                </a:ext>
              </a:extLst>
            </p:cNvPr>
            <p:cNvCxnSpPr>
              <a:cxnSpLocks noChangeShapeType="1"/>
              <a:stCxn id="38963" idx="1"/>
              <a:endCxn id="38960" idx="2"/>
            </p:cNvCxnSpPr>
            <p:nvPr/>
          </p:nvCxnSpPr>
          <p:spPr bwMode="auto">
            <a:xfrm flipH="1" flipV="1">
              <a:off x="4383043" y="4575589"/>
              <a:ext cx="308174" cy="16003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069"/>
                                        </p:tgtEl>
                                        <p:attrNameLst>
                                          <p:attrName>style.visibility</p:attrName>
                                        </p:attrNameLst>
                                      </p:cBhvr>
                                      <p:to>
                                        <p:strVal val="visible"/>
                                      </p:to>
                                    </p:set>
                                    <p:anim calcmode="lin" valueType="num">
                                      <p:cBhvr additive="base">
                                        <p:cTn id="7" dur="500" fill="hold"/>
                                        <p:tgtEl>
                                          <p:spTgt spid="128069"/>
                                        </p:tgtEl>
                                        <p:attrNameLst>
                                          <p:attrName>ppt_x</p:attrName>
                                        </p:attrNameLst>
                                      </p:cBhvr>
                                      <p:tavLst>
                                        <p:tav tm="0">
                                          <p:val>
                                            <p:strVal val="#ppt_x"/>
                                          </p:val>
                                        </p:tav>
                                        <p:tav tm="100000">
                                          <p:val>
                                            <p:strVal val="#ppt_x"/>
                                          </p:val>
                                        </p:tav>
                                      </p:tavLst>
                                    </p:anim>
                                    <p:anim calcmode="lin" valueType="num">
                                      <p:cBhvr additive="base">
                                        <p:cTn id="8" dur="500" fill="hold"/>
                                        <p:tgtEl>
                                          <p:spTgt spid="12806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806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6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C7A3DED3-C894-47AB-AE04-1195D3F6E96A}"/>
              </a:ext>
            </a:extLst>
          </p:cNvPr>
          <p:cNvSpPr>
            <a:spLocks noChangeArrowheads="1"/>
          </p:cNvSpPr>
          <p:nvPr/>
        </p:nvSpPr>
        <p:spPr bwMode="auto">
          <a:xfrm>
            <a:off x="0" y="4797425"/>
            <a:ext cx="9144000" cy="2060575"/>
          </a:xfrm>
          <a:prstGeom prst="rect">
            <a:avLst/>
          </a:prstGeom>
          <a:solidFill>
            <a:srgbClr val="EFF3D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40963" name="Rectangle 3">
            <a:extLst>
              <a:ext uri="{FF2B5EF4-FFF2-40B4-BE49-F238E27FC236}">
                <a16:creationId xmlns:a16="http://schemas.microsoft.com/office/drawing/2014/main" id="{AF480816-C016-484F-BF20-D66555841127}"/>
              </a:ext>
            </a:extLst>
          </p:cNvPr>
          <p:cNvSpPr>
            <a:spLocks noGrp="1" noChangeArrowheads="1"/>
          </p:cNvSpPr>
          <p:nvPr>
            <p:ph type="title" idx="4294967295"/>
          </p:nvPr>
        </p:nvSpPr>
        <p:spPr>
          <a:xfrm>
            <a:off x="0" y="304800"/>
            <a:ext cx="8943975" cy="1143000"/>
          </a:xfrm>
        </p:spPr>
        <p:txBody>
          <a:bodyPr/>
          <a:lstStyle/>
          <a:p>
            <a:pPr algn="ctr" eaLnBrk="1" hangingPunct="1"/>
            <a:r>
              <a:rPr lang="es-ES" altLang="es-ES">
                <a:solidFill>
                  <a:schemeClr val="folHlink"/>
                </a:solidFill>
              </a:rPr>
              <a:t>    M ER</a:t>
            </a:r>
            <a:endParaRPr lang="es-AR" altLang="es-ES">
              <a:solidFill>
                <a:schemeClr val="folHlink"/>
              </a:solidFill>
            </a:endParaRPr>
          </a:p>
        </p:txBody>
      </p:sp>
      <p:sp>
        <p:nvSpPr>
          <p:cNvPr id="40964" name="Rectangle 41">
            <a:extLst>
              <a:ext uri="{FF2B5EF4-FFF2-40B4-BE49-F238E27FC236}">
                <a16:creationId xmlns:a16="http://schemas.microsoft.com/office/drawing/2014/main" id="{554A6A6F-A928-4B01-A177-16B0F76D8F8E}"/>
              </a:ext>
            </a:extLst>
          </p:cNvPr>
          <p:cNvSpPr>
            <a:spLocks noChangeArrowheads="1"/>
          </p:cNvSpPr>
          <p:nvPr/>
        </p:nvSpPr>
        <p:spPr bwMode="auto">
          <a:xfrm>
            <a:off x="6121400" y="1557338"/>
            <a:ext cx="2914650" cy="1187450"/>
          </a:xfrm>
          <a:prstGeom prst="rect">
            <a:avLst/>
          </a:prstGeom>
          <a:solidFill>
            <a:srgbClr val="EFF3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200">
                <a:solidFill>
                  <a:schemeClr val="tx2"/>
                </a:solidFill>
              </a:rPr>
              <a:t>1. Entidades débiles no llevan clave primaria: llevan discriminante.</a:t>
            </a:r>
          </a:p>
          <a:p>
            <a:pPr>
              <a:spcBef>
                <a:spcPct val="0"/>
              </a:spcBef>
              <a:buClrTx/>
              <a:buSzTx/>
              <a:buFontTx/>
              <a:buNone/>
            </a:pPr>
            <a:r>
              <a:rPr lang="es-ES" altLang="es-ES" sz="1200">
                <a:solidFill>
                  <a:schemeClr val="tx2"/>
                </a:solidFill>
              </a:rPr>
              <a:t>2. No se formalizan las claves foráneas.</a:t>
            </a:r>
          </a:p>
          <a:p>
            <a:pPr>
              <a:spcBef>
                <a:spcPct val="0"/>
              </a:spcBef>
              <a:buClrTx/>
              <a:buSzTx/>
              <a:buFontTx/>
              <a:buNone/>
            </a:pPr>
            <a:r>
              <a:rPr lang="es-ES" altLang="es-ES" sz="1200">
                <a:solidFill>
                  <a:schemeClr val="tx2"/>
                </a:solidFill>
              </a:rPr>
              <a:t>3. Existen relaciones M-M.</a:t>
            </a:r>
          </a:p>
          <a:p>
            <a:pPr>
              <a:spcBef>
                <a:spcPct val="0"/>
              </a:spcBef>
              <a:buClrTx/>
              <a:buSzTx/>
              <a:buFontTx/>
              <a:buNone/>
            </a:pPr>
            <a:r>
              <a:rPr lang="es-ES" altLang="es-ES" sz="1200">
                <a:solidFill>
                  <a:schemeClr val="tx2"/>
                </a:solidFill>
              </a:rPr>
              <a:t>4. Los grupos repetitivos: con atributos multivaluados o entidades débiles.</a:t>
            </a:r>
            <a:endParaRPr lang="es-ES" altLang="es-ES" sz="1200"/>
          </a:p>
        </p:txBody>
      </p:sp>
      <p:grpSp>
        <p:nvGrpSpPr>
          <p:cNvPr id="40965" name="Group 42">
            <a:extLst>
              <a:ext uri="{FF2B5EF4-FFF2-40B4-BE49-F238E27FC236}">
                <a16:creationId xmlns:a16="http://schemas.microsoft.com/office/drawing/2014/main" id="{840F27E6-D3BF-4685-8882-239C3C4E3D90}"/>
              </a:ext>
            </a:extLst>
          </p:cNvPr>
          <p:cNvGrpSpPr>
            <a:grpSpLocks/>
          </p:cNvGrpSpPr>
          <p:nvPr/>
        </p:nvGrpSpPr>
        <p:grpSpPr bwMode="auto">
          <a:xfrm>
            <a:off x="73025" y="4792663"/>
            <a:ext cx="1763713" cy="1876425"/>
            <a:chOff x="46" y="2976"/>
            <a:chExt cx="1111" cy="1182"/>
          </a:xfrm>
        </p:grpSpPr>
        <p:sp>
          <p:nvSpPr>
            <p:cNvPr id="41045" name="Rectangle 43">
              <a:extLst>
                <a:ext uri="{FF2B5EF4-FFF2-40B4-BE49-F238E27FC236}">
                  <a16:creationId xmlns:a16="http://schemas.microsoft.com/office/drawing/2014/main" id="{34CE1BD9-8CE0-4A18-ABC1-DDD34890C4C8}"/>
                </a:ext>
              </a:extLst>
            </p:cNvPr>
            <p:cNvSpPr>
              <a:spLocks noChangeArrowheads="1"/>
            </p:cNvSpPr>
            <p:nvPr/>
          </p:nvSpPr>
          <p:spPr bwMode="auto">
            <a:xfrm>
              <a:off x="46" y="3022"/>
              <a:ext cx="1020"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600" b="1">
                  <a:solidFill>
                    <a:schemeClr val="tx2"/>
                  </a:solidFill>
                </a:rPr>
                <a:t>Reglas</a:t>
              </a:r>
              <a:r>
                <a:rPr lang="es-ES" altLang="es-ES" sz="1600">
                  <a:solidFill>
                    <a:schemeClr val="tx2"/>
                  </a:solidFill>
                </a:rPr>
                <a:t> de transformación:</a:t>
              </a:r>
            </a:p>
            <a:p>
              <a:pPr eaLnBrk="1" hangingPunct="1">
                <a:spcBef>
                  <a:spcPct val="0"/>
                </a:spcBef>
                <a:buClrTx/>
                <a:buSzTx/>
                <a:buFontTx/>
                <a:buNone/>
              </a:pPr>
              <a:r>
                <a:rPr lang="es-ES" altLang="es-ES" sz="1600">
                  <a:solidFill>
                    <a:schemeClr val="tx2"/>
                  </a:solidFill>
                </a:rPr>
                <a:t>MER -&gt; entidades en el Esquema de la base de datos (Tablas).</a:t>
              </a:r>
            </a:p>
          </p:txBody>
        </p:sp>
        <p:sp>
          <p:nvSpPr>
            <p:cNvPr id="41046" name="AutoShape 44">
              <a:extLst>
                <a:ext uri="{FF2B5EF4-FFF2-40B4-BE49-F238E27FC236}">
                  <a16:creationId xmlns:a16="http://schemas.microsoft.com/office/drawing/2014/main" id="{39A3AD85-61A5-48CC-AB83-C9FFD880CF81}"/>
                </a:ext>
              </a:extLst>
            </p:cNvPr>
            <p:cNvSpPr>
              <a:spLocks/>
            </p:cNvSpPr>
            <p:nvPr/>
          </p:nvSpPr>
          <p:spPr bwMode="auto">
            <a:xfrm>
              <a:off x="930" y="2976"/>
              <a:ext cx="227" cy="998"/>
            </a:xfrm>
            <a:prstGeom prst="leftBrace">
              <a:avLst>
                <a:gd name="adj1" fmla="val 36637"/>
                <a:gd name="adj2" fmla="val 50000"/>
              </a:avLst>
            </a:prstGeom>
            <a:noFill/>
            <a:ln w="9525">
              <a:solidFill>
                <a:srgbClr val="990033"/>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128070" name="Oval 70">
            <a:extLst>
              <a:ext uri="{FF2B5EF4-FFF2-40B4-BE49-F238E27FC236}">
                <a16:creationId xmlns:a16="http://schemas.microsoft.com/office/drawing/2014/main" id="{E7406AB3-6FB1-4586-B32F-08E704F88E2B}"/>
              </a:ext>
            </a:extLst>
          </p:cNvPr>
          <p:cNvSpPr>
            <a:spLocks noChangeArrowheads="1"/>
          </p:cNvSpPr>
          <p:nvPr/>
        </p:nvSpPr>
        <p:spPr bwMode="auto">
          <a:xfrm>
            <a:off x="4032250" y="5557838"/>
            <a:ext cx="358775" cy="392112"/>
          </a:xfrm>
          <a:prstGeom prst="ellipse">
            <a:avLst/>
          </a:prstGeom>
          <a:solidFill>
            <a:schemeClr val="folHlink"/>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a:solidFill>
                  <a:schemeClr val="bg1"/>
                </a:solidFill>
                <a:latin typeface="Arial" panose="020B0604020202020204" pitchFamily="34" charset="0"/>
              </a:rPr>
              <a:t>1</a:t>
            </a:r>
          </a:p>
        </p:txBody>
      </p:sp>
      <p:sp>
        <p:nvSpPr>
          <p:cNvPr id="128071" name="Rectangle 71">
            <a:extLst>
              <a:ext uri="{FF2B5EF4-FFF2-40B4-BE49-F238E27FC236}">
                <a16:creationId xmlns:a16="http://schemas.microsoft.com/office/drawing/2014/main" id="{72871662-16C9-4668-86A9-2D44C12A630F}"/>
              </a:ext>
            </a:extLst>
          </p:cNvPr>
          <p:cNvSpPr>
            <a:spLocks noChangeArrowheads="1"/>
          </p:cNvSpPr>
          <p:nvPr/>
        </p:nvSpPr>
        <p:spPr bwMode="auto">
          <a:xfrm>
            <a:off x="1692275" y="5229225"/>
            <a:ext cx="71294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Char char="•"/>
            </a:pPr>
            <a:r>
              <a:rPr lang="es-ES" altLang="es-ES" sz="1600">
                <a:solidFill>
                  <a:schemeClr val="tx2"/>
                </a:solidFill>
              </a:rPr>
              <a:t>APLICAR NORMALIZACIÓN PARA VALIDAR QUE LAS ENTIDADES ESTÉN BIEN FORMADAS</a:t>
            </a:r>
          </a:p>
        </p:txBody>
      </p:sp>
      <p:grpSp>
        <p:nvGrpSpPr>
          <p:cNvPr id="40968" name="142 Grupo">
            <a:extLst>
              <a:ext uri="{FF2B5EF4-FFF2-40B4-BE49-F238E27FC236}">
                <a16:creationId xmlns:a16="http://schemas.microsoft.com/office/drawing/2014/main" id="{5FD0526D-CBFD-4BD6-9039-DDB1A21A7C79}"/>
              </a:ext>
            </a:extLst>
          </p:cNvPr>
          <p:cNvGrpSpPr>
            <a:grpSpLocks/>
          </p:cNvGrpSpPr>
          <p:nvPr/>
        </p:nvGrpSpPr>
        <p:grpSpPr bwMode="auto">
          <a:xfrm>
            <a:off x="-6350" y="1514475"/>
            <a:ext cx="9042400" cy="3535363"/>
            <a:chOff x="-6215" y="1514475"/>
            <a:chExt cx="9042265" cy="3535149"/>
          </a:xfrm>
        </p:grpSpPr>
        <p:sp>
          <p:nvSpPr>
            <p:cNvPr id="40969" name="Rectangle 4">
              <a:extLst>
                <a:ext uri="{FF2B5EF4-FFF2-40B4-BE49-F238E27FC236}">
                  <a16:creationId xmlns:a16="http://schemas.microsoft.com/office/drawing/2014/main" id="{AA97A829-0D07-4EA8-80FB-9F3B290B923A}"/>
                </a:ext>
              </a:extLst>
            </p:cNvPr>
            <p:cNvSpPr>
              <a:spLocks noChangeArrowheads="1"/>
            </p:cNvSpPr>
            <p:nvPr/>
          </p:nvSpPr>
          <p:spPr bwMode="auto">
            <a:xfrm>
              <a:off x="2087563" y="2276872"/>
              <a:ext cx="971550" cy="55880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VENTA</a:t>
              </a:r>
            </a:p>
            <a:p>
              <a:pPr algn="ctr" eaLnBrk="1" hangingPunct="1">
                <a:spcBef>
                  <a:spcPct val="0"/>
                </a:spcBef>
                <a:buClrTx/>
                <a:buSzTx/>
                <a:buFontTx/>
                <a:buNone/>
              </a:pPr>
              <a:endParaRPr lang="en-US" altLang="es-ES" sz="1200">
                <a:solidFill>
                  <a:schemeClr val="folHlink"/>
                </a:solidFill>
              </a:endParaRPr>
            </a:p>
          </p:txBody>
        </p:sp>
        <p:sp>
          <p:nvSpPr>
            <p:cNvPr id="40970" name="Rectangle 5">
              <a:extLst>
                <a:ext uri="{FF2B5EF4-FFF2-40B4-BE49-F238E27FC236}">
                  <a16:creationId xmlns:a16="http://schemas.microsoft.com/office/drawing/2014/main" id="{C3ABB39C-77CF-4A56-A5A7-A742E753D086}"/>
                </a:ext>
              </a:extLst>
            </p:cNvPr>
            <p:cNvSpPr>
              <a:spLocks noChangeArrowheads="1"/>
            </p:cNvSpPr>
            <p:nvPr/>
          </p:nvSpPr>
          <p:spPr bwMode="auto">
            <a:xfrm>
              <a:off x="3618135" y="2985716"/>
              <a:ext cx="1474787"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PRODUCTO </a:t>
              </a:r>
            </a:p>
            <a:p>
              <a:pPr algn="ctr" eaLnBrk="1" hangingPunct="1">
                <a:spcBef>
                  <a:spcPct val="0"/>
                </a:spcBef>
                <a:buClrTx/>
                <a:buSzTx/>
                <a:buFontTx/>
                <a:buNone/>
              </a:pPr>
              <a:endParaRPr lang="en-US" altLang="es-ES" sz="1000">
                <a:solidFill>
                  <a:schemeClr val="folHlink"/>
                </a:solidFill>
              </a:endParaRPr>
            </a:p>
          </p:txBody>
        </p:sp>
        <p:sp>
          <p:nvSpPr>
            <p:cNvPr id="40971" name="Rectangle 6">
              <a:extLst>
                <a:ext uri="{FF2B5EF4-FFF2-40B4-BE49-F238E27FC236}">
                  <a16:creationId xmlns:a16="http://schemas.microsoft.com/office/drawing/2014/main" id="{C131D495-3D3D-4742-A33F-FACC602D3A0C}"/>
                </a:ext>
              </a:extLst>
            </p:cNvPr>
            <p:cNvSpPr>
              <a:spLocks noChangeArrowheads="1"/>
            </p:cNvSpPr>
            <p:nvPr/>
          </p:nvSpPr>
          <p:spPr bwMode="auto">
            <a:xfrm>
              <a:off x="2051050" y="3750811"/>
              <a:ext cx="1079500" cy="52863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CLIENTE </a:t>
              </a:r>
            </a:p>
            <a:p>
              <a:pPr algn="ctr" eaLnBrk="1" hangingPunct="1">
                <a:spcBef>
                  <a:spcPct val="0"/>
                </a:spcBef>
                <a:buClrTx/>
                <a:buSzTx/>
                <a:buFontTx/>
                <a:buNone/>
              </a:pPr>
              <a:endParaRPr lang="en-US" altLang="es-ES" sz="1000">
                <a:solidFill>
                  <a:schemeClr val="folHlink"/>
                </a:solidFill>
              </a:endParaRPr>
            </a:p>
          </p:txBody>
        </p:sp>
        <p:sp>
          <p:nvSpPr>
            <p:cNvPr id="40972" name="Line 7">
              <a:extLst>
                <a:ext uri="{FF2B5EF4-FFF2-40B4-BE49-F238E27FC236}">
                  <a16:creationId xmlns:a16="http://schemas.microsoft.com/office/drawing/2014/main" id="{4B5E4212-91CF-4706-A13F-DC9552C64101}"/>
                </a:ext>
              </a:extLst>
            </p:cNvPr>
            <p:cNvSpPr>
              <a:spLocks noChangeShapeType="1"/>
            </p:cNvSpPr>
            <p:nvPr/>
          </p:nvSpPr>
          <p:spPr bwMode="auto">
            <a:xfrm>
              <a:off x="2483768" y="2852936"/>
              <a:ext cx="0" cy="895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73" name="Freeform 8">
              <a:extLst>
                <a:ext uri="{FF2B5EF4-FFF2-40B4-BE49-F238E27FC236}">
                  <a16:creationId xmlns:a16="http://schemas.microsoft.com/office/drawing/2014/main" id="{EA1ACF8D-4CCD-4D8E-9A8C-BB6C2FB3042C}"/>
                </a:ext>
              </a:extLst>
            </p:cNvPr>
            <p:cNvSpPr>
              <a:spLocks/>
            </p:cNvSpPr>
            <p:nvPr/>
          </p:nvSpPr>
          <p:spPr bwMode="auto">
            <a:xfrm>
              <a:off x="3059832" y="2581101"/>
              <a:ext cx="1081087" cy="504825"/>
            </a:xfrm>
            <a:custGeom>
              <a:avLst/>
              <a:gdLst>
                <a:gd name="T0" fmla="*/ 0 w 685"/>
                <a:gd name="T1" fmla="*/ 0 h 318"/>
                <a:gd name="T2" fmla="*/ 2147483646 w 685"/>
                <a:gd name="T3" fmla="*/ 2147483646 h 318"/>
                <a:gd name="T4" fmla="*/ 2147483646 w 685"/>
                <a:gd name="T5" fmla="*/ 2147483646 h 318"/>
                <a:gd name="T6" fmla="*/ 0 60000 65536"/>
                <a:gd name="T7" fmla="*/ 0 60000 65536"/>
                <a:gd name="T8" fmla="*/ 0 60000 65536"/>
                <a:gd name="T9" fmla="*/ 0 w 685"/>
                <a:gd name="T10" fmla="*/ 0 h 318"/>
                <a:gd name="T11" fmla="*/ 685 w 685"/>
                <a:gd name="T12" fmla="*/ 318 h 318"/>
              </a:gdLst>
              <a:ahLst/>
              <a:cxnLst>
                <a:cxn ang="T6">
                  <a:pos x="T0" y="T1"/>
                </a:cxn>
                <a:cxn ang="T7">
                  <a:pos x="T2" y="T3"/>
                </a:cxn>
                <a:cxn ang="T8">
                  <a:pos x="T4" y="T5"/>
                </a:cxn>
              </a:cxnLst>
              <a:rect l="T9" t="T10" r="T11" b="T12"/>
              <a:pathLst>
                <a:path w="685" h="318">
                  <a:moveTo>
                    <a:pt x="0" y="0"/>
                  </a:moveTo>
                  <a:lnTo>
                    <a:pt x="685" y="2"/>
                  </a:lnTo>
                  <a:lnTo>
                    <a:pt x="681" y="318"/>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s-ES"/>
            </a:p>
          </p:txBody>
        </p:sp>
        <p:grpSp>
          <p:nvGrpSpPr>
            <p:cNvPr id="40974" name="Group 9">
              <a:extLst>
                <a:ext uri="{FF2B5EF4-FFF2-40B4-BE49-F238E27FC236}">
                  <a16:creationId xmlns:a16="http://schemas.microsoft.com/office/drawing/2014/main" id="{3A6F49D6-4341-432D-8984-3C44C90716F0}"/>
                </a:ext>
              </a:extLst>
            </p:cNvPr>
            <p:cNvGrpSpPr>
              <a:grpSpLocks/>
            </p:cNvGrpSpPr>
            <p:nvPr/>
          </p:nvGrpSpPr>
          <p:grpSpPr bwMode="auto">
            <a:xfrm>
              <a:off x="4013188" y="2780928"/>
              <a:ext cx="304800" cy="312738"/>
              <a:chOff x="2520" y="1597"/>
              <a:chExt cx="192" cy="197"/>
            </a:xfrm>
          </p:grpSpPr>
          <p:sp>
            <p:nvSpPr>
              <p:cNvPr id="41043" name="Text Box 10">
                <a:extLst>
                  <a:ext uri="{FF2B5EF4-FFF2-40B4-BE49-F238E27FC236}">
                    <a16:creationId xmlns:a16="http://schemas.microsoft.com/office/drawing/2014/main" id="{FB41D969-A73D-4890-920A-62C3EEDB83AB}"/>
                  </a:ext>
                </a:extLst>
              </p:cNvPr>
              <p:cNvSpPr txBox="1">
                <a:spLocks noChangeArrowheads="1"/>
              </p:cNvSpPr>
              <p:nvPr/>
            </p:nvSpPr>
            <p:spPr bwMode="auto">
              <a:xfrm rot="5400000">
                <a:off x="2517" y="160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41044" name="Line 11">
                <a:extLst>
                  <a:ext uri="{FF2B5EF4-FFF2-40B4-BE49-F238E27FC236}">
                    <a16:creationId xmlns:a16="http://schemas.microsoft.com/office/drawing/2014/main" id="{81B600F6-F658-465E-9E24-B727A64AD8AE}"/>
                  </a:ext>
                </a:extLst>
              </p:cNvPr>
              <p:cNvSpPr>
                <a:spLocks noChangeShapeType="1"/>
              </p:cNvSpPr>
              <p:nvPr/>
            </p:nvSpPr>
            <p:spPr bwMode="auto">
              <a:xfrm rot="5400000">
                <a:off x="2601" y="158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40975" name="Group 12">
              <a:extLst>
                <a:ext uri="{FF2B5EF4-FFF2-40B4-BE49-F238E27FC236}">
                  <a16:creationId xmlns:a16="http://schemas.microsoft.com/office/drawing/2014/main" id="{2A3D4638-80DF-47F0-A1C1-4B0F2D9865CE}"/>
                </a:ext>
              </a:extLst>
            </p:cNvPr>
            <p:cNvGrpSpPr>
              <a:grpSpLocks/>
            </p:cNvGrpSpPr>
            <p:nvPr/>
          </p:nvGrpSpPr>
          <p:grpSpPr bwMode="auto">
            <a:xfrm>
              <a:off x="2318213" y="2722568"/>
              <a:ext cx="312737" cy="412750"/>
              <a:chOff x="4502" y="2127"/>
              <a:chExt cx="197" cy="260"/>
            </a:xfrm>
          </p:grpSpPr>
          <p:sp>
            <p:nvSpPr>
              <p:cNvPr id="41041" name="Text Box 13">
                <a:extLst>
                  <a:ext uri="{FF2B5EF4-FFF2-40B4-BE49-F238E27FC236}">
                    <a16:creationId xmlns:a16="http://schemas.microsoft.com/office/drawing/2014/main" id="{A48C8334-338F-4063-B2BB-D0F0CBCE4A6B}"/>
                  </a:ext>
                </a:extLst>
              </p:cNvPr>
              <p:cNvSpPr txBox="1">
                <a:spLocks noChangeArrowheads="1"/>
              </p:cNvSpPr>
              <p:nvPr/>
            </p:nvSpPr>
            <p:spPr bwMode="auto">
              <a:xfrm rot="-5400000">
                <a:off x="4499" y="213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41042" name="Text Box 14">
                <a:extLst>
                  <a:ext uri="{FF2B5EF4-FFF2-40B4-BE49-F238E27FC236}">
                    <a16:creationId xmlns:a16="http://schemas.microsoft.com/office/drawing/2014/main" id="{1237D508-FC36-4613-BBF9-5D6D815056C7}"/>
                  </a:ext>
                </a:extLst>
              </p:cNvPr>
              <p:cNvSpPr txBox="1">
                <a:spLocks noChangeArrowheads="1"/>
              </p:cNvSpPr>
              <p:nvPr/>
            </p:nvSpPr>
            <p:spPr bwMode="auto">
              <a:xfrm>
                <a:off x="4522" y="2195"/>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o</a:t>
                </a:r>
              </a:p>
            </p:txBody>
          </p:sp>
        </p:grpSp>
        <p:grpSp>
          <p:nvGrpSpPr>
            <p:cNvPr id="40976" name="Group 15">
              <a:extLst>
                <a:ext uri="{FF2B5EF4-FFF2-40B4-BE49-F238E27FC236}">
                  <a16:creationId xmlns:a16="http://schemas.microsoft.com/office/drawing/2014/main" id="{4961EEDD-A177-430F-AD8E-2A65F86B011F}"/>
                </a:ext>
              </a:extLst>
            </p:cNvPr>
            <p:cNvGrpSpPr>
              <a:grpSpLocks/>
            </p:cNvGrpSpPr>
            <p:nvPr/>
          </p:nvGrpSpPr>
          <p:grpSpPr bwMode="auto">
            <a:xfrm rot="5400000">
              <a:off x="2466920" y="3589725"/>
              <a:ext cx="42863" cy="217488"/>
              <a:chOff x="2672" y="3368"/>
              <a:chExt cx="27" cy="137"/>
            </a:xfrm>
          </p:grpSpPr>
          <p:sp>
            <p:nvSpPr>
              <p:cNvPr id="41039" name="Line 16">
                <a:extLst>
                  <a:ext uri="{FF2B5EF4-FFF2-40B4-BE49-F238E27FC236}">
                    <a16:creationId xmlns:a16="http://schemas.microsoft.com/office/drawing/2014/main" id="{3EFE7EA7-341E-4A66-B5F8-574DF45A521A}"/>
                  </a:ext>
                </a:extLst>
              </p:cNvPr>
              <p:cNvSpPr>
                <a:spLocks noChangeShapeType="1"/>
              </p:cNvSpPr>
              <p:nvPr/>
            </p:nvSpPr>
            <p:spPr bwMode="auto">
              <a:xfrm>
                <a:off x="267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1040" name="Line 17">
                <a:extLst>
                  <a:ext uri="{FF2B5EF4-FFF2-40B4-BE49-F238E27FC236}">
                    <a16:creationId xmlns:a16="http://schemas.microsoft.com/office/drawing/2014/main" id="{FD3477D3-3362-4F39-B7AA-DFC78CD473A7}"/>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40977" name="Group 18">
              <a:extLst>
                <a:ext uri="{FF2B5EF4-FFF2-40B4-BE49-F238E27FC236}">
                  <a16:creationId xmlns:a16="http://schemas.microsoft.com/office/drawing/2014/main" id="{7245DD67-9381-43D0-B292-CAF3FBC587EE}"/>
                </a:ext>
              </a:extLst>
            </p:cNvPr>
            <p:cNvGrpSpPr>
              <a:grpSpLocks/>
            </p:cNvGrpSpPr>
            <p:nvPr/>
          </p:nvGrpSpPr>
          <p:grpSpPr bwMode="auto">
            <a:xfrm>
              <a:off x="2946400" y="2450412"/>
              <a:ext cx="312737" cy="304800"/>
              <a:chOff x="1887" y="1615"/>
              <a:chExt cx="197" cy="192"/>
            </a:xfrm>
          </p:grpSpPr>
          <p:sp>
            <p:nvSpPr>
              <p:cNvPr id="41037" name="Text Box 19">
                <a:extLst>
                  <a:ext uri="{FF2B5EF4-FFF2-40B4-BE49-F238E27FC236}">
                    <a16:creationId xmlns:a16="http://schemas.microsoft.com/office/drawing/2014/main" id="{DA766D39-01BE-4112-A16F-F983AC884F81}"/>
                  </a:ext>
                </a:extLst>
              </p:cNvPr>
              <p:cNvSpPr txBox="1">
                <a:spLocks noChangeArrowheads="1"/>
              </p:cNvSpPr>
              <p:nvPr/>
            </p:nvSpPr>
            <p:spPr bwMode="auto">
              <a:xfrm rot="10800000">
                <a:off x="1887" y="1615"/>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41038" name="Line 20">
                <a:extLst>
                  <a:ext uri="{FF2B5EF4-FFF2-40B4-BE49-F238E27FC236}">
                    <a16:creationId xmlns:a16="http://schemas.microsoft.com/office/drawing/2014/main" id="{C9EBD5FC-9DBB-43DB-A3D7-25A7E3043256}"/>
                  </a:ext>
                </a:extLst>
              </p:cNvPr>
              <p:cNvSpPr>
                <a:spLocks noChangeShapeType="1"/>
              </p:cNvSpPr>
              <p:nvPr/>
            </p:nvSpPr>
            <p:spPr bwMode="auto">
              <a:xfrm>
                <a:off x="2018" y="1631"/>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40978" name="Line 21">
              <a:extLst>
                <a:ext uri="{FF2B5EF4-FFF2-40B4-BE49-F238E27FC236}">
                  <a16:creationId xmlns:a16="http://schemas.microsoft.com/office/drawing/2014/main" id="{67FC58F0-6751-401F-B99E-A2F92B007104}"/>
                </a:ext>
              </a:extLst>
            </p:cNvPr>
            <p:cNvSpPr>
              <a:spLocks noChangeShapeType="1"/>
            </p:cNvSpPr>
            <p:nvPr/>
          </p:nvSpPr>
          <p:spPr bwMode="auto">
            <a:xfrm flipH="1" flipV="1">
              <a:off x="1651000" y="2205038"/>
              <a:ext cx="433388" cy="2857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79" name="Oval 22">
              <a:extLst>
                <a:ext uri="{FF2B5EF4-FFF2-40B4-BE49-F238E27FC236}">
                  <a16:creationId xmlns:a16="http://schemas.microsoft.com/office/drawing/2014/main" id="{9033DCB0-38CD-4469-94D7-77AADD92E42C}"/>
                </a:ext>
              </a:extLst>
            </p:cNvPr>
            <p:cNvSpPr>
              <a:spLocks noChangeArrowheads="1"/>
            </p:cNvSpPr>
            <p:nvPr/>
          </p:nvSpPr>
          <p:spPr bwMode="auto">
            <a:xfrm>
              <a:off x="95250" y="1844675"/>
              <a:ext cx="19240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Numero factura</a:t>
              </a:r>
            </a:p>
          </p:txBody>
        </p:sp>
        <p:sp>
          <p:nvSpPr>
            <p:cNvPr id="40980" name="Oval 23">
              <a:extLst>
                <a:ext uri="{FF2B5EF4-FFF2-40B4-BE49-F238E27FC236}">
                  <a16:creationId xmlns:a16="http://schemas.microsoft.com/office/drawing/2014/main" id="{1372EC10-79F3-456F-B545-6C21FCF42ABD}"/>
                </a:ext>
              </a:extLst>
            </p:cNvPr>
            <p:cNvSpPr>
              <a:spLocks noChangeArrowheads="1"/>
            </p:cNvSpPr>
            <p:nvPr/>
          </p:nvSpPr>
          <p:spPr bwMode="auto">
            <a:xfrm>
              <a:off x="1835696" y="1556792"/>
              <a:ext cx="153670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 venta</a:t>
              </a:r>
            </a:p>
          </p:txBody>
        </p:sp>
        <p:sp>
          <p:nvSpPr>
            <p:cNvPr id="40981" name="Oval 24">
              <a:extLst>
                <a:ext uri="{FF2B5EF4-FFF2-40B4-BE49-F238E27FC236}">
                  <a16:creationId xmlns:a16="http://schemas.microsoft.com/office/drawing/2014/main" id="{2679CB3D-FD03-4083-B1E5-C9FA99FBA6CC}"/>
                </a:ext>
              </a:extLst>
            </p:cNvPr>
            <p:cNvSpPr>
              <a:spLocks noChangeArrowheads="1"/>
            </p:cNvSpPr>
            <p:nvPr/>
          </p:nvSpPr>
          <p:spPr bwMode="auto">
            <a:xfrm>
              <a:off x="3419475" y="1514475"/>
              <a:ext cx="2112963"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Cantidad vendida</a:t>
              </a:r>
            </a:p>
          </p:txBody>
        </p:sp>
        <p:sp>
          <p:nvSpPr>
            <p:cNvPr id="40982" name="Line 25">
              <a:extLst>
                <a:ext uri="{FF2B5EF4-FFF2-40B4-BE49-F238E27FC236}">
                  <a16:creationId xmlns:a16="http://schemas.microsoft.com/office/drawing/2014/main" id="{82315307-7481-4B02-BF43-A4BB0A7E8347}"/>
                </a:ext>
              </a:extLst>
            </p:cNvPr>
            <p:cNvSpPr>
              <a:spLocks noChangeShapeType="1"/>
            </p:cNvSpPr>
            <p:nvPr/>
          </p:nvSpPr>
          <p:spPr bwMode="auto">
            <a:xfrm flipV="1">
              <a:off x="2627313" y="1975192"/>
              <a:ext cx="0" cy="2873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83" name="Oval 26">
              <a:extLst>
                <a:ext uri="{FF2B5EF4-FFF2-40B4-BE49-F238E27FC236}">
                  <a16:creationId xmlns:a16="http://schemas.microsoft.com/office/drawing/2014/main" id="{DD5A2011-98A8-4AF3-8804-5BBF74F2E701}"/>
                </a:ext>
              </a:extLst>
            </p:cNvPr>
            <p:cNvSpPr>
              <a:spLocks noChangeArrowheads="1"/>
            </p:cNvSpPr>
            <p:nvPr/>
          </p:nvSpPr>
          <p:spPr bwMode="auto">
            <a:xfrm>
              <a:off x="4140200" y="1947863"/>
              <a:ext cx="1782763"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unitario</a:t>
              </a:r>
            </a:p>
          </p:txBody>
        </p:sp>
        <p:sp>
          <p:nvSpPr>
            <p:cNvPr id="40984" name="Line 27">
              <a:extLst>
                <a:ext uri="{FF2B5EF4-FFF2-40B4-BE49-F238E27FC236}">
                  <a16:creationId xmlns:a16="http://schemas.microsoft.com/office/drawing/2014/main" id="{E2BF433E-79F3-47F2-9153-7D4274241BFE}"/>
                </a:ext>
              </a:extLst>
            </p:cNvPr>
            <p:cNvSpPr>
              <a:spLocks noChangeShapeType="1"/>
            </p:cNvSpPr>
            <p:nvPr/>
          </p:nvSpPr>
          <p:spPr bwMode="auto">
            <a:xfrm flipH="1" flipV="1">
              <a:off x="3924300" y="1916113"/>
              <a:ext cx="142875" cy="720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85" name="Line 28">
              <a:extLst>
                <a:ext uri="{FF2B5EF4-FFF2-40B4-BE49-F238E27FC236}">
                  <a16:creationId xmlns:a16="http://schemas.microsoft.com/office/drawing/2014/main" id="{94D2C1B3-DC7A-4212-AD0A-521966C366D1}"/>
                </a:ext>
              </a:extLst>
            </p:cNvPr>
            <p:cNvSpPr>
              <a:spLocks noChangeShapeType="1"/>
            </p:cNvSpPr>
            <p:nvPr/>
          </p:nvSpPr>
          <p:spPr bwMode="auto">
            <a:xfrm flipV="1">
              <a:off x="4211638" y="2276475"/>
              <a:ext cx="215900"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86" name="Oval 29">
              <a:extLst>
                <a:ext uri="{FF2B5EF4-FFF2-40B4-BE49-F238E27FC236}">
                  <a16:creationId xmlns:a16="http://schemas.microsoft.com/office/drawing/2014/main" id="{E4929C72-60D1-4AF8-82FA-166B19F29BBF}"/>
                </a:ext>
              </a:extLst>
            </p:cNvPr>
            <p:cNvSpPr>
              <a:spLocks noChangeArrowheads="1"/>
            </p:cNvSpPr>
            <p:nvPr/>
          </p:nvSpPr>
          <p:spPr bwMode="auto">
            <a:xfrm>
              <a:off x="0" y="2676525"/>
              <a:ext cx="1897062"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cliente</a:t>
              </a:r>
            </a:p>
          </p:txBody>
        </p:sp>
        <p:sp>
          <p:nvSpPr>
            <p:cNvPr id="40987" name="Oval 30">
              <a:extLst>
                <a:ext uri="{FF2B5EF4-FFF2-40B4-BE49-F238E27FC236}">
                  <a16:creationId xmlns:a16="http://schemas.microsoft.com/office/drawing/2014/main" id="{112F1332-17C6-4C93-A29C-ED3170A333F6}"/>
                </a:ext>
              </a:extLst>
            </p:cNvPr>
            <p:cNvSpPr>
              <a:spLocks noChangeArrowheads="1"/>
            </p:cNvSpPr>
            <p:nvPr/>
          </p:nvSpPr>
          <p:spPr bwMode="auto">
            <a:xfrm>
              <a:off x="5289772" y="3849688"/>
              <a:ext cx="2014538" cy="401637"/>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u="sng">
                  <a:solidFill>
                    <a:schemeClr val="folHlink"/>
                  </a:solidFill>
                </a:rPr>
                <a:t>Codigo producto</a:t>
              </a:r>
            </a:p>
          </p:txBody>
        </p:sp>
        <p:sp>
          <p:nvSpPr>
            <p:cNvPr id="40988" name="Oval 31">
              <a:extLst>
                <a:ext uri="{FF2B5EF4-FFF2-40B4-BE49-F238E27FC236}">
                  <a16:creationId xmlns:a16="http://schemas.microsoft.com/office/drawing/2014/main" id="{1BD72C5F-DD10-4C44-A7C3-0571A512B8AB}"/>
                </a:ext>
              </a:extLst>
            </p:cNvPr>
            <p:cNvSpPr>
              <a:spLocks noChangeArrowheads="1"/>
            </p:cNvSpPr>
            <p:nvPr/>
          </p:nvSpPr>
          <p:spPr bwMode="auto">
            <a:xfrm>
              <a:off x="73024" y="3165773"/>
              <a:ext cx="1693129" cy="43279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Razon social</a:t>
              </a:r>
            </a:p>
          </p:txBody>
        </p:sp>
        <p:sp>
          <p:nvSpPr>
            <p:cNvPr id="40989" name="Oval 32">
              <a:extLst>
                <a:ext uri="{FF2B5EF4-FFF2-40B4-BE49-F238E27FC236}">
                  <a16:creationId xmlns:a16="http://schemas.microsoft.com/office/drawing/2014/main" id="{2CAEC1F6-437A-4AB2-BA91-E130F4502F67}"/>
                </a:ext>
              </a:extLst>
            </p:cNvPr>
            <p:cNvSpPr>
              <a:spLocks noChangeArrowheads="1"/>
            </p:cNvSpPr>
            <p:nvPr/>
          </p:nvSpPr>
          <p:spPr bwMode="auto">
            <a:xfrm>
              <a:off x="252752" y="3679115"/>
              <a:ext cx="1200150" cy="401638"/>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Domicilio</a:t>
              </a:r>
            </a:p>
          </p:txBody>
        </p:sp>
        <p:sp>
          <p:nvSpPr>
            <p:cNvPr id="40990" name="Oval 33">
              <a:extLst>
                <a:ext uri="{FF2B5EF4-FFF2-40B4-BE49-F238E27FC236}">
                  <a16:creationId xmlns:a16="http://schemas.microsoft.com/office/drawing/2014/main" id="{D06B6326-8E06-47D1-B396-B9ED2BAD1E82}"/>
                </a:ext>
              </a:extLst>
            </p:cNvPr>
            <p:cNvSpPr>
              <a:spLocks noChangeArrowheads="1"/>
            </p:cNvSpPr>
            <p:nvPr/>
          </p:nvSpPr>
          <p:spPr bwMode="auto">
            <a:xfrm>
              <a:off x="5216228" y="4307185"/>
              <a:ext cx="2593354" cy="43279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Descripcion producto</a:t>
              </a:r>
            </a:p>
          </p:txBody>
        </p:sp>
        <p:sp>
          <p:nvSpPr>
            <p:cNvPr id="40991" name="Line 34">
              <a:extLst>
                <a:ext uri="{FF2B5EF4-FFF2-40B4-BE49-F238E27FC236}">
                  <a16:creationId xmlns:a16="http://schemas.microsoft.com/office/drawing/2014/main" id="{45C2EFC2-7F93-4681-9727-9E9969520372}"/>
                </a:ext>
              </a:extLst>
            </p:cNvPr>
            <p:cNvSpPr>
              <a:spLocks noChangeShapeType="1"/>
            </p:cNvSpPr>
            <p:nvPr/>
          </p:nvSpPr>
          <p:spPr bwMode="auto">
            <a:xfrm>
              <a:off x="4932040" y="3514656"/>
              <a:ext cx="501848" cy="82946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92" name="Line 35">
              <a:extLst>
                <a:ext uri="{FF2B5EF4-FFF2-40B4-BE49-F238E27FC236}">
                  <a16:creationId xmlns:a16="http://schemas.microsoft.com/office/drawing/2014/main" id="{0A24C0E8-89F0-4B1A-B263-4C5EEE1C1773}"/>
                </a:ext>
              </a:extLst>
            </p:cNvPr>
            <p:cNvSpPr>
              <a:spLocks noChangeShapeType="1"/>
            </p:cNvSpPr>
            <p:nvPr/>
          </p:nvSpPr>
          <p:spPr bwMode="auto">
            <a:xfrm>
              <a:off x="5080222" y="3533775"/>
              <a:ext cx="536575" cy="3603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93" name="Line 36">
              <a:extLst>
                <a:ext uri="{FF2B5EF4-FFF2-40B4-BE49-F238E27FC236}">
                  <a16:creationId xmlns:a16="http://schemas.microsoft.com/office/drawing/2014/main" id="{A8CE3BEB-A72E-48A6-BC3A-66F52A9E0D95}"/>
                </a:ext>
              </a:extLst>
            </p:cNvPr>
            <p:cNvSpPr>
              <a:spLocks noChangeShapeType="1"/>
            </p:cNvSpPr>
            <p:nvPr/>
          </p:nvSpPr>
          <p:spPr bwMode="auto">
            <a:xfrm flipH="1" flipV="1">
              <a:off x="1476374" y="3556562"/>
              <a:ext cx="574672" cy="3455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94" name="Line 37">
              <a:extLst>
                <a:ext uri="{FF2B5EF4-FFF2-40B4-BE49-F238E27FC236}">
                  <a16:creationId xmlns:a16="http://schemas.microsoft.com/office/drawing/2014/main" id="{21BC46E5-10E0-4837-8AFB-0144D8997C01}"/>
                </a:ext>
              </a:extLst>
            </p:cNvPr>
            <p:cNvSpPr>
              <a:spLocks noChangeShapeType="1"/>
            </p:cNvSpPr>
            <p:nvPr/>
          </p:nvSpPr>
          <p:spPr bwMode="auto">
            <a:xfrm flipH="1" flipV="1">
              <a:off x="1452902" y="3902076"/>
              <a:ext cx="592275" cy="17867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95" name="Line 38">
              <a:extLst>
                <a:ext uri="{FF2B5EF4-FFF2-40B4-BE49-F238E27FC236}">
                  <a16:creationId xmlns:a16="http://schemas.microsoft.com/office/drawing/2014/main" id="{4F354680-A90C-4F0D-90DA-A1BFBA9B45D9}"/>
                </a:ext>
              </a:extLst>
            </p:cNvPr>
            <p:cNvSpPr>
              <a:spLocks noChangeShapeType="1"/>
            </p:cNvSpPr>
            <p:nvPr/>
          </p:nvSpPr>
          <p:spPr bwMode="auto">
            <a:xfrm flipH="1" flipV="1">
              <a:off x="1476374" y="3038474"/>
              <a:ext cx="832314" cy="712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0996" name="AutoShape 39">
              <a:extLst>
                <a:ext uri="{FF2B5EF4-FFF2-40B4-BE49-F238E27FC236}">
                  <a16:creationId xmlns:a16="http://schemas.microsoft.com/office/drawing/2014/main" id="{621B48E0-348F-4AFF-842E-CFEABC723A7F}"/>
                </a:ext>
              </a:extLst>
            </p:cNvPr>
            <p:cNvSpPr>
              <a:spLocks noChangeArrowheads="1"/>
            </p:cNvSpPr>
            <p:nvPr/>
          </p:nvSpPr>
          <p:spPr bwMode="auto">
            <a:xfrm>
              <a:off x="2308688" y="3108578"/>
              <a:ext cx="361950" cy="371475"/>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40997" name="AutoShape 40">
              <a:extLst>
                <a:ext uri="{FF2B5EF4-FFF2-40B4-BE49-F238E27FC236}">
                  <a16:creationId xmlns:a16="http://schemas.microsoft.com/office/drawing/2014/main" id="{46031D8B-3FF8-453D-8465-E169D93A5474}"/>
                </a:ext>
              </a:extLst>
            </p:cNvPr>
            <p:cNvSpPr>
              <a:spLocks noChangeArrowheads="1"/>
            </p:cNvSpPr>
            <p:nvPr/>
          </p:nvSpPr>
          <p:spPr bwMode="auto">
            <a:xfrm>
              <a:off x="3956050" y="2420888"/>
              <a:ext cx="360363" cy="311150"/>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40998" name="Rectangle 41">
              <a:extLst>
                <a:ext uri="{FF2B5EF4-FFF2-40B4-BE49-F238E27FC236}">
                  <a16:creationId xmlns:a16="http://schemas.microsoft.com/office/drawing/2014/main" id="{AA8F3BC7-3379-4B5B-8094-B33BBE0CCF8C}"/>
                </a:ext>
              </a:extLst>
            </p:cNvPr>
            <p:cNvSpPr>
              <a:spLocks noChangeArrowheads="1"/>
            </p:cNvSpPr>
            <p:nvPr/>
          </p:nvSpPr>
          <p:spPr bwMode="auto">
            <a:xfrm>
              <a:off x="6121400" y="1557338"/>
              <a:ext cx="2914650" cy="1187450"/>
            </a:xfrm>
            <a:prstGeom prst="rect">
              <a:avLst/>
            </a:prstGeom>
            <a:solidFill>
              <a:srgbClr val="EFF3D5"/>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3038" indent="-173038">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ES" altLang="es-ES" sz="1200">
                  <a:solidFill>
                    <a:schemeClr val="tx2"/>
                  </a:solidFill>
                </a:rPr>
                <a:t>1. Entidades débiles no llevan clave primaria: llevan discriminante.</a:t>
              </a:r>
            </a:p>
            <a:p>
              <a:pPr>
                <a:spcBef>
                  <a:spcPct val="0"/>
                </a:spcBef>
                <a:buClrTx/>
                <a:buSzTx/>
                <a:buFontTx/>
                <a:buNone/>
              </a:pPr>
              <a:r>
                <a:rPr lang="es-ES" altLang="es-ES" sz="1200">
                  <a:solidFill>
                    <a:schemeClr val="tx2"/>
                  </a:solidFill>
                </a:rPr>
                <a:t>2. No se formalizan las claves foráneas.</a:t>
              </a:r>
            </a:p>
            <a:p>
              <a:pPr>
                <a:spcBef>
                  <a:spcPct val="0"/>
                </a:spcBef>
                <a:buClrTx/>
                <a:buSzTx/>
                <a:buFontTx/>
                <a:buNone/>
              </a:pPr>
              <a:r>
                <a:rPr lang="es-ES" altLang="es-ES" sz="1200">
                  <a:solidFill>
                    <a:schemeClr val="tx2"/>
                  </a:solidFill>
                </a:rPr>
                <a:t>3. Existen relaciones M-M.</a:t>
              </a:r>
            </a:p>
            <a:p>
              <a:pPr>
                <a:spcBef>
                  <a:spcPct val="0"/>
                </a:spcBef>
                <a:buClrTx/>
                <a:buSzTx/>
                <a:buFontTx/>
                <a:buNone/>
              </a:pPr>
              <a:r>
                <a:rPr lang="es-ES" altLang="es-ES" sz="1200">
                  <a:solidFill>
                    <a:schemeClr val="tx2"/>
                  </a:solidFill>
                </a:rPr>
                <a:t>4. Los grupos repetitivos: con atributos multivaluados o entidades débiles.</a:t>
              </a:r>
              <a:endParaRPr lang="es-ES" altLang="es-ES" sz="1200"/>
            </a:p>
          </p:txBody>
        </p:sp>
        <p:grpSp>
          <p:nvGrpSpPr>
            <p:cNvPr id="40999" name="Group 46">
              <a:extLst>
                <a:ext uri="{FF2B5EF4-FFF2-40B4-BE49-F238E27FC236}">
                  <a16:creationId xmlns:a16="http://schemas.microsoft.com/office/drawing/2014/main" id="{91654CBC-662B-4F26-8917-4AEF4763A547}"/>
                </a:ext>
              </a:extLst>
            </p:cNvPr>
            <p:cNvGrpSpPr>
              <a:grpSpLocks/>
            </p:cNvGrpSpPr>
            <p:nvPr/>
          </p:nvGrpSpPr>
          <p:grpSpPr bwMode="auto">
            <a:xfrm>
              <a:off x="2484217" y="4279907"/>
              <a:ext cx="1335088" cy="635001"/>
              <a:chOff x="2078" y="2394"/>
              <a:chExt cx="841" cy="400"/>
            </a:xfrm>
          </p:grpSpPr>
          <p:grpSp>
            <p:nvGrpSpPr>
              <p:cNvPr id="41033" name="Group 47">
                <a:extLst>
                  <a:ext uri="{FF2B5EF4-FFF2-40B4-BE49-F238E27FC236}">
                    <a16:creationId xmlns:a16="http://schemas.microsoft.com/office/drawing/2014/main" id="{42488272-1D23-4CD5-9F63-89C123356699}"/>
                  </a:ext>
                </a:extLst>
              </p:cNvPr>
              <p:cNvGrpSpPr>
                <a:grpSpLocks/>
              </p:cNvGrpSpPr>
              <p:nvPr/>
            </p:nvGrpSpPr>
            <p:grpSpPr bwMode="auto">
              <a:xfrm>
                <a:off x="2135" y="2432"/>
                <a:ext cx="784" cy="362"/>
                <a:chOff x="2040" y="2448"/>
                <a:chExt cx="784" cy="362"/>
              </a:xfrm>
            </p:grpSpPr>
            <p:sp>
              <p:nvSpPr>
                <p:cNvPr id="41035" name="Oval 48">
                  <a:extLst>
                    <a:ext uri="{FF2B5EF4-FFF2-40B4-BE49-F238E27FC236}">
                      <a16:creationId xmlns:a16="http://schemas.microsoft.com/office/drawing/2014/main" id="{DA3EF8FB-99B3-434C-86D7-945570F85615}"/>
                    </a:ext>
                  </a:extLst>
                </p:cNvPr>
                <p:cNvSpPr>
                  <a:spLocks noChangeArrowheads="1"/>
                </p:cNvSpPr>
                <p:nvPr/>
              </p:nvSpPr>
              <p:spPr bwMode="auto">
                <a:xfrm>
                  <a:off x="2069" y="2487"/>
                  <a:ext cx="755" cy="2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Teléfono</a:t>
                  </a:r>
                </a:p>
              </p:txBody>
            </p:sp>
            <p:sp>
              <p:nvSpPr>
                <p:cNvPr id="41036" name="Oval 49">
                  <a:extLst>
                    <a:ext uri="{FF2B5EF4-FFF2-40B4-BE49-F238E27FC236}">
                      <a16:creationId xmlns:a16="http://schemas.microsoft.com/office/drawing/2014/main" id="{E4DC6054-C45A-46C7-B821-B951C6C163B2}"/>
                    </a:ext>
                  </a:extLst>
                </p:cNvPr>
                <p:cNvSpPr>
                  <a:spLocks noChangeArrowheads="1"/>
                </p:cNvSpPr>
                <p:nvPr/>
              </p:nvSpPr>
              <p:spPr bwMode="auto">
                <a:xfrm>
                  <a:off x="2040" y="2448"/>
                  <a:ext cx="771" cy="362"/>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sp>
            <p:nvSpPr>
              <p:cNvPr id="41034" name="Line 50">
                <a:extLst>
                  <a:ext uri="{FF2B5EF4-FFF2-40B4-BE49-F238E27FC236}">
                    <a16:creationId xmlns:a16="http://schemas.microsoft.com/office/drawing/2014/main" id="{37B68CAC-4A00-4D0A-B464-E5242D419083}"/>
                  </a:ext>
                </a:extLst>
              </p:cNvPr>
              <p:cNvSpPr>
                <a:spLocks noChangeShapeType="1"/>
              </p:cNvSpPr>
              <p:nvPr/>
            </p:nvSpPr>
            <p:spPr bwMode="auto">
              <a:xfrm>
                <a:off x="2078" y="2394"/>
                <a:ext cx="136" cy="9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grpSp>
          <p:nvGrpSpPr>
            <p:cNvPr id="41000" name="Group 51">
              <a:extLst>
                <a:ext uri="{FF2B5EF4-FFF2-40B4-BE49-F238E27FC236}">
                  <a16:creationId xmlns:a16="http://schemas.microsoft.com/office/drawing/2014/main" id="{85242017-6BBB-4AD8-92E6-77B228E1F98D}"/>
                </a:ext>
              </a:extLst>
            </p:cNvPr>
            <p:cNvGrpSpPr>
              <a:grpSpLocks/>
            </p:cNvGrpSpPr>
            <p:nvPr/>
          </p:nvGrpSpPr>
          <p:grpSpPr bwMode="auto">
            <a:xfrm>
              <a:off x="5092576" y="2997200"/>
              <a:ext cx="3871913" cy="904875"/>
              <a:chOff x="3028" y="1888"/>
              <a:chExt cx="2439" cy="570"/>
            </a:xfrm>
          </p:grpSpPr>
          <p:sp>
            <p:nvSpPr>
              <p:cNvPr id="41017" name="Line 52">
                <a:extLst>
                  <a:ext uri="{FF2B5EF4-FFF2-40B4-BE49-F238E27FC236}">
                    <a16:creationId xmlns:a16="http://schemas.microsoft.com/office/drawing/2014/main" id="{567CFEEE-EE57-45B3-A2CB-330C3E258379}"/>
                  </a:ext>
                </a:extLst>
              </p:cNvPr>
              <p:cNvSpPr>
                <a:spLocks noChangeShapeType="1"/>
              </p:cNvSpPr>
              <p:nvPr/>
            </p:nvSpPr>
            <p:spPr bwMode="auto">
              <a:xfrm flipV="1">
                <a:off x="3028" y="2140"/>
                <a:ext cx="623" cy="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1018" name="AutoShape 53">
                <a:extLst>
                  <a:ext uri="{FF2B5EF4-FFF2-40B4-BE49-F238E27FC236}">
                    <a16:creationId xmlns:a16="http://schemas.microsoft.com/office/drawing/2014/main" id="{FAB3C03A-DE79-494E-98FB-724F6FA41536}"/>
                  </a:ext>
                </a:extLst>
              </p:cNvPr>
              <p:cNvSpPr>
                <a:spLocks noChangeArrowheads="1"/>
              </p:cNvSpPr>
              <p:nvPr/>
            </p:nvSpPr>
            <p:spPr bwMode="auto">
              <a:xfrm>
                <a:off x="3243" y="2024"/>
                <a:ext cx="228" cy="234"/>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41019" name="Rectangle 54">
                <a:extLst>
                  <a:ext uri="{FF2B5EF4-FFF2-40B4-BE49-F238E27FC236}">
                    <a16:creationId xmlns:a16="http://schemas.microsoft.com/office/drawing/2014/main" id="{B41F296C-5772-4AAB-92DF-AD4A4D30789D}"/>
                  </a:ext>
                </a:extLst>
              </p:cNvPr>
              <p:cNvSpPr>
                <a:spLocks noChangeArrowheads="1"/>
              </p:cNvSpPr>
              <p:nvPr/>
            </p:nvSpPr>
            <p:spPr bwMode="auto">
              <a:xfrm>
                <a:off x="3656" y="1941"/>
                <a:ext cx="902" cy="447"/>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 </a:t>
                </a:r>
                <a:br>
                  <a:rPr lang="en-US" altLang="es-ES" sz="1400">
                    <a:solidFill>
                      <a:schemeClr val="folHlink"/>
                    </a:solidFill>
                  </a:rPr>
                </a:br>
                <a:r>
                  <a:rPr lang="en-US" altLang="es-ES" sz="1400">
                    <a:solidFill>
                      <a:schemeClr val="folHlink"/>
                    </a:solidFill>
                  </a:rPr>
                  <a:t>HISTORICO</a:t>
                </a:r>
                <a:r>
                  <a:rPr lang="en-US" altLang="es-ES" sz="1800">
                    <a:solidFill>
                      <a:schemeClr val="folHlink"/>
                    </a:solidFill>
                  </a:rPr>
                  <a:t> </a:t>
                </a:r>
                <a:br>
                  <a:rPr lang="en-US" altLang="es-ES" sz="1800">
                    <a:solidFill>
                      <a:schemeClr val="folHlink"/>
                    </a:solidFill>
                  </a:rPr>
                </a:br>
                <a:br>
                  <a:rPr lang="en-US" altLang="es-ES" sz="400">
                    <a:solidFill>
                      <a:schemeClr val="folHlink"/>
                    </a:solidFill>
                  </a:rPr>
                </a:br>
                <a:endParaRPr lang="en-US" altLang="es-ES" sz="400">
                  <a:solidFill>
                    <a:schemeClr val="folHlink"/>
                  </a:solidFill>
                </a:endParaRPr>
              </a:p>
            </p:txBody>
          </p:sp>
          <p:sp>
            <p:nvSpPr>
              <p:cNvPr id="41020" name="Rectangle 55">
                <a:extLst>
                  <a:ext uri="{FF2B5EF4-FFF2-40B4-BE49-F238E27FC236}">
                    <a16:creationId xmlns:a16="http://schemas.microsoft.com/office/drawing/2014/main" id="{BAAF8E55-0F5A-497C-B6B0-1569FF17E3D8}"/>
                  </a:ext>
                </a:extLst>
              </p:cNvPr>
              <p:cNvSpPr>
                <a:spLocks noChangeArrowheads="1"/>
              </p:cNvSpPr>
              <p:nvPr/>
            </p:nvSpPr>
            <p:spPr bwMode="auto">
              <a:xfrm>
                <a:off x="3696" y="1979"/>
                <a:ext cx="816" cy="363"/>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41021" name="AutoShape 56">
                <a:extLst>
                  <a:ext uri="{FF2B5EF4-FFF2-40B4-BE49-F238E27FC236}">
                    <a16:creationId xmlns:a16="http://schemas.microsoft.com/office/drawing/2014/main" id="{B56E609B-4186-4992-8AE5-B495C65ABD3E}"/>
                  </a:ext>
                </a:extLst>
              </p:cNvPr>
              <p:cNvSpPr>
                <a:spLocks noChangeArrowheads="1"/>
              </p:cNvSpPr>
              <p:nvPr/>
            </p:nvSpPr>
            <p:spPr bwMode="auto">
              <a:xfrm>
                <a:off x="3283" y="2059"/>
                <a:ext cx="151" cy="156"/>
              </a:xfrm>
              <a:prstGeom prst="flowChartDecision">
                <a:avLst/>
              </a:prstGeom>
              <a:solidFill>
                <a:schemeClr val="bg1"/>
              </a:solidFill>
              <a:ln w="9525" algn="ctr">
                <a:solidFill>
                  <a:schemeClr val="tx1"/>
                </a:solidFill>
                <a:miter lim="800000"/>
                <a:headEnd/>
                <a:tailEnd/>
              </a:ln>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grpSp>
            <p:nvGrpSpPr>
              <p:cNvPr id="41022" name="Group 57">
                <a:extLst>
                  <a:ext uri="{FF2B5EF4-FFF2-40B4-BE49-F238E27FC236}">
                    <a16:creationId xmlns:a16="http://schemas.microsoft.com/office/drawing/2014/main" id="{D5FD5D44-6DAD-40DE-BB9B-54BD9062CD9B}"/>
                  </a:ext>
                </a:extLst>
              </p:cNvPr>
              <p:cNvGrpSpPr>
                <a:grpSpLocks/>
              </p:cNvGrpSpPr>
              <p:nvPr/>
            </p:nvGrpSpPr>
            <p:grpSpPr bwMode="auto">
              <a:xfrm>
                <a:off x="3045" y="2099"/>
                <a:ext cx="19" cy="91"/>
                <a:chOff x="5057" y="2225"/>
                <a:chExt cx="19" cy="91"/>
              </a:xfrm>
            </p:grpSpPr>
            <p:sp>
              <p:nvSpPr>
                <p:cNvPr id="41031" name="Line 58">
                  <a:extLst>
                    <a:ext uri="{FF2B5EF4-FFF2-40B4-BE49-F238E27FC236}">
                      <a16:creationId xmlns:a16="http://schemas.microsoft.com/office/drawing/2014/main" id="{69681F70-4FF1-4DCF-92E8-622DD8632BC0}"/>
                    </a:ext>
                  </a:extLst>
                </p:cNvPr>
                <p:cNvSpPr>
                  <a:spLocks noChangeShapeType="1"/>
                </p:cNvSpPr>
                <p:nvPr/>
              </p:nvSpPr>
              <p:spPr bwMode="auto">
                <a:xfrm>
                  <a:off x="5057"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1032" name="Line 59">
                  <a:extLst>
                    <a:ext uri="{FF2B5EF4-FFF2-40B4-BE49-F238E27FC236}">
                      <a16:creationId xmlns:a16="http://schemas.microsoft.com/office/drawing/2014/main" id="{8B71304A-7487-429B-9BD7-5F02AF67F46D}"/>
                    </a:ext>
                  </a:extLst>
                </p:cNvPr>
                <p:cNvSpPr>
                  <a:spLocks noChangeShapeType="1"/>
                </p:cNvSpPr>
                <p:nvPr/>
              </p:nvSpPr>
              <p:spPr bwMode="auto">
                <a:xfrm>
                  <a:off x="5076" y="2225"/>
                  <a:ext cx="0"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41023" name="Group 60">
                <a:extLst>
                  <a:ext uri="{FF2B5EF4-FFF2-40B4-BE49-F238E27FC236}">
                    <a16:creationId xmlns:a16="http://schemas.microsoft.com/office/drawing/2014/main" id="{6E28E51A-DB47-42F9-9F78-C0FEF7D0D238}"/>
                  </a:ext>
                </a:extLst>
              </p:cNvPr>
              <p:cNvGrpSpPr>
                <a:grpSpLocks/>
              </p:cNvGrpSpPr>
              <p:nvPr/>
            </p:nvGrpSpPr>
            <p:grpSpPr bwMode="auto">
              <a:xfrm>
                <a:off x="3525" y="2034"/>
                <a:ext cx="317" cy="192"/>
                <a:chOff x="4785" y="2185"/>
                <a:chExt cx="317" cy="192"/>
              </a:xfrm>
            </p:grpSpPr>
            <p:sp>
              <p:nvSpPr>
                <p:cNvPr id="41029" name="Line 61">
                  <a:extLst>
                    <a:ext uri="{FF2B5EF4-FFF2-40B4-BE49-F238E27FC236}">
                      <a16:creationId xmlns:a16="http://schemas.microsoft.com/office/drawing/2014/main" id="{EDCF96A2-34F2-49D6-A5D6-F21AFF117E80}"/>
                    </a:ext>
                  </a:extLst>
                </p:cNvPr>
                <p:cNvSpPr>
                  <a:spLocks noChangeShapeType="1"/>
                </p:cNvSpPr>
                <p:nvPr/>
              </p:nvSpPr>
              <p:spPr bwMode="auto">
                <a:xfrm>
                  <a:off x="4830"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1030" name="Text Box 62">
                  <a:extLst>
                    <a:ext uri="{FF2B5EF4-FFF2-40B4-BE49-F238E27FC236}">
                      <a16:creationId xmlns:a16="http://schemas.microsoft.com/office/drawing/2014/main" id="{272D601A-E433-4D1F-94CC-FC6F5922C4E1}"/>
                    </a:ext>
                  </a:extLst>
                </p:cNvPr>
                <p:cNvSpPr txBox="1">
                  <a:spLocks noChangeArrowheads="1"/>
                </p:cNvSpPr>
                <p:nvPr/>
              </p:nvSpPr>
              <p:spPr bwMode="auto">
                <a:xfrm>
                  <a:off x="4785" y="2185"/>
                  <a:ext cx="31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s-ES" sz="1400"/>
                    <a:t>&lt;</a:t>
                  </a:r>
                </a:p>
              </p:txBody>
            </p:sp>
          </p:grpSp>
          <p:sp>
            <p:nvSpPr>
              <p:cNvPr id="41024" name="Oval 63">
                <a:extLst>
                  <a:ext uri="{FF2B5EF4-FFF2-40B4-BE49-F238E27FC236}">
                    <a16:creationId xmlns:a16="http://schemas.microsoft.com/office/drawing/2014/main" id="{DC891897-BDFC-4FE3-A0B3-02F3AA30E0C4}"/>
                  </a:ext>
                </a:extLst>
              </p:cNvPr>
              <p:cNvSpPr>
                <a:spLocks noChangeArrowheads="1"/>
              </p:cNvSpPr>
              <p:nvPr/>
            </p:nvSpPr>
            <p:spPr bwMode="auto">
              <a:xfrm>
                <a:off x="4929" y="1888"/>
                <a:ext cx="532"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Fecha</a:t>
                </a:r>
              </a:p>
            </p:txBody>
          </p:sp>
          <p:sp>
            <p:nvSpPr>
              <p:cNvPr id="41025" name="Oval 64">
                <a:extLst>
                  <a:ext uri="{FF2B5EF4-FFF2-40B4-BE49-F238E27FC236}">
                    <a16:creationId xmlns:a16="http://schemas.microsoft.com/office/drawing/2014/main" id="{19263466-DF78-4B41-99E9-86C870994D28}"/>
                  </a:ext>
                </a:extLst>
              </p:cNvPr>
              <p:cNvSpPr>
                <a:spLocks noChangeArrowheads="1"/>
              </p:cNvSpPr>
              <p:nvPr/>
            </p:nvSpPr>
            <p:spPr bwMode="auto">
              <a:xfrm>
                <a:off x="4921" y="2205"/>
                <a:ext cx="546" cy="25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Precio</a:t>
                </a:r>
              </a:p>
            </p:txBody>
          </p:sp>
          <p:sp>
            <p:nvSpPr>
              <p:cNvPr id="41026" name="Line 65">
                <a:extLst>
                  <a:ext uri="{FF2B5EF4-FFF2-40B4-BE49-F238E27FC236}">
                    <a16:creationId xmlns:a16="http://schemas.microsoft.com/office/drawing/2014/main" id="{8F587F92-F740-43C0-B363-7F2C76FC1D38}"/>
                  </a:ext>
                </a:extLst>
              </p:cNvPr>
              <p:cNvSpPr>
                <a:spLocks noChangeShapeType="1"/>
              </p:cNvSpPr>
              <p:nvPr/>
            </p:nvSpPr>
            <p:spPr bwMode="auto">
              <a:xfrm flipV="1">
                <a:off x="4558" y="2024"/>
                <a:ext cx="363" cy="4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1027" name="Line 66">
                <a:extLst>
                  <a:ext uri="{FF2B5EF4-FFF2-40B4-BE49-F238E27FC236}">
                    <a16:creationId xmlns:a16="http://schemas.microsoft.com/office/drawing/2014/main" id="{0F2907D8-EEDE-4481-A52D-D75A6E1B2CEA}"/>
                  </a:ext>
                </a:extLst>
              </p:cNvPr>
              <p:cNvSpPr>
                <a:spLocks noChangeShapeType="1"/>
              </p:cNvSpPr>
              <p:nvPr/>
            </p:nvSpPr>
            <p:spPr bwMode="auto">
              <a:xfrm>
                <a:off x="4558" y="2205"/>
                <a:ext cx="363" cy="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1028" name="Line 67">
                <a:extLst>
                  <a:ext uri="{FF2B5EF4-FFF2-40B4-BE49-F238E27FC236}">
                    <a16:creationId xmlns:a16="http://schemas.microsoft.com/office/drawing/2014/main" id="{051E2B37-EBA0-43CA-AA01-84EB774C5997}"/>
                  </a:ext>
                </a:extLst>
              </p:cNvPr>
              <p:cNvSpPr>
                <a:spLocks noChangeShapeType="1"/>
              </p:cNvSpPr>
              <p:nvPr/>
            </p:nvSpPr>
            <p:spPr bwMode="auto">
              <a:xfrm>
                <a:off x="5022" y="2079"/>
                <a:ext cx="31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41001" name="Oval 32">
              <a:extLst>
                <a:ext uri="{FF2B5EF4-FFF2-40B4-BE49-F238E27FC236}">
                  <a16:creationId xmlns:a16="http://schemas.microsoft.com/office/drawing/2014/main" id="{6735DDA7-478C-4CAF-B809-700549DB89F9}"/>
                </a:ext>
              </a:extLst>
            </p:cNvPr>
            <p:cNvSpPr>
              <a:spLocks noChangeArrowheads="1"/>
            </p:cNvSpPr>
            <p:nvPr/>
          </p:nvSpPr>
          <p:spPr bwMode="auto">
            <a:xfrm>
              <a:off x="-6215" y="4189178"/>
              <a:ext cx="817331"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Calle</a:t>
              </a:r>
            </a:p>
          </p:txBody>
        </p:sp>
        <p:sp>
          <p:nvSpPr>
            <p:cNvPr id="41002" name="Oval 32">
              <a:extLst>
                <a:ext uri="{FF2B5EF4-FFF2-40B4-BE49-F238E27FC236}">
                  <a16:creationId xmlns:a16="http://schemas.microsoft.com/office/drawing/2014/main" id="{65FA015F-B905-4A97-9193-D69405B88542}"/>
                </a:ext>
              </a:extLst>
            </p:cNvPr>
            <p:cNvSpPr>
              <a:spLocks noChangeArrowheads="1"/>
            </p:cNvSpPr>
            <p:nvPr/>
          </p:nvSpPr>
          <p:spPr bwMode="auto">
            <a:xfrm>
              <a:off x="710864" y="4392400"/>
              <a:ext cx="961206"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Número</a:t>
              </a:r>
            </a:p>
          </p:txBody>
        </p:sp>
        <p:sp>
          <p:nvSpPr>
            <p:cNvPr id="41003" name="Oval 32">
              <a:extLst>
                <a:ext uri="{FF2B5EF4-FFF2-40B4-BE49-F238E27FC236}">
                  <a16:creationId xmlns:a16="http://schemas.microsoft.com/office/drawing/2014/main" id="{67FA99DC-B9A2-44E1-9231-FA104A88F199}"/>
                </a:ext>
              </a:extLst>
            </p:cNvPr>
            <p:cNvSpPr>
              <a:spLocks noChangeArrowheads="1"/>
            </p:cNvSpPr>
            <p:nvPr/>
          </p:nvSpPr>
          <p:spPr bwMode="auto">
            <a:xfrm>
              <a:off x="1719029" y="4377399"/>
              <a:ext cx="770065"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Piso</a:t>
              </a:r>
            </a:p>
          </p:txBody>
        </p:sp>
        <p:cxnSp>
          <p:nvCxnSpPr>
            <p:cNvPr id="41004" name="178 Conector recto">
              <a:extLst>
                <a:ext uri="{FF2B5EF4-FFF2-40B4-BE49-F238E27FC236}">
                  <a16:creationId xmlns:a16="http://schemas.microsoft.com/office/drawing/2014/main" id="{FC66A05B-B395-4EB1-BF0E-DA612F272C8D}"/>
                </a:ext>
              </a:extLst>
            </p:cNvPr>
            <p:cNvCxnSpPr>
              <a:cxnSpLocks noChangeShapeType="1"/>
              <a:stCxn id="41001" idx="0"/>
              <a:endCxn id="40989" idx="4"/>
            </p:cNvCxnSpPr>
            <p:nvPr/>
          </p:nvCxnSpPr>
          <p:spPr bwMode="auto">
            <a:xfrm flipV="1">
              <a:off x="402451" y="4080753"/>
              <a:ext cx="450376" cy="108425"/>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1005" name="179 Conector recto">
              <a:extLst>
                <a:ext uri="{FF2B5EF4-FFF2-40B4-BE49-F238E27FC236}">
                  <a16:creationId xmlns:a16="http://schemas.microsoft.com/office/drawing/2014/main" id="{D0579526-144E-4BA4-B38D-D7BA21A56579}"/>
                </a:ext>
              </a:extLst>
            </p:cNvPr>
            <p:cNvCxnSpPr>
              <a:cxnSpLocks noChangeShapeType="1"/>
              <a:stCxn id="41002" idx="0"/>
              <a:endCxn id="40989" idx="4"/>
            </p:cNvCxnSpPr>
            <p:nvPr/>
          </p:nvCxnSpPr>
          <p:spPr bwMode="auto">
            <a:xfrm flipH="1" flipV="1">
              <a:off x="852827" y="4080753"/>
              <a:ext cx="338640" cy="311647"/>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41006" name="180 Conector recto">
              <a:extLst>
                <a:ext uri="{FF2B5EF4-FFF2-40B4-BE49-F238E27FC236}">
                  <a16:creationId xmlns:a16="http://schemas.microsoft.com/office/drawing/2014/main" id="{FC0AFC67-D09F-4EBB-82D3-CD5C7A65639B}"/>
                </a:ext>
              </a:extLst>
            </p:cNvPr>
            <p:cNvCxnSpPr>
              <a:cxnSpLocks noChangeShapeType="1"/>
              <a:stCxn id="41003" idx="1"/>
              <a:endCxn id="40989" idx="4"/>
            </p:cNvCxnSpPr>
            <p:nvPr/>
          </p:nvCxnSpPr>
          <p:spPr bwMode="auto">
            <a:xfrm flipH="1" flipV="1">
              <a:off x="852827" y="4080753"/>
              <a:ext cx="978975" cy="3505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41007" name="Oval 26">
              <a:extLst>
                <a:ext uri="{FF2B5EF4-FFF2-40B4-BE49-F238E27FC236}">
                  <a16:creationId xmlns:a16="http://schemas.microsoft.com/office/drawing/2014/main" id="{925A07C5-26E2-464E-AB65-DD56E1E19470}"/>
                </a:ext>
              </a:extLst>
            </p:cNvPr>
            <p:cNvSpPr>
              <a:spLocks noChangeArrowheads="1"/>
            </p:cNvSpPr>
            <p:nvPr/>
          </p:nvSpPr>
          <p:spPr bwMode="auto">
            <a:xfrm>
              <a:off x="4504407" y="2436416"/>
              <a:ext cx="1359148" cy="432792"/>
            </a:xfrm>
            <a:prstGeom prst="ellipse">
              <a:avLst/>
            </a:prstGeom>
            <a:noFill/>
            <a:ln w="952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400">
                  <a:solidFill>
                    <a:schemeClr val="folHlink"/>
                  </a:solidFill>
                </a:rPr>
                <a:t>Total item</a:t>
              </a:r>
            </a:p>
          </p:txBody>
        </p:sp>
        <p:sp>
          <p:nvSpPr>
            <p:cNvPr id="41008" name="Line 28">
              <a:extLst>
                <a:ext uri="{FF2B5EF4-FFF2-40B4-BE49-F238E27FC236}">
                  <a16:creationId xmlns:a16="http://schemas.microsoft.com/office/drawing/2014/main" id="{AF1DB5A3-EE81-405E-A8CB-928799149036}"/>
                </a:ext>
              </a:extLst>
            </p:cNvPr>
            <p:cNvSpPr>
              <a:spLocks noChangeShapeType="1"/>
            </p:cNvSpPr>
            <p:nvPr/>
          </p:nvSpPr>
          <p:spPr bwMode="auto">
            <a:xfrm>
              <a:off x="4299942" y="2581100"/>
              <a:ext cx="204466" cy="7171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41009" name="183 Rectángulo">
              <a:extLst>
                <a:ext uri="{FF2B5EF4-FFF2-40B4-BE49-F238E27FC236}">
                  <a16:creationId xmlns:a16="http://schemas.microsoft.com/office/drawing/2014/main" id="{8638A79F-1A91-4F26-A706-B51649B7109F}"/>
                </a:ext>
              </a:extLst>
            </p:cNvPr>
            <p:cNvSpPr>
              <a:spLocks noChangeArrowheads="1"/>
            </p:cNvSpPr>
            <p:nvPr/>
          </p:nvSpPr>
          <p:spPr bwMode="auto">
            <a:xfrm>
              <a:off x="3892406" y="4172599"/>
              <a:ext cx="981274" cy="402990"/>
            </a:xfrm>
            <a:prstGeom prst="rect">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41010" name="184 CuadroTexto">
              <a:extLst>
                <a:ext uri="{FF2B5EF4-FFF2-40B4-BE49-F238E27FC236}">
                  <a16:creationId xmlns:a16="http://schemas.microsoft.com/office/drawing/2014/main" id="{D771F551-EA0C-4891-9C1C-7E5BE5399F0C}"/>
                </a:ext>
              </a:extLst>
            </p:cNvPr>
            <p:cNvSpPr txBox="1">
              <a:spLocks noChangeArrowheads="1"/>
            </p:cNvSpPr>
            <p:nvPr/>
          </p:nvSpPr>
          <p:spPr bwMode="auto">
            <a:xfrm>
              <a:off x="4067175" y="4223510"/>
              <a:ext cx="62619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400">
                  <a:solidFill>
                    <a:schemeClr val="folHlink"/>
                  </a:solidFill>
                </a:rPr>
                <a:t>ROPA</a:t>
              </a:r>
            </a:p>
          </p:txBody>
        </p:sp>
        <p:grpSp>
          <p:nvGrpSpPr>
            <p:cNvPr id="41011" name="Group 18">
              <a:extLst>
                <a:ext uri="{FF2B5EF4-FFF2-40B4-BE49-F238E27FC236}">
                  <a16:creationId xmlns:a16="http://schemas.microsoft.com/office/drawing/2014/main" id="{08554F9E-022B-4019-A6A9-329E5785C3A6}"/>
                </a:ext>
              </a:extLst>
            </p:cNvPr>
            <p:cNvGrpSpPr>
              <a:grpSpLocks/>
            </p:cNvGrpSpPr>
            <p:nvPr/>
          </p:nvGrpSpPr>
          <p:grpSpPr bwMode="auto">
            <a:xfrm>
              <a:off x="4139952" y="3501008"/>
              <a:ext cx="398173" cy="671591"/>
              <a:chOff x="476" y="2251"/>
              <a:chExt cx="364" cy="544"/>
            </a:xfrm>
          </p:grpSpPr>
          <p:sp>
            <p:nvSpPr>
              <p:cNvPr id="41014" name="AutoShape 19">
                <a:extLst>
                  <a:ext uri="{FF2B5EF4-FFF2-40B4-BE49-F238E27FC236}">
                    <a16:creationId xmlns:a16="http://schemas.microsoft.com/office/drawing/2014/main" id="{C14FB5D3-B1B8-4B44-A5F0-CC80D8C2A357}"/>
                  </a:ext>
                </a:extLst>
              </p:cNvPr>
              <p:cNvSpPr>
                <a:spLocks noChangeArrowheads="1"/>
              </p:cNvSpPr>
              <p:nvPr/>
            </p:nvSpPr>
            <p:spPr bwMode="auto">
              <a:xfrm rot="10800000">
                <a:off x="476" y="2341"/>
                <a:ext cx="364" cy="352"/>
              </a:xfrm>
              <a:prstGeom prst="triangle">
                <a:avLst>
                  <a:gd name="adj" fmla="val 50000"/>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ot="108000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000">
                    <a:solidFill>
                      <a:schemeClr val="folHlink"/>
                    </a:solidFill>
                  </a:rPr>
                  <a:t>ES</a:t>
                </a:r>
              </a:p>
            </p:txBody>
          </p:sp>
          <p:sp>
            <p:nvSpPr>
              <p:cNvPr id="41015" name="Line 20">
                <a:extLst>
                  <a:ext uri="{FF2B5EF4-FFF2-40B4-BE49-F238E27FC236}">
                    <a16:creationId xmlns:a16="http://schemas.microsoft.com/office/drawing/2014/main" id="{BD755B31-099A-4AD2-85FE-FE0C372867A8}"/>
                  </a:ext>
                </a:extLst>
              </p:cNvPr>
              <p:cNvSpPr>
                <a:spLocks noChangeShapeType="1"/>
              </p:cNvSpPr>
              <p:nvPr/>
            </p:nvSpPr>
            <p:spPr bwMode="auto">
              <a:xfrm flipV="1">
                <a:off x="657" y="2251"/>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1016" name="Line 21">
                <a:extLst>
                  <a:ext uri="{FF2B5EF4-FFF2-40B4-BE49-F238E27FC236}">
                    <a16:creationId xmlns:a16="http://schemas.microsoft.com/office/drawing/2014/main" id="{F2E154E1-63B0-4346-8502-013DD6D2C0CF}"/>
                  </a:ext>
                </a:extLst>
              </p:cNvPr>
              <p:cNvSpPr>
                <a:spLocks noChangeShapeType="1"/>
              </p:cNvSpPr>
              <p:nvPr/>
            </p:nvSpPr>
            <p:spPr bwMode="auto">
              <a:xfrm flipV="1">
                <a:off x="657" y="2705"/>
                <a:ext cx="0" cy="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41012" name="Oval 32">
              <a:extLst>
                <a:ext uri="{FF2B5EF4-FFF2-40B4-BE49-F238E27FC236}">
                  <a16:creationId xmlns:a16="http://schemas.microsoft.com/office/drawing/2014/main" id="{58A32F87-40E4-4EEB-8EA3-40A7107BA7A3}"/>
                </a:ext>
              </a:extLst>
            </p:cNvPr>
            <p:cNvSpPr>
              <a:spLocks noChangeArrowheads="1"/>
            </p:cNvSpPr>
            <p:nvPr/>
          </p:nvSpPr>
          <p:spPr bwMode="auto">
            <a:xfrm>
              <a:off x="4578444" y="4681751"/>
              <a:ext cx="770065" cy="367873"/>
            </a:xfrm>
            <a:prstGeom prst="ellipse">
              <a:avLst/>
            </a:prstGeom>
            <a:noFill/>
            <a:ln w="952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100">
                  <a:solidFill>
                    <a:schemeClr val="folHlink"/>
                  </a:solidFill>
                </a:rPr>
                <a:t>Talle</a:t>
              </a:r>
            </a:p>
          </p:txBody>
        </p:sp>
        <p:cxnSp>
          <p:nvCxnSpPr>
            <p:cNvPr id="41013" name="187 Conector recto">
              <a:extLst>
                <a:ext uri="{FF2B5EF4-FFF2-40B4-BE49-F238E27FC236}">
                  <a16:creationId xmlns:a16="http://schemas.microsoft.com/office/drawing/2014/main" id="{1C7F0DC2-81F5-48BE-B7D6-749272385C92}"/>
                </a:ext>
              </a:extLst>
            </p:cNvPr>
            <p:cNvCxnSpPr>
              <a:cxnSpLocks noChangeShapeType="1"/>
              <a:stCxn id="41012" idx="1"/>
              <a:endCxn id="41009" idx="2"/>
            </p:cNvCxnSpPr>
            <p:nvPr/>
          </p:nvCxnSpPr>
          <p:spPr bwMode="auto">
            <a:xfrm flipH="1" flipV="1">
              <a:off x="4383043" y="4575589"/>
              <a:ext cx="308174" cy="160036"/>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8071"/>
                                        </p:tgtEl>
                                        <p:attrNameLst>
                                          <p:attrName>style.visibility</p:attrName>
                                        </p:attrNameLst>
                                      </p:cBhvr>
                                      <p:to>
                                        <p:strVal val="visible"/>
                                      </p:to>
                                    </p:set>
                                    <p:anim calcmode="lin" valueType="num">
                                      <p:cBhvr additive="base">
                                        <p:cTn id="7" dur="500" fill="hold"/>
                                        <p:tgtEl>
                                          <p:spTgt spid="128071"/>
                                        </p:tgtEl>
                                        <p:attrNameLst>
                                          <p:attrName>ppt_x</p:attrName>
                                        </p:attrNameLst>
                                      </p:cBhvr>
                                      <p:tavLst>
                                        <p:tav tm="0">
                                          <p:val>
                                            <p:strVal val="#ppt_x"/>
                                          </p:val>
                                        </p:tav>
                                        <p:tav tm="100000">
                                          <p:val>
                                            <p:strVal val="#ppt_x"/>
                                          </p:val>
                                        </p:tav>
                                      </p:tavLst>
                                    </p:anim>
                                    <p:anim calcmode="lin" valueType="num">
                                      <p:cBhvr additive="base">
                                        <p:cTn id="8" dur="500" fill="hold"/>
                                        <p:tgtEl>
                                          <p:spTgt spid="128071"/>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18" presetClass="entr" presetSubtype="12" fill="hold" grpId="0" nodeType="afterEffect">
                                  <p:stCondLst>
                                    <p:cond delay="0"/>
                                  </p:stCondLst>
                                  <p:childTnLst>
                                    <p:set>
                                      <p:cBhvr>
                                        <p:cTn id="11" dur="1" fill="hold">
                                          <p:stCondLst>
                                            <p:cond delay="0"/>
                                          </p:stCondLst>
                                        </p:cTn>
                                        <p:tgtEl>
                                          <p:spTgt spid="128070"/>
                                        </p:tgtEl>
                                        <p:attrNameLst>
                                          <p:attrName>style.visibility</p:attrName>
                                        </p:attrNameLst>
                                      </p:cBhvr>
                                      <p:to>
                                        <p:strVal val="visible"/>
                                      </p:to>
                                    </p:set>
                                    <p:animEffect transition="in" filter="strips(downLeft)">
                                      <p:cBhvr>
                                        <p:cTn id="12" dur="500"/>
                                        <p:tgtEl>
                                          <p:spTgt spid="1280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70" grpId="0" animBg="1"/>
      <p:bldP spid="12807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A1B0E42-AE51-4071-8BD3-CA5AB8AA7F39}"/>
              </a:ext>
            </a:extLst>
          </p:cNvPr>
          <p:cNvSpPr>
            <a:spLocks noGrp="1" noChangeArrowheads="1"/>
          </p:cNvSpPr>
          <p:nvPr>
            <p:ph type="title"/>
          </p:nvPr>
        </p:nvSpPr>
        <p:spPr>
          <a:xfrm>
            <a:off x="863030" y="232569"/>
            <a:ext cx="8010525" cy="1143000"/>
          </a:xfrm>
        </p:spPr>
        <p:txBody>
          <a:bodyPr/>
          <a:lstStyle/>
          <a:p>
            <a:pPr algn="ctr" eaLnBrk="1" hangingPunct="1"/>
            <a:r>
              <a:rPr lang="es-AR" altLang="es-ES" sz="4800"/>
              <a:t>En resumen</a:t>
            </a:r>
          </a:p>
        </p:txBody>
      </p:sp>
      <p:sp>
        <p:nvSpPr>
          <p:cNvPr id="4099" name="AutoShape 7">
            <a:extLst>
              <a:ext uri="{FF2B5EF4-FFF2-40B4-BE49-F238E27FC236}">
                <a16:creationId xmlns:a16="http://schemas.microsoft.com/office/drawing/2014/main" id="{D31A0EF8-5CCE-424C-9803-BF0EA58FAD5A}"/>
              </a:ext>
            </a:extLst>
          </p:cNvPr>
          <p:cNvSpPr>
            <a:spLocks noChangeArrowheads="1"/>
          </p:cNvSpPr>
          <p:nvPr/>
        </p:nvSpPr>
        <p:spPr bwMode="auto">
          <a:xfrm>
            <a:off x="468313" y="2060848"/>
            <a:ext cx="3886200" cy="720725"/>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marL="285750" indent="-285750"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1.</a:t>
            </a:r>
            <a:r>
              <a:rPr lang="es-AR" altLang="es-ES" sz="2000">
                <a:solidFill>
                  <a:srgbClr val="C0C0C0"/>
                </a:solidFill>
              </a:rPr>
              <a:t> Qué es el diseño conceptual y lógico</a:t>
            </a:r>
            <a:endParaRPr lang="es-ES" altLang="es-ES" sz="2000">
              <a:solidFill>
                <a:srgbClr val="C0C0C0"/>
              </a:solidFill>
            </a:endParaRPr>
          </a:p>
        </p:txBody>
      </p:sp>
      <p:sp>
        <p:nvSpPr>
          <p:cNvPr id="4100" name="AutoShape 8">
            <a:extLst>
              <a:ext uri="{FF2B5EF4-FFF2-40B4-BE49-F238E27FC236}">
                <a16:creationId xmlns:a16="http://schemas.microsoft.com/office/drawing/2014/main" id="{2BEF8425-752F-4343-B8E3-7574B9722811}"/>
              </a:ext>
            </a:extLst>
          </p:cNvPr>
          <p:cNvSpPr>
            <a:spLocks noChangeArrowheads="1"/>
          </p:cNvSpPr>
          <p:nvPr/>
        </p:nvSpPr>
        <p:spPr bwMode="auto">
          <a:xfrm>
            <a:off x="5316865" y="1663700"/>
            <a:ext cx="2087562" cy="541338"/>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marL="285750" indent="-285750"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2.</a:t>
            </a:r>
            <a:r>
              <a:rPr lang="es-AR" altLang="es-ES" sz="2000">
                <a:solidFill>
                  <a:srgbClr val="C0C0C0"/>
                </a:solidFill>
              </a:rPr>
              <a:t> Entidades</a:t>
            </a:r>
            <a:endParaRPr lang="es-ES" altLang="es-ES" sz="2000">
              <a:solidFill>
                <a:srgbClr val="C0C0C0"/>
              </a:solidFill>
            </a:endParaRPr>
          </a:p>
        </p:txBody>
      </p:sp>
      <p:sp>
        <p:nvSpPr>
          <p:cNvPr id="4101" name="AutoShape 9">
            <a:extLst>
              <a:ext uri="{FF2B5EF4-FFF2-40B4-BE49-F238E27FC236}">
                <a16:creationId xmlns:a16="http://schemas.microsoft.com/office/drawing/2014/main" id="{4E8D7FA4-6C17-4F9A-8838-58EB9A8B9B48}"/>
              </a:ext>
            </a:extLst>
          </p:cNvPr>
          <p:cNvSpPr>
            <a:spLocks noChangeArrowheads="1"/>
          </p:cNvSpPr>
          <p:nvPr/>
        </p:nvSpPr>
        <p:spPr bwMode="auto">
          <a:xfrm>
            <a:off x="5292725" y="2256483"/>
            <a:ext cx="2159000" cy="452437"/>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3.</a:t>
            </a:r>
            <a:r>
              <a:rPr lang="es-AR" altLang="es-ES" sz="2000">
                <a:solidFill>
                  <a:srgbClr val="C0C0C0"/>
                </a:solidFill>
              </a:rPr>
              <a:t> Relaciones</a:t>
            </a:r>
            <a:endParaRPr lang="es-ES" altLang="es-ES" sz="2000">
              <a:solidFill>
                <a:srgbClr val="C0C0C0"/>
              </a:solidFill>
            </a:endParaRPr>
          </a:p>
        </p:txBody>
      </p:sp>
      <p:sp>
        <p:nvSpPr>
          <p:cNvPr id="4102" name="AutoShape 10">
            <a:extLst>
              <a:ext uri="{FF2B5EF4-FFF2-40B4-BE49-F238E27FC236}">
                <a16:creationId xmlns:a16="http://schemas.microsoft.com/office/drawing/2014/main" id="{08A348C0-111D-47A3-82B8-3F557F0D73BF}"/>
              </a:ext>
            </a:extLst>
          </p:cNvPr>
          <p:cNvSpPr>
            <a:spLocks noChangeArrowheads="1"/>
          </p:cNvSpPr>
          <p:nvPr/>
        </p:nvSpPr>
        <p:spPr bwMode="auto">
          <a:xfrm>
            <a:off x="5292725" y="2765162"/>
            <a:ext cx="2159000" cy="431800"/>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4.</a:t>
            </a:r>
            <a:r>
              <a:rPr lang="es-AR" altLang="es-ES" sz="2000">
                <a:solidFill>
                  <a:srgbClr val="C0C0C0"/>
                </a:solidFill>
              </a:rPr>
              <a:t> Restricciones </a:t>
            </a:r>
            <a:endParaRPr lang="es-ES" altLang="es-ES" sz="2000">
              <a:solidFill>
                <a:srgbClr val="C0C0C0"/>
              </a:solidFill>
            </a:endParaRPr>
          </a:p>
        </p:txBody>
      </p:sp>
      <p:sp>
        <p:nvSpPr>
          <p:cNvPr id="9231" name="Line 12">
            <a:extLst>
              <a:ext uri="{FF2B5EF4-FFF2-40B4-BE49-F238E27FC236}">
                <a16:creationId xmlns:a16="http://schemas.microsoft.com/office/drawing/2014/main" id="{8EE32C94-D9AB-46F5-9EC1-BD05CF95DC9F}"/>
              </a:ext>
            </a:extLst>
          </p:cNvPr>
          <p:cNvSpPr>
            <a:spLocks noChangeShapeType="1"/>
          </p:cNvSpPr>
          <p:nvPr/>
        </p:nvSpPr>
        <p:spPr bwMode="auto">
          <a:xfrm>
            <a:off x="4356100" y="2574925"/>
            <a:ext cx="863600" cy="34925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p>
        </p:txBody>
      </p:sp>
      <p:sp>
        <p:nvSpPr>
          <p:cNvPr id="9232" name="Line 13">
            <a:extLst>
              <a:ext uri="{FF2B5EF4-FFF2-40B4-BE49-F238E27FC236}">
                <a16:creationId xmlns:a16="http://schemas.microsoft.com/office/drawing/2014/main" id="{B4C1ECD4-68F8-4197-A0A2-57052484735E}"/>
              </a:ext>
            </a:extLst>
          </p:cNvPr>
          <p:cNvSpPr>
            <a:spLocks noChangeShapeType="1"/>
          </p:cNvSpPr>
          <p:nvPr/>
        </p:nvSpPr>
        <p:spPr bwMode="auto">
          <a:xfrm flipH="1">
            <a:off x="4356100" y="1916113"/>
            <a:ext cx="936625" cy="576262"/>
          </a:xfrm>
          <a:prstGeom prst="line">
            <a:avLst/>
          </a:prstGeom>
          <a:noFill/>
          <a:ln w="190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es-ES"/>
          </a:p>
        </p:txBody>
      </p:sp>
      <p:sp>
        <p:nvSpPr>
          <p:cNvPr id="9233" name="Line 22">
            <a:extLst>
              <a:ext uri="{FF2B5EF4-FFF2-40B4-BE49-F238E27FC236}">
                <a16:creationId xmlns:a16="http://schemas.microsoft.com/office/drawing/2014/main" id="{BD2685A0-4A18-4943-8B14-34345FC83919}"/>
              </a:ext>
            </a:extLst>
          </p:cNvPr>
          <p:cNvSpPr>
            <a:spLocks noChangeShapeType="1"/>
          </p:cNvSpPr>
          <p:nvPr/>
        </p:nvSpPr>
        <p:spPr bwMode="auto">
          <a:xfrm flipH="1" flipV="1">
            <a:off x="4356100" y="2492375"/>
            <a:ext cx="863600" cy="0"/>
          </a:xfrm>
          <a:prstGeom prst="line">
            <a:avLst/>
          </a:prstGeom>
          <a:noFill/>
          <a:ln w="19050">
            <a:solidFill>
              <a:schemeClr val="tx1"/>
            </a:solidFill>
            <a:miter lim="800000"/>
            <a:headEnd type="triangle" w="med" len="med"/>
            <a:tailEnd/>
          </a:ln>
          <a:extLst>
            <a:ext uri="{909E8E84-426E-40DD-AFC4-6F175D3DCCD1}">
              <a14:hiddenFill xmlns:a14="http://schemas.microsoft.com/office/drawing/2010/main">
                <a:noFill/>
              </a14:hiddenFill>
            </a:ext>
          </a:extLst>
        </p:spPr>
        <p:txBody>
          <a:bodyPr wrap="none"/>
          <a:lstStyle/>
          <a:p>
            <a:endParaRPr lang="es-ES"/>
          </a:p>
        </p:txBody>
      </p:sp>
      <p:sp>
        <p:nvSpPr>
          <p:cNvPr id="9240" name="Line 27">
            <a:extLst>
              <a:ext uri="{FF2B5EF4-FFF2-40B4-BE49-F238E27FC236}">
                <a16:creationId xmlns:a16="http://schemas.microsoft.com/office/drawing/2014/main" id="{6D8730EA-60D3-447A-98AE-C1FF84670010}"/>
              </a:ext>
            </a:extLst>
          </p:cNvPr>
          <p:cNvSpPr>
            <a:spLocks noChangeShapeType="1"/>
          </p:cNvSpPr>
          <p:nvPr/>
        </p:nvSpPr>
        <p:spPr bwMode="auto">
          <a:xfrm>
            <a:off x="2771775" y="2924175"/>
            <a:ext cx="2305050" cy="936625"/>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p>
        </p:txBody>
      </p:sp>
      <p:sp>
        <p:nvSpPr>
          <p:cNvPr id="4110" name="AutoShape 28">
            <a:extLst>
              <a:ext uri="{FF2B5EF4-FFF2-40B4-BE49-F238E27FC236}">
                <a16:creationId xmlns:a16="http://schemas.microsoft.com/office/drawing/2014/main" id="{A26D33E4-578D-4AD5-8EC5-666F29B76B81}"/>
              </a:ext>
            </a:extLst>
          </p:cNvPr>
          <p:cNvSpPr>
            <a:spLocks noChangeArrowheads="1"/>
          </p:cNvSpPr>
          <p:nvPr/>
        </p:nvSpPr>
        <p:spPr bwMode="auto">
          <a:xfrm>
            <a:off x="4927228" y="4917727"/>
            <a:ext cx="3816052" cy="671513"/>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7.</a:t>
            </a:r>
            <a:r>
              <a:rPr lang="es-AR" altLang="es-ES" sz="2000">
                <a:solidFill>
                  <a:srgbClr val="C0C0C0"/>
                </a:solidFill>
              </a:rPr>
              <a:t> Modelo arriba-abajo: </a:t>
            </a:r>
          </a:p>
          <a:p>
            <a:pPr eaLnBrk="1" hangingPunct="1">
              <a:spcBef>
                <a:spcPct val="0"/>
              </a:spcBef>
              <a:buClrTx/>
              <a:buSzTx/>
              <a:buFontTx/>
              <a:buNone/>
              <a:defRPr/>
            </a:pPr>
            <a:r>
              <a:rPr lang="es-AR" altLang="es-ES" sz="1600">
                <a:solidFill>
                  <a:srgbClr val="C0C0C0"/>
                </a:solidFill>
              </a:rPr>
              <a:t>El MER y las reglas de transformación</a:t>
            </a:r>
            <a:endParaRPr lang="es-ES" altLang="es-ES" sz="1600">
              <a:solidFill>
                <a:srgbClr val="C0C0C0"/>
              </a:solidFill>
            </a:endParaRPr>
          </a:p>
        </p:txBody>
      </p:sp>
      <p:sp>
        <p:nvSpPr>
          <p:cNvPr id="23" name="AutoShape 29">
            <a:extLst>
              <a:ext uri="{FF2B5EF4-FFF2-40B4-BE49-F238E27FC236}">
                <a16:creationId xmlns:a16="http://schemas.microsoft.com/office/drawing/2014/main" id="{15F3AC93-184B-4C16-BFF2-569887293D18}"/>
              </a:ext>
            </a:extLst>
          </p:cNvPr>
          <p:cNvSpPr>
            <a:spLocks noChangeArrowheads="1"/>
          </p:cNvSpPr>
          <p:nvPr/>
        </p:nvSpPr>
        <p:spPr bwMode="auto">
          <a:xfrm>
            <a:off x="5205040" y="3900165"/>
            <a:ext cx="3538240" cy="608955"/>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266700" indent="-266700" eaLnBrk="1" hangingPunct="1">
              <a:spcBef>
                <a:spcPct val="0"/>
              </a:spcBef>
              <a:buClrTx/>
              <a:buSzTx/>
              <a:buFontTx/>
              <a:buNone/>
              <a:defRPr/>
            </a:pPr>
            <a:r>
              <a:rPr lang="es-AR" altLang="es-ES" sz="2000">
                <a:solidFill>
                  <a:srgbClr val="C0C0C0"/>
                </a:solidFill>
              </a:rPr>
              <a:t>6. Los métodos </a:t>
            </a:r>
          </a:p>
          <a:p>
            <a:pPr marL="266700" indent="-266700" eaLnBrk="1" hangingPunct="1">
              <a:spcBef>
                <a:spcPct val="0"/>
              </a:spcBef>
              <a:buClrTx/>
              <a:buSzTx/>
              <a:buFontTx/>
              <a:buNone/>
              <a:defRPr/>
            </a:pPr>
            <a:r>
              <a:rPr lang="es-AR" altLang="es-ES" sz="2000">
                <a:solidFill>
                  <a:srgbClr val="C0C0C0"/>
                </a:solidFill>
              </a:rPr>
              <a:t>abajo-arriba y arriba-abajo.</a:t>
            </a:r>
            <a:endParaRPr lang="es-ES" altLang="es-ES" sz="2000">
              <a:solidFill>
                <a:srgbClr val="C0C0C0"/>
              </a:solidFill>
            </a:endParaRPr>
          </a:p>
        </p:txBody>
      </p:sp>
      <p:sp>
        <p:nvSpPr>
          <p:cNvPr id="9257" name="Line 35">
            <a:extLst>
              <a:ext uri="{FF2B5EF4-FFF2-40B4-BE49-F238E27FC236}">
                <a16:creationId xmlns:a16="http://schemas.microsoft.com/office/drawing/2014/main" id="{E4C6BCB0-7D36-45C6-91AA-676C3531D566}"/>
              </a:ext>
            </a:extLst>
          </p:cNvPr>
          <p:cNvSpPr>
            <a:spLocks noChangeShapeType="1"/>
          </p:cNvSpPr>
          <p:nvPr/>
        </p:nvSpPr>
        <p:spPr bwMode="auto">
          <a:xfrm flipH="1">
            <a:off x="7451725" y="4491038"/>
            <a:ext cx="0" cy="3937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p>
        </p:txBody>
      </p:sp>
      <p:sp>
        <p:nvSpPr>
          <p:cNvPr id="26" name="AutoShape 10">
            <a:extLst>
              <a:ext uri="{FF2B5EF4-FFF2-40B4-BE49-F238E27FC236}">
                <a16:creationId xmlns:a16="http://schemas.microsoft.com/office/drawing/2014/main" id="{C6873B59-9E2E-4AB1-86FD-0A94E1EC1A3B}"/>
              </a:ext>
            </a:extLst>
          </p:cNvPr>
          <p:cNvSpPr>
            <a:spLocks noChangeArrowheads="1"/>
          </p:cNvSpPr>
          <p:nvPr/>
        </p:nvSpPr>
        <p:spPr bwMode="auto">
          <a:xfrm>
            <a:off x="6943856" y="3300797"/>
            <a:ext cx="2159000" cy="431800"/>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5.</a:t>
            </a:r>
            <a:r>
              <a:rPr lang="es-AR" altLang="es-ES" sz="2000">
                <a:solidFill>
                  <a:srgbClr val="C0C0C0"/>
                </a:solidFill>
              </a:rPr>
              <a:t> Modelo - ER </a:t>
            </a:r>
            <a:endParaRPr lang="es-ES" altLang="es-ES" sz="2000">
              <a:solidFill>
                <a:srgbClr val="C0C0C0"/>
              </a:solidFill>
            </a:endParaRPr>
          </a:p>
        </p:txBody>
      </p:sp>
      <p:cxnSp>
        <p:nvCxnSpPr>
          <p:cNvPr id="9262" name="2 Conector angular">
            <a:extLst>
              <a:ext uri="{FF2B5EF4-FFF2-40B4-BE49-F238E27FC236}">
                <a16:creationId xmlns:a16="http://schemas.microsoft.com/office/drawing/2014/main" id="{3C276026-5DF0-4402-AA09-D5DD0DF7838E}"/>
              </a:ext>
            </a:extLst>
          </p:cNvPr>
          <p:cNvCxnSpPr>
            <a:cxnSpLocks noChangeShapeType="1"/>
          </p:cNvCxnSpPr>
          <p:nvPr/>
        </p:nvCxnSpPr>
        <p:spPr bwMode="auto">
          <a:xfrm>
            <a:off x="7404100" y="1935163"/>
            <a:ext cx="619125" cy="1365250"/>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263" name="4 Conector angular">
            <a:extLst>
              <a:ext uri="{FF2B5EF4-FFF2-40B4-BE49-F238E27FC236}">
                <a16:creationId xmlns:a16="http://schemas.microsoft.com/office/drawing/2014/main" id="{54AA8083-8D60-4E21-88FA-90A684E29E9A}"/>
              </a:ext>
            </a:extLst>
          </p:cNvPr>
          <p:cNvCxnSpPr>
            <a:cxnSpLocks noChangeShapeType="1"/>
          </p:cNvCxnSpPr>
          <p:nvPr/>
        </p:nvCxnSpPr>
        <p:spPr bwMode="auto">
          <a:xfrm rot="16200000" flipH="1">
            <a:off x="7297737" y="2574926"/>
            <a:ext cx="879475" cy="571500"/>
          </a:xfrm>
          <a:prstGeom prst="bentConnector3">
            <a:avLst>
              <a:gd name="adj1" fmla="val 1606"/>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264" name="7 Conector angular">
            <a:extLst>
              <a:ext uri="{FF2B5EF4-FFF2-40B4-BE49-F238E27FC236}">
                <a16:creationId xmlns:a16="http://schemas.microsoft.com/office/drawing/2014/main" id="{F2E42A94-ED9D-478A-9BA4-8586C338FF25}"/>
              </a:ext>
            </a:extLst>
          </p:cNvPr>
          <p:cNvCxnSpPr>
            <a:cxnSpLocks noChangeShapeType="1"/>
          </p:cNvCxnSpPr>
          <p:nvPr/>
        </p:nvCxnSpPr>
        <p:spPr bwMode="auto">
          <a:xfrm>
            <a:off x="7451725" y="2981325"/>
            <a:ext cx="571500" cy="319088"/>
          </a:xfrm>
          <a:prstGeom prst="bentConnector2">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5541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A1B0E42-AE51-4071-8BD3-CA5AB8AA7F39}"/>
              </a:ext>
            </a:extLst>
          </p:cNvPr>
          <p:cNvSpPr>
            <a:spLocks noGrp="1" noChangeArrowheads="1"/>
          </p:cNvSpPr>
          <p:nvPr>
            <p:ph type="title"/>
          </p:nvPr>
        </p:nvSpPr>
        <p:spPr>
          <a:xfrm>
            <a:off x="863030" y="232569"/>
            <a:ext cx="8010525" cy="1143000"/>
          </a:xfrm>
        </p:spPr>
        <p:txBody>
          <a:bodyPr/>
          <a:lstStyle/>
          <a:p>
            <a:pPr algn="ctr" eaLnBrk="1" hangingPunct="1"/>
            <a:r>
              <a:rPr lang="es-AR" altLang="es-ES" sz="4800"/>
              <a:t>Esquema</a:t>
            </a:r>
          </a:p>
        </p:txBody>
      </p:sp>
      <p:sp>
        <p:nvSpPr>
          <p:cNvPr id="4106" name="AutoShape 23">
            <a:extLst>
              <a:ext uri="{FF2B5EF4-FFF2-40B4-BE49-F238E27FC236}">
                <a16:creationId xmlns:a16="http://schemas.microsoft.com/office/drawing/2014/main" id="{F8405A94-5F15-41A5-A77F-82D92AF18772}"/>
              </a:ext>
            </a:extLst>
          </p:cNvPr>
          <p:cNvSpPr>
            <a:spLocks noChangeArrowheads="1"/>
          </p:cNvSpPr>
          <p:nvPr/>
        </p:nvSpPr>
        <p:spPr bwMode="auto">
          <a:xfrm>
            <a:off x="338561" y="4253979"/>
            <a:ext cx="4032571" cy="503039"/>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266700" indent="-266700" eaLnBrk="1" hangingPunct="1">
              <a:spcBef>
                <a:spcPct val="0"/>
              </a:spcBef>
              <a:buClrTx/>
              <a:buSzTx/>
              <a:buFontTx/>
              <a:buNone/>
              <a:defRPr/>
            </a:pPr>
            <a:r>
              <a:rPr lang="es-AR" altLang="es-ES" sz="2000" b="1" dirty="0">
                <a:solidFill>
                  <a:srgbClr val="C0C0C0"/>
                </a:solidFill>
              </a:rPr>
              <a:t>9.</a:t>
            </a:r>
            <a:r>
              <a:rPr lang="es-AR" altLang="es-ES" sz="2000" dirty="0">
                <a:solidFill>
                  <a:srgbClr val="C0C0C0"/>
                </a:solidFill>
              </a:rPr>
              <a:t> Criterios del buen diseño</a:t>
            </a:r>
            <a:endParaRPr lang="es-ES" altLang="es-ES" sz="2000" dirty="0">
              <a:solidFill>
                <a:srgbClr val="C0C0C0"/>
              </a:solidFill>
            </a:endParaRPr>
          </a:p>
        </p:txBody>
      </p:sp>
      <p:sp>
        <p:nvSpPr>
          <p:cNvPr id="4107" name="AutoShape 25">
            <a:extLst>
              <a:ext uri="{FF2B5EF4-FFF2-40B4-BE49-F238E27FC236}">
                <a16:creationId xmlns:a16="http://schemas.microsoft.com/office/drawing/2014/main" id="{F521C79F-1315-4FBB-B1C3-D01B0146A034}"/>
              </a:ext>
            </a:extLst>
          </p:cNvPr>
          <p:cNvSpPr>
            <a:spLocks noChangeArrowheads="1"/>
          </p:cNvSpPr>
          <p:nvPr/>
        </p:nvSpPr>
        <p:spPr bwMode="auto">
          <a:xfrm>
            <a:off x="878062" y="2237729"/>
            <a:ext cx="2665412" cy="616892"/>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b="1">
                <a:solidFill>
                  <a:srgbClr val="C0C0C0"/>
                </a:solidFill>
              </a:rPr>
              <a:t>8.</a:t>
            </a:r>
            <a:r>
              <a:rPr lang="es-AR" altLang="es-ES" sz="2000">
                <a:solidFill>
                  <a:srgbClr val="C0C0C0"/>
                </a:solidFill>
              </a:rPr>
              <a:t> La normalización</a:t>
            </a:r>
            <a:endParaRPr lang="es-AR" altLang="es-ES" sz="1600">
              <a:solidFill>
                <a:srgbClr val="C0C0C0"/>
              </a:solidFill>
            </a:endParaRPr>
          </a:p>
          <a:p>
            <a:pPr algn="ctr" eaLnBrk="1" hangingPunct="1">
              <a:spcBef>
                <a:spcPct val="0"/>
              </a:spcBef>
              <a:buClrTx/>
              <a:buSzTx/>
              <a:buFontTx/>
              <a:buNone/>
              <a:defRPr/>
            </a:pPr>
            <a:r>
              <a:rPr lang="es-AR" altLang="es-ES" sz="1600">
                <a:solidFill>
                  <a:srgbClr val="C0C0C0"/>
                </a:solidFill>
              </a:rPr>
              <a:t>1FN, 2FN y 3FN</a:t>
            </a:r>
            <a:r>
              <a:rPr lang="es-AR" altLang="es-ES" sz="2000">
                <a:solidFill>
                  <a:srgbClr val="C0C0C0"/>
                </a:solidFill>
              </a:rPr>
              <a:t> </a:t>
            </a:r>
            <a:endParaRPr lang="es-ES" altLang="es-ES" sz="2000">
              <a:solidFill>
                <a:srgbClr val="C0C0C0"/>
              </a:solidFill>
            </a:endParaRPr>
          </a:p>
        </p:txBody>
      </p:sp>
      <p:sp>
        <p:nvSpPr>
          <p:cNvPr id="4111" name="AutoShape 29">
            <a:extLst>
              <a:ext uri="{FF2B5EF4-FFF2-40B4-BE49-F238E27FC236}">
                <a16:creationId xmlns:a16="http://schemas.microsoft.com/office/drawing/2014/main" id="{73C02B88-D724-475B-9823-584E3F7EDCD8}"/>
              </a:ext>
            </a:extLst>
          </p:cNvPr>
          <p:cNvSpPr>
            <a:spLocks noChangeArrowheads="1"/>
          </p:cNvSpPr>
          <p:nvPr/>
        </p:nvSpPr>
        <p:spPr bwMode="auto">
          <a:xfrm>
            <a:off x="1633488" y="3341489"/>
            <a:ext cx="1368425" cy="503238"/>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eaLnBrk="1" hangingPunct="1">
              <a:spcBef>
                <a:spcPct val="0"/>
              </a:spcBef>
              <a:buClrTx/>
              <a:buSzTx/>
              <a:buFontTx/>
              <a:buNone/>
              <a:defRPr/>
            </a:pPr>
            <a:r>
              <a:rPr lang="es-AR" altLang="es-ES" sz="2000">
                <a:solidFill>
                  <a:srgbClr val="C0C0C0"/>
                </a:solidFill>
              </a:rPr>
              <a:t>El DER</a:t>
            </a:r>
            <a:endParaRPr lang="es-ES" altLang="es-ES" sz="2000">
              <a:solidFill>
                <a:srgbClr val="C0C0C0"/>
              </a:solidFill>
            </a:endParaRPr>
          </a:p>
        </p:txBody>
      </p:sp>
      <p:sp>
        <p:nvSpPr>
          <p:cNvPr id="9247" name="Line 30">
            <a:extLst>
              <a:ext uri="{FF2B5EF4-FFF2-40B4-BE49-F238E27FC236}">
                <a16:creationId xmlns:a16="http://schemas.microsoft.com/office/drawing/2014/main" id="{D25ADB5E-4113-4397-81CD-9D923DFB6DB1}"/>
              </a:ext>
            </a:extLst>
          </p:cNvPr>
          <p:cNvSpPr>
            <a:spLocks noChangeShapeType="1"/>
          </p:cNvSpPr>
          <p:nvPr/>
        </p:nvSpPr>
        <p:spPr bwMode="auto">
          <a:xfrm>
            <a:off x="2210545" y="2886224"/>
            <a:ext cx="0" cy="43180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p>
        </p:txBody>
      </p:sp>
      <p:sp>
        <p:nvSpPr>
          <p:cNvPr id="9253" name="Line 35">
            <a:extLst>
              <a:ext uri="{FF2B5EF4-FFF2-40B4-BE49-F238E27FC236}">
                <a16:creationId xmlns:a16="http://schemas.microsoft.com/office/drawing/2014/main" id="{831CB5AE-D2DB-46A6-9A14-E3F7C03F5DC7}"/>
              </a:ext>
            </a:extLst>
          </p:cNvPr>
          <p:cNvSpPr>
            <a:spLocks noChangeShapeType="1"/>
          </p:cNvSpPr>
          <p:nvPr/>
        </p:nvSpPr>
        <p:spPr bwMode="auto">
          <a:xfrm flipH="1">
            <a:off x="3650407" y="2546499"/>
            <a:ext cx="1570038" cy="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p>
        </p:txBody>
      </p:sp>
      <p:sp>
        <p:nvSpPr>
          <p:cNvPr id="23" name="AutoShape 29">
            <a:extLst>
              <a:ext uri="{FF2B5EF4-FFF2-40B4-BE49-F238E27FC236}">
                <a16:creationId xmlns:a16="http://schemas.microsoft.com/office/drawing/2014/main" id="{15F3AC93-184B-4C16-BFF2-569887293D18}"/>
              </a:ext>
            </a:extLst>
          </p:cNvPr>
          <p:cNvSpPr>
            <a:spLocks noChangeArrowheads="1"/>
          </p:cNvSpPr>
          <p:nvPr/>
        </p:nvSpPr>
        <p:spPr bwMode="auto">
          <a:xfrm>
            <a:off x="5220072" y="2204864"/>
            <a:ext cx="3538240" cy="608955"/>
          </a:xfrm>
          <a:prstGeom prst="roundRect">
            <a:avLst>
              <a:gd name="adj" fmla="val 16667"/>
            </a:avLst>
          </a:prstGeom>
          <a:solidFill>
            <a:srgbClr val="5B82FF"/>
          </a:solidFill>
          <a:ln w="9525">
            <a:round/>
            <a:headEnd/>
            <a:tailEnd/>
          </a:ln>
          <a:scene3d>
            <a:camera prst="orthographicFront"/>
            <a:lightRig rig="legacyFlat3" dir="b"/>
          </a:scene3d>
          <a:sp3d extrusionH="430200" prstMaterial="legacyMatte">
            <a:bevelT w="13500" h="13500" prst="coolSlant"/>
            <a:bevelB w="13500" h="13500" prst="angle"/>
            <a:extrusionClr>
              <a:srgbClr val="5B82FF"/>
            </a:extrusionClr>
          </a:sp3d>
        </p:spPr>
        <p:txBody>
          <a:bodyPr anchor="ctr">
            <a:flatTx/>
          </a:bodyPr>
          <a:lstStyle>
            <a:lvl1pPr eaLnBrk="0" hangingPunct="0">
              <a:spcBef>
                <a:spcPct val="20000"/>
              </a:spcBef>
              <a:buClr>
                <a:schemeClr val="folHlink"/>
              </a:buClr>
              <a:buSzPct val="60000"/>
              <a:buFont typeface="Wingdings" pitchFamily="2" charset="2"/>
              <a:buChar char="n"/>
              <a:defRPr sz="3200">
                <a:solidFill>
                  <a:schemeClr val="tx1"/>
                </a:solidFill>
                <a:latin typeface="Tahoma" pitchFamily="34" charset="0"/>
              </a:defRPr>
            </a:lvl1pPr>
            <a:lvl2pPr marL="742950" indent="-285750" eaLnBrk="0" hangingPunct="0">
              <a:spcBef>
                <a:spcPct val="20000"/>
              </a:spcBef>
              <a:buClr>
                <a:schemeClr val="hlink"/>
              </a:buClr>
              <a:buSzPct val="55000"/>
              <a:buFont typeface="Wingdings" pitchFamily="2" charset="2"/>
              <a:buChar char="n"/>
              <a:defRPr sz="2800">
                <a:solidFill>
                  <a:schemeClr val="tx1"/>
                </a:solidFill>
                <a:latin typeface="Tahoma" pitchFamily="34" charset="0"/>
              </a:defRPr>
            </a:lvl2pPr>
            <a:lvl3pPr marL="1143000" indent="-228600" eaLnBrk="0" hangingPunct="0">
              <a:spcBef>
                <a:spcPct val="20000"/>
              </a:spcBef>
              <a:buClr>
                <a:schemeClr val="folHlink"/>
              </a:buClr>
              <a:buSzPct val="50000"/>
              <a:buFont typeface="Wingdings" pitchFamily="2" charset="2"/>
              <a:buChar char="n"/>
              <a:defRPr sz="2400">
                <a:solidFill>
                  <a:schemeClr val="tx1"/>
                </a:solidFill>
                <a:latin typeface="Tahoma" pitchFamily="34" charset="0"/>
              </a:defRPr>
            </a:lvl3pPr>
            <a:lvl4pPr marL="1600200" indent="-228600" eaLnBrk="0" hangingPunct="0">
              <a:spcBef>
                <a:spcPct val="20000"/>
              </a:spcBef>
              <a:buClr>
                <a:schemeClr val="accent2"/>
              </a:buClr>
              <a:buSzPct val="55000"/>
              <a:buFont typeface="Wingdings" pitchFamily="2" charset="2"/>
              <a:buChar char="n"/>
              <a:defRPr sz="2000">
                <a:solidFill>
                  <a:schemeClr val="tx1"/>
                </a:solidFill>
                <a:latin typeface="Tahoma" pitchFamily="34" charset="0"/>
              </a:defRPr>
            </a:lvl4pPr>
            <a:lvl5pPr marL="2057400" indent="-228600" eaLnBrk="0" hangingPunct="0">
              <a:spcBef>
                <a:spcPct val="20000"/>
              </a:spcBef>
              <a:buClr>
                <a:schemeClr val="accent1"/>
              </a:buClr>
              <a:buSzPct val="50000"/>
              <a:buFont typeface="Wingdings" pitchFamily="2" charset="2"/>
              <a:buChar char="n"/>
              <a:defRPr sz="2000">
                <a:solidFill>
                  <a:schemeClr val="tx1"/>
                </a:solidFill>
                <a:latin typeface="Tahoma"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itchFamily="34" charset="0"/>
              </a:defRPr>
            </a:lvl9pPr>
          </a:lstStyle>
          <a:p>
            <a:pPr marL="266700" indent="-266700" eaLnBrk="1" hangingPunct="1">
              <a:spcBef>
                <a:spcPct val="0"/>
              </a:spcBef>
              <a:buClrTx/>
              <a:buSzTx/>
              <a:buFontTx/>
              <a:buNone/>
              <a:defRPr/>
            </a:pPr>
            <a:r>
              <a:rPr lang="es-AR" altLang="es-ES" sz="2000">
                <a:solidFill>
                  <a:srgbClr val="C0C0C0"/>
                </a:solidFill>
              </a:rPr>
              <a:t>6. Los métodos </a:t>
            </a:r>
          </a:p>
          <a:p>
            <a:pPr marL="266700" indent="-266700" eaLnBrk="1" hangingPunct="1">
              <a:spcBef>
                <a:spcPct val="0"/>
              </a:spcBef>
              <a:buClrTx/>
              <a:buSzTx/>
              <a:buFontTx/>
              <a:buNone/>
              <a:defRPr/>
            </a:pPr>
            <a:r>
              <a:rPr lang="es-AR" altLang="es-ES" sz="2000">
                <a:solidFill>
                  <a:srgbClr val="C0C0C0"/>
                </a:solidFill>
              </a:rPr>
              <a:t>abajo-arriba y arriba-abajo.</a:t>
            </a:r>
            <a:endParaRPr lang="es-ES" altLang="es-ES" sz="2000">
              <a:solidFill>
                <a:srgbClr val="C0C0C0"/>
              </a:solidFill>
            </a:endParaRPr>
          </a:p>
        </p:txBody>
      </p:sp>
      <p:sp>
        <p:nvSpPr>
          <p:cNvPr id="9265" name="Line 27">
            <a:extLst>
              <a:ext uri="{FF2B5EF4-FFF2-40B4-BE49-F238E27FC236}">
                <a16:creationId xmlns:a16="http://schemas.microsoft.com/office/drawing/2014/main" id="{272DB665-5A86-40B9-BC98-2A15147FF9E8}"/>
              </a:ext>
            </a:extLst>
          </p:cNvPr>
          <p:cNvSpPr>
            <a:spLocks noChangeShapeType="1"/>
          </p:cNvSpPr>
          <p:nvPr/>
        </p:nvSpPr>
        <p:spPr bwMode="auto">
          <a:xfrm>
            <a:off x="3203851" y="2926529"/>
            <a:ext cx="144014" cy="1327450"/>
          </a:xfrm>
          <a:prstGeom prst="line">
            <a:avLst/>
          </a:prstGeom>
          <a:noFill/>
          <a:ln w="19050">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es-ES"/>
          </a:p>
        </p:txBody>
      </p:sp>
    </p:spTree>
    <p:extLst>
      <p:ext uri="{BB962C8B-B14F-4D97-AF65-F5344CB8AC3E}">
        <p14:creationId xmlns:p14="http://schemas.microsoft.com/office/powerpoint/2010/main" val="15541638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6F065438-6FBB-4287-8A0D-18459240C291}"/>
              </a:ext>
            </a:extLst>
          </p:cNvPr>
          <p:cNvSpPr>
            <a:spLocks noGrp="1" noChangeArrowheads="1"/>
          </p:cNvSpPr>
          <p:nvPr>
            <p:ph type="title"/>
          </p:nvPr>
        </p:nvSpPr>
        <p:spPr>
          <a:xfrm>
            <a:off x="1187450" y="260350"/>
            <a:ext cx="7793038" cy="1143000"/>
          </a:xfrm>
        </p:spPr>
        <p:txBody>
          <a:bodyPr/>
          <a:lstStyle/>
          <a:p>
            <a:pPr eaLnBrk="1" hangingPunct="1"/>
            <a:r>
              <a:rPr lang="es-ES" altLang="es-ES" sz="3200">
                <a:solidFill>
                  <a:schemeClr val="folHlink"/>
                </a:solidFill>
              </a:rPr>
              <a:t>    Métodos: diseño conceptual -&gt; lógico</a:t>
            </a:r>
            <a:endParaRPr lang="es-AR" altLang="es-ES" sz="3200">
              <a:solidFill>
                <a:schemeClr val="folHlink"/>
              </a:solidFill>
            </a:endParaRPr>
          </a:p>
        </p:txBody>
      </p:sp>
      <p:sp>
        <p:nvSpPr>
          <p:cNvPr id="43011" name="Rectangle 8">
            <a:extLst>
              <a:ext uri="{FF2B5EF4-FFF2-40B4-BE49-F238E27FC236}">
                <a16:creationId xmlns:a16="http://schemas.microsoft.com/office/drawing/2014/main" id="{716EDE6A-2381-4D44-BDB5-CD52918076D3}"/>
              </a:ext>
            </a:extLst>
          </p:cNvPr>
          <p:cNvSpPr>
            <a:spLocks noChangeArrowheads="1"/>
          </p:cNvSpPr>
          <p:nvPr/>
        </p:nvSpPr>
        <p:spPr bwMode="auto">
          <a:xfrm>
            <a:off x="3635375" y="2997200"/>
            <a:ext cx="1873250" cy="881063"/>
          </a:xfrm>
          <a:prstGeom prst="rect">
            <a:avLst/>
          </a:prstGeom>
          <a:solidFill>
            <a:srgbClr val="A2E2A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400" b="1">
                <a:latin typeface="Arial" panose="020B0604020202020204" pitchFamily="34" charset="0"/>
              </a:rPr>
              <a:t>Conjunto de </a:t>
            </a:r>
          </a:p>
          <a:p>
            <a:pPr algn="ctr" eaLnBrk="1" hangingPunct="1">
              <a:spcBef>
                <a:spcPct val="0"/>
              </a:spcBef>
              <a:buClrTx/>
              <a:buSzTx/>
              <a:buFontTx/>
              <a:buNone/>
            </a:pPr>
            <a:r>
              <a:rPr lang="es-AR" altLang="es-ES" sz="1400" b="1">
                <a:latin typeface="Arial" panose="020B0604020202020204" pitchFamily="34" charset="0"/>
              </a:rPr>
              <a:t>entidades </a:t>
            </a:r>
          </a:p>
          <a:p>
            <a:pPr algn="ctr" eaLnBrk="1" hangingPunct="1">
              <a:spcBef>
                <a:spcPct val="0"/>
              </a:spcBef>
              <a:buClrTx/>
              <a:buSzTx/>
              <a:buFontTx/>
              <a:buNone/>
            </a:pPr>
            <a:r>
              <a:rPr lang="es-AR" altLang="es-ES" sz="1400" b="1">
                <a:latin typeface="Arial" panose="020B0604020202020204" pitchFamily="34" charset="0"/>
              </a:rPr>
              <a:t>bien diseñadas</a:t>
            </a:r>
          </a:p>
          <a:p>
            <a:pPr algn="ctr" eaLnBrk="1" hangingPunct="1">
              <a:spcBef>
                <a:spcPct val="0"/>
              </a:spcBef>
              <a:buClrTx/>
              <a:buSzTx/>
              <a:buFontTx/>
              <a:buNone/>
            </a:pPr>
            <a:r>
              <a:rPr lang="es-AR" altLang="es-ES" sz="1400" b="1">
                <a:latin typeface="Arial" panose="020B0604020202020204" pitchFamily="34" charset="0"/>
              </a:rPr>
              <a:t>(modelo lógico)</a:t>
            </a:r>
          </a:p>
        </p:txBody>
      </p:sp>
      <p:sp>
        <p:nvSpPr>
          <p:cNvPr id="43012" name="Rectangle 9">
            <a:extLst>
              <a:ext uri="{FF2B5EF4-FFF2-40B4-BE49-F238E27FC236}">
                <a16:creationId xmlns:a16="http://schemas.microsoft.com/office/drawing/2014/main" id="{9A119FDE-F8E8-4BC9-81D9-2C45F477397A}"/>
              </a:ext>
            </a:extLst>
          </p:cNvPr>
          <p:cNvSpPr>
            <a:spLocks noChangeArrowheads="1"/>
          </p:cNvSpPr>
          <p:nvPr/>
        </p:nvSpPr>
        <p:spPr bwMode="auto">
          <a:xfrm>
            <a:off x="468313" y="2420938"/>
            <a:ext cx="2016125" cy="1728787"/>
          </a:xfrm>
          <a:prstGeom prst="rect">
            <a:avLst/>
          </a:prstGeom>
          <a:solidFill>
            <a:srgbClr val="A2E2A2"/>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179388" indent="85725">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b="1">
                <a:latin typeface="Arial" panose="020B0604020202020204" pitchFamily="34" charset="0"/>
              </a:rPr>
              <a:t>Fuentes de </a:t>
            </a:r>
          </a:p>
          <a:p>
            <a:pPr eaLnBrk="1" hangingPunct="1">
              <a:spcBef>
                <a:spcPct val="0"/>
              </a:spcBef>
              <a:buClrTx/>
              <a:buSzTx/>
              <a:buFontTx/>
              <a:buNone/>
            </a:pPr>
            <a:r>
              <a:rPr lang="es-AR" altLang="es-ES" sz="1400" b="1">
                <a:latin typeface="Arial" panose="020B0604020202020204" pitchFamily="34" charset="0"/>
              </a:rPr>
              <a:t>relevamiento: </a:t>
            </a:r>
          </a:p>
          <a:p>
            <a:pPr lvl="1" eaLnBrk="1" hangingPunct="1">
              <a:spcBef>
                <a:spcPct val="0"/>
              </a:spcBef>
              <a:buClrTx/>
              <a:buSzTx/>
              <a:buFontTx/>
              <a:buChar char="•"/>
            </a:pPr>
            <a:r>
              <a:rPr lang="es-AR" altLang="es-ES" sz="1200">
                <a:latin typeface="Arial" panose="020B0604020202020204" pitchFamily="34" charset="0"/>
              </a:rPr>
              <a:t>Usuarios</a:t>
            </a:r>
          </a:p>
          <a:p>
            <a:pPr lvl="1" eaLnBrk="1" hangingPunct="1">
              <a:spcBef>
                <a:spcPct val="0"/>
              </a:spcBef>
              <a:buClrTx/>
              <a:buSzTx/>
              <a:buFontTx/>
              <a:buChar char="•"/>
            </a:pPr>
            <a:r>
              <a:rPr lang="es-AR" altLang="es-ES" sz="1200">
                <a:latin typeface="Arial" panose="020B0604020202020204" pitchFamily="34" charset="0"/>
              </a:rPr>
              <a:t>Especificación de </a:t>
            </a:r>
          </a:p>
          <a:p>
            <a:pPr lvl="1" eaLnBrk="1" hangingPunct="1">
              <a:spcBef>
                <a:spcPct val="0"/>
              </a:spcBef>
              <a:buClrTx/>
              <a:buSzTx/>
              <a:buFontTx/>
              <a:buNone/>
            </a:pPr>
            <a:r>
              <a:rPr lang="es-AR" altLang="es-ES" sz="1200">
                <a:latin typeface="Arial" panose="020B0604020202020204" pitchFamily="34" charset="0"/>
              </a:rPr>
              <a:t>requisitos</a:t>
            </a:r>
          </a:p>
          <a:p>
            <a:pPr lvl="1" eaLnBrk="1" hangingPunct="1">
              <a:spcBef>
                <a:spcPct val="0"/>
              </a:spcBef>
              <a:buClrTx/>
              <a:buSzTx/>
              <a:buFontTx/>
              <a:buChar char="•"/>
            </a:pPr>
            <a:r>
              <a:rPr lang="es-AR" altLang="es-ES" sz="1200">
                <a:latin typeface="Arial" panose="020B0604020202020204" pitchFamily="34" charset="0"/>
              </a:rPr>
              <a:t>Informes existentes</a:t>
            </a:r>
          </a:p>
          <a:p>
            <a:pPr lvl="1" eaLnBrk="1" hangingPunct="1">
              <a:spcBef>
                <a:spcPct val="0"/>
              </a:spcBef>
              <a:buClrTx/>
              <a:buSzTx/>
              <a:buFontTx/>
              <a:buNone/>
            </a:pPr>
            <a:r>
              <a:rPr lang="es-AR" altLang="es-ES" sz="1200">
                <a:latin typeface="Arial" panose="020B0604020202020204" pitchFamily="34" charset="0"/>
              </a:rPr>
              <a:t> y futuros</a:t>
            </a:r>
          </a:p>
          <a:p>
            <a:pPr lvl="1" eaLnBrk="1" hangingPunct="1">
              <a:spcBef>
                <a:spcPct val="0"/>
              </a:spcBef>
              <a:buClrTx/>
              <a:buSzTx/>
              <a:buFontTx/>
              <a:buChar char="•"/>
            </a:pPr>
            <a:r>
              <a:rPr lang="es-AR" altLang="es-ES" sz="1200">
                <a:latin typeface="Arial" panose="020B0604020202020204" pitchFamily="34" charset="0"/>
              </a:rPr>
              <a:t>Etc.</a:t>
            </a:r>
          </a:p>
        </p:txBody>
      </p:sp>
      <p:grpSp>
        <p:nvGrpSpPr>
          <p:cNvPr id="13" name="12 Grupo">
            <a:extLst>
              <a:ext uri="{FF2B5EF4-FFF2-40B4-BE49-F238E27FC236}">
                <a16:creationId xmlns:a16="http://schemas.microsoft.com/office/drawing/2014/main" id="{18152553-332A-493C-A6C4-C17FA0C82E64}"/>
              </a:ext>
            </a:extLst>
          </p:cNvPr>
          <p:cNvGrpSpPr>
            <a:grpSpLocks/>
          </p:cNvGrpSpPr>
          <p:nvPr/>
        </p:nvGrpSpPr>
        <p:grpSpPr bwMode="auto">
          <a:xfrm>
            <a:off x="5508625" y="3068638"/>
            <a:ext cx="2951163" cy="633412"/>
            <a:chOff x="5508103" y="3068638"/>
            <a:chExt cx="2951685" cy="633412"/>
          </a:xfrm>
        </p:grpSpPr>
        <p:sp>
          <p:nvSpPr>
            <p:cNvPr id="43032" name="Rectangle 14">
              <a:extLst>
                <a:ext uri="{FF2B5EF4-FFF2-40B4-BE49-F238E27FC236}">
                  <a16:creationId xmlns:a16="http://schemas.microsoft.com/office/drawing/2014/main" id="{350E3521-08BE-4921-9612-028E308F278C}"/>
                </a:ext>
              </a:extLst>
            </p:cNvPr>
            <p:cNvSpPr>
              <a:spLocks noChangeArrowheads="1"/>
            </p:cNvSpPr>
            <p:nvPr/>
          </p:nvSpPr>
          <p:spPr bwMode="auto">
            <a:xfrm>
              <a:off x="6370638" y="3068638"/>
              <a:ext cx="2089150" cy="633412"/>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a:solidFill>
                    <a:schemeClr val="bg1"/>
                  </a:solidFill>
                  <a:latin typeface="Arial" panose="020B0604020202020204" pitchFamily="34" charset="0"/>
                </a:rPr>
                <a:t>Técnica de validación, </a:t>
              </a:r>
            </a:p>
            <a:p>
              <a:pPr algn="ctr" eaLnBrk="1" hangingPunct="1">
                <a:spcBef>
                  <a:spcPct val="0"/>
                </a:spcBef>
                <a:buClrTx/>
                <a:buSzTx/>
                <a:buFontTx/>
                <a:buNone/>
              </a:pPr>
              <a:r>
                <a:rPr lang="es-AR" altLang="es-ES" sz="1200">
                  <a:solidFill>
                    <a:schemeClr val="bg1"/>
                  </a:solidFill>
                  <a:latin typeface="Arial" panose="020B0604020202020204" pitchFamily="34" charset="0"/>
                </a:rPr>
                <a:t>para comprobar la estructura </a:t>
              </a:r>
            </a:p>
          </p:txBody>
        </p:sp>
        <p:sp>
          <p:nvSpPr>
            <p:cNvPr id="43033" name="Line 15">
              <a:extLst>
                <a:ext uri="{FF2B5EF4-FFF2-40B4-BE49-F238E27FC236}">
                  <a16:creationId xmlns:a16="http://schemas.microsoft.com/office/drawing/2014/main" id="{B60E1FEC-44AA-4110-80B1-DF33E0A9EB7C}"/>
                </a:ext>
              </a:extLst>
            </p:cNvPr>
            <p:cNvSpPr>
              <a:spLocks noChangeShapeType="1"/>
            </p:cNvSpPr>
            <p:nvPr/>
          </p:nvSpPr>
          <p:spPr bwMode="auto">
            <a:xfrm flipH="1" flipV="1">
              <a:off x="5508103" y="3341688"/>
              <a:ext cx="864122" cy="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grpSp>
      <p:grpSp>
        <p:nvGrpSpPr>
          <p:cNvPr id="3" name="2 Grupo">
            <a:extLst>
              <a:ext uri="{FF2B5EF4-FFF2-40B4-BE49-F238E27FC236}">
                <a16:creationId xmlns:a16="http://schemas.microsoft.com/office/drawing/2014/main" id="{C7F071CC-C1FF-42B5-8FE9-70BA74B36C80}"/>
              </a:ext>
            </a:extLst>
          </p:cNvPr>
          <p:cNvGrpSpPr>
            <a:grpSpLocks/>
          </p:cNvGrpSpPr>
          <p:nvPr/>
        </p:nvGrpSpPr>
        <p:grpSpPr bwMode="auto">
          <a:xfrm>
            <a:off x="1547813" y="1570038"/>
            <a:ext cx="4968875" cy="1401762"/>
            <a:chOff x="1547813" y="1739901"/>
            <a:chExt cx="4968403" cy="1401762"/>
          </a:xfrm>
        </p:grpSpPr>
        <p:sp>
          <p:nvSpPr>
            <p:cNvPr id="43028" name="Rectangle 6">
              <a:extLst>
                <a:ext uri="{FF2B5EF4-FFF2-40B4-BE49-F238E27FC236}">
                  <a16:creationId xmlns:a16="http://schemas.microsoft.com/office/drawing/2014/main" id="{FF3FC322-49BD-4717-BA86-935E54292795}"/>
                </a:ext>
              </a:extLst>
            </p:cNvPr>
            <p:cNvSpPr>
              <a:spLocks noChangeArrowheads="1"/>
            </p:cNvSpPr>
            <p:nvPr/>
          </p:nvSpPr>
          <p:spPr bwMode="auto">
            <a:xfrm>
              <a:off x="3779838" y="2132013"/>
              <a:ext cx="2736378" cy="576262"/>
            </a:xfrm>
            <a:prstGeom prst="rect">
              <a:avLst/>
            </a:prstGeom>
            <a:solidFill>
              <a:schemeClr val="folHlink"/>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600" b="1">
                  <a:solidFill>
                    <a:schemeClr val="bg1"/>
                  </a:solidFill>
                  <a:latin typeface="Arial" panose="020B0604020202020204" pitchFamily="34" charset="0"/>
                </a:rPr>
                <a:t>Método arriba-abajo</a:t>
              </a:r>
              <a:r>
                <a:rPr lang="es-AR" altLang="es-ES" sz="1200">
                  <a:solidFill>
                    <a:schemeClr val="bg1"/>
                  </a:solidFill>
                  <a:latin typeface="Arial" panose="020B0604020202020204" pitchFamily="34" charset="0"/>
                </a:rPr>
                <a:t>:</a:t>
              </a:r>
            </a:p>
            <a:p>
              <a:pPr algn="ctr" eaLnBrk="1" hangingPunct="1">
                <a:spcBef>
                  <a:spcPct val="0"/>
                </a:spcBef>
                <a:buClrTx/>
                <a:buSzTx/>
                <a:buFontTx/>
                <a:buNone/>
              </a:pPr>
              <a:r>
                <a:rPr lang="es-AR" altLang="es-ES" sz="1200">
                  <a:solidFill>
                    <a:schemeClr val="bg1"/>
                  </a:solidFill>
                  <a:latin typeface="Arial" panose="020B0604020202020204" pitchFamily="34" charset="0"/>
                </a:rPr>
                <a:t>MER y reglas de transformación</a:t>
              </a:r>
            </a:p>
          </p:txBody>
        </p:sp>
        <p:sp>
          <p:nvSpPr>
            <p:cNvPr id="43029" name="Freeform 10">
              <a:extLst>
                <a:ext uri="{FF2B5EF4-FFF2-40B4-BE49-F238E27FC236}">
                  <a16:creationId xmlns:a16="http://schemas.microsoft.com/office/drawing/2014/main" id="{5BD00720-6D31-466B-AE22-6715656CBF4A}"/>
                </a:ext>
              </a:extLst>
            </p:cNvPr>
            <p:cNvSpPr>
              <a:spLocks/>
            </p:cNvSpPr>
            <p:nvPr/>
          </p:nvSpPr>
          <p:spPr bwMode="auto">
            <a:xfrm>
              <a:off x="1547813" y="2205038"/>
              <a:ext cx="2160587" cy="269875"/>
            </a:xfrm>
            <a:custGeom>
              <a:avLst/>
              <a:gdLst>
                <a:gd name="T0" fmla="*/ 0 w 1361"/>
                <a:gd name="T1" fmla="*/ 2147483646 h 136"/>
                <a:gd name="T2" fmla="*/ 0 w 1361"/>
                <a:gd name="T3" fmla="*/ 2147483646 h 136"/>
                <a:gd name="T4" fmla="*/ 2147483646 w 1361"/>
                <a:gd name="T5" fmla="*/ 0 h 136"/>
                <a:gd name="T6" fmla="*/ 0 60000 65536"/>
                <a:gd name="T7" fmla="*/ 0 60000 65536"/>
                <a:gd name="T8" fmla="*/ 0 60000 65536"/>
                <a:gd name="T9" fmla="*/ 0 w 1361"/>
                <a:gd name="T10" fmla="*/ 0 h 136"/>
                <a:gd name="T11" fmla="*/ 1361 w 1361"/>
                <a:gd name="T12" fmla="*/ 136 h 136"/>
              </a:gdLst>
              <a:ahLst/>
              <a:cxnLst>
                <a:cxn ang="T6">
                  <a:pos x="T0" y="T1"/>
                </a:cxn>
                <a:cxn ang="T7">
                  <a:pos x="T2" y="T3"/>
                </a:cxn>
                <a:cxn ang="T8">
                  <a:pos x="T4" y="T5"/>
                </a:cxn>
              </a:cxnLst>
              <a:rect l="T9" t="T10" r="T11" b="T12"/>
              <a:pathLst>
                <a:path w="1361" h="136">
                  <a:moveTo>
                    <a:pt x="0" y="136"/>
                  </a:moveTo>
                  <a:lnTo>
                    <a:pt x="0" y="1"/>
                  </a:lnTo>
                  <a:lnTo>
                    <a:pt x="1361" y="0"/>
                  </a:lnTo>
                </a:path>
              </a:pathLst>
            </a:custGeom>
            <a:noFill/>
            <a:ln w="57150" cmpd="sng">
              <a:solidFill>
                <a:schemeClr val="folHlink"/>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43030" name="Line 11">
              <a:extLst>
                <a:ext uri="{FF2B5EF4-FFF2-40B4-BE49-F238E27FC236}">
                  <a16:creationId xmlns:a16="http://schemas.microsoft.com/office/drawing/2014/main" id="{C15C93C8-8378-4AFF-8609-EB4D5382AC6E}"/>
                </a:ext>
              </a:extLst>
            </p:cNvPr>
            <p:cNvSpPr>
              <a:spLocks noChangeShapeType="1"/>
            </p:cNvSpPr>
            <p:nvPr/>
          </p:nvSpPr>
          <p:spPr bwMode="auto">
            <a:xfrm>
              <a:off x="4427538" y="2708275"/>
              <a:ext cx="0" cy="433388"/>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sp>
          <p:nvSpPr>
            <p:cNvPr id="43031" name="Oval 16">
              <a:extLst>
                <a:ext uri="{FF2B5EF4-FFF2-40B4-BE49-F238E27FC236}">
                  <a16:creationId xmlns:a16="http://schemas.microsoft.com/office/drawing/2014/main" id="{6138B58F-B0B5-4784-A5E3-345A9F9A77CD}"/>
                </a:ext>
              </a:extLst>
            </p:cNvPr>
            <p:cNvSpPr>
              <a:spLocks noChangeArrowheads="1"/>
            </p:cNvSpPr>
            <p:nvPr/>
          </p:nvSpPr>
          <p:spPr bwMode="auto">
            <a:xfrm>
              <a:off x="2547143" y="1739901"/>
              <a:ext cx="358775" cy="392112"/>
            </a:xfrm>
            <a:prstGeom prst="ellipse">
              <a:avLst/>
            </a:prstGeom>
            <a:solidFill>
              <a:schemeClr val="folHlink"/>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solidFill>
                    <a:schemeClr val="bg1"/>
                  </a:solidFill>
                  <a:latin typeface="Arial" panose="020B0604020202020204" pitchFamily="34" charset="0"/>
                </a:rPr>
                <a:t>1</a:t>
              </a:r>
            </a:p>
          </p:txBody>
        </p:sp>
      </p:grpSp>
      <p:grpSp>
        <p:nvGrpSpPr>
          <p:cNvPr id="5" name="4 Grupo">
            <a:extLst>
              <a:ext uri="{FF2B5EF4-FFF2-40B4-BE49-F238E27FC236}">
                <a16:creationId xmlns:a16="http://schemas.microsoft.com/office/drawing/2014/main" id="{C09B0FBF-A090-4C22-A716-22116A8E16EC}"/>
              </a:ext>
            </a:extLst>
          </p:cNvPr>
          <p:cNvGrpSpPr>
            <a:grpSpLocks/>
          </p:cNvGrpSpPr>
          <p:nvPr/>
        </p:nvGrpSpPr>
        <p:grpSpPr bwMode="auto">
          <a:xfrm>
            <a:off x="1476375" y="3860800"/>
            <a:ext cx="5110163" cy="1204913"/>
            <a:chOff x="1476375" y="3860800"/>
            <a:chExt cx="5110163" cy="1204119"/>
          </a:xfrm>
        </p:grpSpPr>
        <p:sp>
          <p:nvSpPr>
            <p:cNvPr id="43023" name="Line 12">
              <a:extLst>
                <a:ext uri="{FF2B5EF4-FFF2-40B4-BE49-F238E27FC236}">
                  <a16:creationId xmlns:a16="http://schemas.microsoft.com/office/drawing/2014/main" id="{8D5E1C91-3D83-4EC5-9FD6-F179DDE0611C}"/>
                </a:ext>
              </a:extLst>
            </p:cNvPr>
            <p:cNvSpPr>
              <a:spLocks noChangeShapeType="1"/>
            </p:cNvSpPr>
            <p:nvPr/>
          </p:nvSpPr>
          <p:spPr bwMode="auto">
            <a:xfrm rot="10800000">
              <a:off x="4427538" y="3860800"/>
              <a:ext cx="0" cy="431800"/>
            </a:xfrm>
            <a:prstGeom prst="line">
              <a:avLst/>
            </a:prstGeom>
            <a:noFill/>
            <a:ln w="57150">
              <a:solidFill>
                <a:srgbClr val="857D19"/>
              </a:solidFill>
              <a:round/>
              <a:headEnd/>
              <a:tailEnd type="triangle" w="med" len="med"/>
            </a:ln>
            <a:extLst>
              <a:ext uri="{909E8E84-426E-40DD-AFC4-6F175D3DCCD1}">
                <a14:hiddenFill xmlns:a14="http://schemas.microsoft.com/office/drawing/2010/main">
                  <a:noFill/>
                </a14:hiddenFill>
              </a:ext>
            </a:extLst>
          </p:spPr>
          <p:txBody>
            <a:bodyPr/>
            <a:lstStyle/>
            <a:p>
              <a:endParaRPr lang="es-ES"/>
            </a:p>
          </p:txBody>
        </p:sp>
        <p:grpSp>
          <p:nvGrpSpPr>
            <p:cNvPr id="43024" name="3 Grupo">
              <a:extLst>
                <a:ext uri="{FF2B5EF4-FFF2-40B4-BE49-F238E27FC236}">
                  <a16:creationId xmlns:a16="http://schemas.microsoft.com/office/drawing/2014/main" id="{70696882-93E8-4356-8E5F-E3D26A863893}"/>
                </a:ext>
              </a:extLst>
            </p:cNvPr>
            <p:cNvGrpSpPr>
              <a:grpSpLocks/>
            </p:cNvGrpSpPr>
            <p:nvPr/>
          </p:nvGrpSpPr>
          <p:grpSpPr bwMode="auto">
            <a:xfrm>
              <a:off x="1476375" y="4221163"/>
              <a:ext cx="5110163" cy="843756"/>
              <a:chOff x="1476375" y="4221163"/>
              <a:chExt cx="5110163" cy="843756"/>
            </a:xfrm>
          </p:grpSpPr>
          <p:sp>
            <p:nvSpPr>
              <p:cNvPr id="43025" name="Rectangle 7">
                <a:extLst>
                  <a:ext uri="{FF2B5EF4-FFF2-40B4-BE49-F238E27FC236}">
                    <a16:creationId xmlns:a16="http://schemas.microsoft.com/office/drawing/2014/main" id="{93D0FEED-2153-4D25-A3E8-4F41AAF623CF}"/>
                  </a:ext>
                </a:extLst>
              </p:cNvPr>
              <p:cNvSpPr>
                <a:spLocks noChangeArrowheads="1"/>
              </p:cNvSpPr>
              <p:nvPr/>
            </p:nvSpPr>
            <p:spPr bwMode="auto">
              <a:xfrm>
                <a:off x="3708400" y="4292600"/>
                <a:ext cx="2878138" cy="576263"/>
              </a:xfrm>
              <a:prstGeom prst="rect">
                <a:avLst/>
              </a:prstGeom>
              <a:solidFill>
                <a:srgbClr val="857D19"/>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 typeface="Wingdings" panose="05000000000000000000" pitchFamily="2" charset="2"/>
                  <a:buNone/>
                </a:pPr>
                <a:r>
                  <a:rPr lang="es-AR" altLang="es-ES" sz="1600" b="1">
                    <a:latin typeface="Arial" panose="020B0604020202020204" pitchFamily="34" charset="0"/>
                  </a:rPr>
                  <a:t>Método abajo-arriba:</a:t>
                </a:r>
              </a:p>
              <a:p>
                <a:pPr algn="ctr" eaLnBrk="1" hangingPunct="1">
                  <a:spcBef>
                    <a:spcPct val="0"/>
                  </a:spcBef>
                  <a:buClrTx/>
                  <a:buSzTx/>
                  <a:buFont typeface="Wingdings" panose="05000000000000000000" pitchFamily="2" charset="2"/>
                  <a:buNone/>
                </a:pPr>
                <a:r>
                  <a:rPr lang="es-AR" altLang="es-ES" sz="1200">
                    <a:latin typeface="Arial" panose="020B0604020202020204" pitchFamily="34" charset="0"/>
                  </a:rPr>
                  <a:t>Relación “universal” y descomposición</a:t>
                </a:r>
              </a:p>
            </p:txBody>
          </p:sp>
          <p:sp>
            <p:nvSpPr>
              <p:cNvPr id="43026" name="Freeform 13">
                <a:extLst>
                  <a:ext uri="{FF2B5EF4-FFF2-40B4-BE49-F238E27FC236}">
                    <a16:creationId xmlns:a16="http://schemas.microsoft.com/office/drawing/2014/main" id="{B6285A99-9DB0-49AB-A961-CED57C4E501B}"/>
                  </a:ext>
                </a:extLst>
              </p:cNvPr>
              <p:cNvSpPr>
                <a:spLocks/>
              </p:cNvSpPr>
              <p:nvPr/>
            </p:nvSpPr>
            <p:spPr bwMode="auto">
              <a:xfrm>
                <a:off x="1476375" y="4221163"/>
                <a:ext cx="2225675" cy="392112"/>
              </a:xfrm>
              <a:custGeom>
                <a:avLst/>
                <a:gdLst>
                  <a:gd name="T0" fmla="*/ 2147483646 w 1403"/>
                  <a:gd name="T1" fmla="*/ 0 h 337"/>
                  <a:gd name="T2" fmla="*/ 0 w 1403"/>
                  <a:gd name="T3" fmla="*/ 2147483646 h 337"/>
                  <a:gd name="T4" fmla="*/ 2147483646 w 1403"/>
                  <a:gd name="T5" fmla="*/ 2147483646 h 337"/>
                  <a:gd name="T6" fmla="*/ 0 60000 65536"/>
                  <a:gd name="T7" fmla="*/ 0 60000 65536"/>
                  <a:gd name="T8" fmla="*/ 0 60000 65536"/>
                  <a:gd name="T9" fmla="*/ 0 w 1403"/>
                  <a:gd name="T10" fmla="*/ 0 h 337"/>
                  <a:gd name="T11" fmla="*/ 1403 w 1403"/>
                  <a:gd name="T12" fmla="*/ 337 h 337"/>
                </a:gdLst>
                <a:ahLst/>
                <a:cxnLst>
                  <a:cxn ang="T6">
                    <a:pos x="T0" y="T1"/>
                  </a:cxn>
                  <a:cxn ang="T7">
                    <a:pos x="T2" y="T3"/>
                  </a:cxn>
                  <a:cxn ang="T8">
                    <a:pos x="T4" y="T5"/>
                  </a:cxn>
                </a:cxnLst>
                <a:rect l="T9" t="T10" r="T11" b="T12"/>
                <a:pathLst>
                  <a:path w="1403" h="337">
                    <a:moveTo>
                      <a:pt x="1" y="0"/>
                    </a:moveTo>
                    <a:lnTo>
                      <a:pt x="0" y="337"/>
                    </a:lnTo>
                    <a:lnTo>
                      <a:pt x="1403" y="337"/>
                    </a:lnTo>
                  </a:path>
                </a:pathLst>
              </a:custGeom>
              <a:noFill/>
              <a:ln w="57150" cmpd="sng">
                <a:solidFill>
                  <a:srgbClr val="857D19"/>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43027" name="Oval 18">
                <a:extLst>
                  <a:ext uri="{FF2B5EF4-FFF2-40B4-BE49-F238E27FC236}">
                    <a16:creationId xmlns:a16="http://schemas.microsoft.com/office/drawing/2014/main" id="{BFFAD81D-CF91-4D01-9285-74CA6193EBDA}"/>
                  </a:ext>
                </a:extLst>
              </p:cNvPr>
              <p:cNvSpPr>
                <a:spLocks noChangeArrowheads="1"/>
              </p:cNvSpPr>
              <p:nvPr/>
            </p:nvSpPr>
            <p:spPr bwMode="auto">
              <a:xfrm>
                <a:off x="2409824" y="4672806"/>
                <a:ext cx="358775" cy="392113"/>
              </a:xfrm>
              <a:prstGeom prst="ellipse">
                <a:avLst/>
              </a:prstGeom>
              <a:solidFill>
                <a:srgbClr val="857D19"/>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latin typeface="Arial" panose="020B0604020202020204" pitchFamily="34" charset="0"/>
                  </a:rPr>
                  <a:t>2</a:t>
                </a:r>
              </a:p>
            </p:txBody>
          </p:sp>
        </p:grpSp>
      </p:grpSp>
      <p:sp>
        <p:nvSpPr>
          <p:cNvPr id="2" name="1 Rectángulo">
            <a:extLst>
              <a:ext uri="{FF2B5EF4-FFF2-40B4-BE49-F238E27FC236}">
                <a16:creationId xmlns:a16="http://schemas.microsoft.com/office/drawing/2014/main" id="{04A14BEC-229E-41DC-A061-8ADE34B6CEB8}"/>
              </a:ext>
            </a:extLst>
          </p:cNvPr>
          <p:cNvSpPr>
            <a:spLocks noChangeArrowheads="1"/>
          </p:cNvSpPr>
          <p:nvPr/>
        </p:nvSpPr>
        <p:spPr bwMode="auto">
          <a:xfrm>
            <a:off x="3702050" y="4868863"/>
            <a:ext cx="2735263" cy="439737"/>
          </a:xfrm>
          <a:prstGeom prst="rect">
            <a:avLst/>
          </a:prstGeom>
          <a:solidFill>
            <a:srgbClr val="857D19"/>
          </a:solidFill>
          <a:ln w="9525">
            <a:solidFill>
              <a:schemeClr val="tx1"/>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a:latin typeface="Arial" panose="020B0604020202020204" pitchFamily="34" charset="0"/>
              </a:rPr>
              <a:t>Técnica para crear relaciones</a:t>
            </a:r>
          </a:p>
        </p:txBody>
      </p:sp>
      <p:grpSp>
        <p:nvGrpSpPr>
          <p:cNvPr id="14" name="13 Grupo">
            <a:extLst>
              <a:ext uri="{FF2B5EF4-FFF2-40B4-BE49-F238E27FC236}">
                <a16:creationId xmlns:a16="http://schemas.microsoft.com/office/drawing/2014/main" id="{8C95F831-619F-4D35-81C7-7267426C0C7B}"/>
              </a:ext>
            </a:extLst>
          </p:cNvPr>
          <p:cNvGrpSpPr>
            <a:grpSpLocks/>
          </p:cNvGrpSpPr>
          <p:nvPr/>
        </p:nvGrpSpPr>
        <p:grpSpPr bwMode="auto">
          <a:xfrm>
            <a:off x="6437313" y="4022725"/>
            <a:ext cx="2468562" cy="1587500"/>
            <a:chOff x="6436519" y="4022447"/>
            <a:chExt cx="2469508" cy="1586985"/>
          </a:xfrm>
        </p:grpSpPr>
        <p:sp>
          <p:nvSpPr>
            <p:cNvPr id="43018" name="5 Rectángulo">
              <a:extLst>
                <a:ext uri="{FF2B5EF4-FFF2-40B4-BE49-F238E27FC236}">
                  <a16:creationId xmlns:a16="http://schemas.microsoft.com/office/drawing/2014/main" id="{010309B5-0C92-4562-8418-63BF320D92FD}"/>
                </a:ext>
              </a:extLst>
            </p:cNvPr>
            <p:cNvSpPr>
              <a:spLocks noChangeArrowheads="1"/>
            </p:cNvSpPr>
            <p:nvPr/>
          </p:nvSpPr>
          <p:spPr bwMode="auto">
            <a:xfrm>
              <a:off x="7094313" y="4907260"/>
              <a:ext cx="18117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800" b="1">
                  <a:latin typeface="Arial" panose="020B0604020202020204" pitchFamily="34" charset="0"/>
                </a:rPr>
                <a:t>Normalización</a:t>
              </a:r>
              <a:r>
                <a:rPr lang="es-AR" altLang="es-ES" sz="1600" b="1">
                  <a:latin typeface="Arial" panose="020B0604020202020204" pitchFamily="34" charset="0"/>
                </a:rPr>
                <a:t> </a:t>
              </a:r>
              <a:endParaRPr lang="es-AR" altLang="es-AR" sz="1800"/>
            </a:p>
          </p:txBody>
        </p:sp>
        <p:cxnSp>
          <p:nvCxnSpPr>
            <p:cNvPr id="43019" name="7 Conector recto de flecha">
              <a:extLst>
                <a:ext uri="{FF2B5EF4-FFF2-40B4-BE49-F238E27FC236}">
                  <a16:creationId xmlns:a16="http://schemas.microsoft.com/office/drawing/2014/main" id="{9E977434-46E9-4B86-967A-66A66A713C03}"/>
                </a:ext>
              </a:extLst>
            </p:cNvPr>
            <p:cNvCxnSpPr>
              <a:cxnSpLocks noChangeShapeType="1"/>
            </p:cNvCxnSpPr>
            <p:nvPr/>
          </p:nvCxnSpPr>
          <p:spPr bwMode="auto">
            <a:xfrm flipV="1">
              <a:off x="7596336" y="4022447"/>
              <a:ext cx="0" cy="789543"/>
            </a:xfrm>
            <a:prstGeom prst="straightConnector1">
              <a:avLst/>
            </a:prstGeom>
            <a:noFill/>
            <a:ln w="28575" algn="ctr">
              <a:solidFill>
                <a:srgbClr val="0000FF"/>
              </a:solidFill>
              <a:round/>
              <a:headEnd/>
              <a:tailEnd type="arrow" w="med" len="med"/>
            </a:ln>
            <a:extLst>
              <a:ext uri="{909E8E84-426E-40DD-AFC4-6F175D3DCCD1}">
                <a14:hiddenFill xmlns:a14="http://schemas.microsoft.com/office/drawing/2010/main">
                  <a:noFill/>
                </a14:hiddenFill>
              </a:ext>
            </a:extLst>
          </p:spPr>
        </p:cxnSp>
        <p:cxnSp>
          <p:nvCxnSpPr>
            <p:cNvPr id="10" name="9 Conector recto de flecha">
              <a:extLst>
                <a:ext uri="{FF2B5EF4-FFF2-40B4-BE49-F238E27FC236}">
                  <a16:creationId xmlns:a16="http://schemas.microsoft.com/office/drawing/2014/main" id="{BAA25464-EB29-4CA4-A832-25301418E363}"/>
                </a:ext>
              </a:extLst>
            </p:cNvPr>
            <p:cNvCxnSpPr>
              <a:stCxn id="43018" idx="1"/>
              <a:endCxn id="2" idx="3"/>
            </p:cNvCxnSpPr>
            <p:nvPr/>
          </p:nvCxnSpPr>
          <p:spPr bwMode="auto">
            <a:xfrm flipH="1" flipV="1">
              <a:off x="6436519" y="5088901"/>
              <a:ext cx="657477" cy="3174"/>
            </a:xfrm>
            <a:prstGeom prst="straightConnector1">
              <a:avLst/>
            </a:prstGeom>
            <a:noFill/>
            <a:ln w="28575" cap="flat" cmpd="sng" algn="ctr">
              <a:solidFill>
                <a:schemeClr val="accent2">
                  <a:lumMod val="75000"/>
                </a:schemeClr>
              </a:solidFill>
              <a:prstDash val="solid"/>
              <a:round/>
              <a:headEnd type="none" w="med" len="med"/>
              <a:tailEnd type="arrow"/>
            </a:ln>
            <a:effectLst/>
          </p:spPr>
        </p:cxnSp>
        <p:sp>
          <p:nvSpPr>
            <p:cNvPr id="43021" name="Oval 16">
              <a:extLst>
                <a:ext uri="{FF2B5EF4-FFF2-40B4-BE49-F238E27FC236}">
                  <a16:creationId xmlns:a16="http://schemas.microsoft.com/office/drawing/2014/main" id="{56EA6032-39B1-42BB-827B-97A46E025A66}"/>
                </a:ext>
              </a:extLst>
            </p:cNvPr>
            <p:cNvSpPr>
              <a:spLocks noChangeArrowheads="1"/>
            </p:cNvSpPr>
            <p:nvPr/>
          </p:nvSpPr>
          <p:spPr bwMode="auto">
            <a:xfrm>
              <a:off x="7820782" y="4280694"/>
              <a:ext cx="358775" cy="392112"/>
            </a:xfrm>
            <a:prstGeom prst="ellipse">
              <a:avLst/>
            </a:prstGeom>
            <a:solidFill>
              <a:schemeClr val="folHlink"/>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solidFill>
                    <a:schemeClr val="bg1"/>
                  </a:solidFill>
                  <a:latin typeface="Arial" panose="020B0604020202020204" pitchFamily="34" charset="0"/>
                </a:rPr>
                <a:t>1</a:t>
              </a:r>
            </a:p>
          </p:txBody>
        </p:sp>
        <p:sp>
          <p:nvSpPr>
            <p:cNvPr id="43022" name="Oval 18">
              <a:extLst>
                <a:ext uri="{FF2B5EF4-FFF2-40B4-BE49-F238E27FC236}">
                  <a16:creationId xmlns:a16="http://schemas.microsoft.com/office/drawing/2014/main" id="{A1329605-DB30-4908-BB58-2045471DDDFF}"/>
                </a:ext>
              </a:extLst>
            </p:cNvPr>
            <p:cNvSpPr>
              <a:spLocks noChangeArrowheads="1"/>
            </p:cNvSpPr>
            <p:nvPr/>
          </p:nvSpPr>
          <p:spPr bwMode="auto">
            <a:xfrm>
              <a:off x="6735538" y="5217319"/>
              <a:ext cx="358775" cy="392113"/>
            </a:xfrm>
            <a:prstGeom prst="ellipse">
              <a:avLst/>
            </a:prstGeom>
            <a:solidFill>
              <a:srgbClr val="857D19"/>
            </a:solidFill>
            <a:ln w="9525" algn="ctr">
              <a:solidFill>
                <a:schemeClr val="tx1"/>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es-ES" sz="1200" b="1">
                  <a:latin typeface="Arial" panose="020B0604020202020204" pitchFamily="34" charset="0"/>
                </a:rPr>
                <a:t>2</a:t>
              </a:r>
            </a:p>
          </p:txBody>
        </p: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8">
            <a:extLst>
              <a:ext uri="{FF2B5EF4-FFF2-40B4-BE49-F238E27FC236}">
                <a16:creationId xmlns:a16="http://schemas.microsoft.com/office/drawing/2014/main" id="{5DF603FA-7D7D-45D1-A8EB-A91A5BC9A8CB}"/>
              </a:ext>
            </a:extLst>
          </p:cNvPr>
          <p:cNvSpPr>
            <a:spLocks noChangeArrowheads="1"/>
          </p:cNvSpPr>
          <p:nvPr/>
        </p:nvSpPr>
        <p:spPr bwMode="auto">
          <a:xfrm>
            <a:off x="3636963" y="1557338"/>
            <a:ext cx="5327650" cy="3959225"/>
          </a:xfrm>
          <a:prstGeom prst="rect">
            <a:avLst/>
          </a:prstGeom>
          <a:solidFill>
            <a:srgbClr val="EFF3D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45059" name="Rectangle 2">
            <a:extLst>
              <a:ext uri="{FF2B5EF4-FFF2-40B4-BE49-F238E27FC236}">
                <a16:creationId xmlns:a16="http://schemas.microsoft.com/office/drawing/2014/main" id="{518916EA-F159-4616-9739-EB650594ADC4}"/>
              </a:ext>
            </a:extLst>
          </p:cNvPr>
          <p:cNvSpPr>
            <a:spLocks noGrp="1" noChangeArrowheads="1"/>
          </p:cNvSpPr>
          <p:nvPr>
            <p:ph type="title"/>
          </p:nvPr>
        </p:nvSpPr>
        <p:spPr>
          <a:xfrm>
            <a:off x="1187450" y="404813"/>
            <a:ext cx="7793038" cy="1143000"/>
          </a:xfrm>
        </p:spPr>
        <p:txBody>
          <a:bodyPr/>
          <a:lstStyle/>
          <a:p>
            <a:pPr eaLnBrk="1" hangingPunct="1"/>
            <a:r>
              <a:rPr lang="es-ES" altLang="es-ES">
                <a:solidFill>
                  <a:schemeClr val="folHlink"/>
                </a:solidFill>
              </a:rPr>
              <a:t>    NORMALIZACION</a:t>
            </a:r>
            <a:endParaRPr lang="es-AR" altLang="es-ES">
              <a:solidFill>
                <a:schemeClr val="folHlink"/>
              </a:solidFill>
            </a:endParaRPr>
          </a:p>
        </p:txBody>
      </p:sp>
      <p:sp>
        <p:nvSpPr>
          <p:cNvPr id="102405" name="Text Box 5">
            <a:extLst>
              <a:ext uri="{FF2B5EF4-FFF2-40B4-BE49-F238E27FC236}">
                <a16:creationId xmlns:a16="http://schemas.microsoft.com/office/drawing/2014/main" id="{E53D5ACF-534B-45D0-8DFD-0D792A58DD18}"/>
              </a:ext>
            </a:extLst>
          </p:cNvPr>
          <p:cNvSpPr txBox="1">
            <a:spLocks noChangeArrowheads="1"/>
          </p:cNvSpPr>
          <p:nvPr/>
        </p:nvSpPr>
        <p:spPr bwMode="auto">
          <a:xfrm>
            <a:off x="250825" y="1700213"/>
            <a:ext cx="4826000"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2000" b="1">
                <a:solidFill>
                  <a:srgbClr val="990033"/>
                </a:solidFill>
              </a:rPr>
              <a:t>1 FN</a:t>
            </a:r>
          </a:p>
          <a:p>
            <a:pPr eaLnBrk="1" hangingPunct="1">
              <a:spcBef>
                <a:spcPct val="0"/>
              </a:spcBef>
              <a:buClrTx/>
              <a:buSzTx/>
              <a:buFontTx/>
              <a:buChar char="•"/>
            </a:pPr>
            <a:r>
              <a:rPr lang="en-US" altLang="es-ES" sz="1600">
                <a:solidFill>
                  <a:srgbClr val="990033"/>
                </a:solidFill>
              </a:rPr>
              <a:t> Esté definida la </a:t>
            </a:r>
            <a:r>
              <a:rPr lang="en-US" altLang="es-ES" sz="1600" b="1">
                <a:solidFill>
                  <a:srgbClr val="990033"/>
                </a:solidFill>
              </a:rPr>
              <a:t>clave primaria*</a:t>
            </a:r>
            <a:r>
              <a:rPr lang="en-US" altLang="es-ES" sz="1600">
                <a:solidFill>
                  <a:srgbClr val="990033"/>
                </a:solidFill>
              </a:rPr>
              <a:t>.</a:t>
            </a:r>
          </a:p>
          <a:p>
            <a:pPr eaLnBrk="1" hangingPunct="1">
              <a:spcBef>
                <a:spcPct val="0"/>
              </a:spcBef>
              <a:buClrTx/>
              <a:buSzTx/>
              <a:buFontTx/>
              <a:buChar char="•"/>
            </a:pPr>
            <a:r>
              <a:rPr lang="en-US" altLang="es-ES" sz="1600">
                <a:solidFill>
                  <a:srgbClr val="990033"/>
                </a:solidFill>
              </a:rPr>
              <a:t> No Existan </a:t>
            </a:r>
            <a:r>
              <a:rPr lang="en-US" altLang="es-ES" sz="1600" b="1">
                <a:solidFill>
                  <a:srgbClr val="990033"/>
                </a:solidFill>
              </a:rPr>
              <a:t>Grupos Repetitivos</a:t>
            </a:r>
            <a:r>
              <a:rPr lang="en-US" altLang="es-ES" sz="1600">
                <a:solidFill>
                  <a:srgbClr val="990033"/>
                </a:solidFill>
              </a:rPr>
              <a:t>.</a:t>
            </a:r>
          </a:p>
        </p:txBody>
      </p:sp>
      <p:sp>
        <p:nvSpPr>
          <p:cNvPr id="102408" name="Rectangle 8">
            <a:extLst>
              <a:ext uri="{FF2B5EF4-FFF2-40B4-BE49-F238E27FC236}">
                <a16:creationId xmlns:a16="http://schemas.microsoft.com/office/drawing/2014/main" id="{64198DDE-69DF-4128-A3FC-171FB5FC3521}"/>
              </a:ext>
            </a:extLst>
          </p:cNvPr>
          <p:cNvSpPr>
            <a:spLocks noChangeArrowheads="1"/>
          </p:cNvSpPr>
          <p:nvPr/>
        </p:nvSpPr>
        <p:spPr bwMode="auto">
          <a:xfrm>
            <a:off x="323850" y="2814638"/>
            <a:ext cx="3240088"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2000" b="1">
                <a:solidFill>
                  <a:srgbClr val="990033"/>
                </a:solidFill>
              </a:rPr>
              <a:t>2 FN</a:t>
            </a:r>
          </a:p>
          <a:p>
            <a:pPr eaLnBrk="1" hangingPunct="1">
              <a:spcBef>
                <a:spcPct val="0"/>
              </a:spcBef>
              <a:buClrTx/>
              <a:buSzTx/>
              <a:buFontTx/>
              <a:buChar char="•"/>
            </a:pPr>
            <a:r>
              <a:rPr lang="en-US" altLang="es-ES" sz="1600">
                <a:solidFill>
                  <a:srgbClr val="990033"/>
                </a:solidFill>
              </a:rPr>
              <a:t> Esté en 1 FN.</a:t>
            </a:r>
          </a:p>
          <a:p>
            <a:pPr eaLnBrk="1" hangingPunct="1">
              <a:spcBef>
                <a:spcPct val="0"/>
              </a:spcBef>
              <a:buClrTx/>
              <a:buSzTx/>
              <a:buFontTx/>
              <a:buChar char="•"/>
            </a:pPr>
            <a:r>
              <a:rPr lang="en-US" altLang="es-ES" sz="1600">
                <a:solidFill>
                  <a:srgbClr val="990033"/>
                </a:solidFill>
              </a:rPr>
              <a:t> No existan </a:t>
            </a:r>
            <a:r>
              <a:rPr lang="en-US" altLang="es-ES" sz="1600" b="1">
                <a:solidFill>
                  <a:srgbClr val="990033"/>
                </a:solidFill>
              </a:rPr>
              <a:t>dependencias          funcionales</a:t>
            </a:r>
            <a:r>
              <a:rPr lang="en-US" altLang="es-ES" sz="1600">
                <a:solidFill>
                  <a:srgbClr val="990033"/>
                </a:solidFill>
              </a:rPr>
              <a:t> parciales.</a:t>
            </a:r>
          </a:p>
        </p:txBody>
      </p:sp>
      <p:sp>
        <p:nvSpPr>
          <p:cNvPr id="102409" name="Rectangle 9">
            <a:extLst>
              <a:ext uri="{FF2B5EF4-FFF2-40B4-BE49-F238E27FC236}">
                <a16:creationId xmlns:a16="http://schemas.microsoft.com/office/drawing/2014/main" id="{3A72D8EF-A12B-462C-98FC-E86BCCE5D0FD}"/>
              </a:ext>
            </a:extLst>
          </p:cNvPr>
          <p:cNvSpPr>
            <a:spLocks noChangeArrowheads="1"/>
          </p:cNvSpPr>
          <p:nvPr/>
        </p:nvSpPr>
        <p:spPr bwMode="auto">
          <a:xfrm>
            <a:off x="250825" y="4183063"/>
            <a:ext cx="338455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2000" b="1">
                <a:solidFill>
                  <a:srgbClr val="990033"/>
                </a:solidFill>
              </a:rPr>
              <a:t>3 FN</a:t>
            </a:r>
          </a:p>
          <a:p>
            <a:pPr eaLnBrk="1" hangingPunct="1">
              <a:spcBef>
                <a:spcPct val="0"/>
              </a:spcBef>
              <a:buClrTx/>
              <a:buSzTx/>
              <a:buFontTx/>
              <a:buChar char="•"/>
            </a:pPr>
            <a:r>
              <a:rPr lang="en-US" altLang="es-ES" sz="1600">
                <a:solidFill>
                  <a:srgbClr val="990033"/>
                </a:solidFill>
              </a:rPr>
              <a:t> Esté en 2 FN.</a:t>
            </a:r>
          </a:p>
          <a:p>
            <a:pPr eaLnBrk="1" hangingPunct="1">
              <a:spcBef>
                <a:spcPct val="0"/>
              </a:spcBef>
              <a:buClrTx/>
              <a:buSzTx/>
              <a:buFontTx/>
              <a:buChar char="•"/>
            </a:pPr>
            <a:r>
              <a:rPr lang="en-US" altLang="es-ES" sz="1600">
                <a:solidFill>
                  <a:srgbClr val="990033"/>
                </a:solidFill>
              </a:rPr>
              <a:t> No existan </a:t>
            </a:r>
            <a:r>
              <a:rPr lang="en-US" altLang="es-ES" sz="1600" b="1">
                <a:solidFill>
                  <a:srgbClr val="990033"/>
                </a:solidFill>
              </a:rPr>
              <a:t>dependencias  funcionales</a:t>
            </a:r>
            <a:r>
              <a:rPr lang="en-US" altLang="es-ES" sz="1600">
                <a:solidFill>
                  <a:srgbClr val="990033"/>
                </a:solidFill>
              </a:rPr>
              <a:t> transitivas.</a:t>
            </a:r>
          </a:p>
        </p:txBody>
      </p:sp>
      <p:sp>
        <p:nvSpPr>
          <p:cNvPr id="102410" name="Text Box 10">
            <a:extLst>
              <a:ext uri="{FF2B5EF4-FFF2-40B4-BE49-F238E27FC236}">
                <a16:creationId xmlns:a16="http://schemas.microsoft.com/office/drawing/2014/main" id="{920922D9-E511-4829-A9B5-2CE11C8FC631}"/>
              </a:ext>
            </a:extLst>
          </p:cNvPr>
          <p:cNvSpPr txBox="1">
            <a:spLocks noChangeArrowheads="1"/>
          </p:cNvSpPr>
          <p:nvPr/>
        </p:nvSpPr>
        <p:spPr bwMode="auto">
          <a:xfrm>
            <a:off x="3779838" y="1700213"/>
            <a:ext cx="2044700"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b="1">
                <a:solidFill>
                  <a:schemeClr val="folHlink"/>
                </a:solidFill>
              </a:rPr>
              <a:t>Venta</a:t>
            </a:r>
          </a:p>
          <a:p>
            <a:pPr eaLnBrk="1" hangingPunct="1">
              <a:spcBef>
                <a:spcPct val="0"/>
              </a:spcBef>
              <a:buClrTx/>
              <a:buSzTx/>
              <a:buFontTx/>
              <a:buNone/>
            </a:pPr>
            <a:r>
              <a:rPr lang="en-US" altLang="es-ES" sz="1400">
                <a:solidFill>
                  <a:schemeClr val="folHlink"/>
                </a:solidFill>
              </a:rPr>
              <a:t>Numero factura</a:t>
            </a:r>
          </a:p>
          <a:p>
            <a:pPr eaLnBrk="1" hangingPunct="1">
              <a:spcBef>
                <a:spcPct val="0"/>
              </a:spcBef>
              <a:buClrTx/>
              <a:buSzTx/>
              <a:buFontTx/>
              <a:buNone/>
            </a:pPr>
            <a:r>
              <a:rPr lang="en-US" altLang="es-ES" sz="1400">
                <a:solidFill>
                  <a:schemeClr val="folHlink"/>
                </a:solidFill>
              </a:rPr>
              <a:t>Fecha venta</a:t>
            </a:r>
          </a:p>
          <a:p>
            <a:pPr eaLnBrk="1" hangingPunct="1">
              <a:spcBef>
                <a:spcPct val="0"/>
              </a:spcBef>
              <a:buClrTx/>
              <a:buSzTx/>
              <a:buFontTx/>
              <a:buNone/>
            </a:pPr>
            <a:r>
              <a:rPr lang="en-US" altLang="es-ES" sz="1400">
                <a:solidFill>
                  <a:schemeClr val="folHlink"/>
                </a:solidFill>
              </a:rPr>
              <a:t>Codigo cliente</a:t>
            </a:r>
          </a:p>
          <a:p>
            <a:pPr eaLnBrk="1" hangingPunct="1">
              <a:spcBef>
                <a:spcPct val="0"/>
              </a:spcBef>
              <a:buClrTx/>
              <a:buSzTx/>
              <a:buFontTx/>
              <a:buNone/>
            </a:pPr>
            <a:r>
              <a:rPr lang="en-US" altLang="es-ES" sz="1400">
                <a:solidFill>
                  <a:schemeClr val="folHlink"/>
                </a:solidFill>
              </a:rPr>
              <a:t>Razon social</a:t>
            </a:r>
          </a:p>
          <a:p>
            <a:pPr eaLnBrk="1" hangingPunct="1">
              <a:spcBef>
                <a:spcPct val="0"/>
              </a:spcBef>
              <a:buClrTx/>
              <a:buSzTx/>
              <a:buFontTx/>
              <a:buNone/>
            </a:pPr>
            <a:r>
              <a:rPr lang="en-US" altLang="es-ES" sz="1400">
                <a:solidFill>
                  <a:schemeClr val="folHlink"/>
                </a:solidFill>
              </a:rPr>
              <a:t>Domicilio</a:t>
            </a:r>
          </a:p>
          <a:p>
            <a:pPr eaLnBrk="1" hangingPunct="1">
              <a:spcBef>
                <a:spcPct val="0"/>
              </a:spcBef>
              <a:buClrTx/>
              <a:buSzTx/>
              <a:buFontTx/>
              <a:buNone/>
            </a:pPr>
            <a:r>
              <a:rPr lang="en-US" altLang="es-ES" sz="1400">
                <a:solidFill>
                  <a:schemeClr val="folHlink"/>
                </a:solidFill>
              </a:rPr>
              <a:t>Codigo producto</a:t>
            </a:r>
          </a:p>
          <a:p>
            <a:pPr eaLnBrk="1" hangingPunct="1">
              <a:spcBef>
                <a:spcPct val="0"/>
              </a:spcBef>
              <a:buClrTx/>
              <a:buSzTx/>
              <a:buFontTx/>
              <a:buNone/>
            </a:pPr>
            <a:r>
              <a:rPr lang="en-US" altLang="es-ES" sz="1400">
                <a:solidFill>
                  <a:schemeClr val="folHlink"/>
                </a:solidFill>
              </a:rPr>
              <a:t>Descripcion producto</a:t>
            </a:r>
          </a:p>
          <a:p>
            <a:pPr eaLnBrk="1" hangingPunct="1">
              <a:spcBef>
                <a:spcPct val="0"/>
              </a:spcBef>
              <a:buClrTx/>
              <a:buSzTx/>
              <a:buFontTx/>
              <a:buNone/>
            </a:pPr>
            <a:r>
              <a:rPr lang="en-US" altLang="es-ES" sz="1400">
                <a:solidFill>
                  <a:schemeClr val="folHlink"/>
                </a:solidFill>
              </a:rPr>
              <a:t>Precio unitario de venta</a:t>
            </a:r>
          </a:p>
          <a:p>
            <a:pPr eaLnBrk="1" hangingPunct="1">
              <a:spcBef>
                <a:spcPct val="0"/>
              </a:spcBef>
              <a:buClrTx/>
              <a:buSzTx/>
              <a:buFontTx/>
              <a:buNone/>
            </a:pPr>
            <a:r>
              <a:rPr lang="en-US" altLang="es-ES" sz="1400">
                <a:solidFill>
                  <a:schemeClr val="folHlink"/>
                </a:solidFill>
              </a:rPr>
              <a:t>Cantidad vendida</a:t>
            </a:r>
          </a:p>
        </p:txBody>
      </p:sp>
      <p:sp>
        <p:nvSpPr>
          <p:cNvPr id="102412" name="Text Box 12">
            <a:extLst>
              <a:ext uri="{FF2B5EF4-FFF2-40B4-BE49-F238E27FC236}">
                <a16:creationId xmlns:a16="http://schemas.microsoft.com/office/drawing/2014/main" id="{79786966-AA2B-40CE-B753-9AFF3AAF5ACB}"/>
              </a:ext>
            </a:extLst>
          </p:cNvPr>
          <p:cNvSpPr txBox="1">
            <a:spLocks noChangeArrowheads="1"/>
          </p:cNvSpPr>
          <p:nvPr/>
        </p:nvSpPr>
        <p:spPr bwMode="auto">
          <a:xfrm>
            <a:off x="6011863" y="1700213"/>
            <a:ext cx="204470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b="1">
                <a:solidFill>
                  <a:schemeClr val="folHlink"/>
                </a:solidFill>
              </a:rPr>
              <a:t>Item Venta</a:t>
            </a:r>
          </a:p>
          <a:p>
            <a:pPr eaLnBrk="1" hangingPunct="1">
              <a:spcBef>
                <a:spcPct val="0"/>
              </a:spcBef>
              <a:buClrTx/>
              <a:buSzTx/>
              <a:buFontTx/>
              <a:buNone/>
            </a:pPr>
            <a:r>
              <a:rPr lang="en-US" altLang="es-ES" sz="1400" u="sng">
                <a:solidFill>
                  <a:schemeClr val="folHlink"/>
                </a:solidFill>
              </a:rPr>
              <a:t>Numero factura</a:t>
            </a:r>
          </a:p>
          <a:p>
            <a:pPr eaLnBrk="1" hangingPunct="1">
              <a:spcBef>
                <a:spcPct val="0"/>
              </a:spcBef>
              <a:buClrTx/>
              <a:buSzTx/>
              <a:buFontTx/>
              <a:buNone/>
            </a:pPr>
            <a:r>
              <a:rPr lang="en-US" altLang="es-ES" sz="1400" u="sng">
                <a:solidFill>
                  <a:schemeClr val="folHlink"/>
                </a:solidFill>
              </a:rPr>
              <a:t>Codigo producto</a:t>
            </a:r>
          </a:p>
          <a:p>
            <a:pPr eaLnBrk="1" hangingPunct="1">
              <a:spcBef>
                <a:spcPct val="0"/>
              </a:spcBef>
              <a:buClrTx/>
              <a:buSzTx/>
              <a:buFontTx/>
              <a:buNone/>
            </a:pPr>
            <a:r>
              <a:rPr lang="en-US" altLang="es-ES" sz="1400">
                <a:solidFill>
                  <a:schemeClr val="folHlink"/>
                </a:solidFill>
              </a:rPr>
              <a:t>Descripcion producto</a:t>
            </a:r>
          </a:p>
          <a:p>
            <a:pPr eaLnBrk="1" hangingPunct="1">
              <a:spcBef>
                <a:spcPct val="0"/>
              </a:spcBef>
              <a:buClrTx/>
              <a:buSzTx/>
              <a:buFontTx/>
              <a:buNone/>
            </a:pPr>
            <a:r>
              <a:rPr lang="en-US" altLang="es-ES" sz="1400">
                <a:solidFill>
                  <a:schemeClr val="folHlink"/>
                </a:solidFill>
              </a:rPr>
              <a:t>Precio unitario de venta</a:t>
            </a:r>
          </a:p>
          <a:p>
            <a:pPr eaLnBrk="1" hangingPunct="1">
              <a:spcBef>
                <a:spcPct val="0"/>
              </a:spcBef>
              <a:buClrTx/>
              <a:buSzTx/>
              <a:buFontTx/>
              <a:buNone/>
            </a:pPr>
            <a:r>
              <a:rPr lang="en-US" altLang="es-ES" sz="1400">
                <a:solidFill>
                  <a:schemeClr val="folHlink"/>
                </a:solidFill>
              </a:rPr>
              <a:t>Cantidad vendida</a:t>
            </a:r>
          </a:p>
        </p:txBody>
      </p:sp>
      <p:sp>
        <p:nvSpPr>
          <p:cNvPr id="102414" name="Rectangle 14">
            <a:extLst>
              <a:ext uri="{FF2B5EF4-FFF2-40B4-BE49-F238E27FC236}">
                <a16:creationId xmlns:a16="http://schemas.microsoft.com/office/drawing/2014/main" id="{22AE6400-152B-484A-9ED6-F6B2C45C89BC}"/>
              </a:ext>
            </a:extLst>
          </p:cNvPr>
          <p:cNvSpPr>
            <a:spLocks noChangeArrowheads="1"/>
          </p:cNvSpPr>
          <p:nvPr/>
        </p:nvSpPr>
        <p:spPr bwMode="auto">
          <a:xfrm>
            <a:off x="3779838" y="3933825"/>
            <a:ext cx="18319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b="1">
                <a:solidFill>
                  <a:schemeClr val="folHlink"/>
                </a:solidFill>
              </a:rPr>
              <a:t>Producto</a:t>
            </a:r>
          </a:p>
          <a:p>
            <a:pPr eaLnBrk="1" hangingPunct="1">
              <a:spcBef>
                <a:spcPct val="0"/>
              </a:spcBef>
              <a:buClrTx/>
              <a:buSzTx/>
              <a:buFontTx/>
              <a:buNone/>
            </a:pPr>
            <a:r>
              <a:rPr lang="en-US" altLang="es-ES" sz="1400" u="sng">
                <a:solidFill>
                  <a:schemeClr val="folHlink"/>
                </a:solidFill>
              </a:rPr>
              <a:t>Codigo producto</a:t>
            </a:r>
          </a:p>
          <a:p>
            <a:pPr eaLnBrk="1" hangingPunct="1">
              <a:spcBef>
                <a:spcPct val="0"/>
              </a:spcBef>
              <a:buClrTx/>
              <a:buSzTx/>
              <a:buFontTx/>
              <a:buNone/>
            </a:pPr>
            <a:r>
              <a:rPr lang="en-US" altLang="es-ES" sz="1400">
                <a:solidFill>
                  <a:schemeClr val="folHlink"/>
                </a:solidFill>
              </a:rPr>
              <a:t>Descripcion producto</a:t>
            </a:r>
          </a:p>
        </p:txBody>
      </p:sp>
      <p:sp>
        <p:nvSpPr>
          <p:cNvPr id="102415" name="Rectangle 15">
            <a:extLst>
              <a:ext uri="{FF2B5EF4-FFF2-40B4-BE49-F238E27FC236}">
                <a16:creationId xmlns:a16="http://schemas.microsoft.com/office/drawing/2014/main" id="{EAA8A882-7857-4C1B-82A8-E90D8F641818}"/>
              </a:ext>
            </a:extLst>
          </p:cNvPr>
          <p:cNvSpPr>
            <a:spLocks noChangeArrowheads="1"/>
          </p:cNvSpPr>
          <p:nvPr/>
        </p:nvSpPr>
        <p:spPr bwMode="auto">
          <a:xfrm>
            <a:off x="6011863" y="1700213"/>
            <a:ext cx="223202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b="1">
                <a:solidFill>
                  <a:schemeClr val="folHlink"/>
                </a:solidFill>
              </a:rPr>
              <a:t>Item Venta</a:t>
            </a:r>
          </a:p>
          <a:p>
            <a:pPr eaLnBrk="1" hangingPunct="1">
              <a:spcBef>
                <a:spcPct val="0"/>
              </a:spcBef>
              <a:buClrTx/>
              <a:buSzTx/>
              <a:buFontTx/>
              <a:buNone/>
            </a:pPr>
            <a:r>
              <a:rPr lang="en-US" altLang="es-ES" sz="1400" u="sng">
                <a:solidFill>
                  <a:schemeClr val="folHlink"/>
                </a:solidFill>
              </a:rPr>
              <a:t>Numero factura</a:t>
            </a:r>
          </a:p>
          <a:p>
            <a:pPr eaLnBrk="1" hangingPunct="1">
              <a:spcBef>
                <a:spcPct val="0"/>
              </a:spcBef>
              <a:buClrTx/>
              <a:buSzTx/>
              <a:buFontTx/>
              <a:buNone/>
            </a:pPr>
            <a:r>
              <a:rPr lang="en-US" altLang="es-ES" sz="1400" u="sng">
                <a:solidFill>
                  <a:schemeClr val="folHlink"/>
                </a:solidFill>
              </a:rPr>
              <a:t>Codigo producto</a:t>
            </a:r>
          </a:p>
          <a:p>
            <a:pPr eaLnBrk="1" hangingPunct="1">
              <a:spcBef>
                <a:spcPct val="0"/>
              </a:spcBef>
              <a:buClrTx/>
              <a:buSzTx/>
              <a:buFontTx/>
              <a:buNone/>
            </a:pPr>
            <a:r>
              <a:rPr lang="en-US" altLang="es-ES" sz="1400">
                <a:solidFill>
                  <a:schemeClr val="folHlink"/>
                </a:solidFill>
              </a:rPr>
              <a:t>Precio unitario de venta</a:t>
            </a:r>
          </a:p>
          <a:p>
            <a:pPr eaLnBrk="1" hangingPunct="1">
              <a:spcBef>
                <a:spcPct val="0"/>
              </a:spcBef>
              <a:buClrTx/>
              <a:buSzTx/>
              <a:buFontTx/>
              <a:buNone/>
            </a:pPr>
            <a:r>
              <a:rPr lang="en-US" altLang="es-ES" sz="1400">
                <a:solidFill>
                  <a:schemeClr val="folHlink"/>
                </a:solidFill>
              </a:rPr>
              <a:t>Cantidad vendida</a:t>
            </a:r>
          </a:p>
        </p:txBody>
      </p:sp>
      <p:sp>
        <p:nvSpPr>
          <p:cNvPr id="102416" name="Rectangle 16">
            <a:extLst>
              <a:ext uri="{FF2B5EF4-FFF2-40B4-BE49-F238E27FC236}">
                <a16:creationId xmlns:a16="http://schemas.microsoft.com/office/drawing/2014/main" id="{6D44F456-9CCD-488A-87BA-EE57B21CDFF9}"/>
              </a:ext>
            </a:extLst>
          </p:cNvPr>
          <p:cNvSpPr>
            <a:spLocks noChangeArrowheads="1"/>
          </p:cNvSpPr>
          <p:nvPr/>
        </p:nvSpPr>
        <p:spPr bwMode="auto">
          <a:xfrm>
            <a:off x="6372225" y="4005263"/>
            <a:ext cx="158432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b="1">
                <a:solidFill>
                  <a:schemeClr val="folHlink"/>
                </a:solidFill>
              </a:rPr>
              <a:t>Cliente</a:t>
            </a:r>
          </a:p>
          <a:p>
            <a:pPr eaLnBrk="1" hangingPunct="1">
              <a:spcBef>
                <a:spcPct val="0"/>
              </a:spcBef>
              <a:buClrTx/>
              <a:buSzTx/>
              <a:buFontTx/>
              <a:buNone/>
            </a:pPr>
            <a:r>
              <a:rPr lang="en-US" altLang="es-ES" sz="1400" u="sng">
                <a:solidFill>
                  <a:schemeClr val="folHlink"/>
                </a:solidFill>
              </a:rPr>
              <a:t>Codigo cliente</a:t>
            </a:r>
          </a:p>
          <a:p>
            <a:pPr eaLnBrk="1" hangingPunct="1">
              <a:spcBef>
                <a:spcPct val="0"/>
              </a:spcBef>
              <a:buClrTx/>
              <a:buSzTx/>
              <a:buFontTx/>
              <a:buNone/>
            </a:pPr>
            <a:r>
              <a:rPr lang="en-US" altLang="es-ES" sz="1400">
                <a:solidFill>
                  <a:schemeClr val="folHlink"/>
                </a:solidFill>
              </a:rPr>
              <a:t>Razon social</a:t>
            </a:r>
          </a:p>
          <a:p>
            <a:pPr eaLnBrk="1" hangingPunct="1">
              <a:spcBef>
                <a:spcPct val="0"/>
              </a:spcBef>
              <a:buClrTx/>
              <a:buSzTx/>
              <a:buFontTx/>
              <a:buNone/>
            </a:pPr>
            <a:r>
              <a:rPr lang="en-US" altLang="es-ES" sz="1400">
                <a:solidFill>
                  <a:schemeClr val="folHlink"/>
                </a:solidFill>
              </a:rPr>
              <a:t>Domicilio</a:t>
            </a:r>
          </a:p>
        </p:txBody>
      </p:sp>
      <p:sp>
        <p:nvSpPr>
          <p:cNvPr id="45068" name="Text Box 19">
            <a:extLst>
              <a:ext uri="{FF2B5EF4-FFF2-40B4-BE49-F238E27FC236}">
                <a16:creationId xmlns:a16="http://schemas.microsoft.com/office/drawing/2014/main" id="{727BBD79-DA49-4031-B96C-DB9923A571A8}"/>
              </a:ext>
            </a:extLst>
          </p:cNvPr>
          <p:cNvSpPr txBox="1">
            <a:spLocks noChangeArrowheads="1"/>
          </p:cNvSpPr>
          <p:nvPr/>
        </p:nvSpPr>
        <p:spPr bwMode="auto">
          <a:xfrm>
            <a:off x="250825" y="6381750"/>
            <a:ext cx="23764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s-AR" altLang="es-ES" sz="1400">
                <a:solidFill>
                  <a:srgbClr val="990033"/>
                </a:solidFill>
              </a:rPr>
              <a:t>E.F. Codd (1972)</a:t>
            </a:r>
          </a:p>
        </p:txBody>
      </p:sp>
      <p:sp>
        <p:nvSpPr>
          <p:cNvPr id="102420" name="Text Box 20">
            <a:extLst>
              <a:ext uri="{FF2B5EF4-FFF2-40B4-BE49-F238E27FC236}">
                <a16:creationId xmlns:a16="http://schemas.microsoft.com/office/drawing/2014/main" id="{7E1A1C52-E5BC-4873-98E5-1044AB8FA923}"/>
              </a:ext>
            </a:extLst>
          </p:cNvPr>
          <p:cNvSpPr txBox="1">
            <a:spLocks noChangeArrowheads="1"/>
          </p:cNvSpPr>
          <p:nvPr/>
        </p:nvSpPr>
        <p:spPr bwMode="auto">
          <a:xfrm>
            <a:off x="611188" y="5861050"/>
            <a:ext cx="360362" cy="304800"/>
          </a:xfrm>
          <a:prstGeom prst="rect">
            <a:avLst/>
          </a:prstGeom>
          <a:solidFill>
            <a:srgbClr val="9900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s-AR" altLang="es-ES" sz="1400" b="1">
                <a:solidFill>
                  <a:schemeClr val="bg1"/>
                </a:solidFill>
              </a:rPr>
              <a:t>A</a:t>
            </a:r>
          </a:p>
        </p:txBody>
      </p:sp>
      <p:sp>
        <p:nvSpPr>
          <p:cNvPr id="102421" name="Text Box 21">
            <a:extLst>
              <a:ext uri="{FF2B5EF4-FFF2-40B4-BE49-F238E27FC236}">
                <a16:creationId xmlns:a16="http://schemas.microsoft.com/office/drawing/2014/main" id="{5A3FD7E3-72A1-44C3-AB13-C7B799527FA4}"/>
              </a:ext>
            </a:extLst>
          </p:cNvPr>
          <p:cNvSpPr txBox="1">
            <a:spLocks noChangeArrowheads="1"/>
          </p:cNvSpPr>
          <p:nvPr/>
        </p:nvSpPr>
        <p:spPr bwMode="auto">
          <a:xfrm>
            <a:off x="1979613" y="5861050"/>
            <a:ext cx="360362" cy="304800"/>
          </a:xfrm>
          <a:prstGeom prst="rect">
            <a:avLst/>
          </a:prstGeom>
          <a:solidFill>
            <a:srgbClr val="990033"/>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s-AR" altLang="es-ES" sz="1400" b="1">
                <a:solidFill>
                  <a:schemeClr val="bg1"/>
                </a:solidFill>
              </a:rPr>
              <a:t>B</a:t>
            </a:r>
          </a:p>
        </p:txBody>
      </p:sp>
      <p:sp>
        <p:nvSpPr>
          <p:cNvPr id="102422" name="Freeform 22">
            <a:extLst>
              <a:ext uri="{FF2B5EF4-FFF2-40B4-BE49-F238E27FC236}">
                <a16:creationId xmlns:a16="http://schemas.microsoft.com/office/drawing/2014/main" id="{1EB4DB76-8C4E-4D9F-96ED-82F66C1DD9F9}"/>
              </a:ext>
            </a:extLst>
          </p:cNvPr>
          <p:cNvSpPr>
            <a:spLocks/>
          </p:cNvSpPr>
          <p:nvPr/>
        </p:nvSpPr>
        <p:spPr bwMode="auto">
          <a:xfrm>
            <a:off x="803275" y="5622925"/>
            <a:ext cx="1392238" cy="238125"/>
          </a:xfrm>
          <a:custGeom>
            <a:avLst/>
            <a:gdLst>
              <a:gd name="T0" fmla="*/ 2147483646 w 616"/>
              <a:gd name="T1" fmla="*/ 2147483646 h 151"/>
              <a:gd name="T2" fmla="*/ 2147483646 w 616"/>
              <a:gd name="T3" fmla="*/ 0 h 151"/>
              <a:gd name="T4" fmla="*/ 0 w 616"/>
              <a:gd name="T5" fmla="*/ 0 h 151"/>
              <a:gd name="T6" fmla="*/ 2147483646 w 616"/>
              <a:gd name="T7" fmla="*/ 2147483646 h 151"/>
              <a:gd name="T8" fmla="*/ 0 60000 65536"/>
              <a:gd name="T9" fmla="*/ 0 60000 65536"/>
              <a:gd name="T10" fmla="*/ 0 60000 65536"/>
              <a:gd name="T11" fmla="*/ 0 60000 65536"/>
              <a:gd name="T12" fmla="*/ 0 w 616"/>
              <a:gd name="T13" fmla="*/ 0 h 151"/>
              <a:gd name="T14" fmla="*/ 616 w 616"/>
              <a:gd name="T15" fmla="*/ 151 h 151"/>
            </a:gdLst>
            <a:ahLst/>
            <a:cxnLst>
              <a:cxn ang="T8">
                <a:pos x="T0" y="T1"/>
              </a:cxn>
              <a:cxn ang="T9">
                <a:pos x="T2" y="T3"/>
              </a:cxn>
              <a:cxn ang="T10">
                <a:pos x="T4" y="T5"/>
              </a:cxn>
              <a:cxn ang="T11">
                <a:pos x="T6" y="T7"/>
              </a:cxn>
            </a:cxnLst>
            <a:rect l="T12" t="T13" r="T14" b="T15"/>
            <a:pathLst>
              <a:path w="616" h="151">
                <a:moveTo>
                  <a:pt x="605" y="150"/>
                </a:moveTo>
                <a:lnTo>
                  <a:pt x="616" y="0"/>
                </a:lnTo>
                <a:lnTo>
                  <a:pt x="0" y="0"/>
                </a:lnTo>
                <a:lnTo>
                  <a:pt x="15" y="151"/>
                </a:lnTo>
              </a:path>
            </a:pathLst>
          </a:custGeom>
          <a:noFill/>
          <a:ln w="9525" cap="flat" cmpd="sng">
            <a:solidFill>
              <a:srgbClr val="990033"/>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spAutoFit/>
          </a:bodyPr>
          <a:lstStyle/>
          <a:p>
            <a:endParaRPr lang="es-ES"/>
          </a:p>
        </p:txBody>
      </p:sp>
      <p:sp>
        <p:nvSpPr>
          <p:cNvPr id="102423" name="Text Box 23">
            <a:extLst>
              <a:ext uri="{FF2B5EF4-FFF2-40B4-BE49-F238E27FC236}">
                <a16:creationId xmlns:a16="http://schemas.microsoft.com/office/drawing/2014/main" id="{5FEDEAD9-B0BD-4164-9E83-6D588B00276B}"/>
              </a:ext>
            </a:extLst>
          </p:cNvPr>
          <p:cNvSpPr txBox="1">
            <a:spLocks noChangeArrowheads="1"/>
          </p:cNvSpPr>
          <p:nvPr/>
        </p:nvSpPr>
        <p:spPr bwMode="auto">
          <a:xfrm>
            <a:off x="1116013" y="5373688"/>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b="1">
                <a:solidFill>
                  <a:srgbClr val="990033"/>
                </a:solidFill>
              </a:rPr>
              <a:t>D.F.</a:t>
            </a:r>
          </a:p>
        </p:txBody>
      </p:sp>
      <p:sp>
        <p:nvSpPr>
          <p:cNvPr id="102424" name="Line 24">
            <a:extLst>
              <a:ext uri="{FF2B5EF4-FFF2-40B4-BE49-F238E27FC236}">
                <a16:creationId xmlns:a16="http://schemas.microsoft.com/office/drawing/2014/main" id="{900CA8FF-58A9-436E-931A-E6DD11E639AE}"/>
              </a:ext>
            </a:extLst>
          </p:cNvPr>
          <p:cNvSpPr>
            <a:spLocks noChangeShapeType="1"/>
          </p:cNvSpPr>
          <p:nvPr/>
        </p:nvSpPr>
        <p:spPr bwMode="auto">
          <a:xfrm>
            <a:off x="971550" y="6021388"/>
            <a:ext cx="10080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102425" name="Text Box 25">
            <a:extLst>
              <a:ext uri="{FF2B5EF4-FFF2-40B4-BE49-F238E27FC236}">
                <a16:creationId xmlns:a16="http://schemas.microsoft.com/office/drawing/2014/main" id="{579A2135-25BE-4F84-ACF6-FAED2A4CF66E}"/>
              </a:ext>
            </a:extLst>
          </p:cNvPr>
          <p:cNvSpPr txBox="1">
            <a:spLocks noChangeArrowheads="1"/>
          </p:cNvSpPr>
          <p:nvPr/>
        </p:nvSpPr>
        <p:spPr bwMode="auto">
          <a:xfrm>
            <a:off x="971550" y="5932488"/>
            <a:ext cx="974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ES" sz="1400"/>
              <a:t>determina</a:t>
            </a: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2405">
                                            <p:txEl>
                                              <p:pRg st="0" end="0"/>
                                            </p:txEl>
                                          </p:spTgt>
                                        </p:tgtEl>
                                        <p:attrNameLst>
                                          <p:attrName>style.visibility</p:attrName>
                                        </p:attrNameLst>
                                      </p:cBhvr>
                                      <p:to>
                                        <p:strVal val="visible"/>
                                      </p:to>
                                    </p:set>
                                    <p:animEffect transition="in" filter="blinds(horizontal)">
                                      <p:cBhvr>
                                        <p:cTn id="7" dur="500"/>
                                        <p:tgtEl>
                                          <p:spTgt spid="10240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02405">
                                            <p:txEl>
                                              <p:pRg st="1" end="1"/>
                                            </p:txEl>
                                          </p:spTgt>
                                        </p:tgtEl>
                                        <p:attrNameLst>
                                          <p:attrName>style.visibility</p:attrName>
                                        </p:attrNameLst>
                                      </p:cBhvr>
                                      <p:to>
                                        <p:strVal val="visible"/>
                                      </p:to>
                                    </p:set>
                                    <p:animEffect transition="in" filter="blinds(horizontal)">
                                      <p:cBhvr>
                                        <p:cTn id="10" dur="500"/>
                                        <p:tgtEl>
                                          <p:spTgt spid="10240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2405">
                                            <p:txEl>
                                              <p:pRg st="2" end="2"/>
                                            </p:txEl>
                                          </p:spTgt>
                                        </p:tgtEl>
                                        <p:attrNameLst>
                                          <p:attrName>style.visibility</p:attrName>
                                        </p:attrNameLst>
                                      </p:cBhvr>
                                      <p:to>
                                        <p:strVal val="visible"/>
                                      </p:to>
                                    </p:set>
                                    <p:animEffect transition="in" filter="blinds(horizontal)">
                                      <p:cBhvr>
                                        <p:cTn id="13" dur="500"/>
                                        <p:tgtEl>
                                          <p:spTgt spid="102405">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mph" presetSubtype="2" fill="hold" nodeType="clickEffect">
                                  <p:stCondLst>
                                    <p:cond delay="0"/>
                                  </p:stCondLst>
                                  <p:childTnLst>
                                    <p:animClr clrSpc="rgb" dir="cw">
                                      <p:cBhvr override="childStyle">
                                        <p:cTn id="17" dur="2000" fill="hold"/>
                                        <p:tgtEl>
                                          <p:spTgt spid="102405">
                                            <p:txEl>
                                              <p:pRg st="1" end="1"/>
                                            </p:txEl>
                                          </p:spTgt>
                                        </p:tgtEl>
                                        <p:attrNameLst>
                                          <p:attrName>style.color</p:attrName>
                                        </p:attrNameLst>
                                      </p:cBhvr>
                                      <p:to>
                                        <a:schemeClr val="accent2"/>
                                      </p:to>
                                    </p:animClr>
                                  </p:childTnLst>
                                </p:cTn>
                              </p:par>
                            </p:childTnLst>
                          </p:cTn>
                        </p:par>
                      </p:childTnLst>
                    </p:cTn>
                  </p:par>
                  <p:par>
                    <p:cTn id="18" fill="hold" nodeType="clickPar">
                      <p:stCondLst>
                        <p:cond delay="indefinite"/>
                      </p:stCondLst>
                      <p:childTnLst>
                        <p:par>
                          <p:cTn id="19" fill="hold" nodeType="withGroup">
                            <p:stCondLst>
                              <p:cond delay="0"/>
                            </p:stCondLst>
                            <p:childTnLst>
                              <p:par>
                                <p:cTn id="20" presetID="35" presetClass="emph" presetSubtype="0" fill="hold" nodeType="clickEffect">
                                  <p:stCondLst>
                                    <p:cond delay="0"/>
                                  </p:stCondLst>
                                  <p:childTnLst>
                                    <p:anim calcmode="discrete" valueType="str">
                                      <p:cBhvr>
                                        <p:cTn id="21" dur="1000" fill="hold"/>
                                        <p:tgtEl>
                                          <p:spTgt spid="102410">
                                            <p:txEl>
                                              <p:pRg st="0" end="0"/>
                                            </p:txEl>
                                          </p:spTgt>
                                        </p:tgtEl>
                                        <p:attrNameLst>
                                          <p:attrName>style.visibility</p:attrName>
                                        </p:attrNameLst>
                                      </p:cBhvr>
                                      <p:tavLst>
                                        <p:tav tm="0">
                                          <p:val>
                                            <p:strVal val="hidden"/>
                                          </p:val>
                                        </p:tav>
                                        <p:tav tm="50000">
                                          <p:val>
                                            <p:strVal val="visible"/>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mph" presetSubtype="4" nodeType="clickEffect">
                                  <p:stCondLst>
                                    <p:cond delay="0"/>
                                  </p:stCondLst>
                                  <p:childTnLst>
                                    <p:set>
                                      <p:cBhvr override="childStyle">
                                        <p:cTn id="25" dur="indefinite"/>
                                        <p:tgtEl>
                                          <p:spTgt spid="102410">
                                            <p:txEl>
                                              <p:pRg st="1" end="1"/>
                                            </p:txEl>
                                          </p:spTgt>
                                        </p:tgtEl>
                                        <p:attrNameLst>
                                          <p:attrName>style.fontStyle</p:attrName>
                                        </p:attrNameLst>
                                      </p:cBhvr>
                                      <p:to>
                                        <p:strVal val="normal"/>
                                      </p:to>
                                    </p:set>
                                    <p:set>
                                      <p:cBhvr override="childStyle">
                                        <p:cTn id="26" dur="indefinite"/>
                                        <p:tgtEl>
                                          <p:spTgt spid="102410">
                                            <p:txEl>
                                              <p:pRg st="1" end="1"/>
                                            </p:txEl>
                                          </p:spTgt>
                                        </p:tgtEl>
                                        <p:attrNameLst>
                                          <p:attrName>style.fontWeight</p:attrName>
                                        </p:attrNameLst>
                                      </p:cBhvr>
                                      <p:to>
                                        <p:strVal val="normal"/>
                                      </p:to>
                                    </p:set>
                                    <p:set>
                                      <p:cBhvr override="childStyle">
                                        <p:cTn id="27" dur="indefinite"/>
                                        <p:tgtEl>
                                          <p:spTgt spid="102410">
                                            <p:txEl>
                                              <p:pRg st="1" end="1"/>
                                            </p:txEl>
                                          </p:spTgt>
                                        </p:tgtEl>
                                        <p:attrNameLst>
                                          <p:attrName>style.textDecorationUnderline</p:attrName>
                                        </p:attrNameLst>
                                      </p:cBhvr>
                                      <p:to>
                                        <p:strVal val="tru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mph" presetSubtype="2" fill="hold" nodeType="clickEffect">
                                  <p:stCondLst>
                                    <p:cond delay="0"/>
                                  </p:stCondLst>
                                  <p:childTnLst>
                                    <p:animClr clrSpc="rgb" dir="cw">
                                      <p:cBhvr override="childStyle">
                                        <p:cTn id="31" dur="2000" fill="hold"/>
                                        <p:tgtEl>
                                          <p:spTgt spid="102405">
                                            <p:txEl>
                                              <p:pRg st="2" end="2"/>
                                            </p:txEl>
                                          </p:spTgt>
                                        </p:tgtEl>
                                        <p:attrNameLst>
                                          <p:attrName>style.color</p:attrName>
                                        </p:attrNameLst>
                                      </p:cBhvr>
                                      <p:to>
                                        <a:schemeClr val="accent2"/>
                                      </p:to>
                                    </p:animClr>
                                  </p:childTnLst>
                                </p:cTn>
                              </p:par>
                            </p:childTnLst>
                          </p:cTn>
                        </p:par>
                      </p:childTnLst>
                    </p:cTn>
                  </p:par>
                  <p:par>
                    <p:cTn id="32" fill="hold" nodeType="clickPar">
                      <p:stCondLst>
                        <p:cond delay="indefinite"/>
                      </p:stCondLst>
                      <p:childTnLst>
                        <p:par>
                          <p:cTn id="33" fill="hold" nodeType="withGroup">
                            <p:stCondLst>
                              <p:cond delay="0"/>
                            </p:stCondLst>
                            <p:childTnLst>
                              <p:par>
                                <p:cTn id="34" presetID="4" presetClass="emph" presetSubtype="2" fill="hold" nodeType="clickEffect">
                                  <p:stCondLst>
                                    <p:cond delay="0"/>
                                  </p:stCondLst>
                                  <p:childTnLst>
                                    <p:anim to="1.5" calcmode="lin" valueType="num">
                                      <p:cBhvr override="childStyle">
                                        <p:cTn id="35" dur="2000" fill="hold"/>
                                        <p:tgtEl>
                                          <p:spTgt spid="102410">
                                            <p:txEl>
                                              <p:pRg st="6" end="6"/>
                                            </p:txEl>
                                          </p:spTgt>
                                        </p:tgtEl>
                                        <p:attrNameLst>
                                          <p:attrName>style.fontSize</p:attrName>
                                        </p:attrNameLst>
                                      </p:cBhvr>
                                    </p:anim>
                                  </p:childTnLst>
                                </p:cTn>
                              </p:par>
                              <p:par>
                                <p:cTn id="36" presetID="4" presetClass="emph" presetSubtype="2" fill="hold" nodeType="withEffect">
                                  <p:stCondLst>
                                    <p:cond delay="0"/>
                                  </p:stCondLst>
                                  <p:childTnLst>
                                    <p:anim to="1.5" calcmode="lin" valueType="num">
                                      <p:cBhvr override="childStyle">
                                        <p:cTn id="37" dur="2000" fill="hold"/>
                                        <p:tgtEl>
                                          <p:spTgt spid="102410">
                                            <p:txEl>
                                              <p:pRg st="7" end="7"/>
                                            </p:txEl>
                                          </p:spTgt>
                                        </p:tgtEl>
                                        <p:attrNameLst>
                                          <p:attrName>style.fontSize</p:attrName>
                                        </p:attrNameLst>
                                      </p:cBhvr>
                                    </p:anim>
                                  </p:childTnLst>
                                </p:cTn>
                              </p:par>
                              <p:par>
                                <p:cTn id="38" presetID="4" presetClass="emph" presetSubtype="2" fill="hold" nodeType="withEffect">
                                  <p:stCondLst>
                                    <p:cond delay="0"/>
                                  </p:stCondLst>
                                  <p:childTnLst>
                                    <p:anim to="1.5" calcmode="lin" valueType="num">
                                      <p:cBhvr override="childStyle">
                                        <p:cTn id="39" dur="2000" fill="hold"/>
                                        <p:tgtEl>
                                          <p:spTgt spid="102410">
                                            <p:txEl>
                                              <p:pRg st="8" end="8"/>
                                            </p:txEl>
                                          </p:spTgt>
                                        </p:tgtEl>
                                        <p:attrNameLst>
                                          <p:attrName>style.fontSize</p:attrName>
                                        </p:attrNameLst>
                                      </p:cBhvr>
                                    </p:anim>
                                  </p:childTnLst>
                                </p:cTn>
                              </p:par>
                              <p:par>
                                <p:cTn id="40" presetID="4" presetClass="emph" presetSubtype="2" fill="hold" nodeType="withEffect">
                                  <p:stCondLst>
                                    <p:cond delay="0"/>
                                  </p:stCondLst>
                                  <p:childTnLst>
                                    <p:anim to="1.5" calcmode="lin" valueType="num">
                                      <p:cBhvr override="childStyle">
                                        <p:cTn id="41" dur="2000" fill="hold"/>
                                        <p:tgtEl>
                                          <p:spTgt spid="102410">
                                            <p:txEl>
                                              <p:pRg st="9" end="9"/>
                                            </p:txEl>
                                          </p:spTgt>
                                        </p:tgtEl>
                                        <p:attrNameLst>
                                          <p:attrName>style.fontSize</p:attrName>
                                        </p:attrNameLst>
                                      </p:cBhvr>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xit" presetSubtype="4" fill="hold" nodeType="clickEffect">
                                  <p:stCondLst>
                                    <p:cond delay="0"/>
                                  </p:stCondLst>
                                  <p:childTnLst>
                                    <p:anim calcmode="lin" valueType="num">
                                      <p:cBhvr additive="base">
                                        <p:cTn id="45" dur="500"/>
                                        <p:tgtEl>
                                          <p:spTgt spid="102410">
                                            <p:txEl>
                                              <p:pRg st="6" end="6"/>
                                            </p:txEl>
                                          </p:spTgt>
                                        </p:tgtEl>
                                        <p:attrNameLst>
                                          <p:attrName>ppt_x</p:attrName>
                                        </p:attrNameLst>
                                      </p:cBhvr>
                                      <p:tavLst>
                                        <p:tav tm="0">
                                          <p:val>
                                            <p:strVal val="ppt_x"/>
                                          </p:val>
                                        </p:tav>
                                        <p:tav tm="100000">
                                          <p:val>
                                            <p:strVal val="ppt_x"/>
                                          </p:val>
                                        </p:tav>
                                      </p:tavLst>
                                    </p:anim>
                                    <p:anim calcmode="lin" valueType="num">
                                      <p:cBhvr additive="base">
                                        <p:cTn id="46" dur="500"/>
                                        <p:tgtEl>
                                          <p:spTgt spid="102410">
                                            <p:txEl>
                                              <p:pRg st="6" end="6"/>
                                            </p:txEl>
                                          </p:spTgt>
                                        </p:tgtEl>
                                        <p:attrNameLst>
                                          <p:attrName>ppt_y</p:attrName>
                                        </p:attrNameLst>
                                      </p:cBhvr>
                                      <p:tavLst>
                                        <p:tav tm="0">
                                          <p:val>
                                            <p:strVal val="ppt_y"/>
                                          </p:val>
                                        </p:tav>
                                        <p:tav tm="100000">
                                          <p:val>
                                            <p:strVal val="1+ppt_h/2"/>
                                          </p:val>
                                        </p:tav>
                                      </p:tavLst>
                                    </p:anim>
                                    <p:set>
                                      <p:cBhvr>
                                        <p:cTn id="47" dur="1" fill="hold">
                                          <p:stCondLst>
                                            <p:cond delay="499"/>
                                          </p:stCondLst>
                                        </p:cTn>
                                        <p:tgtEl>
                                          <p:spTgt spid="102410">
                                            <p:txEl>
                                              <p:pRg st="6" end="6"/>
                                            </p:txEl>
                                          </p:spTgt>
                                        </p:tgtEl>
                                        <p:attrNameLst>
                                          <p:attrName>style.visibility</p:attrName>
                                        </p:attrNameLst>
                                      </p:cBhvr>
                                      <p:to>
                                        <p:strVal val="hidden"/>
                                      </p:to>
                                    </p:set>
                                  </p:childTnLst>
                                </p:cTn>
                              </p:par>
                              <p:par>
                                <p:cTn id="48" presetID="2" presetClass="exit" presetSubtype="4" fill="hold" nodeType="withEffect">
                                  <p:stCondLst>
                                    <p:cond delay="0"/>
                                  </p:stCondLst>
                                  <p:childTnLst>
                                    <p:anim calcmode="lin" valueType="num">
                                      <p:cBhvr additive="base">
                                        <p:cTn id="49" dur="500"/>
                                        <p:tgtEl>
                                          <p:spTgt spid="102410">
                                            <p:txEl>
                                              <p:pRg st="7" end="7"/>
                                            </p:txEl>
                                          </p:spTgt>
                                        </p:tgtEl>
                                        <p:attrNameLst>
                                          <p:attrName>ppt_x</p:attrName>
                                        </p:attrNameLst>
                                      </p:cBhvr>
                                      <p:tavLst>
                                        <p:tav tm="0">
                                          <p:val>
                                            <p:strVal val="ppt_x"/>
                                          </p:val>
                                        </p:tav>
                                        <p:tav tm="100000">
                                          <p:val>
                                            <p:strVal val="ppt_x"/>
                                          </p:val>
                                        </p:tav>
                                      </p:tavLst>
                                    </p:anim>
                                    <p:anim calcmode="lin" valueType="num">
                                      <p:cBhvr additive="base">
                                        <p:cTn id="50" dur="500"/>
                                        <p:tgtEl>
                                          <p:spTgt spid="102410">
                                            <p:txEl>
                                              <p:pRg st="7" end="7"/>
                                            </p:txEl>
                                          </p:spTgt>
                                        </p:tgtEl>
                                        <p:attrNameLst>
                                          <p:attrName>ppt_y</p:attrName>
                                        </p:attrNameLst>
                                      </p:cBhvr>
                                      <p:tavLst>
                                        <p:tav tm="0">
                                          <p:val>
                                            <p:strVal val="ppt_y"/>
                                          </p:val>
                                        </p:tav>
                                        <p:tav tm="100000">
                                          <p:val>
                                            <p:strVal val="1+ppt_h/2"/>
                                          </p:val>
                                        </p:tav>
                                      </p:tavLst>
                                    </p:anim>
                                    <p:set>
                                      <p:cBhvr>
                                        <p:cTn id="51" dur="1" fill="hold">
                                          <p:stCondLst>
                                            <p:cond delay="499"/>
                                          </p:stCondLst>
                                        </p:cTn>
                                        <p:tgtEl>
                                          <p:spTgt spid="102410">
                                            <p:txEl>
                                              <p:pRg st="7" end="7"/>
                                            </p:txEl>
                                          </p:spTgt>
                                        </p:tgtEl>
                                        <p:attrNameLst>
                                          <p:attrName>style.visibility</p:attrName>
                                        </p:attrNameLst>
                                      </p:cBhvr>
                                      <p:to>
                                        <p:strVal val="hidden"/>
                                      </p:to>
                                    </p:set>
                                  </p:childTnLst>
                                </p:cTn>
                              </p:par>
                              <p:par>
                                <p:cTn id="52" presetID="2" presetClass="exit" presetSubtype="4" fill="hold" nodeType="withEffect">
                                  <p:stCondLst>
                                    <p:cond delay="0"/>
                                  </p:stCondLst>
                                  <p:childTnLst>
                                    <p:anim calcmode="lin" valueType="num">
                                      <p:cBhvr additive="base">
                                        <p:cTn id="53" dur="500"/>
                                        <p:tgtEl>
                                          <p:spTgt spid="102410">
                                            <p:txEl>
                                              <p:pRg st="8" end="8"/>
                                            </p:txEl>
                                          </p:spTgt>
                                        </p:tgtEl>
                                        <p:attrNameLst>
                                          <p:attrName>ppt_x</p:attrName>
                                        </p:attrNameLst>
                                      </p:cBhvr>
                                      <p:tavLst>
                                        <p:tav tm="0">
                                          <p:val>
                                            <p:strVal val="ppt_x"/>
                                          </p:val>
                                        </p:tav>
                                        <p:tav tm="100000">
                                          <p:val>
                                            <p:strVal val="ppt_x"/>
                                          </p:val>
                                        </p:tav>
                                      </p:tavLst>
                                    </p:anim>
                                    <p:anim calcmode="lin" valueType="num">
                                      <p:cBhvr additive="base">
                                        <p:cTn id="54" dur="500"/>
                                        <p:tgtEl>
                                          <p:spTgt spid="102410">
                                            <p:txEl>
                                              <p:pRg st="8" end="8"/>
                                            </p:txEl>
                                          </p:spTgt>
                                        </p:tgtEl>
                                        <p:attrNameLst>
                                          <p:attrName>ppt_y</p:attrName>
                                        </p:attrNameLst>
                                      </p:cBhvr>
                                      <p:tavLst>
                                        <p:tav tm="0">
                                          <p:val>
                                            <p:strVal val="ppt_y"/>
                                          </p:val>
                                        </p:tav>
                                        <p:tav tm="100000">
                                          <p:val>
                                            <p:strVal val="1+ppt_h/2"/>
                                          </p:val>
                                        </p:tav>
                                      </p:tavLst>
                                    </p:anim>
                                    <p:set>
                                      <p:cBhvr>
                                        <p:cTn id="55" dur="1" fill="hold">
                                          <p:stCondLst>
                                            <p:cond delay="499"/>
                                          </p:stCondLst>
                                        </p:cTn>
                                        <p:tgtEl>
                                          <p:spTgt spid="102410">
                                            <p:txEl>
                                              <p:pRg st="8" end="8"/>
                                            </p:txEl>
                                          </p:spTgt>
                                        </p:tgtEl>
                                        <p:attrNameLst>
                                          <p:attrName>style.visibility</p:attrName>
                                        </p:attrNameLst>
                                      </p:cBhvr>
                                      <p:to>
                                        <p:strVal val="hidden"/>
                                      </p:to>
                                    </p:set>
                                  </p:childTnLst>
                                </p:cTn>
                              </p:par>
                              <p:par>
                                <p:cTn id="56" presetID="2" presetClass="exit" presetSubtype="4" fill="hold" nodeType="withEffect">
                                  <p:stCondLst>
                                    <p:cond delay="0"/>
                                  </p:stCondLst>
                                  <p:childTnLst>
                                    <p:anim calcmode="lin" valueType="num">
                                      <p:cBhvr additive="base">
                                        <p:cTn id="57" dur="500"/>
                                        <p:tgtEl>
                                          <p:spTgt spid="102410">
                                            <p:txEl>
                                              <p:pRg st="9" end="9"/>
                                            </p:txEl>
                                          </p:spTgt>
                                        </p:tgtEl>
                                        <p:attrNameLst>
                                          <p:attrName>ppt_x</p:attrName>
                                        </p:attrNameLst>
                                      </p:cBhvr>
                                      <p:tavLst>
                                        <p:tav tm="0">
                                          <p:val>
                                            <p:strVal val="ppt_x"/>
                                          </p:val>
                                        </p:tav>
                                        <p:tav tm="100000">
                                          <p:val>
                                            <p:strVal val="ppt_x"/>
                                          </p:val>
                                        </p:tav>
                                      </p:tavLst>
                                    </p:anim>
                                    <p:anim calcmode="lin" valueType="num">
                                      <p:cBhvr additive="base">
                                        <p:cTn id="58" dur="500"/>
                                        <p:tgtEl>
                                          <p:spTgt spid="102410">
                                            <p:txEl>
                                              <p:pRg st="9" end="9"/>
                                            </p:txEl>
                                          </p:spTgt>
                                        </p:tgtEl>
                                        <p:attrNameLst>
                                          <p:attrName>ppt_y</p:attrName>
                                        </p:attrNameLst>
                                      </p:cBhvr>
                                      <p:tavLst>
                                        <p:tav tm="0">
                                          <p:val>
                                            <p:strVal val="ppt_y"/>
                                          </p:val>
                                        </p:tav>
                                        <p:tav tm="100000">
                                          <p:val>
                                            <p:strVal val="1+ppt_h/2"/>
                                          </p:val>
                                        </p:tav>
                                      </p:tavLst>
                                    </p:anim>
                                    <p:set>
                                      <p:cBhvr>
                                        <p:cTn id="59" dur="1" fill="hold">
                                          <p:stCondLst>
                                            <p:cond delay="499"/>
                                          </p:stCondLst>
                                        </p:cTn>
                                        <p:tgtEl>
                                          <p:spTgt spid="102410">
                                            <p:txEl>
                                              <p:pRg st="9" end="9"/>
                                            </p:txEl>
                                          </p:spTgt>
                                        </p:tgtEl>
                                        <p:attrNameLst>
                                          <p:attrName>style.visibility</p:attrName>
                                        </p:attrNameLst>
                                      </p:cBhvr>
                                      <p:to>
                                        <p:strVal val="hidden"/>
                                      </p:to>
                                    </p:set>
                                  </p:childTnLst>
                                </p:cTn>
                              </p:par>
                            </p:childTnLst>
                          </p:cTn>
                        </p:par>
                        <p:par>
                          <p:cTn id="60" fill="hold" nodeType="afterGroup">
                            <p:stCondLst>
                              <p:cond delay="500"/>
                            </p:stCondLst>
                            <p:childTnLst>
                              <p:par>
                                <p:cTn id="61" presetID="2" presetClass="entr" presetSubtype="4" fill="hold" grpId="0" nodeType="afterEffect">
                                  <p:stCondLst>
                                    <p:cond delay="0"/>
                                  </p:stCondLst>
                                  <p:childTnLst>
                                    <p:set>
                                      <p:cBhvr>
                                        <p:cTn id="62" dur="1" fill="hold">
                                          <p:stCondLst>
                                            <p:cond delay="0"/>
                                          </p:stCondLst>
                                        </p:cTn>
                                        <p:tgtEl>
                                          <p:spTgt spid="102412">
                                            <p:txEl>
                                              <p:pRg st="0" end="0"/>
                                            </p:txEl>
                                          </p:spTgt>
                                        </p:tgtEl>
                                        <p:attrNameLst>
                                          <p:attrName>style.visibility</p:attrName>
                                        </p:attrNameLst>
                                      </p:cBhvr>
                                      <p:to>
                                        <p:strVal val="visible"/>
                                      </p:to>
                                    </p:set>
                                    <p:anim calcmode="lin" valueType="num">
                                      <p:cBhvr additive="base">
                                        <p:cTn id="63" dur="500" fill="hold"/>
                                        <p:tgtEl>
                                          <p:spTgt spid="102412">
                                            <p:txEl>
                                              <p:pRg st="0" end="0"/>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102412">
                                            <p:txEl>
                                              <p:pRg st="0" end="0"/>
                                            </p:txEl>
                                          </p:spTgt>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02412">
                                            <p:txEl>
                                              <p:pRg st="1" end="1"/>
                                            </p:txEl>
                                          </p:spTgt>
                                        </p:tgtEl>
                                        <p:attrNameLst>
                                          <p:attrName>style.visibility</p:attrName>
                                        </p:attrNameLst>
                                      </p:cBhvr>
                                      <p:to>
                                        <p:strVal val="visible"/>
                                      </p:to>
                                    </p:set>
                                    <p:anim calcmode="lin" valueType="num">
                                      <p:cBhvr additive="base">
                                        <p:cTn id="67" dur="500" fill="hold"/>
                                        <p:tgtEl>
                                          <p:spTgt spid="102412">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2412">
                                            <p:txEl>
                                              <p:pRg st="1" end="1"/>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02412">
                                            <p:txEl>
                                              <p:pRg st="2" end="2"/>
                                            </p:txEl>
                                          </p:spTgt>
                                        </p:tgtEl>
                                        <p:attrNameLst>
                                          <p:attrName>style.visibility</p:attrName>
                                        </p:attrNameLst>
                                      </p:cBhvr>
                                      <p:to>
                                        <p:strVal val="visible"/>
                                      </p:to>
                                    </p:set>
                                    <p:anim calcmode="lin" valueType="num">
                                      <p:cBhvr additive="base">
                                        <p:cTn id="71" dur="500" fill="hold"/>
                                        <p:tgtEl>
                                          <p:spTgt spid="102412">
                                            <p:txEl>
                                              <p:pRg st="2" end="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02412">
                                            <p:txEl>
                                              <p:pRg st="2" end="2"/>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102412">
                                            <p:txEl>
                                              <p:pRg st="3" end="3"/>
                                            </p:txEl>
                                          </p:spTgt>
                                        </p:tgtEl>
                                        <p:attrNameLst>
                                          <p:attrName>style.visibility</p:attrName>
                                        </p:attrNameLst>
                                      </p:cBhvr>
                                      <p:to>
                                        <p:strVal val="visible"/>
                                      </p:to>
                                    </p:set>
                                    <p:anim calcmode="lin" valueType="num">
                                      <p:cBhvr additive="base">
                                        <p:cTn id="75" dur="500" fill="hold"/>
                                        <p:tgtEl>
                                          <p:spTgt spid="102412">
                                            <p:txEl>
                                              <p:pRg st="3" end="3"/>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102412">
                                            <p:txEl>
                                              <p:pRg st="3" end="3"/>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102412">
                                            <p:txEl>
                                              <p:pRg st="4" end="4"/>
                                            </p:txEl>
                                          </p:spTgt>
                                        </p:tgtEl>
                                        <p:attrNameLst>
                                          <p:attrName>style.visibility</p:attrName>
                                        </p:attrNameLst>
                                      </p:cBhvr>
                                      <p:to>
                                        <p:strVal val="visible"/>
                                      </p:to>
                                    </p:set>
                                    <p:anim calcmode="lin" valueType="num">
                                      <p:cBhvr additive="base">
                                        <p:cTn id="79" dur="500" fill="hold"/>
                                        <p:tgtEl>
                                          <p:spTgt spid="102412">
                                            <p:txEl>
                                              <p:pRg st="4" end="4"/>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102412">
                                            <p:txEl>
                                              <p:pRg st="4" end="4"/>
                                            </p:txEl>
                                          </p:spTgt>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102412">
                                            <p:txEl>
                                              <p:pRg st="5" end="5"/>
                                            </p:txEl>
                                          </p:spTgt>
                                        </p:tgtEl>
                                        <p:attrNameLst>
                                          <p:attrName>style.visibility</p:attrName>
                                        </p:attrNameLst>
                                      </p:cBhvr>
                                      <p:to>
                                        <p:strVal val="visible"/>
                                      </p:to>
                                    </p:set>
                                    <p:anim calcmode="lin" valueType="num">
                                      <p:cBhvr additive="base">
                                        <p:cTn id="83" dur="500" fill="hold"/>
                                        <p:tgtEl>
                                          <p:spTgt spid="102412">
                                            <p:txEl>
                                              <p:pRg st="5" end="5"/>
                                            </p:txEl>
                                          </p:spTgt>
                                        </p:tgtEl>
                                        <p:attrNameLst>
                                          <p:attrName>ppt_x</p:attrName>
                                        </p:attrNameLst>
                                      </p:cBhvr>
                                      <p:tavLst>
                                        <p:tav tm="0">
                                          <p:val>
                                            <p:strVal val="#ppt_x"/>
                                          </p:val>
                                        </p:tav>
                                        <p:tav tm="100000">
                                          <p:val>
                                            <p:strVal val="#ppt_x"/>
                                          </p:val>
                                        </p:tav>
                                      </p:tavLst>
                                    </p:anim>
                                    <p:anim calcmode="lin" valueType="num">
                                      <p:cBhvr additive="base">
                                        <p:cTn id="84" dur="500" fill="hold"/>
                                        <p:tgtEl>
                                          <p:spTgt spid="10241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85" fill="hold" nodeType="clickPar">
                      <p:stCondLst>
                        <p:cond delay="indefinite"/>
                      </p:stCondLst>
                      <p:childTnLst>
                        <p:par>
                          <p:cTn id="86" fill="hold" nodeType="withGroup">
                            <p:stCondLst>
                              <p:cond delay="0"/>
                            </p:stCondLst>
                            <p:childTnLst>
                              <p:par>
                                <p:cTn id="87" presetID="35" presetClass="emph" presetSubtype="0" fill="hold" nodeType="clickEffect">
                                  <p:stCondLst>
                                    <p:cond delay="0"/>
                                  </p:stCondLst>
                                  <p:childTnLst>
                                    <p:anim calcmode="discrete" valueType="str">
                                      <p:cBhvr>
                                        <p:cTn id="88" dur="1000" fill="hold"/>
                                        <p:tgtEl>
                                          <p:spTgt spid="102412">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par>
                    <p:cTn id="89" fill="hold" nodeType="clickPar">
                      <p:stCondLst>
                        <p:cond delay="indefinite"/>
                      </p:stCondLst>
                      <p:childTnLst>
                        <p:par>
                          <p:cTn id="90" fill="hold" nodeType="withGroup">
                            <p:stCondLst>
                              <p:cond delay="0"/>
                            </p:stCondLst>
                            <p:childTnLst>
                              <p:par>
                                <p:cTn id="91" presetID="3" presetClass="entr" presetSubtype="10" fill="hold" grpId="0" nodeType="clickEffect">
                                  <p:stCondLst>
                                    <p:cond delay="0"/>
                                  </p:stCondLst>
                                  <p:childTnLst>
                                    <p:set>
                                      <p:cBhvr>
                                        <p:cTn id="92" dur="1" fill="hold">
                                          <p:stCondLst>
                                            <p:cond delay="0"/>
                                          </p:stCondLst>
                                        </p:cTn>
                                        <p:tgtEl>
                                          <p:spTgt spid="102408">
                                            <p:txEl>
                                              <p:pRg st="0" end="0"/>
                                            </p:txEl>
                                          </p:spTgt>
                                        </p:tgtEl>
                                        <p:attrNameLst>
                                          <p:attrName>style.visibility</p:attrName>
                                        </p:attrNameLst>
                                      </p:cBhvr>
                                      <p:to>
                                        <p:strVal val="visible"/>
                                      </p:to>
                                    </p:set>
                                    <p:animEffect transition="in" filter="blinds(horizontal)">
                                      <p:cBhvr>
                                        <p:cTn id="93" dur="500"/>
                                        <p:tgtEl>
                                          <p:spTgt spid="102408">
                                            <p:txEl>
                                              <p:pRg st="0" end="0"/>
                                            </p:txEl>
                                          </p:spTgt>
                                        </p:tgtEl>
                                      </p:cBhvr>
                                    </p:animEffect>
                                  </p:childTnLst>
                                </p:cTn>
                              </p:par>
                              <p:par>
                                <p:cTn id="94" presetID="3" presetClass="entr" presetSubtype="10" fill="hold" grpId="0" nodeType="withEffect">
                                  <p:stCondLst>
                                    <p:cond delay="0"/>
                                  </p:stCondLst>
                                  <p:childTnLst>
                                    <p:set>
                                      <p:cBhvr>
                                        <p:cTn id="95" dur="1" fill="hold">
                                          <p:stCondLst>
                                            <p:cond delay="0"/>
                                          </p:stCondLst>
                                        </p:cTn>
                                        <p:tgtEl>
                                          <p:spTgt spid="102408">
                                            <p:txEl>
                                              <p:pRg st="1" end="1"/>
                                            </p:txEl>
                                          </p:spTgt>
                                        </p:tgtEl>
                                        <p:attrNameLst>
                                          <p:attrName>style.visibility</p:attrName>
                                        </p:attrNameLst>
                                      </p:cBhvr>
                                      <p:to>
                                        <p:strVal val="visible"/>
                                      </p:to>
                                    </p:set>
                                    <p:animEffect transition="in" filter="blinds(horizontal)">
                                      <p:cBhvr>
                                        <p:cTn id="96" dur="500"/>
                                        <p:tgtEl>
                                          <p:spTgt spid="102408">
                                            <p:txEl>
                                              <p:pRg st="1" end="1"/>
                                            </p:txEl>
                                          </p:spTgt>
                                        </p:tgtEl>
                                      </p:cBhvr>
                                    </p:animEffect>
                                  </p:childTnLst>
                                </p:cTn>
                              </p:par>
                              <p:par>
                                <p:cTn id="97" presetID="3" presetClass="entr" presetSubtype="10" fill="hold" grpId="0" nodeType="withEffect">
                                  <p:stCondLst>
                                    <p:cond delay="0"/>
                                  </p:stCondLst>
                                  <p:childTnLst>
                                    <p:set>
                                      <p:cBhvr>
                                        <p:cTn id="98" dur="1" fill="hold">
                                          <p:stCondLst>
                                            <p:cond delay="0"/>
                                          </p:stCondLst>
                                        </p:cTn>
                                        <p:tgtEl>
                                          <p:spTgt spid="102408">
                                            <p:txEl>
                                              <p:pRg st="2" end="2"/>
                                            </p:txEl>
                                          </p:spTgt>
                                        </p:tgtEl>
                                        <p:attrNameLst>
                                          <p:attrName>style.visibility</p:attrName>
                                        </p:attrNameLst>
                                      </p:cBhvr>
                                      <p:to>
                                        <p:strVal val="visible"/>
                                      </p:to>
                                    </p:set>
                                    <p:animEffect transition="in" filter="blinds(horizontal)">
                                      <p:cBhvr>
                                        <p:cTn id="99" dur="500"/>
                                        <p:tgtEl>
                                          <p:spTgt spid="102408">
                                            <p:txEl>
                                              <p:pRg st="2" end="2"/>
                                            </p:txEl>
                                          </p:spTgt>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3" presetClass="emph" presetSubtype="2" fill="hold" nodeType="clickEffect">
                                  <p:stCondLst>
                                    <p:cond delay="0"/>
                                  </p:stCondLst>
                                  <p:childTnLst>
                                    <p:animClr clrSpc="rgb" dir="cw">
                                      <p:cBhvr override="childStyle">
                                        <p:cTn id="103" dur="2000" fill="hold"/>
                                        <p:tgtEl>
                                          <p:spTgt spid="102408">
                                            <p:txEl>
                                              <p:pRg st="1" end="1"/>
                                            </p:txEl>
                                          </p:spTgt>
                                        </p:tgtEl>
                                        <p:attrNameLst>
                                          <p:attrName>style.color</p:attrName>
                                        </p:attrNameLst>
                                      </p:cBhvr>
                                      <p:to>
                                        <a:schemeClr val="accent2"/>
                                      </p:to>
                                    </p:animClr>
                                  </p:childTnLst>
                                </p:cTn>
                              </p:par>
                            </p:childTnLst>
                          </p:cTn>
                        </p:par>
                      </p:childTnLst>
                    </p:cTn>
                  </p:par>
                  <p:par>
                    <p:cTn id="104" fill="hold" nodeType="clickPar">
                      <p:stCondLst>
                        <p:cond delay="indefinite"/>
                      </p:stCondLst>
                      <p:childTnLst>
                        <p:par>
                          <p:cTn id="105" fill="hold" nodeType="withGroup">
                            <p:stCondLst>
                              <p:cond delay="0"/>
                            </p:stCondLst>
                            <p:childTnLst>
                              <p:par>
                                <p:cTn id="106" presetID="3" presetClass="emph" presetSubtype="2" fill="hold" nodeType="clickEffect">
                                  <p:stCondLst>
                                    <p:cond delay="0"/>
                                  </p:stCondLst>
                                  <p:childTnLst>
                                    <p:animClr clrSpc="rgb" dir="cw">
                                      <p:cBhvr override="childStyle">
                                        <p:cTn id="107" dur="2000" fill="hold"/>
                                        <p:tgtEl>
                                          <p:spTgt spid="102408">
                                            <p:txEl>
                                              <p:pRg st="2" end="2"/>
                                            </p:txEl>
                                          </p:spTgt>
                                        </p:tgtEl>
                                        <p:attrNameLst>
                                          <p:attrName>style.color</p:attrName>
                                        </p:attrNameLst>
                                      </p:cBhvr>
                                      <p:to>
                                        <a:schemeClr val="accent2"/>
                                      </p:to>
                                    </p:animClr>
                                  </p:childTnLst>
                                </p:cTn>
                              </p:par>
                            </p:childTnLst>
                          </p:cTn>
                        </p:par>
                      </p:childTnLst>
                    </p:cTn>
                  </p:par>
                  <p:par>
                    <p:cTn id="108" fill="hold" nodeType="clickPar">
                      <p:stCondLst>
                        <p:cond delay="indefinite"/>
                      </p:stCondLst>
                      <p:childTnLst>
                        <p:par>
                          <p:cTn id="109" fill="hold" nodeType="withGroup">
                            <p:stCondLst>
                              <p:cond delay="0"/>
                            </p:stCondLst>
                            <p:childTnLst>
                              <p:par>
                                <p:cTn id="110" presetID="31" presetClass="entr" presetSubtype="0" fill="hold" grpId="0" nodeType="clickEffect">
                                  <p:stCondLst>
                                    <p:cond delay="0"/>
                                  </p:stCondLst>
                                  <p:iterate type="lt">
                                    <p:tmPct val="5000"/>
                                  </p:iterate>
                                  <p:childTnLst>
                                    <p:set>
                                      <p:cBhvr>
                                        <p:cTn id="111" dur="1" fill="hold">
                                          <p:stCondLst>
                                            <p:cond delay="0"/>
                                          </p:stCondLst>
                                        </p:cTn>
                                        <p:tgtEl>
                                          <p:spTgt spid="102421"/>
                                        </p:tgtEl>
                                        <p:attrNameLst>
                                          <p:attrName>style.visibility</p:attrName>
                                        </p:attrNameLst>
                                      </p:cBhvr>
                                      <p:to>
                                        <p:strVal val="visible"/>
                                      </p:to>
                                    </p:set>
                                    <p:anim calcmode="lin" valueType="num">
                                      <p:cBhvr>
                                        <p:cTn id="112" dur="1000" fill="hold"/>
                                        <p:tgtEl>
                                          <p:spTgt spid="102421"/>
                                        </p:tgtEl>
                                        <p:attrNameLst>
                                          <p:attrName>ppt_w</p:attrName>
                                        </p:attrNameLst>
                                      </p:cBhvr>
                                      <p:tavLst>
                                        <p:tav tm="0">
                                          <p:val>
                                            <p:fltVal val="0"/>
                                          </p:val>
                                        </p:tav>
                                        <p:tav tm="100000">
                                          <p:val>
                                            <p:strVal val="#ppt_w"/>
                                          </p:val>
                                        </p:tav>
                                      </p:tavLst>
                                    </p:anim>
                                    <p:anim calcmode="lin" valueType="num">
                                      <p:cBhvr>
                                        <p:cTn id="113" dur="1000" fill="hold"/>
                                        <p:tgtEl>
                                          <p:spTgt spid="102421"/>
                                        </p:tgtEl>
                                        <p:attrNameLst>
                                          <p:attrName>ppt_h</p:attrName>
                                        </p:attrNameLst>
                                      </p:cBhvr>
                                      <p:tavLst>
                                        <p:tav tm="0">
                                          <p:val>
                                            <p:fltVal val="0"/>
                                          </p:val>
                                        </p:tav>
                                        <p:tav tm="100000">
                                          <p:val>
                                            <p:strVal val="#ppt_h"/>
                                          </p:val>
                                        </p:tav>
                                      </p:tavLst>
                                    </p:anim>
                                    <p:anim calcmode="lin" valueType="num">
                                      <p:cBhvr>
                                        <p:cTn id="114" dur="1000" fill="hold"/>
                                        <p:tgtEl>
                                          <p:spTgt spid="102421"/>
                                        </p:tgtEl>
                                        <p:attrNameLst>
                                          <p:attrName>style.rotation</p:attrName>
                                        </p:attrNameLst>
                                      </p:cBhvr>
                                      <p:tavLst>
                                        <p:tav tm="0">
                                          <p:val>
                                            <p:fltVal val="90"/>
                                          </p:val>
                                        </p:tav>
                                        <p:tav tm="100000">
                                          <p:val>
                                            <p:fltVal val="0"/>
                                          </p:val>
                                        </p:tav>
                                      </p:tavLst>
                                    </p:anim>
                                    <p:animEffect transition="in" filter="fade">
                                      <p:cBhvr>
                                        <p:cTn id="115" dur="1000"/>
                                        <p:tgtEl>
                                          <p:spTgt spid="102421"/>
                                        </p:tgtEl>
                                      </p:cBhvr>
                                    </p:animEffect>
                                  </p:childTnLst>
                                </p:cTn>
                              </p:par>
                            </p:childTnLst>
                          </p:cTn>
                        </p:par>
                        <p:par>
                          <p:cTn id="116" fill="hold" nodeType="afterGroup">
                            <p:stCondLst>
                              <p:cond delay="1000"/>
                            </p:stCondLst>
                            <p:childTnLst>
                              <p:par>
                                <p:cTn id="117" presetID="31" presetClass="entr" presetSubtype="0" fill="hold" nodeType="afterEffect">
                                  <p:stCondLst>
                                    <p:cond delay="0"/>
                                  </p:stCondLst>
                                  <p:iterate type="lt">
                                    <p:tmPct val="5000"/>
                                  </p:iterate>
                                  <p:childTnLst>
                                    <p:set>
                                      <p:cBhvr>
                                        <p:cTn id="118" dur="1" fill="hold">
                                          <p:stCondLst>
                                            <p:cond delay="0"/>
                                          </p:stCondLst>
                                        </p:cTn>
                                        <p:tgtEl>
                                          <p:spTgt spid="102422"/>
                                        </p:tgtEl>
                                        <p:attrNameLst>
                                          <p:attrName>style.visibility</p:attrName>
                                        </p:attrNameLst>
                                      </p:cBhvr>
                                      <p:to>
                                        <p:strVal val="visible"/>
                                      </p:to>
                                    </p:set>
                                    <p:anim calcmode="lin" valueType="num">
                                      <p:cBhvr>
                                        <p:cTn id="119" dur="1000" fill="hold"/>
                                        <p:tgtEl>
                                          <p:spTgt spid="102422"/>
                                        </p:tgtEl>
                                        <p:attrNameLst>
                                          <p:attrName>ppt_w</p:attrName>
                                        </p:attrNameLst>
                                      </p:cBhvr>
                                      <p:tavLst>
                                        <p:tav tm="0">
                                          <p:val>
                                            <p:fltVal val="0"/>
                                          </p:val>
                                        </p:tav>
                                        <p:tav tm="100000">
                                          <p:val>
                                            <p:strVal val="#ppt_w"/>
                                          </p:val>
                                        </p:tav>
                                      </p:tavLst>
                                    </p:anim>
                                    <p:anim calcmode="lin" valueType="num">
                                      <p:cBhvr>
                                        <p:cTn id="120" dur="1000" fill="hold"/>
                                        <p:tgtEl>
                                          <p:spTgt spid="102422"/>
                                        </p:tgtEl>
                                        <p:attrNameLst>
                                          <p:attrName>ppt_h</p:attrName>
                                        </p:attrNameLst>
                                      </p:cBhvr>
                                      <p:tavLst>
                                        <p:tav tm="0">
                                          <p:val>
                                            <p:fltVal val="0"/>
                                          </p:val>
                                        </p:tav>
                                        <p:tav tm="100000">
                                          <p:val>
                                            <p:strVal val="#ppt_h"/>
                                          </p:val>
                                        </p:tav>
                                      </p:tavLst>
                                    </p:anim>
                                    <p:anim calcmode="lin" valueType="num">
                                      <p:cBhvr>
                                        <p:cTn id="121" dur="1000" fill="hold"/>
                                        <p:tgtEl>
                                          <p:spTgt spid="102422"/>
                                        </p:tgtEl>
                                        <p:attrNameLst>
                                          <p:attrName>style.rotation</p:attrName>
                                        </p:attrNameLst>
                                      </p:cBhvr>
                                      <p:tavLst>
                                        <p:tav tm="0">
                                          <p:val>
                                            <p:fltVal val="90"/>
                                          </p:val>
                                        </p:tav>
                                        <p:tav tm="100000">
                                          <p:val>
                                            <p:fltVal val="0"/>
                                          </p:val>
                                        </p:tav>
                                      </p:tavLst>
                                    </p:anim>
                                    <p:animEffect transition="in" filter="fade">
                                      <p:cBhvr>
                                        <p:cTn id="122" dur="1000"/>
                                        <p:tgtEl>
                                          <p:spTgt spid="102422"/>
                                        </p:tgtEl>
                                      </p:cBhvr>
                                    </p:animEffect>
                                  </p:childTnLst>
                                </p:cTn>
                              </p:par>
                            </p:childTnLst>
                          </p:cTn>
                        </p:par>
                        <p:par>
                          <p:cTn id="123" fill="hold" nodeType="afterGroup">
                            <p:stCondLst>
                              <p:cond delay="2000"/>
                            </p:stCondLst>
                            <p:childTnLst>
                              <p:par>
                                <p:cTn id="124" presetID="31" presetClass="entr" presetSubtype="0" fill="hold" grpId="0" nodeType="afterEffect">
                                  <p:stCondLst>
                                    <p:cond delay="0"/>
                                  </p:stCondLst>
                                  <p:iterate type="lt">
                                    <p:tmPct val="5000"/>
                                  </p:iterate>
                                  <p:childTnLst>
                                    <p:set>
                                      <p:cBhvr>
                                        <p:cTn id="125" dur="1" fill="hold">
                                          <p:stCondLst>
                                            <p:cond delay="0"/>
                                          </p:stCondLst>
                                        </p:cTn>
                                        <p:tgtEl>
                                          <p:spTgt spid="102423"/>
                                        </p:tgtEl>
                                        <p:attrNameLst>
                                          <p:attrName>style.visibility</p:attrName>
                                        </p:attrNameLst>
                                      </p:cBhvr>
                                      <p:to>
                                        <p:strVal val="visible"/>
                                      </p:to>
                                    </p:set>
                                    <p:anim calcmode="lin" valueType="num">
                                      <p:cBhvr>
                                        <p:cTn id="126" dur="1000" fill="hold"/>
                                        <p:tgtEl>
                                          <p:spTgt spid="102423"/>
                                        </p:tgtEl>
                                        <p:attrNameLst>
                                          <p:attrName>ppt_w</p:attrName>
                                        </p:attrNameLst>
                                      </p:cBhvr>
                                      <p:tavLst>
                                        <p:tav tm="0">
                                          <p:val>
                                            <p:fltVal val="0"/>
                                          </p:val>
                                        </p:tav>
                                        <p:tav tm="100000">
                                          <p:val>
                                            <p:strVal val="#ppt_w"/>
                                          </p:val>
                                        </p:tav>
                                      </p:tavLst>
                                    </p:anim>
                                    <p:anim calcmode="lin" valueType="num">
                                      <p:cBhvr>
                                        <p:cTn id="127" dur="1000" fill="hold"/>
                                        <p:tgtEl>
                                          <p:spTgt spid="102423"/>
                                        </p:tgtEl>
                                        <p:attrNameLst>
                                          <p:attrName>ppt_h</p:attrName>
                                        </p:attrNameLst>
                                      </p:cBhvr>
                                      <p:tavLst>
                                        <p:tav tm="0">
                                          <p:val>
                                            <p:fltVal val="0"/>
                                          </p:val>
                                        </p:tav>
                                        <p:tav tm="100000">
                                          <p:val>
                                            <p:strVal val="#ppt_h"/>
                                          </p:val>
                                        </p:tav>
                                      </p:tavLst>
                                    </p:anim>
                                    <p:anim calcmode="lin" valueType="num">
                                      <p:cBhvr>
                                        <p:cTn id="128" dur="1000" fill="hold"/>
                                        <p:tgtEl>
                                          <p:spTgt spid="102423"/>
                                        </p:tgtEl>
                                        <p:attrNameLst>
                                          <p:attrName>style.rotation</p:attrName>
                                        </p:attrNameLst>
                                      </p:cBhvr>
                                      <p:tavLst>
                                        <p:tav tm="0">
                                          <p:val>
                                            <p:fltVal val="90"/>
                                          </p:val>
                                        </p:tav>
                                        <p:tav tm="100000">
                                          <p:val>
                                            <p:fltVal val="0"/>
                                          </p:val>
                                        </p:tav>
                                      </p:tavLst>
                                    </p:anim>
                                    <p:animEffect transition="in" filter="fade">
                                      <p:cBhvr>
                                        <p:cTn id="129" dur="1000"/>
                                        <p:tgtEl>
                                          <p:spTgt spid="102423"/>
                                        </p:tgtEl>
                                      </p:cBhvr>
                                    </p:animEffect>
                                  </p:childTnLst>
                                </p:cTn>
                              </p:par>
                            </p:childTnLst>
                          </p:cTn>
                        </p:par>
                        <p:par>
                          <p:cTn id="130" fill="hold" nodeType="afterGroup">
                            <p:stCondLst>
                              <p:cond delay="3150"/>
                            </p:stCondLst>
                            <p:childTnLst>
                              <p:par>
                                <p:cTn id="131" presetID="31" presetClass="entr" presetSubtype="0" fill="hold" grpId="0" nodeType="afterEffect">
                                  <p:stCondLst>
                                    <p:cond delay="0"/>
                                  </p:stCondLst>
                                  <p:iterate type="lt">
                                    <p:tmPct val="5000"/>
                                  </p:iterate>
                                  <p:childTnLst>
                                    <p:set>
                                      <p:cBhvr>
                                        <p:cTn id="132" dur="1" fill="hold">
                                          <p:stCondLst>
                                            <p:cond delay="0"/>
                                          </p:stCondLst>
                                        </p:cTn>
                                        <p:tgtEl>
                                          <p:spTgt spid="102420"/>
                                        </p:tgtEl>
                                        <p:attrNameLst>
                                          <p:attrName>style.visibility</p:attrName>
                                        </p:attrNameLst>
                                      </p:cBhvr>
                                      <p:to>
                                        <p:strVal val="visible"/>
                                      </p:to>
                                    </p:set>
                                    <p:anim calcmode="lin" valueType="num">
                                      <p:cBhvr>
                                        <p:cTn id="133" dur="1000" fill="hold"/>
                                        <p:tgtEl>
                                          <p:spTgt spid="102420"/>
                                        </p:tgtEl>
                                        <p:attrNameLst>
                                          <p:attrName>ppt_w</p:attrName>
                                        </p:attrNameLst>
                                      </p:cBhvr>
                                      <p:tavLst>
                                        <p:tav tm="0">
                                          <p:val>
                                            <p:fltVal val="0"/>
                                          </p:val>
                                        </p:tav>
                                        <p:tav tm="100000">
                                          <p:val>
                                            <p:strVal val="#ppt_w"/>
                                          </p:val>
                                        </p:tav>
                                      </p:tavLst>
                                    </p:anim>
                                    <p:anim calcmode="lin" valueType="num">
                                      <p:cBhvr>
                                        <p:cTn id="134" dur="1000" fill="hold"/>
                                        <p:tgtEl>
                                          <p:spTgt spid="102420"/>
                                        </p:tgtEl>
                                        <p:attrNameLst>
                                          <p:attrName>ppt_h</p:attrName>
                                        </p:attrNameLst>
                                      </p:cBhvr>
                                      <p:tavLst>
                                        <p:tav tm="0">
                                          <p:val>
                                            <p:fltVal val="0"/>
                                          </p:val>
                                        </p:tav>
                                        <p:tav tm="100000">
                                          <p:val>
                                            <p:strVal val="#ppt_h"/>
                                          </p:val>
                                        </p:tav>
                                      </p:tavLst>
                                    </p:anim>
                                    <p:anim calcmode="lin" valueType="num">
                                      <p:cBhvr>
                                        <p:cTn id="135" dur="1000" fill="hold"/>
                                        <p:tgtEl>
                                          <p:spTgt spid="102420"/>
                                        </p:tgtEl>
                                        <p:attrNameLst>
                                          <p:attrName>style.rotation</p:attrName>
                                        </p:attrNameLst>
                                      </p:cBhvr>
                                      <p:tavLst>
                                        <p:tav tm="0">
                                          <p:val>
                                            <p:fltVal val="90"/>
                                          </p:val>
                                        </p:tav>
                                        <p:tav tm="100000">
                                          <p:val>
                                            <p:fltVal val="0"/>
                                          </p:val>
                                        </p:tav>
                                      </p:tavLst>
                                    </p:anim>
                                    <p:animEffect transition="in" filter="fade">
                                      <p:cBhvr>
                                        <p:cTn id="136" dur="1000"/>
                                        <p:tgtEl>
                                          <p:spTgt spid="102420"/>
                                        </p:tgtEl>
                                      </p:cBhvr>
                                    </p:animEffect>
                                  </p:childTnLst>
                                </p:cTn>
                              </p:par>
                            </p:childTnLst>
                          </p:cTn>
                        </p:par>
                      </p:childTnLst>
                    </p:cTn>
                  </p:par>
                  <p:par>
                    <p:cTn id="137" fill="hold" nodeType="clickPar">
                      <p:stCondLst>
                        <p:cond delay="indefinite"/>
                      </p:stCondLst>
                      <p:childTnLst>
                        <p:par>
                          <p:cTn id="138" fill="hold" nodeType="withGroup">
                            <p:stCondLst>
                              <p:cond delay="0"/>
                            </p:stCondLst>
                            <p:childTnLst>
                              <p:par>
                                <p:cTn id="139" presetID="31" presetClass="entr" presetSubtype="0" fill="hold" nodeType="clickEffect">
                                  <p:stCondLst>
                                    <p:cond delay="0"/>
                                  </p:stCondLst>
                                  <p:iterate type="lt">
                                    <p:tmPct val="5000"/>
                                  </p:iterate>
                                  <p:childTnLst>
                                    <p:set>
                                      <p:cBhvr>
                                        <p:cTn id="140" dur="1" fill="hold">
                                          <p:stCondLst>
                                            <p:cond delay="0"/>
                                          </p:stCondLst>
                                        </p:cTn>
                                        <p:tgtEl>
                                          <p:spTgt spid="102424"/>
                                        </p:tgtEl>
                                        <p:attrNameLst>
                                          <p:attrName>style.visibility</p:attrName>
                                        </p:attrNameLst>
                                      </p:cBhvr>
                                      <p:to>
                                        <p:strVal val="visible"/>
                                      </p:to>
                                    </p:set>
                                    <p:anim calcmode="lin" valueType="num">
                                      <p:cBhvr>
                                        <p:cTn id="141" dur="1000" fill="hold"/>
                                        <p:tgtEl>
                                          <p:spTgt spid="102424"/>
                                        </p:tgtEl>
                                        <p:attrNameLst>
                                          <p:attrName>ppt_w</p:attrName>
                                        </p:attrNameLst>
                                      </p:cBhvr>
                                      <p:tavLst>
                                        <p:tav tm="0">
                                          <p:val>
                                            <p:fltVal val="0"/>
                                          </p:val>
                                        </p:tav>
                                        <p:tav tm="100000">
                                          <p:val>
                                            <p:strVal val="#ppt_w"/>
                                          </p:val>
                                        </p:tav>
                                      </p:tavLst>
                                    </p:anim>
                                    <p:anim calcmode="lin" valueType="num">
                                      <p:cBhvr>
                                        <p:cTn id="142" dur="1000" fill="hold"/>
                                        <p:tgtEl>
                                          <p:spTgt spid="102424"/>
                                        </p:tgtEl>
                                        <p:attrNameLst>
                                          <p:attrName>ppt_h</p:attrName>
                                        </p:attrNameLst>
                                      </p:cBhvr>
                                      <p:tavLst>
                                        <p:tav tm="0">
                                          <p:val>
                                            <p:fltVal val="0"/>
                                          </p:val>
                                        </p:tav>
                                        <p:tav tm="100000">
                                          <p:val>
                                            <p:strVal val="#ppt_h"/>
                                          </p:val>
                                        </p:tav>
                                      </p:tavLst>
                                    </p:anim>
                                    <p:anim calcmode="lin" valueType="num">
                                      <p:cBhvr>
                                        <p:cTn id="143" dur="1000" fill="hold"/>
                                        <p:tgtEl>
                                          <p:spTgt spid="102424"/>
                                        </p:tgtEl>
                                        <p:attrNameLst>
                                          <p:attrName>style.rotation</p:attrName>
                                        </p:attrNameLst>
                                      </p:cBhvr>
                                      <p:tavLst>
                                        <p:tav tm="0">
                                          <p:val>
                                            <p:fltVal val="90"/>
                                          </p:val>
                                        </p:tav>
                                        <p:tav tm="100000">
                                          <p:val>
                                            <p:fltVal val="0"/>
                                          </p:val>
                                        </p:tav>
                                      </p:tavLst>
                                    </p:anim>
                                    <p:animEffect transition="in" filter="fade">
                                      <p:cBhvr>
                                        <p:cTn id="144" dur="1000"/>
                                        <p:tgtEl>
                                          <p:spTgt spid="102424"/>
                                        </p:tgtEl>
                                      </p:cBhvr>
                                    </p:animEffect>
                                  </p:childTnLst>
                                </p:cTn>
                              </p:par>
                            </p:childTnLst>
                          </p:cTn>
                        </p:par>
                        <p:par>
                          <p:cTn id="145" fill="hold" nodeType="afterGroup">
                            <p:stCondLst>
                              <p:cond delay="1000"/>
                            </p:stCondLst>
                            <p:childTnLst>
                              <p:par>
                                <p:cTn id="146" presetID="31" presetClass="entr" presetSubtype="0" fill="hold" grpId="0" nodeType="afterEffect">
                                  <p:stCondLst>
                                    <p:cond delay="0"/>
                                  </p:stCondLst>
                                  <p:iterate type="lt">
                                    <p:tmPct val="5000"/>
                                  </p:iterate>
                                  <p:childTnLst>
                                    <p:set>
                                      <p:cBhvr>
                                        <p:cTn id="147" dur="1" fill="hold">
                                          <p:stCondLst>
                                            <p:cond delay="0"/>
                                          </p:stCondLst>
                                        </p:cTn>
                                        <p:tgtEl>
                                          <p:spTgt spid="102425"/>
                                        </p:tgtEl>
                                        <p:attrNameLst>
                                          <p:attrName>style.visibility</p:attrName>
                                        </p:attrNameLst>
                                      </p:cBhvr>
                                      <p:to>
                                        <p:strVal val="visible"/>
                                      </p:to>
                                    </p:set>
                                    <p:anim calcmode="lin" valueType="num">
                                      <p:cBhvr>
                                        <p:cTn id="148" dur="1000" fill="hold"/>
                                        <p:tgtEl>
                                          <p:spTgt spid="102425"/>
                                        </p:tgtEl>
                                        <p:attrNameLst>
                                          <p:attrName>ppt_w</p:attrName>
                                        </p:attrNameLst>
                                      </p:cBhvr>
                                      <p:tavLst>
                                        <p:tav tm="0">
                                          <p:val>
                                            <p:fltVal val="0"/>
                                          </p:val>
                                        </p:tav>
                                        <p:tav tm="100000">
                                          <p:val>
                                            <p:strVal val="#ppt_w"/>
                                          </p:val>
                                        </p:tav>
                                      </p:tavLst>
                                    </p:anim>
                                    <p:anim calcmode="lin" valueType="num">
                                      <p:cBhvr>
                                        <p:cTn id="149" dur="1000" fill="hold"/>
                                        <p:tgtEl>
                                          <p:spTgt spid="102425"/>
                                        </p:tgtEl>
                                        <p:attrNameLst>
                                          <p:attrName>ppt_h</p:attrName>
                                        </p:attrNameLst>
                                      </p:cBhvr>
                                      <p:tavLst>
                                        <p:tav tm="0">
                                          <p:val>
                                            <p:fltVal val="0"/>
                                          </p:val>
                                        </p:tav>
                                        <p:tav tm="100000">
                                          <p:val>
                                            <p:strVal val="#ppt_h"/>
                                          </p:val>
                                        </p:tav>
                                      </p:tavLst>
                                    </p:anim>
                                    <p:anim calcmode="lin" valueType="num">
                                      <p:cBhvr>
                                        <p:cTn id="150" dur="1000" fill="hold"/>
                                        <p:tgtEl>
                                          <p:spTgt spid="102425"/>
                                        </p:tgtEl>
                                        <p:attrNameLst>
                                          <p:attrName>style.rotation</p:attrName>
                                        </p:attrNameLst>
                                      </p:cBhvr>
                                      <p:tavLst>
                                        <p:tav tm="0">
                                          <p:val>
                                            <p:fltVal val="90"/>
                                          </p:val>
                                        </p:tav>
                                        <p:tav tm="100000">
                                          <p:val>
                                            <p:fltVal val="0"/>
                                          </p:val>
                                        </p:tav>
                                      </p:tavLst>
                                    </p:anim>
                                    <p:animEffect transition="in" filter="fade">
                                      <p:cBhvr>
                                        <p:cTn id="151" dur="1000"/>
                                        <p:tgtEl>
                                          <p:spTgt spid="102425"/>
                                        </p:tgtEl>
                                      </p:cBhvr>
                                    </p:animEffect>
                                  </p:childTnLst>
                                </p:cTn>
                              </p:par>
                            </p:childTnLst>
                          </p:cTn>
                        </p:par>
                      </p:childTnLst>
                    </p:cTn>
                  </p:par>
                  <p:par>
                    <p:cTn id="152" fill="hold" nodeType="clickPar">
                      <p:stCondLst>
                        <p:cond delay="indefinite"/>
                      </p:stCondLst>
                      <p:childTnLst>
                        <p:par>
                          <p:cTn id="153" fill="hold" nodeType="withGroup">
                            <p:stCondLst>
                              <p:cond delay="0"/>
                            </p:stCondLst>
                            <p:childTnLst>
                              <p:par>
                                <p:cTn id="154" presetID="3" presetClass="emph" presetSubtype="2" fill="hold" nodeType="clickEffect">
                                  <p:stCondLst>
                                    <p:cond delay="0"/>
                                  </p:stCondLst>
                                  <p:childTnLst>
                                    <p:animClr clrSpc="rgb" dir="cw">
                                      <p:cBhvr override="childStyle">
                                        <p:cTn id="155" dur="2000" fill="hold"/>
                                        <p:tgtEl>
                                          <p:spTgt spid="102412">
                                            <p:txEl>
                                              <p:pRg st="3" end="3"/>
                                            </p:txEl>
                                          </p:spTgt>
                                        </p:tgtEl>
                                        <p:attrNameLst>
                                          <p:attrName>style.color</p:attrName>
                                        </p:attrNameLst>
                                      </p:cBhvr>
                                      <p:to>
                                        <a:schemeClr val="hlink"/>
                                      </p:to>
                                    </p:animClr>
                                  </p:childTnLst>
                                </p:cTn>
                              </p:par>
                            </p:childTnLst>
                          </p:cTn>
                        </p:par>
                      </p:childTnLst>
                    </p:cTn>
                  </p:par>
                  <p:par>
                    <p:cTn id="156" fill="hold" nodeType="clickPar">
                      <p:stCondLst>
                        <p:cond delay="indefinite"/>
                      </p:stCondLst>
                      <p:childTnLst>
                        <p:par>
                          <p:cTn id="157" fill="hold" nodeType="withGroup">
                            <p:stCondLst>
                              <p:cond delay="0"/>
                            </p:stCondLst>
                            <p:childTnLst>
                              <p:par>
                                <p:cTn id="158" presetID="2" presetClass="exit" presetSubtype="4" fill="hold" nodeType="clickEffect">
                                  <p:stCondLst>
                                    <p:cond delay="0"/>
                                  </p:stCondLst>
                                  <p:childTnLst>
                                    <p:anim calcmode="lin" valueType="num">
                                      <p:cBhvr additive="base">
                                        <p:cTn id="159" dur="500"/>
                                        <p:tgtEl>
                                          <p:spTgt spid="102412">
                                            <p:txEl>
                                              <p:pRg st="3" end="3"/>
                                            </p:txEl>
                                          </p:spTgt>
                                        </p:tgtEl>
                                        <p:attrNameLst>
                                          <p:attrName>ppt_x</p:attrName>
                                        </p:attrNameLst>
                                      </p:cBhvr>
                                      <p:tavLst>
                                        <p:tav tm="0">
                                          <p:val>
                                            <p:strVal val="ppt_x"/>
                                          </p:val>
                                        </p:tav>
                                        <p:tav tm="100000">
                                          <p:val>
                                            <p:strVal val="ppt_x"/>
                                          </p:val>
                                        </p:tav>
                                      </p:tavLst>
                                    </p:anim>
                                    <p:anim calcmode="lin" valueType="num">
                                      <p:cBhvr additive="base">
                                        <p:cTn id="160" dur="500"/>
                                        <p:tgtEl>
                                          <p:spTgt spid="102412">
                                            <p:txEl>
                                              <p:pRg st="3" end="3"/>
                                            </p:txEl>
                                          </p:spTgt>
                                        </p:tgtEl>
                                        <p:attrNameLst>
                                          <p:attrName>ppt_y</p:attrName>
                                        </p:attrNameLst>
                                      </p:cBhvr>
                                      <p:tavLst>
                                        <p:tav tm="0">
                                          <p:val>
                                            <p:strVal val="ppt_y"/>
                                          </p:val>
                                        </p:tav>
                                        <p:tav tm="100000">
                                          <p:val>
                                            <p:strVal val="1+ppt_h/2"/>
                                          </p:val>
                                        </p:tav>
                                      </p:tavLst>
                                    </p:anim>
                                    <p:set>
                                      <p:cBhvr>
                                        <p:cTn id="161" dur="1" fill="hold">
                                          <p:stCondLst>
                                            <p:cond delay="499"/>
                                          </p:stCondLst>
                                        </p:cTn>
                                        <p:tgtEl>
                                          <p:spTgt spid="102412">
                                            <p:txEl>
                                              <p:pRg st="3" end="3"/>
                                            </p:txEl>
                                          </p:spTgt>
                                        </p:tgtEl>
                                        <p:attrNameLst>
                                          <p:attrName>style.visibility</p:attrName>
                                        </p:attrNameLst>
                                      </p:cBhvr>
                                      <p:to>
                                        <p:strVal val="hidden"/>
                                      </p:to>
                                    </p:set>
                                  </p:childTnLst>
                                </p:cTn>
                              </p:par>
                            </p:childTnLst>
                          </p:cTn>
                        </p:par>
                        <p:par>
                          <p:cTn id="162" fill="hold" nodeType="afterGroup">
                            <p:stCondLst>
                              <p:cond delay="500"/>
                            </p:stCondLst>
                            <p:childTnLst>
                              <p:par>
                                <p:cTn id="163" presetID="2" presetClass="entr" presetSubtype="4" fill="hold" grpId="0" nodeType="afterEffect">
                                  <p:stCondLst>
                                    <p:cond delay="0"/>
                                  </p:stCondLst>
                                  <p:childTnLst>
                                    <p:set>
                                      <p:cBhvr>
                                        <p:cTn id="164" dur="1" fill="hold">
                                          <p:stCondLst>
                                            <p:cond delay="0"/>
                                          </p:stCondLst>
                                        </p:cTn>
                                        <p:tgtEl>
                                          <p:spTgt spid="102414"/>
                                        </p:tgtEl>
                                        <p:attrNameLst>
                                          <p:attrName>style.visibility</p:attrName>
                                        </p:attrNameLst>
                                      </p:cBhvr>
                                      <p:to>
                                        <p:strVal val="visible"/>
                                      </p:to>
                                    </p:set>
                                    <p:anim calcmode="lin" valueType="num">
                                      <p:cBhvr additive="base">
                                        <p:cTn id="165" dur="500" fill="hold"/>
                                        <p:tgtEl>
                                          <p:spTgt spid="102414"/>
                                        </p:tgtEl>
                                        <p:attrNameLst>
                                          <p:attrName>ppt_x</p:attrName>
                                        </p:attrNameLst>
                                      </p:cBhvr>
                                      <p:tavLst>
                                        <p:tav tm="0">
                                          <p:val>
                                            <p:strVal val="#ppt_x"/>
                                          </p:val>
                                        </p:tav>
                                        <p:tav tm="100000">
                                          <p:val>
                                            <p:strVal val="#ppt_x"/>
                                          </p:val>
                                        </p:tav>
                                      </p:tavLst>
                                    </p:anim>
                                    <p:anim calcmode="lin" valueType="num">
                                      <p:cBhvr additive="base">
                                        <p:cTn id="166" dur="500" fill="hold"/>
                                        <p:tgtEl>
                                          <p:spTgt spid="102414"/>
                                        </p:tgtEl>
                                        <p:attrNameLst>
                                          <p:attrName>ppt_y</p:attrName>
                                        </p:attrNameLst>
                                      </p:cBhvr>
                                      <p:tavLst>
                                        <p:tav tm="0">
                                          <p:val>
                                            <p:strVal val="1+#ppt_h/2"/>
                                          </p:val>
                                        </p:tav>
                                        <p:tav tm="100000">
                                          <p:val>
                                            <p:strVal val="#ppt_y"/>
                                          </p:val>
                                        </p:tav>
                                      </p:tavLst>
                                    </p:anim>
                                  </p:childTnLst>
                                </p:cTn>
                              </p:par>
                              <p:par>
                                <p:cTn id="167" presetID="4" presetClass="exit" presetSubtype="16" fill="hold" grpId="1" nodeType="withEffect">
                                  <p:stCondLst>
                                    <p:cond delay="0"/>
                                  </p:stCondLst>
                                  <p:childTnLst>
                                    <p:animEffect transition="out" filter="box(in)">
                                      <p:cBhvr>
                                        <p:cTn id="168" dur="500"/>
                                        <p:tgtEl>
                                          <p:spTgt spid="102412">
                                            <p:txEl>
                                              <p:pRg st="0" end="0"/>
                                            </p:txEl>
                                          </p:spTgt>
                                        </p:tgtEl>
                                      </p:cBhvr>
                                    </p:animEffect>
                                    <p:set>
                                      <p:cBhvr>
                                        <p:cTn id="169" dur="1" fill="hold">
                                          <p:stCondLst>
                                            <p:cond delay="499"/>
                                          </p:stCondLst>
                                        </p:cTn>
                                        <p:tgtEl>
                                          <p:spTgt spid="102412">
                                            <p:txEl>
                                              <p:pRg st="0" end="0"/>
                                            </p:txEl>
                                          </p:spTgt>
                                        </p:tgtEl>
                                        <p:attrNameLst>
                                          <p:attrName>style.visibility</p:attrName>
                                        </p:attrNameLst>
                                      </p:cBhvr>
                                      <p:to>
                                        <p:strVal val="hidden"/>
                                      </p:to>
                                    </p:set>
                                  </p:childTnLst>
                                </p:cTn>
                              </p:par>
                              <p:par>
                                <p:cTn id="170" presetID="4" presetClass="exit" presetSubtype="16" fill="hold" grpId="1" nodeType="withEffect">
                                  <p:stCondLst>
                                    <p:cond delay="0"/>
                                  </p:stCondLst>
                                  <p:childTnLst>
                                    <p:animEffect transition="out" filter="box(in)">
                                      <p:cBhvr>
                                        <p:cTn id="171" dur="500"/>
                                        <p:tgtEl>
                                          <p:spTgt spid="102412">
                                            <p:txEl>
                                              <p:pRg st="1" end="1"/>
                                            </p:txEl>
                                          </p:spTgt>
                                        </p:tgtEl>
                                      </p:cBhvr>
                                    </p:animEffect>
                                    <p:set>
                                      <p:cBhvr>
                                        <p:cTn id="172" dur="1" fill="hold">
                                          <p:stCondLst>
                                            <p:cond delay="499"/>
                                          </p:stCondLst>
                                        </p:cTn>
                                        <p:tgtEl>
                                          <p:spTgt spid="102412">
                                            <p:txEl>
                                              <p:pRg st="1" end="1"/>
                                            </p:txEl>
                                          </p:spTgt>
                                        </p:tgtEl>
                                        <p:attrNameLst>
                                          <p:attrName>style.visibility</p:attrName>
                                        </p:attrNameLst>
                                      </p:cBhvr>
                                      <p:to>
                                        <p:strVal val="hidden"/>
                                      </p:to>
                                    </p:set>
                                  </p:childTnLst>
                                </p:cTn>
                              </p:par>
                              <p:par>
                                <p:cTn id="173" presetID="4" presetClass="exit" presetSubtype="16" fill="hold" grpId="1" nodeType="withEffect">
                                  <p:stCondLst>
                                    <p:cond delay="0"/>
                                  </p:stCondLst>
                                  <p:childTnLst>
                                    <p:animEffect transition="out" filter="box(in)">
                                      <p:cBhvr>
                                        <p:cTn id="174" dur="500"/>
                                        <p:tgtEl>
                                          <p:spTgt spid="102412">
                                            <p:txEl>
                                              <p:pRg st="2" end="2"/>
                                            </p:txEl>
                                          </p:spTgt>
                                        </p:tgtEl>
                                      </p:cBhvr>
                                    </p:animEffect>
                                    <p:set>
                                      <p:cBhvr>
                                        <p:cTn id="175" dur="1" fill="hold">
                                          <p:stCondLst>
                                            <p:cond delay="499"/>
                                          </p:stCondLst>
                                        </p:cTn>
                                        <p:tgtEl>
                                          <p:spTgt spid="102412">
                                            <p:txEl>
                                              <p:pRg st="2" end="2"/>
                                            </p:txEl>
                                          </p:spTgt>
                                        </p:tgtEl>
                                        <p:attrNameLst>
                                          <p:attrName>style.visibility</p:attrName>
                                        </p:attrNameLst>
                                      </p:cBhvr>
                                      <p:to>
                                        <p:strVal val="hidden"/>
                                      </p:to>
                                    </p:set>
                                  </p:childTnLst>
                                </p:cTn>
                              </p:par>
                              <p:par>
                                <p:cTn id="176" presetID="4" presetClass="exit" presetSubtype="16" fill="hold" grpId="1" nodeType="withEffect">
                                  <p:stCondLst>
                                    <p:cond delay="0"/>
                                  </p:stCondLst>
                                  <p:childTnLst>
                                    <p:animEffect transition="out" filter="box(in)">
                                      <p:cBhvr>
                                        <p:cTn id="177" dur="500"/>
                                        <p:tgtEl>
                                          <p:spTgt spid="102412">
                                            <p:txEl>
                                              <p:pRg st="3" end="3"/>
                                            </p:txEl>
                                          </p:spTgt>
                                        </p:tgtEl>
                                      </p:cBhvr>
                                    </p:animEffect>
                                    <p:set>
                                      <p:cBhvr>
                                        <p:cTn id="178" dur="1" fill="hold">
                                          <p:stCondLst>
                                            <p:cond delay="499"/>
                                          </p:stCondLst>
                                        </p:cTn>
                                        <p:tgtEl>
                                          <p:spTgt spid="102412">
                                            <p:txEl>
                                              <p:pRg st="3" end="3"/>
                                            </p:txEl>
                                          </p:spTgt>
                                        </p:tgtEl>
                                        <p:attrNameLst>
                                          <p:attrName>style.visibility</p:attrName>
                                        </p:attrNameLst>
                                      </p:cBhvr>
                                      <p:to>
                                        <p:strVal val="hidden"/>
                                      </p:to>
                                    </p:set>
                                  </p:childTnLst>
                                </p:cTn>
                              </p:par>
                              <p:par>
                                <p:cTn id="179" presetID="4" presetClass="exit" presetSubtype="16" fill="hold" grpId="1" nodeType="withEffect">
                                  <p:stCondLst>
                                    <p:cond delay="0"/>
                                  </p:stCondLst>
                                  <p:childTnLst>
                                    <p:animEffect transition="out" filter="box(in)">
                                      <p:cBhvr>
                                        <p:cTn id="180" dur="500"/>
                                        <p:tgtEl>
                                          <p:spTgt spid="102412">
                                            <p:txEl>
                                              <p:pRg st="4" end="4"/>
                                            </p:txEl>
                                          </p:spTgt>
                                        </p:tgtEl>
                                      </p:cBhvr>
                                    </p:animEffect>
                                    <p:set>
                                      <p:cBhvr>
                                        <p:cTn id="181" dur="1" fill="hold">
                                          <p:stCondLst>
                                            <p:cond delay="499"/>
                                          </p:stCondLst>
                                        </p:cTn>
                                        <p:tgtEl>
                                          <p:spTgt spid="102412">
                                            <p:txEl>
                                              <p:pRg st="4" end="4"/>
                                            </p:txEl>
                                          </p:spTgt>
                                        </p:tgtEl>
                                        <p:attrNameLst>
                                          <p:attrName>style.visibility</p:attrName>
                                        </p:attrNameLst>
                                      </p:cBhvr>
                                      <p:to>
                                        <p:strVal val="hidden"/>
                                      </p:to>
                                    </p:set>
                                  </p:childTnLst>
                                </p:cTn>
                              </p:par>
                              <p:par>
                                <p:cTn id="182" presetID="4" presetClass="exit" presetSubtype="16" fill="hold" grpId="1" nodeType="withEffect">
                                  <p:stCondLst>
                                    <p:cond delay="0"/>
                                  </p:stCondLst>
                                  <p:childTnLst>
                                    <p:animEffect transition="out" filter="box(in)">
                                      <p:cBhvr>
                                        <p:cTn id="183" dur="500"/>
                                        <p:tgtEl>
                                          <p:spTgt spid="102412">
                                            <p:txEl>
                                              <p:pRg st="5" end="5"/>
                                            </p:txEl>
                                          </p:spTgt>
                                        </p:tgtEl>
                                      </p:cBhvr>
                                    </p:animEffect>
                                    <p:set>
                                      <p:cBhvr>
                                        <p:cTn id="184" dur="1" fill="hold">
                                          <p:stCondLst>
                                            <p:cond delay="499"/>
                                          </p:stCondLst>
                                        </p:cTn>
                                        <p:tgtEl>
                                          <p:spTgt spid="102412">
                                            <p:txEl>
                                              <p:pRg st="5" end="5"/>
                                            </p:txEl>
                                          </p:spTgt>
                                        </p:tgtEl>
                                        <p:attrNameLst>
                                          <p:attrName>style.visibility</p:attrName>
                                        </p:attrNameLst>
                                      </p:cBhvr>
                                      <p:to>
                                        <p:strVal val="hidden"/>
                                      </p:to>
                                    </p:set>
                                  </p:childTnLst>
                                </p:cTn>
                              </p:par>
                              <p:par>
                                <p:cTn id="185" presetID="2" presetClass="entr" presetSubtype="4" fill="hold" grpId="0" nodeType="withEffect">
                                  <p:stCondLst>
                                    <p:cond delay="0"/>
                                  </p:stCondLst>
                                  <p:childTnLst>
                                    <p:set>
                                      <p:cBhvr>
                                        <p:cTn id="186" dur="1" fill="hold">
                                          <p:stCondLst>
                                            <p:cond delay="0"/>
                                          </p:stCondLst>
                                        </p:cTn>
                                        <p:tgtEl>
                                          <p:spTgt spid="102415"/>
                                        </p:tgtEl>
                                        <p:attrNameLst>
                                          <p:attrName>style.visibility</p:attrName>
                                        </p:attrNameLst>
                                      </p:cBhvr>
                                      <p:to>
                                        <p:strVal val="visible"/>
                                      </p:to>
                                    </p:set>
                                    <p:anim calcmode="lin" valueType="num">
                                      <p:cBhvr additive="base">
                                        <p:cTn id="187" dur="500" fill="hold"/>
                                        <p:tgtEl>
                                          <p:spTgt spid="102415"/>
                                        </p:tgtEl>
                                        <p:attrNameLst>
                                          <p:attrName>ppt_x</p:attrName>
                                        </p:attrNameLst>
                                      </p:cBhvr>
                                      <p:tavLst>
                                        <p:tav tm="0">
                                          <p:val>
                                            <p:strVal val="#ppt_x"/>
                                          </p:val>
                                        </p:tav>
                                        <p:tav tm="100000">
                                          <p:val>
                                            <p:strVal val="#ppt_x"/>
                                          </p:val>
                                        </p:tav>
                                      </p:tavLst>
                                    </p:anim>
                                    <p:anim calcmode="lin" valueType="num">
                                      <p:cBhvr additive="base">
                                        <p:cTn id="188" dur="500" fill="hold"/>
                                        <p:tgtEl>
                                          <p:spTgt spid="102415"/>
                                        </p:tgtEl>
                                        <p:attrNameLst>
                                          <p:attrName>ppt_y</p:attrName>
                                        </p:attrNameLst>
                                      </p:cBhvr>
                                      <p:tavLst>
                                        <p:tav tm="0">
                                          <p:val>
                                            <p:strVal val="1+#ppt_h/2"/>
                                          </p:val>
                                        </p:tav>
                                        <p:tav tm="100000">
                                          <p:val>
                                            <p:strVal val="#ppt_y"/>
                                          </p:val>
                                        </p:tav>
                                      </p:tavLst>
                                    </p:anim>
                                  </p:childTnLst>
                                </p:cTn>
                              </p:par>
                            </p:childTnLst>
                          </p:cTn>
                        </p:par>
                      </p:childTnLst>
                    </p:cTn>
                  </p:par>
                  <p:par>
                    <p:cTn id="189" fill="hold" nodeType="clickPar">
                      <p:stCondLst>
                        <p:cond delay="indefinite"/>
                      </p:stCondLst>
                      <p:childTnLst>
                        <p:par>
                          <p:cTn id="190" fill="hold" nodeType="withGroup">
                            <p:stCondLst>
                              <p:cond delay="0"/>
                            </p:stCondLst>
                            <p:childTnLst>
                              <p:par>
                                <p:cTn id="191" presetID="3" presetClass="entr" presetSubtype="10" fill="hold" grpId="0" nodeType="clickEffect">
                                  <p:stCondLst>
                                    <p:cond delay="0"/>
                                  </p:stCondLst>
                                  <p:childTnLst>
                                    <p:set>
                                      <p:cBhvr>
                                        <p:cTn id="192" dur="1" fill="hold">
                                          <p:stCondLst>
                                            <p:cond delay="0"/>
                                          </p:stCondLst>
                                        </p:cTn>
                                        <p:tgtEl>
                                          <p:spTgt spid="102409">
                                            <p:txEl>
                                              <p:pRg st="0" end="0"/>
                                            </p:txEl>
                                          </p:spTgt>
                                        </p:tgtEl>
                                        <p:attrNameLst>
                                          <p:attrName>style.visibility</p:attrName>
                                        </p:attrNameLst>
                                      </p:cBhvr>
                                      <p:to>
                                        <p:strVal val="visible"/>
                                      </p:to>
                                    </p:set>
                                    <p:animEffect transition="in" filter="blinds(horizontal)">
                                      <p:cBhvr>
                                        <p:cTn id="193" dur="500"/>
                                        <p:tgtEl>
                                          <p:spTgt spid="102409">
                                            <p:txEl>
                                              <p:pRg st="0" end="0"/>
                                            </p:txEl>
                                          </p:spTgt>
                                        </p:tgtEl>
                                      </p:cBhvr>
                                    </p:animEffect>
                                  </p:childTnLst>
                                </p:cTn>
                              </p:par>
                              <p:par>
                                <p:cTn id="194" presetID="3" presetClass="entr" presetSubtype="10" fill="hold" grpId="0" nodeType="withEffect">
                                  <p:stCondLst>
                                    <p:cond delay="0"/>
                                  </p:stCondLst>
                                  <p:childTnLst>
                                    <p:set>
                                      <p:cBhvr>
                                        <p:cTn id="195" dur="1" fill="hold">
                                          <p:stCondLst>
                                            <p:cond delay="0"/>
                                          </p:stCondLst>
                                        </p:cTn>
                                        <p:tgtEl>
                                          <p:spTgt spid="102409">
                                            <p:txEl>
                                              <p:pRg st="1" end="1"/>
                                            </p:txEl>
                                          </p:spTgt>
                                        </p:tgtEl>
                                        <p:attrNameLst>
                                          <p:attrName>style.visibility</p:attrName>
                                        </p:attrNameLst>
                                      </p:cBhvr>
                                      <p:to>
                                        <p:strVal val="visible"/>
                                      </p:to>
                                    </p:set>
                                    <p:animEffect transition="in" filter="blinds(horizontal)">
                                      <p:cBhvr>
                                        <p:cTn id="196" dur="500"/>
                                        <p:tgtEl>
                                          <p:spTgt spid="102409">
                                            <p:txEl>
                                              <p:pRg st="1" end="1"/>
                                            </p:txEl>
                                          </p:spTgt>
                                        </p:tgtEl>
                                      </p:cBhvr>
                                    </p:animEffect>
                                  </p:childTnLst>
                                </p:cTn>
                              </p:par>
                              <p:par>
                                <p:cTn id="197" presetID="3" presetClass="entr" presetSubtype="10" fill="hold" grpId="0" nodeType="withEffect">
                                  <p:stCondLst>
                                    <p:cond delay="0"/>
                                  </p:stCondLst>
                                  <p:childTnLst>
                                    <p:set>
                                      <p:cBhvr>
                                        <p:cTn id="198" dur="1" fill="hold">
                                          <p:stCondLst>
                                            <p:cond delay="0"/>
                                          </p:stCondLst>
                                        </p:cTn>
                                        <p:tgtEl>
                                          <p:spTgt spid="102409">
                                            <p:txEl>
                                              <p:pRg st="2" end="2"/>
                                            </p:txEl>
                                          </p:spTgt>
                                        </p:tgtEl>
                                        <p:attrNameLst>
                                          <p:attrName>style.visibility</p:attrName>
                                        </p:attrNameLst>
                                      </p:cBhvr>
                                      <p:to>
                                        <p:strVal val="visible"/>
                                      </p:to>
                                    </p:set>
                                    <p:animEffect transition="in" filter="blinds(horizontal)">
                                      <p:cBhvr>
                                        <p:cTn id="199" dur="500"/>
                                        <p:tgtEl>
                                          <p:spTgt spid="102409">
                                            <p:txEl>
                                              <p:pRg st="2" end="2"/>
                                            </p:txEl>
                                          </p:spTgt>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3" presetClass="emph" presetSubtype="2" fill="hold" nodeType="clickEffect">
                                  <p:stCondLst>
                                    <p:cond delay="0"/>
                                  </p:stCondLst>
                                  <p:childTnLst>
                                    <p:animClr clrSpc="rgb" dir="cw">
                                      <p:cBhvr override="childStyle">
                                        <p:cTn id="203" dur="2000" fill="hold"/>
                                        <p:tgtEl>
                                          <p:spTgt spid="102409">
                                            <p:txEl>
                                              <p:pRg st="1" end="1"/>
                                            </p:txEl>
                                          </p:spTgt>
                                        </p:tgtEl>
                                        <p:attrNameLst>
                                          <p:attrName>style.color</p:attrName>
                                        </p:attrNameLst>
                                      </p:cBhvr>
                                      <p:to>
                                        <a:schemeClr val="accent2"/>
                                      </p:to>
                                    </p:animClr>
                                  </p:childTnLst>
                                </p:cTn>
                              </p:par>
                            </p:childTnLst>
                          </p:cTn>
                        </p:par>
                      </p:childTnLst>
                    </p:cTn>
                  </p:par>
                  <p:par>
                    <p:cTn id="204" fill="hold" nodeType="clickPar">
                      <p:stCondLst>
                        <p:cond delay="indefinite"/>
                      </p:stCondLst>
                      <p:childTnLst>
                        <p:par>
                          <p:cTn id="205" fill="hold" nodeType="withGroup">
                            <p:stCondLst>
                              <p:cond delay="0"/>
                            </p:stCondLst>
                            <p:childTnLst>
                              <p:par>
                                <p:cTn id="206" presetID="3" presetClass="emph" presetSubtype="2" fill="hold" nodeType="clickEffect">
                                  <p:stCondLst>
                                    <p:cond delay="0"/>
                                  </p:stCondLst>
                                  <p:childTnLst>
                                    <p:animClr clrSpc="rgb" dir="cw">
                                      <p:cBhvr override="childStyle">
                                        <p:cTn id="207" dur="2000" fill="hold"/>
                                        <p:tgtEl>
                                          <p:spTgt spid="102409">
                                            <p:txEl>
                                              <p:pRg st="2" end="2"/>
                                            </p:txEl>
                                          </p:spTgt>
                                        </p:tgtEl>
                                        <p:attrNameLst>
                                          <p:attrName>style.color</p:attrName>
                                        </p:attrNameLst>
                                      </p:cBhvr>
                                      <p:to>
                                        <a:schemeClr val="accent2"/>
                                      </p:to>
                                    </p:animClr>
                                  </p:childTnLst>
                                </p:cTn>
                              </p:par>
                            </p:childTnLst>
                          </p:cTn>
                        </p:par>
                      </p:childTnLst>
                    </p:cTn>
                  </p:par>
                  <p:par>
                    <p:cTn id="208" fill="hold" nodeType="clickPar">
                      <p:stCondLst>
                        <p:cond delay="indefinite"/>
                      </p:stCondLst>
                      <p:childTnLst>
                        <p:par>
                          <p:cTn id="209" fill="hold" nodeType="withGroup">
                            <p:stCondLst>
                              <p:cond delay="0"/>
                            </p:stCondLst>
                            <p:childTnLst>
                              <p:par>
                                <p:cTn id="210" presetID="3" presetClass="emph" presetSubtype="2" fill="hold" nodeType="clickEffect">
                                  <p:stCondLst>
                                    <p:cond delay="0"/>
                                  </p:stCondLst>
                                  <p:childTnLst>
                                    <p:animClr clrSpc="rgb" dir="cw">
                                      <p:cBhvr override="childStyle">
                                        <p:cTn id="211" dur="2000" fill="hold"/>
                                        <p:tgtEl>
                                          <p:spTgt spid="102410">
                                            <p:txEl>
                                              <p:pRg st="4" end="4"/>
                                            </p:txEl>
                                          </p:spTgt>
                                        </p:tgtEl>
                                        <p:attrNameLst>
                                          <p:attrName>style.color</p:attrName>
                                        </p:attrNameLst>
                                      </p:cBhvr>
                                      <p:to>
                                        <a:schemeClr val="hlink"/>
                                      </p:to>
                                    </p:animClr>
                                  </p:childTnLst>
                                </p:cTn>
                              </p:par>
                              <p:par>
                                <p:cTn id="212" presetID="3" presetClass="emph" presetSubtype="2" fill="hold" nodeType="withEffect">
                                  <p:stCondLst>
                                    <p:cond delay="0"/>
                                  </p:stCondLst>
                                  <p:childTnLst>
                                    <p:animClr clrSpc="rgb" dir="cw">
                                      <p:cBhvr override="childStyle">
                                        <p:cTn id="213" dur="2000" fill="hold"/>
                                        <p:tgtEl>
                                          <p:spTgt spid="102410">
                                            <p:txEl>
                                              <p:pRg st="5" end="5"/>
                                            </p:txEl>
                                          </p:spTgt>
                                        </p:tgtEl>
                                        <p:attrNameLst>
                                          <p:attrName>style.color</p:attrName>
                                        </p:attrNameLst>
                                      </p:cBhvr>
                                      <p:to>
                                        <a:schemeClr val="hlink"/>
                                      </p:to>
                                    </p:animClr>
                                  </p:childTnLst>
                                </p:cTn>
                              </p:par>
                            </p:childTnLst>
                          </p:cTn>
                        </p:par>
                      </p:childTnLst>
                    </p:cTn>
                  </p:par>
                  <p:par>
                    <p:cTn id="214" fill="hold" nodeType="clickPar">
                      <p:stCondLst>
                        <p:cond delay="indefinite"/>
                      </p:stCondLst>
                      <p:childTnLst>
                        <p:par>
                          <p:cTn id="215" fill="hold" nodeType="withGroup">
                            <p:stCondLst>
                              <p:cond delay="0"/>
                            </p:stCondLst>
                            <p:childTnLst>
                              <p:par>
                                <p:cTn id="216" presetID="2" presetClass="exit" presetSubtype="4" fill="hold" nodeType="clickEffect">
                                  <p:stCondLst>
                                    <p:cond delay="0"/>
                                  </p:stCondLst>
                                  <p:childTnLst>
                                    <p:anim calcmode="lin" valueType="num">
                                      <p:cBhvr additive="base">
                                        <p:cTn id="217" dur="500"/>
                                        <p:tgtEl>
                                          <p:spTgt spid="102410">
                                            <p:txEl>
                                              <p:pRg st="4" end="4"/>
                                            </p:txEl>
                                          </p:spTgt>
                                        </p:tgtEl>
                                        <p:attrNameLst>
                                          <p:attrName>ppt_x</p:attrName>
                                        </p:attrNameLst>
                                      </p:cBhvr>
                                      <p:tavLst>
                                        <p:tav tm="0">
                                          <p:val>
                                            <p:strVal val="ppt_x"/>
                                          </p:val>
                                        </p:tav>
                                        <p:tav tm="100000">
                                          <p:val>
                                            <p:strVal val="ppt_x"/>
                                          </p:val>
                                        </p:tav>
                                      </p:tavLst>
                                    </p:anim>
                                    <p:anim calcmode="lin" valueType="num">
                                      <p:cBhvr additive="base">
                                        <p:cTn id="218" dur="500"/>
                                        <p:tgtEl>
                                          <p:spTgt spid="102410">
                                            <p:txEl>
                                              <p:pRg st="4" end="4"/>
                                            </p:txEl>
                                          </p:spTgt>
                                        </p:tgtEl>
                                        <p:attrNameLst>
                                          <p:attrName>ppt_y</p:attrName>
                                        </p:attrNameLst>
                                      </p:cBhvr>
                                      <p:tavLst>
                                        <p:tav tm="0">
                                          <p:val>
                                            <p:strVal val="ppt_y"/>
                                          </p:val>
                                        </p:tav>
                                        <p:tav tm="100000">
                                          <p:val>
                                            <p:strVal val="1+ppt_h/2"/>
                                          </p:val>
                                        </p:tav>
                                      </p:tavLst>
                                    </p:anim>
                                    <p:set>
                                      <p:cBhvr>
                                        <p:cTn id="219" dur="1" fill="hold">
                                          <p:stCondLst>
                                            <p:cond delay="499"/>
                                          </p:stCondLst>
                                        </p:cTn>
                                        <p:tgtEl>
                                          <p:spTgt spid="102410">
                                            <p:txEl>
                                              <p:pRg st="4" end="4"/>
                                            </p:txEl>
                                          </p:spTgt>
                                        </p:tgtEl>
                                        <p:attrNameLst>
                                          <p:attrName>style.visibility</p:attrName>
                                        </p:attrNameLst>
                                      </p:cBhvr>
                                      <p:to>
                                        <p:strVal val="hidden"/>
                                      </p:to>
                                    </p:set>
                                  </p:childTnLst>
                                </p:cTn>
                              </p:par>
                              <p:par>
                                <p:cTn id="220" presetID="2" presetClass="exit" presetSubtype="4" fill="hold" nodeType="withEffect">
                                  <p:stCondLst>
                                    <p:cond delay="0"/>
                                  </p:stCondLst>
                                  <p:childTnLst>
                                    <p:anim calcmode="lin" valueType="num">
                                      <p:cBhvr additive="base">
                                        <p:cTn id="221" dur="500"/>
                                        <p:tgtEl>
                                          <p:spTgt spid="102410">
                                            <p:txEl>
                                              <p:pRg st="5" end="5"/>
                                            </p:txEl>
                                          </p:spTgt>
                                        </p:tgtEl>
                                        <p:attrNameLst>
                                          <p:attrName>ppt_x</p:attrName>
                                        </p:attrNameLst>
                                      </p:cBhvr>
                                      <p:tavLst>
                                        <p:tav tm="0">
                                          <p:val>
                                            <p:strVal val="ppt_x"/>
                                          </p:val>
                                        </p:tav>
                                        <p:tav tm="100000">
                                          <p:val>
                                            <p:strVal val="ppt_x"/>
                                          </p:val>
                                        </p:tav>
                                      </p:tavLst>
                                    </p:anim>
                                    <p:anim calcmode="lin" valueType="num">
                                      <p:cBhvr additive="base">
                                        <p:cTn id="222" dur="500"/>
                                        <p:tgtEl>
                                          <p:spTgt spid="102410">
                                            <p:txEl>
                                              <p:pRg st="5" end="5"/>
                                            </p:txEl>
                                          </p:spTgt>
                                        </p:tgtEl>
                                        <p:attrNameLst>
                                          <p:attrName>ppt_y</p:attrName>
                                        </p:attrNameLst>
                                      </p:cBhvr>
                                      <p:tavLst>
                                        <p:tav tm="0">
                                          <p:val>
                                            <p:strVal val="ppt_y"/>
                                          </p:val>
                                        </p:tav>
                                        <p:tav tm="100000">
                                          <p:val>
                                            <p:strVal val="1+ppt_h/2"/>
                                          </p:val>
                                        </p:tav>
                                      </p:tavLst>
                                    </p:anim>
                                    <p:set>
                                      <p:cBhvr>
                                        <p:cTn id="223" dur="1" fill="hold">
                                          <p:stCondLst>
                                            <p:cond delay="499"/>
                                          </p:stCondLst>
                                        </p:cTn>
                                        <p:tgtEl>
                                          <p:spTgt spid="102410">
                                            <p:txEl>
                                              <p:pRg st="5" end="5"/>
                                            </p:txEl>
                                          </p:spTgt>
                                        </p:tgtEl>
                                        <p:attrNameLst>
                                          <p:attrName>style.visibility</p:attrName>
                                        </p:attrNameLst>
                                      </p:cBhvr>
                                      <p:to>
                                        <p:strVal val="hidden"/>
                                      </p:to>
                                    </p:set>
                                  </p:childTnLst>
                                </p:cTn>
                              </p:par>
                            </p:childTnLst>
                          </p:cTn>
                        </p:par>
                        <p:par>
                          <p:cTn id="224" fill="hold" nodeType="afterGroup">
                            <p:stCondLst>
                              <p:cond delay="500"/>
                            </p:stCondLst>
                            <p:childTnLst>
                              <p:par>
                                <p:cTn id="225" presetID="2" presetClass="entr" presetSubtype="4" fill="hold" grpId="0" nodeType="afterEffect">
                                  <p:stCondLst>
                                    <p:cond delay="0"/>
                                  </p:stCondLst>
                                  <p:childTnLst>
                                    <p:set>
                                      <p:cBhvr>
                                        <p:cTn id="226" dur="1" fill="hold">
                                          <p:stCondLst>
                                            <p:cond delay="0"/>
                                          </p:stCondLst>
                                        </p:cTn>
                                        <p:tgtEl>
                                          <p:spTgt spid="102416">
                                            <p:txEl>
                                              <p:pRg st="0" end="0"/>
                                            </p:txEl>
                                          </p:spTgt>
                                        </p:tgtEl>
                                        <p:attrNameLst>
                                          <p:attrName>style.visibility</p:attrName>
                                        </p:attrNameLst>
                                      </p:cBhvr>
                                      <p:to>
                                        <p:strVal val="visible"/>
                                      </p:to>
                                    </p:set>
                                    <p:anim calcmode="lin" valueType="num">
                                      <p:cBhvr additive="base">
                                        <p:cTn id="227" dur="500" fill="hold"/>
                                        <p:tgtEl>
                                          <p:spTgt spid="102416">
                                            <p:txEl>
                                              <p:pRg st="0" end="0"/>
                                            </p:txEl>
                                          </p:spTgt>
                                        </p:tgtEl>
                                        <p:attrNameLst>
                                          <p:attrName>ppt_x</p:attrName>
                                        </p:attrNameLst>
                                      </p:cBhvr>
                                      <p:tavLst>
                                        <p:tav tm="0">
                                          <p:val>
                                            <p:strVal val="#ppt_x"/>
                                          </p:val>
                                        </p:tav>
                                        <p:tav tm="100000">
                                          <p:val>
                                            <p:strVal val="#ppt_x"/>
                                          </p:val>
                                        </p:tav>
                                      </p:tavLst>
                                    </p:anim>
                                    <p:anim calcmode="lin" valueType="num">
                                      <p:cBhvr additive="base">
                                        <p:cTn id="228" dur="500" fill="hold"/>
                                        <p:tgtEl>
                                          <p:spTgt spid="102416">
                                            <p:txEl>
                                              <p:pRg st="0" end="0"/>
                                            </p:txEl>
                                          </p:spTgt>
                                        </p:tgtEl>
                                        <p:attrNameLst>
                                          <p:attrName>ppt_y</p:attrName>
                                        </p:attrNameLst>
                                      </p:cBhvr>
                                      <p:tavLst>
                                        <p:tav tm="0">
                                          <p:val>
                                            <p:strVal val="1+#ppt_h/2"/>
                                          </p:val>
                                        </p:tav>
                                        <p:tav tm="100000">
                                          <p:val>
                                            <p:strVal val="#ppt_y"/>
                                          </p:val>
                                        </p:tav>
                                      </p:tavLst>
                                    </p:anim>
                                  </p:childTnLst>
                                </p:cTn>
                              </p:par>
                            </p:childTnLst>
                          </p:cTn>
                        </p:par>
                        <p:par>
                          <p:cTn id="229" fill="hold" nodeType="afterGroup">
                            <p:stCondLst>
                              <p:cond delay="1000"/>
                            </p:stCondLst>
                            <p:childTnLst>
                              <p:par>
                                <p:cTn id="230" presetID="2" presetClass="entr" presetSubtype="4" fill="hold" grpId="0" nodeType="afterEffect">
                                  <p:stCondLst>
                                    <p:cond delay="0"/>
                                  </p:stCondLst>
                                  <p:childTnLst>
                                    <p:set>
                                      <p:cBhvr>
                                        <p:cTn id="231" dur="1" fill="hold">
                                          <p:stCondLst>
                                            <p:cond delay="0"/>
                                          </p:stCondLst>
                                        </p:cTn>
                                        <p:tgtEl>
                                          <p:spTgt spid="102416">
                                            <p:txEl>
                                              <p:pRg st="1" end="1"/>
                                            </p:txEl>
                                          </p:spTgt>
                                        </p:tgtEl>
                                        <p:attrNameLst>
                                          <p:attrName>style.visibility</p:attrName>
                                        </p:attrNameLst>
                                      </p:cBhvr>
                                      <p:to>
                                        <p:strVal val="visible"/>
                                      </p:to>
                                    </p:set>
                                    <p:anim calcmode="lin" valueType="num">
                                      <p:cBhvr additive="base">
                                        <p:cTn id="232" dur="500" fill="hold"/>
                                        <p:tgtEl>
                                          <p:spTgt spid="102416">
                                            <p:txEl>
                                              <p:pRg st="1" end="1"/>
                                            </p:txEl>
                                          </p:spTgt>
                                        </p:tgtEl>
                                        <p:attrNameLst>
                                          <p:attrName>ppt_x</p:attrName>
                                        </p:attrNameLst>
                                      </p:cBhvr>
                                      <p:tavLst>
                                        <p:tav tm="0">
                                          <p:val>
                                            <p:strVal val="#ppt_x"/>
                                          </p:val>
                                        </p:tav>
                                        <p:tav tm="100000">
                                          <p:val>
                                            <p:strVal val="#ppt_x"/>
                                          </p:val>
                                        </p:tav>
                                      </p:tavLst>
                                    </p:anim>
                                    <p:anim calcmode="lin" valueType="num">
                                      <p:cBhvr additive="base">
                                        <p:cTn id="233" dur="500" fill="hold"/>
                                        <p:tgtEl>
                                          <p:spTgt spid="102416">
                                            <p:txEl>
                                              <p:pRg st="1" end="1"/>
                                            </p:txEl>
                                          </p:spTgt>
                                        </p:tgtEl>
                                        <p:attrNameLst>
                                          <p:attrName>ppt_y</p:attrName>
                                        </p:attrNameLst>
                                      </p:cBhvr>
                                      <p:tavLst>
                                        <p:tav tm="0">
                                          <p:val>
                                            <p:strVal val="1+#ppt_h/2"/>
                                          </p:val>
                                        </p:tav>
                                        <p:tav tm="100000">
                                          <p:val>
                                            <p:strVal val="#ppt_y"/>
                                          </p:val>
                                        </p:tav>
                                      </p:tavLst>
                                    </p:anim>
                                  </p:childTnLst>
                                </p:cTn>
                              </p:par>
                            </p:childTnLst>
                          </p:cTn>
                        </p:par>
                        <p:par>
                          <p:cTn id="234" fill="hold" nodeType="afterGroup">
                            <p:stCondLst>
                              <p:cond delay="1500"/>
                            </p:stCondLst>
                            <p:childTnLst>
                              <p:par>
                                <p:cTn id="235" presetID="2" presetClass="entr" presetSubtype="4" fill="hold" grpId="0" nodeType="afterEffect">
                                  <p:stCondLst>
                                    <p:cond delay="0"/>
                                  </p:stCondLst>
                                  <p:childTnLst>
                                    <p:set>
                                      <p:cBhvr>
                                        <p:cTn id="236" dur="1" fill="hold">
                                          <p:stCondLst>
                                            <p:cond delay="0"/>
                                          </p:stCondLst>
                                        </p:cTn>
                                        <p:tgtEl>
                                          <p:spTgt spid="102416">
                                            <p:txEl>
                                              <p:pRg st="2" end="2"/>
                                            </p:txEl>
                                          </p:spTgt>
                                        </p:tgtEl>
                                        <p:attrNameLst>
                                          <p:attrName>style.visibility</p:attrName>
                                        </p:attrNameLst>
                                      </p:cBhvr>
                                      <p:to>
                                        <p:strVal val="visible"/>
                                      </p:to>
                                    </p:set>
                                    <p:anim calcmode="lin" valueType="num">
                                      <p:cBhvr additive="base">
                                        <p:cTn id="237" dur="500" fill="hold"/>
                                        <p:tgtEl>
                                          <p:spTgt spid="102416">
                                            <p:txEl>
                                              <p:pRg st="2" end="2"/>
                                            </p:txEl>
                                          </p:spTgt>
                                        </p:tgtEl>
                                        <p:attrNameLst>
                                          <p:attrName>ppt_x</p:attrName>
                                        </p:attrNameLst>
                                      </p:cBhvr>
                                      <p:tavLst>
                                        <p:tav tm="0">
                                          <p:val>
                                            <p:strVal val="#ppt_x"/>
                                          </p:val>
                                        </p:tav>
                                        <p:tav tm="100000">
                                          <p:val>
                                            <p:strVal val="#ppt_x"/>
                                          </p:val>
                                        </p:tav>
                                      </p:tavLst>
                                    </p:anim>
                                    <p:anim calcmode="lin" valueType="num">
                                      <p:cBhvr additive="base">
                                        <p:cTn id="238" dur="500" fill="hold"/>
                                        <p:tgtEl>
                                          <p:spTgt spid="102416">
                                            <p:txEl>
                                              <p:pRg st="2" end="2"/>
                                            </p:txEl>
                                          </p:spTgt>
                                        </p:tgtEl>
                                        <p:attrNameLst>
                                          <p:attrName>ppt_y</p:attrName>
                                        </p:attrNameLst>
                                      </p:cBhvr>
                                      <p:tavLst>
                                        <p:tav tm="0">
                                          <p:val>
                                            <p:strVal val="1+#ppt_h/2"/>
                                          </p:val>
                                        </p:tav>
                                        <p:tav tm="100000">
                                          <p:val>
                                            <p:strVal val="#ppt_y"/>
                                          </p:val>
                                        </p:tav>
                                      </p:tavLst>
                                    </p:anim>
                                  </p:childTnLst>
                                </p:cTn>
                              </p:par>
                            </p:childTnLst>
                          </p:cTn>
                        </p:par>
                        <p:par>
                          <p:cTn id="239" fill="hold" nodeType="afterGroup">
                            <p:stCondLst>
                              <p:cond delay="2000"/>
                            </p:stCondLst>
                            <p:childTnLst>
                              <p:par>
                                <p:cTn id="240" presetID="2" presetClass="entr" presetSubtype="4" fill="hold" grpId="0" nodeType="afterEffect">
                                  <p:stCondLst>
                                    <p:cond delay="0"/>
                                  </p:stCondLst>
                                  <p:childTnLst>
                                    <p:set>
                                      <p:cBhvr>
                                        <p:cTn id="241" dur="1" fill="hold">
                                          <p:stCondLst>
                                            <p:cond delay="0"/>
                                          </p:stCondLst>
                                        </p:cTn>
                                        <p:tgtEl>
                                          <p:spTgt spid="102416">
                                            <p:txEl>
                                              <p:pRg st="3" end="3"/>
                                            </p:txEl>
                                          </p:spTgt>
                                        </p:tgtEl>
                                        <p:attrNameLst>
                                          <p:attrName>style.visibility</p:attrName>
                                        </p:attrNameLst>
                                      </p:cBhvr>
                                      <p:to>
                                        <p:strVal val="visible"/>
                                      </p:to>
                                    </p:set>
                                    <p:anim calcmode="lin" valueType="num">
                                      <p:cBhvr additive="base">
                                        <p:cTn id="242" dur="500" fill="hold"/>
                                        <p:tgtEl>
                                          <p:spTgt spid="102416">
                                            <p:txEl>
                                              <p:pRg st="3" end="3"/>
                                            </p:txEl>
                                          </p:spTgt>
                                        </p:tgtEl>
                                        <p:attrNameLst>
                                          <p:attrName>ppt_x</p:attrName>
                                        </p:attrNameLst>
                                      </p:cBhvr>
                                      <p:tavLst>
                                        <p:tav tm="0">
                                          <p:val>
                                            <p:strVal val="#ppt_x"/>
                                          </p:val>
                                        </p:tav>
                                        <p:tav tm="100000">
                                          <p:val>
                                            <p:strVal val="#ppt_x"/>
                                          </p:val>
                                        </p:tav>
                                      </p:tavLst>
                                    </p:anim>
                                    <p:anim calcmode="lin" valueType="num">
                                      <p:cBhvr additive="base">
                                        <p:cTn id="243" dur="500" fill="hold"/>
                                        <p:tgtEl>
                                          <p:spTgt spid="1024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44" fill="hold" nodeType="clickPar">
                      <p:stCondLst>
                        <p:cond delay="indefinite"/>
                      </p:stCondLst>
                      <p:childTnLst>
                        <p:par>
                          <p:cTn id="245" fill="hold" nodeType="withGroup">
                            <p:stCondLst>
                              <p:cond delay="0"/>
                            </p:stCondLst>
                            <p:childTnLst>
                              <p:par>
                                <p:cTn id="246" presetID="35" presetClass="emph" presetSubtype="0" fill="hold" nodeType="clickEffect">
                                  <p:stCondLst>
                                    <p:cond delay="0"/>
                                  </p:stCondLst>
                                  <p:childTnLst>
                                    <p:anim calcmode="discrete" valueType="str">
                                      <p:cBhvr>
                                        <p:cTn id="247" dur="1000" fill="hold"/>
                                        <p:tgtEl>
                                          <p:spTgt spid="102416">
                                            <p:txEl>
                                              <p:pRg st="1" end="1"/>
                                            </p:txEl>
                                          </p:spTgt>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5" grpId="0" build="allAtOnce"/>
      <p:bldP spid="102408" grpId="0" build="allAtOnce"/>
      <p:bldP spid="102409" grpId="0" build="allAtOnce"/>
      <p:bldP spid="102412" grpId="0" build="allAtOnce"/>
      <p:bldP spid="102412" grpId="1" build="allAtOnce"/>
      <p:bldP spid="102414" grpId="0"/>
      <p:bldP spid="102415" grpId="0"/>
      <p:bldP spid="102416" grpId="0" build="allAtOnce"/>
      <p:bldP spid="102420" grpId="0" animBg="1"/>
      <p:bldP spid="102421" grpId="0" animBg="1"/>
      <p:bldP spid="102423" grpId="0"/>
      <p:bldP spid="1024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3">
            <a:extLst>
              <a:ext uri="{FF2B5EF4-FFF2-40B4-BE49-F238E27FC236}">
                <a16:creationId xmlns:a16="http://schemas.microsoft.com/office/drawing/2014/main" id="{42B32C3C-3651-4A79-BA71-7C59977659C3}"/>
              </a:ext>
            </a:extLst>
          </p:cNvPr>
          <p:cNvSpPr>
            <a:spLocks noChangeArrowheads="1"/>
          </p:cNvSpPr>
          <p:nvPr/>
        </p:nvSpPr>
        <p:spPr bwMode="auto">
          <a:xfrm>
            <a:off x="611188" y="1628775"/>
            <a:ext cx="7632700" cy="4752975"/>
          </a:xfrm>
          <a:prstGeom prst="rect">
            <a:avLst/>
          </a:prstGeom>
          <a:solidFill>
            <a:srgbClr val="EFF3D5"/>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ES" altLang="es-ES" sz="1400">
              <a:solidFill>
                <a:schemeClr val="folHlink"/>
              </a:solidFill>
            </a:endParaRPr>
          </a:p>
        </p:txBody>
      </p:sp>
      <p:sp>
        <p:nvSpPr>
          <p:cNvPr id="47107" name="Rectangle 2">
            <a:extLst>
              <a:ext uri="{FF2B5EF4-FFF2-40B4-BE49-F238E27FC236}">
                <a16:creationId xmlns:a16="http://schemas.microsoft.com/office/drawing/2014/main" id="{BCA61874-FFD2-4CF0-8A6D-26A4C8C74749}"/>
              </a:ext>
            </a:extLst>
          </p:cNvPr>
          <p:cNvSpPr>
            <a:spLocks noGrp="1" noChangeArrowheads="1"/>
          </p:cNvSpPr>
          <p:nvPr>
            <p:ph type="title"/>
          </p:nvPr>
        </p:nvSpPr>
        <p:spPr>
          <a:xfrm>
            <a:off x="0" y="304800"/>
            <a:ext cx="8943975" cy="1143000"/>
          </a:xfrm>
        </p:spPr>
        <p:txBody>
          <a:bodyPr/>
          <a:lstStyle/>
          <a:p>
            <a:pPr algn="ctr" eaLnBrk="1" hangingPunct="1"/>
            <a:r>
              <a:rPr lang="es-ES" altLang="es-ES">
                <a:solidFill>
                  <a:schemeClr val="folHlink"/>
                </a:solidFill>
              </a:rPr>
              <a:t>    DER</a:t>
            </a:r>
            <a:endParaRPr lang="es-AR" altLang="es-ES">
              <a:solidFill>
                <a:schemeClr val="folHlink"/>
              </a:solidFill>
            </a:endParaRPr>
          </a:p>
        </p:txBody>
      </p:sp>
      <p:sp>
        <p:nvSpPr>
          <p:cNvPr id="47108" name="Rectangle 12">
            <a:extLst>
              <a:ext uri="{FF2B5EF4-FFF2-40B4-BE49-F238E27FC236}">
                <a16:creationId xmlns:a16="http://schemas.microsoft.com/office/drawing/2014/main" id="{873B2AB2-ADBE-48E9-9A96-C40A255C1C04}"/>
              </a:ext>
            </a:extLst>
          </p:cNvPr>
          <p:cNvSpPr>
            <a:spLocks noChangeArrowheads="1"/>
          </p:cNvSpPr>
          <p:nvPr/>
        </p:nvSpPr>
        <p:spPr bwMode="auto">
          <a:xfrm>
            <a:off x="2889250" y="2682875"/>
            <a:ext cx="971550" cy="6508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VENTA</a:t>
            </a:r>
          </a:p>
          <a:p>
            <a:pPr algn="ctr" eaLnBrk="1" hangingPunct="1">
              <a:spcBef>
                <a:spcPct val="0"/>
              </a:spcBef>
              <a:buClrTx/>
              <a:buSzTx/>
              <a:buFontTx/>
              <a:buNone/>
            </a:pPr>
            <a:endParaRPr lang="en-US" altLang="es-ES" sz="1800">
              <a:solidFill>
                <a:schemeClr val="folHlink"/>
              </a:solidFill>
            </a:endParaRPr>
          </a:p>
        </p:txBody>
      </p:sp>
      <p:sp>
        <p:nvSpPr>
          <p:cNvPr id="47109" name="Rectangle 13">
            <a:extLst>
              <a:ext uri="{FF2B5EF4-FFF2-40B4-BE49-F238E27FC236}">
                <a16:creationId xmlns:a16="http://schemas.microsoft.com/office/drawing/2014/main" id="{079DE0E6-B514-4002-8970-436415E72E7E}"/>
              </a:ext>
            </a:extLst>
          </p:cNvPr>
          <p:cNvSpPr>
            <a:spLocks noChangeArrowheads="1"/>
          </p:cNvSpPr>
          <p:nvPr/>
        </p:nvSpPr>
        <p:spPr bwMode="auto">
          <a:xfrm>
            <a:off x="4962525" y="2643188"/>
            <a:ext cx="971550" cy="6508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ITEM VENTA</a:t>
            </a:r>
          </a:p>
        </p:txBody>
      </p:sp>
      <p:sp>
        <p:nvSpPr>
          <p:cNvPr id="47110" name="Rectangle 14">
            <a:extLst>
              <a:ext uri="{FF2B5EF4-FFF2-40B4-BE49-F238E27FC236}">
                <a16:creationId xmlns:a16="http://schemas.microsoft.com/office/drawing/2014/main" id="{07AA466E-04CB-4226-9CEB-5BB1EA283CDB}"/>
              </a:ext>
            </a:extLst>
          </p:cNvPr>
          <p:cNvSpPr>
            <a:spLocks noChangeArrowheads="1"/>
          </p:cNvSpPr>
          <p:nvPr/>
        </p:nvSpPr>
        <p:spPr bwMode="auto">
          <a:xfrm>
            <a:off x="5661025" y="4076700"/>
            <a:ext cx="1474788" cy="6508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PRODUCTO </a:t>
            </a:r>
          </a:p>
          <a:p>
            <a:pPr algn="ctr" eaLnBrk="1" hangingPunct="1">
              <a:spcBef>
                <a:spcPct val="0"/>
              </a:spcBef>
              <a:buClrTx/>
              <a:buSzTx/>
              <a:buFontTx/>
              <a:buNone/>
            </a:pPr>
            <a:endParaRPr lang="en-US" altLang="es-ES" sz="1800">
              <a:solidFill>
                <a:schemeClr val="folHlink"/>
              </a:solidFill>
            </a:endParaRPr>
          </a:p>
        </p:txBody>
      </p:sp>
      <p:sp>
        <p:nvSpPr>
          <p:cNvPr id="47111" name="Rectangle 16">
            <a:extLst>
              <a:ext uri="{FF2B5EF4-FFF2-40B4-BE49-F238E27FC236}">
                <a16:creationId xmlns:a16="http://schemas.microsoft.com/office/drawing/2014/main" id="{0ADADD47-BD42-40BA-8954-1D9C47F713B5}"/>
              </a:ext>
            </a:extLst>
          </p:cNvPr>
          <p:cNvSpPr>
            <a:spLocks noChangeArrowheads="1"/>
          </p:cNvSpPr>
          <p:nvPr/>
        </p:nvSpPr>
        <p:spPr bwMode="auto">
          <a:xfrm>
            <a:off x="2852738" y="4173538"/>
            <a:ext cx="1079500" cy="650875"/>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CLIENTE </a:t>
            </a:r>
          </a:p>
          <a:p>
            <a:pPr algn="ctr" eaLnBrk="1" hangingPunct="1">
              <a:spcBef>
                <a:spcPct val="0"/>
              </a:spcBef>
              <a:buClrTx/>
              <a:buSzTx/>
              <a:buFontTx/>
              <a:buNone/>
            </a:pPr>
            <a:endParaRPr lang="en-US" altLang="es-ES" sz="1800">
              <a:solidFill>
                <a:schemeClr val="folHlink"/>
              </a:solidFill>
            </a:endParaRPr>
          </a:p>
        </p:txBody>
      </p:sp>
      <p:sp>
        <p:nvSpPr>
          <p:cNvPr id="104465" name="Line 17">
            <a:extLst>
              <a:ext uri="{FF2B5EF4-FFF2-40B4-BE49-F238E27FC236}">
                <a16:creationId xmlns:a16="http://schemas.microsoft.com/office/drawing/2014/main" id="{39DBD3BA-4BEE-4C04-ABFE-91D2C22828CC}"/>
              </a:ext>
            </a:extLst>
          </p:cNvPr>
          <p:cNvSpPr>
            <a:spLocks noChangeShapeType="1"/>
          </p:cNvSpPr>
          <p:nvPr/>
        </p:nvSpPr>
        <p:spPr bwMode="auto">
          <a:xfrm>
            <a:off x="3860800" y="2997200"/>
            <a:ext cx="10810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04466" name="Line 18">
            <a:extLst>
              <a:ext uri="{FF2B5EF4-FFF2-40B4-BE49-F238E27FC236}">
                <a16:creationId xmlns:a16="http://schemas.microsoft.com/office/drawing/2014/main" id="{1A9A0653-C1B8-4DD9-9B9B-58FD4D640670}"/>
              </a:ext>
            </a:extLst>
          </p:cNvPr>
          <p:cNvSpPr>
            <a:spLocks noChangeShapeType="1"/>
          </p:cNvSpPr>
          <p:nvPr/>
        </p:nvSpPr>
        <p:spPr bwMode="auto">
          <a:xfrm>
            <a:off x="3429000" y="3355975"/>
            <a:ext cx="0" cy="792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sp>
        <p:nvSpPr>
          <p:cNvPr id="104467" name="Line 19">
            <a:extLst>
              <a:ext uri="{FF2B5EF4-FFF2-40B4-BE49-F238E27FC236}">
                <a16:creationId xmlns:a16="http://schemas.microsoft.com/office/drawing/2014/main" id="{8ABF61AB-4B35-4A5E-93E7-40928C0B5DF3}"/>
              </a:ext>
            </a:extLst>
          </p:cNvPr>
          <p:cNvSpPr>
            <a:spLocks noChangeShapeType="1"/>
          </p:cNvSpPr>
          <p:nvPr/>
        </p:nvSpPr>
        <p:spPr bwMode="auto">
          <a:xfrm>
            <a:off x="5734050" y="3284538"/>
            <a:ext cx="0" cy="792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spAutoFit/>
          </a:bodyPr>
          <a:lstStyle/>
          <a:p>
            <a:endParaRPr lang="es-ES"/>
          </a:p>
        </p:txBody>
      </p:sp>
      <p:grpSp>
        <p:nvGrpSpPr>
          <p:cNvPr id="2" name="Group 22">
            <a:extLst>
              <a:ext uri="{FF2B5EF4-FFF2-40B4-BE49-F238E27FC236}">
                <a16:creationId xmlns:a16="http://schemas.microsoft.com/office/drawing/2014/main" id="{294321D7-F434-4B05-945C-36F80B2DCF3A}"/>
              </a:ext>
            </a:extLst>
          </p:cNvPr>
          <p:cNvGrpSpPr>
            <a:grpSpLocks/>
          </p:cNvGrpSpPr>
          <p:nvPr/>
        </p:nvGrpSpPr>
        <p:grpSpPr bwMode="auto">
          <a:xfrm>
            <a:off x="4724400" y="2827338"/>
            <a:ext cx="312738" cy="304800"/>
            <a:chOff x="2381" y="3472"/>
            <a:chExt cx="197" cy="192"/>
          </a:xfrm>
        </p:grpSpPr>
        <p:sp>
          <p:nvSpPr>
            <p:cNvPr id="47148" name="Text Box 20">
              <a:extLst>
                <a:ext uri="{FF2B5EF4-FFF2-40B4-BE49-F238E27FC236}">
                  <a16:creationId xmlns:a16="http://schemas.microsoft.com/office/drawing/2014/main" id="{72E6F659-A20F-459E-BC5A-552B278A7A23}"/>
                </a:ext>
              </a:extLst>
            </p:cNvPr>
            <p:cNvSpPr txBox="1">
              <a:spLocks noChangeArrowheads="1"/>
            </p:cNvSpPr>
            <p:nvPr/>
          </p:nvSpPr>
          <p:spPr bwMode="auto">
            <a:xfrm>
              <a:off x="2381" y="3472"/>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47149" name="Line 21">
              <a:extLst>
                <a:ext uri="{FF2B5EF4-FFF2-40B4-BE49-F238E27FC236}">
                  <a16:creationId xmlns:a16="http://schemas.microsoft.com/office/drawing/2014/main" id="{1223B085-BB26-4AF6-AA17-10B49047ABF0}"/>
                </a:ext>
              </a:extLst>
            </p:cNvPr>
            <p:cNvSpPr>
              <a:spLocks noChangeShapeType="1"/>
            </p:cNvSpPr>
            <p:nvPr/>
          </p:nvSpPr>
          <p:spPr bwMode="auto">
            <a:xfrm>
              <a:off x="2426" y="3521"/>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3" name="Group 27">
            <a:extLst>
              <a:ext uri="{FF2B5EF4-FFF2-40B4-BE49-F238E27FC236}">
                <a16:creationId xmlns:a16="http://schemas.microsoft.com/office/drawing/2014/main" id="{BB66C810-153B-4455-9B35-65F0007F2B7C}"/>
              </a:ext>
            </a:extLst>
          </p:cNvPr>
          <p:cNvGrpSpPr>
            <a:grpSpLocks/>
          </p:cNvGrpSpPr>
          <p:nvPr/>
        </p:nvGrpSpPr>
        <p:grpSpPr bwMode="auto">
          <a:xfrm>
            <a:off x="5565775" y="3216275"/>
            <a:ext cx="312738" cy="412750"/>
            <a:chOff x="4502" y="2127"/>
            <a:chExt cx="197" cy="260"/>
          </a:xfrm>
        </p:grpSpPr>
        <p:sp>
          <p:nvSpPr>
            <p:cNvPr id="47146" name="Text Box 24">
              <a:extLst>
                <a:ext uri="{FF2B5EF4-FFF2-40B4-BE49-F238E27FC236}">
                  <a16:creationId xmlns:a16="http://schemas.microsoft.com/office/drawing/2014/main" id="{FFC175E3-AB4C-4B0B-933D-003A36F434F0}"/>
                </a:ext>
              </a:extLst>
            </p:cNvPr>
            <p:cNvSpPr txBox="1">
              <a:spLocks noChangeArrowheads="1"/>
            </p:cNvSpPr>
            <p:nvPr/>
          </p:nvSpPr>
          <p:spPr bwMode="auto">
            <a:xfrm rot="-5400000">
              <a:off x="4499" y="213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47147" name="Text Box 26">
              <a:extLst>
                <a:ext uri="{FF2B5EF4-FFF2-40B4-BE49-F238E27FC236}">
                  <a16:creationId xmlns:a16="http://schemas.microsoft.com/office/drawing/2014/main" id="{B4CE5CAA-9132-492D-A5A2-C72E23D2414B}"/>
                </a:ext>
              </a:extLst>
            </p:cNvPr>
            <p:cNvSpPr txBox="1">
              <a:spLocks noChangeArrowheads="1"/>
            </p:cNvSpPr>
            <p:nvPr/>
          </p:nvSpPr>
          <p:spPr bwMode="auto">
            <a:xfrm>
              <a:off x="4522" y="2195"/>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o</a:t>
              </a:r>
            </a:p>
          </p:txBody>
        </p:sp>
      </p:grpSp>
      <p:grpSp>
        <p:nvGrpSpPr>
          <p:cNvPr id="4" name="Group 28">
            <a:extLst>
              <a:ext uri="{FF2B5EF4-FFF2-40B4-BE49-F238E27FC236}">
                <a16:creationId xmlns:a16="http://schemas.microsoft.com/office/drawing/2014/main" id="{CECA690E-C3C0-4EC2-9312-4C78C9665D2E}"/>
              </a:ext>
            </a:extLst>
          </p:cNvPr>
          <p:cNvGrpSpPr>
            <a:grpSpLocks/>
          </p:cNvGrpSpPr>
          <p:nvPr/>
        </p:nvGrpSpPr>
        <p:grpSpPr bwMode="auto">
          <a:xfrm>
            <a:off x="3270250" y="3255963"/>
            <a:ext cx="312738" cy="412750"/>
            <a:chOff x="4502" y="2127"/>
            <a:chExt cx="197" cy="260"/>
          </a:xfrm>
        </p:grpSpPr>
        <p:sp>
          <p:nvSpPr>
            <p:cNvPr id="47144" name="Text Box 29">
              <a:extLst>
                <a:ext uri="{FF2B5EF4-FFF2-40B4-BE49-F238E27FC236}">
                  <a16:creationId xmlns:a16="http://schemas.microsoft.com/office/drawing/2014/main" id="{C1222BA1-4F76-429E-8E98-AEB5F98F6699}"/>
                </a:ext>
              </a:extLst>
            </p:cNvPr>
            <p:cNvSpPr txBox="1">
              <a:spLocks noChangeArrowheads="1"/>
            </p:cNvSpPr>
            <p:nvPr/>
          </p:nvSpPr>
          <p:spPr bwMode="auto">
            <a:xfrm rot="-5400000">
              <a:off x="4499" y="2130"/>
              <a:ext cx="19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&lt;</a:t>
              </a:r>
            </a:p>
          </p:txBody>
        </p:sp>
        <p:sp>
          <p:nvSpPr>
            <p:cNvPr id="47145" name="Text Box 30">
              <a:extLst>
                <a:ext uri="{FF2B5EF4-FFF2-40B4-BE49-F238E27FC236}">
                  <a16:creationId xmlns:a16="http://schemas.microsoft.com/office/drawing/2014/main" id="{117DF78B-3467-4F8F-A1DF-D717D0CA40CE}"/>
                </a:ext>
              </a:extLst>
            </p:cNvPr>
            <p:cNvSpPr txBox="1">
              <a:spLocks noChangeArrowheads="1"/>
            </p:cNvSpPr>
            <p:nvPr/>
          </p:nvSpPr>
          <p:spPr bwMode="auto">
            <a:xfrm>
              <a:off x="4522" y="2195"/>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o</a:t>
              </a:r>
            </a:p>
          </p:txBody>
        </p:sp>
      </p:grpSp>
      <p:grpSp>
        <p:nvGrpSpPr>
          <p:cNvPr id="5" name="Group 36">
            <a:extLst>
              <a:ext uri="{FF2B5EF4-FFF2-40B4-BE49-F238E27FC236}">
                <a16:creationId xmlns:a16="http://schemas.microsoft.com/office/drawing/2014/main" id="{A7BF5DCB-442A-4ACF-83B9-0E1510B9E23A}"/>
              </a:ext>
            </a:extLst>
          </p:cNvPr>
          <p:cNvGrpSpPr>
            <a:grpSpLocks/>
          </p:cNvGrpSpPr>
          <p:nvPr/>
        </p:nvGrpSpPr>
        <p:grpSpPr bwMode="auto">
          <a:xfrm>
            <a:off x="3933825" y="2884488"/>
            <a:ext cx="74613" cy="217487"/>
            <a:chOff x="2652" y="3368"/>
            <a:chExt cx="47" cy="137"/>
          </a:xfrm>
        </p:grpSpPr>
        <p:sp>
          <p:nvSpPr>
            <p:cNvPr id="47142" name="Line 33">
              <a:extLst>
                <a:ext uri="{FF2B5EF4-FFF2-40B4-BE49-F238E27FC236}">
                  <a16:creationId xmlns:a16="http://schemas.microsoft.com/office/drawing/2014/main" id="{5C6B27D3-B602-4D69-9B4B-825EABC8D13C}"/>
                </a:ext>
              </a:extLst>
            </p:cNvPr>
            <p:cNvSpPr>
              <a:spLocks noChangeShapeType="1"/>
            </p:cNvSpPr>
            <p:nvPr/>
          </p:nvSpPr>
          <p:spPr bwMode="auto">
            <a:xfrm>
              <a:off x="265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7143" name="Line 35">
              <a:extLst>
                <a:ext uri="{FF2B5EF4-FFF2-40B4-BE49-F238E27FC236}">
                  <a16:creationId xmlns:a16="http://schemas.microsoft.com/office/drawing/2014/main" id="{E630577B-CC93-4BF2-B84B-F9430083D58A}"/>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6" name="Group 37">
            <a:extLst>
              <a:ext uri="{FF2B5EF4-FFF2-40B4-BE49-F238E27FC236}">
                <a16:creationId xmlns:a16="http://schemas.microsoft.com/office/drawing/2014/main" id="{D9E49F8E-4229-4F49-B3DD-75A1CA5A626B}"/>
              </a:ext>
            </a:extLst>
          </p:cNvPr>
          <p:cNvGrpSpPr>
            <a:grpSpLocks/>
          </p:cNvGrpSpPr>
          <p:nvPr/>
        </p:nvGrpSpPr>
        <p:grpSpPr bwMode="auto">
          <a:xfrm rot="5400000">
            <a:off x="3397250" y="3963988"/>
            <a:ext cx="74613" cy="217487"/>
            <a:chOff x="2652" y="3368"/>
            <a:chExt cx="47" cy="137"/>
          </a:xfrm>
        </p:grpSpPr>
        <p:sp>
          <p:nvSpPr>
            <p:cNvPr id="47140" name="Line 38">
              <a:extLst>
                <a:ext uri="{FF2B5EF4-FFF2-40B4-BE49-F238E27FC236}">
                  <a16:creationId xmlns:a16="http://schemas.microsoft.com/office/drawing/2014/main" id="{B83AD534-D24F-44BE-95EB-A1FE3D2CD47B}"/>
                </a:ext>
              </a:extLst>
            </p:cNvPr>
            <p:cNvSpPr>
              <a:spLocks noChangeShapeType="1"/>
            </p:cNvSpPr>
            <p:nvPr/>
          </p:nvSpPr>
          <p:spPr bwMode="auto">
            <a:xfrm>
              <a:off x="265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7141" name="Line 39">
              <a:extLst>
                <a:ext uri="{FF2B5EF4-FFF2-40B4-BE49-F238E27FC236}">
                  <a16:creationId xmlns:a16="http://schemas.microsoft.com/office/drawing/2014/main" id="{4064D06B-1A6E-4304-9B68-C8EEC7DC7B75}"/>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7" name="Group 40">
            <a:extLst>
              <a:ext uri="{FF2B5EF4-FFF2-40B4-BE49-F238E27FC236}">
                <a16:creationId xmlns:a16="http://schemas.microsoft.com/office/drawing/2014/main" id="{2EF0EDBD-6D1E-468E-997A-785811AECF43}"/>
              </a:ext>
            </a:extLst>
          </p:cNvPr>
          <p:cNvGrpSpPr>
            <a:grpSpLocks/>
          </p:cNvGrpSpPr>
          <p:nvPr/>
        </p:nvGrpSpPr>
        <p:grpSpPr bwMode="auto">
          <a:xfrm rot="5400000">
            <a:off x="5700713" y="3876675"/>
            <a:ext cx="74612" cy="217488"/>
            <a:chOff x="2652" y="3368"/>
            <a:chExt cx="47" cy="137"/>
          </a:xfrm>
        </p:grpSpPr>
        <p:sp>
          <p:nvSpPr>
            <p:cNvPr id="47138" name="Line 41">
              <a:extLst>
                <a:ext uri="{FF2B5EF4-FFF2-40B4-BE49-F238E27FC236}">
                  <a16:creationId xmlns:a16="http://schemas.microsoft.com/office/drawing/2014/main" id="{230FFEAA-E67D-475C-9C89-13DDCB218765}"/>
                </a:ext>
              </a:extLst>
            </p:cNvPr>
            <p:cNvSpPr>
              <a:spLocks noChangeShapeType="1"/>
            </p:cNvSpPr>
            <p:nvPr/>
          </p:nvSpPr>
          <p:spPr bwMode="auto">
            <a:xfrm>
              <a:off x="265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7139" name="Line 42">
              <a:extLst>
                <a:ext uri="{FF2B5EF4-FFF2-40B4-BE49-F238E27FC236}">
                  <a16:creationId xmlns:a16="http://schemas.microsoft.com/office/drawing/2014/main" id="{B6D20EF6-5064-4521-A23A-D94729577C46}"/>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sp>
        <p:nvSpPr>
          <p:cNvPr id="104492" name="AutoShape 44">
            <a:extLst>
              <a:ext uri="{FF2B5EF4-FFF2-40B4-BE49-F238E27FC236}">
                <a16:creationId xmlns:a16="http://schemas.microsoft.com/office/drawing/2014/main" id="{BF43350B-1D8C-417E-8FBD-AE4EBD27E4C7}"/>
              </a:ext>
            </a:extLst>
          </p:cNvPr>
          <p:cNvSpPr>
            <a:spLocks noChangeArrowheads="1"/>
          </p:cNvSpPr>
          <p:nvPr/>
        </p:nvSpPr>
        <p:spPr bwMode="auto">
          <a:xfrm>
            <a:off x="5661025" y="1628775"/>
            <a:ext cx="2871788" cy="355600"/>
          </a:xfrm>
          <a:prstGeom prst="flowChartAlternate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s-ES" sz="1600" b="1">
                <a:solidFill>
                  <a:srgbClr val="990033"/>
                </a:solidFill>
              </a:rPr>
              <a:t>Identidad (propiedad)</a:t>
            </a:r>
          </a:p>
        </p:txBody>
      </p:sp>
      <p:sp>
        <p:nvSpPr>
          <p:cNvPr id="104494" name="Line 46">
            <a:extLst>
              <a:ext uri="{FF2B5EF4-FFF2-40B4-BE49-F238E27FC236}">
                <a16:creationId xmlns:a16="http://schemas.microsoft.com/office/drawing/2014/main" id="{12A13502-6AAD-48BF-BBAF-B837A3CFDFA6}"/>
              </a:ext>
            </a:extLst>
          </p:cNvPr>
          <p:cNvSpPr>
            <a:spLocks noChangeShapeType="1"/>
          </p:cNvSpPr>
          <p:nvPr/>
        </p:nvSpPr>
        <p:spPr bwMode="auto">
          <a:xfrm flipH="1">
            <a:off x="4294188" y="1989138"/>
            <a:ext cx="1584325" cy="935037"/>
          </a:xfrm>
          <a:prstGeom prst="line">
            <a:avLst/>
          </a:prstGeom>
          <a:noFill/>
          <a:ln w="9525">
            <a:solidFill>
              <a:srgbClr val="990033"/>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104497" name="AutoShape 49">
            <a:extLst>
              <a:ext uri="{FF2B5EF4-FFF2-40B4-BE49-F238E27FC236}">
                <a16:creationId xmlns:a16="http://schemas.microsoft.com/office/drawing/2014/main" id="{FACC7ECE-4493-491E-9941-BDBD9A78110E}"/>
              </a:ext>
            </a:extLst>
          </p:cNvPr>
          <p:cNvSpPr>
            <a:spLocks noChangeArrowheads="1"/>
          </p:cNvSpPr>
          <p:nvPr/>
        </p:nvSpPr>
        <p:spPr bwMode="auto">
          <a:xfrm>
            <a:off x="4365625" y="5156200"/>
            <a:ext cx="2387600" cy="619125"/>
          </a:xfrm>
          <a:prstGeom prst="flowChartAlternate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s-ES" sz="1600" b="1">
                <a:solidFill>
                  <a:srgbClr val="990033"/>
                </a:solidFill>
              </a:rPr>
              <a:t>No – Identidad</a:t>
            </a:r>
            <a:br>
              <a:rPr lang="en-US" altLang="es-ES" sz="1600" b="1">
                <a:solidFill>
                  <a:srgbClr val="990033"/>
                </a:solidFill>
              </a:rPr>
            </a:br>
            <a:r>
              <a:rPr lang="en-US" altLang="es-ES" sz="1600" b="1">
                <a:solidFill>
                  <a:srgbClr val="990033"/>
                </a:solidFill>
              </a:rPr>
              <a:t>(referencia)</a:t>
            </a:r>
          </a:p>
        </p:txBody>
      </p:sp>
      <p:sp>
        <p:nvSpPr>
          <p:cNvPr id="104498" name="Line 50">
            <a:extLst>
              <a:ext uri="{FF2B5EF4-FFF2-40B4-BE49-F238E27FC236}">
                <a16:creationId xmlns:a16="http://schemas.microsoft.com/office/drawing/2014/main" id="{FFA233EF-D1F2-4F34-96EF-5A55A12F46A9}"/>
              </a:ext>
            </a:extLst>
          </p:cNvPr>
          <p:cNvSpPr>
            <a:spLocks noChangeShapeType="1"/>
          </p:cNvSpPr>
          <p:nvPr/>
        </p:nvSpPr>
        <p:spPr bwMode="auto">
          <a:xfrm flipH="1" flipV="1">
            <a:off x="3502025" y="3644900"/>
            <a:ext cx="1366838" cy="1584325"/>
          </a:xfrm>
          <a:prstGeom prst="line">
            <a:avLst/>
          </a:prstGeom>
          <a:noFill/>
          <a:ln w="9525">
            <a:solidFill>
              <a:srgbClr val="990033"/>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104499" name="Line 51">
            <a:extLst>
              <a:ext uri="{FF2B5EF4-FFF2-40B4-BE49-F238E27FC236}">
                <a16:creationId xmlns:a16="http://schemas.microsoft.com/office/drawing/2014/main" id="{7040BADE-E6E9-4E6C-9AC6-6B4F27608E46}"/>
              </a:ext>
            </a:extLst>
          </p:cNvPr>
          <p:cNvSpPr>
            <a:spLocks noChangeShapeType="1"/>
          </p:cNvSpPr>
          <p:nvPr/>
        </p:nvSpPr>
        <p:spPr bwMode="auto">
          <a:xfrm flipV="1">
            <a:off x="5086350" y="3644900"/>
            <a:ext cx="574675" cy="1584325"/>
          </a:xfrm>
          <a:prstGeom prst="line">
            <a:avLst/>
          </a:prstGeom>
          <a:noFill/>
          <a:ln w="9525">
            <a:solidFill>
              <a:srgbClr val="990033"/>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grpSp>
        <p:nvGrpSpPr>
          <p:cNvPr id="8" name="Group 70">
            <a:extLst>
              <a:ext uri="{FF2B5EF4-FFF2-40B4-BE49-F238E27FC236}">
                <a16:creationId xmlns:a16="http://schemas.microsoft.com/office/drawing/2014/main" id="{854703B8-708B-4A3F-BB17-677509D22823}"/>
              </a:ext>
            </a:extLst>
          </p:cNvPr>
          <p:cNvGrpSpPr>
            <a:grpSpLocks/>
          </p:cNvGrpSpPr>
          <p:nvPr/>
        </p:nvGrpSpPr>
        <p:grpSpPr bwMode="auto">
          <a:xfrm>
            <a:off x="1052513" y="4868863"/>
            <a:ext cx="2601912" cy="1443037"/>
            <a:chOff x="158" y="3158"/>
            <a:chExt cx="1639" cy="909"/>
          </a:xfrm>
        </p:grpSpPr>
        <p:sp>
          <p:nvSpPr>
            <p:cNvPr id="47129" name="Rectangle 52">
              <a:extLst>
                <a:ext uri="{FF2B5EF4-FFF2-40B4-BE49-F238E27FC236}">
                  <a16:creationId xmlns:a16="http://schemas.microsoft.com/office/drawing/2014/main" id="{CE777AAD-8EDA-4223-8189-A148EB51D381}"/>
                </a:ext>
              </a:extLst>
            </p:cNvPr>
            <p:cNvSpPr>
              <a:spLocks noChangeArrowheads="1"/>
            </p:cNvSpPr>
            <p:nvPr/>
          </p:nvSpPr>
          <p:spPr bwMode="auto">
            <a:xfrm>
              <a:off x="158" y="3657"/>
              <a:ext cx="772" cy="410"/>
            </a:xfrm>
            <a:prstGeom prst="rect">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s-ES" sz="1800">
                  <a:solidFill>
                    <a:schemeClr val="folHlink"/>
                  </a:solidFill>
                </a:rPr>
                <a:t>PERSONA </a:t>
              </a:r>
            </a:p>
            <a:p>
              <a:pPr algn="ctr" eaLnBrk="1" hangingPunct="1">
                <a:spcBef>
                  <a:spcPct val="0"/>
                </a:spcBef>
                <a:buClrTx/>
                <a:buSzTx/>
                <a:buFontTx/>
                <a:buNone/>
              </a:pPr>
              <a:endParaRPr lang="en-US" altLang="es-ES" sz="1800">
                <a:solidFill>
                  <a:schemeClr val="folHlink"/>
                </a:solidFill>
              </a:endParaRPr>
            </a:p>
          </p:txBody>
        </p:sp>
        <p:grpSp>
          <p:nvGrpSpPr>
            <p:cNvPr id="47130" name="Group 69">
              <a:extLst>
                <a:ext uri="{FF2B5EF4-FFF2-40B4-BE49-F238E27FC236}">
                  <a16:creationId xmlns:a16="http://schemas.microsoft.com/office/drawing/2014/main" id="{E4785DCA-48A7-448F-9EA3-1978E7022065}"/>
                </a:ext>
              </a:extLst>
            </p:cNvPr>
            <p:cNvGrpSpPr>
              <a:grpSpLocks/>
            </p:cNvGrpSpPr>
            <p:nvPr/>
          </p:nvGrpSpPr>
          <p:grpSpPr bwMode="auto">
            <a:xfrm>
              <a:off x="930" y="3158"/>
              <a:ext cx="867" cy="752"/>
              <a:chOff x="930" y="3158"/>
              <a:chExt cx="867" cy="752"/>
            </a:xfrm>
          </p:grpSpPr>
          <p:sp>
            <p:nvSpPr>
              <p:cNvPr id="47131" name="Freeform 53">
                <a:extLst>
                  <a:ext uri="{FF2B5EF4-FFF2-40B4-BE49-F238E27FC236}">
                    <a16:creationId xmlns:a16="http://schemas.microsoft.com/office/drawing/2014/main" id="{FE185000-D231-47C5-803C-366652C6727A}"/>
                  </a:ext>
                </a:extLst>
              </p:cNvPr>
              <p:cNvSpPr>
                <a:spLocks/>
              </p:cNvSpPr>
              <p:nvPr/>
            </p:nvSpPr>
            <p:spPr bwMode="auto">
              <a:xfrm>
                <a:off x="930" y="3158"/>
                <a:ext cx="778" cy="686"/>
              </a:xfrm>
              <a:custGeom>
                <a:avLst/>
                <a:gdLst>
                  <a:gd name="T0" fmla="*/ 0 w 778"/>
                  <a:gd name="T1" fmla="*/ 686 h 686"/>
                  <a:gd name="T2" fmla="*/ 778 w 778"/>
                  <a:gd name="T3" fmla="*/ 675 h 686"/>
                  <a:gd name="T4" fmla="*/ 771 w 778"/>
                  <a:gd name="T5" fmla="*/ 0 h 686"/>
                  <a:gd name="T6" fmla="*/ 0 60000 65536"/>
                  <a:gd name="T7" fmla="*/ 0 60000 65536"/>
                  <a:gd name="T8" fmla="*/ 0 60000 65536"/>
                  <a:gd name="T9" fmla="*/ 0 w 778"/>
                  <a:gd name="T10" fmla="*/ 0 h 686"/>
                  <a:gd name="T11" fmla="*/ 778 w 778"/>
                  <a:gd name="T12" fmla="*/ 686 h 686"/>
                </a:gdLst>
                <a:ahLst/>
                <a:cxnLst>
                  <a:cxn ang="T6">
                    <a:pos x="T0" y="T1"/>
                  </a:cxn>
                  <a:cxn ang="T7">
                    <a:pos x="T2" y="T3"/>
                  </a:cxn>
                  <a:cxn ang="T8">
                    <a:pos x="T4" y="T5"/>
                  </a:cxn>
                </a:cxnLst>
                <a:rect l="T9" t="T10" r="T11" b="T12"/>
                <a:pathLst>
                  <a:path w="778" h="686">
                    <a:moveTo>
                      <a:pt x="0" y="686"/>
                    </a:moveTo>
                    <a:lnTo>
                      <a:pt x="778" y="675"/>
                    </a:lnTo>
                    <a:lnTo>
                      <a:pt x="771" y="0"/>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p>
                <a:endParaRPr lang="es-ES"/>
              </a:p>
            </p:txBody>
          </p:sp>
          <p:grpSp>
            <p:nvGrpSpPr>
              <p:cNvPr id="47132" name="Group 57">
                <a:extLst>
                  <a:ext uri="{FF2B5EF4-FFF2-40B4-BE49-F238E27FC236}">
                    <a16:creationId xmlns:a16="http://schemas.microsoft.com/office/drawing/2014/main" id="{FDC01008-8254-40DD-A6A8-B14522B56B29}"/>
                  </a:ext>
                </a:extLst>
              </p:cNvPr>
              <p:cNvGrpSpPr>
                <a:grpSpLocks/>
              </p:cNvGrpSpPr>
              <p:nvPr/>
            </p:nvGrpSpPr>
            <p:grpSpPr bwMode="auto">
              <a:xfrm>
                <a:off x="976" y="3773"/>
                <a:ext cx="47" cy="137"/>
                <a:chOff x="2652" y="3368"/>
                <a:chExt cx="47" cy="137"/>
              </a:xfrm>
            </p:grpSpPr>
            <p:sp>
              <p:nvSpPr>
                <p:cNvPr id="47136" name="Line 58">
                  <a:extLst>
                    <a:ext uri="{FF2B5EF4-FFF2-40B4-BE49-F238E27FC236}">
                      <a16:creationId xmlns:a16="http://schemas.microsoft.com/office/drawing/2014/main" id="{12430664-CB76-475F-908E-F92E8D359482}"/>
                    </a:ext>
                  </a:extLst>
                </p:cNvPr>
                <p:cNvSpPr>
                  <a:spLocks noChangeShapeType="1"/>
                </p:cNvSpPr>
                <p:nvPr/>
              </p:nvSpPr>
              <p:spPr bwMode="auto">
                <a:xfrm>
                  <a:off x="2652" y="3368"/>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7137" name="Line 59">
                  <a:extLst>
                    <a:ext uri="{FF2B5EF4-FFF2-40B4-BE49-F238E27FC236}">
                      <a16:creationId xmlns:a16="http://schemas.microsoft.com/office/drawing/2014/main" id="{DD5240A6-6031-4F03-AFA9-DB757158562F}"/>
                    </a:ext>
                  </a:extLst>
                </p:cNvPr>
                <p:cNvSpPr>
                  <a:spLocks noChangeShapeType="1"/>
                </p:cNvSpPr>
                <p:nvPr/>
              </p:nvSpPr>
              <p:spPr bwMode="auto">
                <a:xfrm>
                  <a:off x="2699" y="3369"/>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grpSp>
          <p:grpSp>
            <p:nvGrpSpPr>
              <p:cNvPr id="47133" name="Group 68">
                <a:extLst>
                  <a:ext uri="{FF2B5EF4-FFF2-40B4-BE49-F238E27FC236}">
                    <a16:creationId xmlns:a16="http://schemas.microsoft.com/office/drawing/2014/main" id="{C9063891-5DA6-4045-ABAE-EE6DDB056A79}"/>
                  </a:ext>
                </a:extLst>
              </p:cNvPr>
              <p:cNvGrpSpPr>
                <a:grpSpLocks/>
              </p:cNvGrpSpPr>
              <p:nvPr/>
            </p:nvGrpSpPr>
            <p:grpSpPr bwMode="auto">
              <a:xfrm>
                <a:off x="1620" y="3158"/>
                <a:ext cx="177" cy="192"/>
                <a:chOff x="1620" y="3158"/>
                <a:chExt cx="177" cy="192"/>
              </a:xfrm>
            </p:grpSpPr>
            <p:sp>
              <p:nvSpPr>
                <p:cNvPr id="47134" name="Line 61">
                  <a:extLst>
                    <a:ext uri="{FF2B5EF4-FFF2-40B4-BE49-F238E27FC236}">
                      <a16:creationId xmlns:a16="http://schemas.microsoft.com/office/drawing/2014/main" id="{870BBCE0-FB29-4F31-BB86-2B50A8C17E30}"/>
                    </a:ext>
                  </a:extLst>
                </p:cNvPr>
                <p:cNvSpPr>
                  <a:spLocks noChangeShapeType="1"/>
                </p:cNvSpPr>
                <p:nvPr/>
              </p:nvSpPr>
              <p:spPr bwMode="auto">
                <a:xfrm rot="5400000">
                  <a:off x="1700" y="3135"/>
                  <a:ext cx="0" cy="1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s-ES"/>
                </a:p>
              </p:txBody>
            </p:sp>
            <p:sp>
              <p:nvSpPr>
                <p:cNvPr id="47135" name="Text Box 65">
                  <a:extLst>
                    <a:ext uri="{FF2B5EF4-FFF2-40B4-BE49-F238E27FC236}">
                      <a16:creationId xmlns:a16="http://schemas.microsoft.com/office/drawing/2014/main" id="{C3191146-6746-4DFE-B1F3-7E81F5CEBA67}"/>
                    </a:ext>
                  </a:extLst>
                </p:cNvPr>
                <p:cNvSpPr txBox="1">
                  <a:spLocks noChangeArrowheads="1"/>
                </p:cNvSpPr>
                <p:nvPr/>
              </p:nvSpPr>
              <p:spPr bwMode="auto">
                <a:xfrm>
                  <a:off x="1620" y="3158"/>
                  <a:ext cx="1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o</a:t>
                  </a:r>
                </a:p>
              </p:txBody>
            </p:sp>
          </p:grpSp>
        </p:grpSp>
      </p:grpSp>
      <p:sp>
        <p:nvSpPr>
          <p:cNvPr id="104514" name="AutoShape 66">
            <a:extLst>
              <a:ext uri="{FF2B5EF4-FFF2-40B4-BE49-F238E27FC236}">
                <a16:creationId xmlns:a16="http://schemas.microsoft.com/office/drawing/2014/main" id="{1B98F507-876E-4828-B1FF-D84C30263C8E}"/>
              </a:ext>
            </a:extLst>
          </p:cNvPr>
          <p:cNvSpPr>
            <a:spLocks noChangeArrowheads="1"/>
          </p:cNvSpPr>
          <p:nvPr/>
        </p:nvSpPr>
        <p:spPr bwMode="auto">
          <a:xfrm>
            <a:off x="781050" y="3213100"/>
            <a:ext cx="1919288" cy="884238"/>
          </a:xfrm>
          <a:prstGeom prst="flowChartAlternateProcess">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50000"/>
              </a:spcBef>
              <a:buClrTx/>
              <a:buSzTx/>
              <a:buFontTx/>
              <a:buNone/>
            </a:pPr>
            <a:r>
              <a:rPr lang="en-US" altLang="es-ES" sz="1600" b="1">
                <a:solidFill>
                  <a:srgbClr val="990033"/>
                </a:solidFill>
              </a:rPr>
              <a:t>Generalización/especialización</a:t>
            </a:r>
            <a:br>
              <a:rPr lang="en-US" altLang="es-ES" sz="1600" b="1">
                <a:solidFill>
                  <a:srgbClr val="990033"/>
                </a:solidFill>
              </a:rPr>
            </a:br>
            <a:r>
              <a:rPr lang="en-US" altLang="es-ES" sz="1600" b="1">
                <a:solidFill>
                  <a:srgbClr val="990033"/>
                </a:solidFill>
              </a:rPr>
              <a:t>(Subconjunto)</a:t>
            </a:r>
          </a:p>
        </p:txBody>
      </p:sp>
      <p:sp>
        <p:nvSpPr>
          <p:cNvPr id="104515" name="Line 67">
            <a:extLst>
              <a:ext uri="{FF2B5EF4-FFF2-40B4-BE49-F238E27FC236}">
                <a16:creationId xmlns:a16="http://schemas.microsoft.com/office/drawing/2014/main" id="{48E45BE9-BCDD-4513-B8FC-B3A887287003}"/>
              </a:ext>
            </a:extLst>
          </p:cNvPr>
          <p:cNvSpPr>
            <a:spLocks noChangeShapeType="1"/>
          </p:cNvSpPr>
          <p:nvPr/>
        </p:nvSpPr>
        <p:spPr bwMode="auto">
          <a:xfrm>
            <a:off x="2060575" y="4005263"/>
            <a:ext cx="1225550" cy="1800225"/>
          </a:xfrm>
          <a:prstGeom prst="line">
            <a:avLst/>
          </a:prstGeom>
          <a:noFill/>
          <a:ln w="9525">
            <a:solidFill>
              <a:srgbClr val="990033"/>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4465"/>
                                        </p:tgtEl>
                                        <p:attrNameLst>
                                          <p:attrName>style.visibility</p:attrName>
                                        </p:attrNameLst>
                                      </p:cBhvr>
                                      <p:to>
                                        <p:strVal val="visible"/>
                                      </p:to>
                                    </p:set>
                                    <p:animEffect transition="in" filter="box(in)">
                                      <p:cBhvr>
                                        <p:cTn id="7" dur="500"/>
                                        <p:tgtEl>
                                          <p:spTgt spid="104465"/>
                                        </p:tgtEl>
                                      </p:cBhvr>
                                    </p:animEffect>
                                  </p:childTnLst>
                                </p:cTn>
                              </p:par>
                            </p:childTnLst>
                          </p:cTn>
                        </p:par>
                        <p:par>
                          <p:cTn id="8" fill="hold" nodeType="afterGroup">
                            <p:stCondLst>
                              <p:cond delay="500"/>
                            </p:stCondLst>
                            <p:childTnLst>
                              <p:par>
                                <p:cTn id="9" presetID="4" presetClass="entr" presetSubtype="16" fill="hold" nodeType="afterEffect">
                                  <p:stCondLst>
                                    <p:cond delay="0"/>
                                  </p:stCondLst>
                                  <p:childTnLst>
                                    <p:set>
                                      <p:cBhvr>
                                        <p:cTn id="10" dur="1" fill="hold">
                                          <p:stCondLst>
                                            <p:cond delay="0"/>
                                          </p:stCondLst>
                                        </p:cTn>
                                        <p:tgtEl>
                                          <p:spTgt spid="104466"/>
                                        </p:tgtEl>
                                        <p:attrNameLst>
                                          <p:attrName>style.visibility</p:attrName>
                                        </p:attrNameLst>
                                      </p:cBhvr>
                                      <p:to>
                                        <p:strVal val="visible"/>
                                      </p:to>
                                    </p:set>
                                    <p:animEffect transition="in" filter="box(in)">
                                      <p:cBhvr>
                                        <p:cTn id="11" dur="500"/>
                                        <p:tgtEl>
                                          <p:spTgt spid="104466"/>
                                        </p:tgtEl>
                                      </p:cBhvr>
                                    </p:animEffect>
                                  </p:childTnLst>
                                </p:cTn>
                              </p:par>
                            </p:childTnLst>
                          </p:cTn>
                        </p:par>
                        <p:par>
                          <p:cTn id="12" fill="hold" nodeType="afterGroup">
                            <p:stCondLst>
                              <p:cond delay="1000"/>
                            </p:stCondLst>
                            <p:childTnLst>
                              <p:par>
                                <p:cTn id="13" presetID="4" presetClass="entr" presetSubtype="16" fill="hold" nodeType="afterEffect">
                                  <p:stCondLst>
                                    <p:cond delay="0"/>
                                  </p:stCondLst>
                                  <p:childTnLst>
                                    <p:set>
                                      <p:cBhvr>
                                        <p:cTn id="14" dur="1" fill="hold">
                                          <p:stCondLst>
                                            <p:cond delay="0"/>
                                          </p:stCondLst>
                                        </p:cTn>
                                        <p:tgtEl>
                                          <p:spTgt spid="104467"/>
                                        </p:tgtEl>
                                        <p:attrNameLst>
                                          <p:attrName>style.visibility</p:attrName>
                                        </p:attrNameLst>
                                      </p:cBhvr>
                                      <p:to>
                                        <p:strVal val="visible"/>
                                      </p:to>
                                    </p:set>
                                    <p:animEffect transition="in" filter="box(in)">
                                      <p:cBhvr>
                                        <p:cTn id="15" dur="500"/>
                                        <p:tgtEl>
                                          <p:spTgt spid="10446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5"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1000" fill="hold"/>
                                        <p:tgtEl>
                                          <p:spTgt spid="2"/>
                                        </p:tgtEl>
                                        <p:attrNameLst>
                                          <p:attrName>ppt_w</p:attrName>
                                        </p:attrNameLst>
                                      </p:cBhvr>
                                      <p:tavLst>
                                        <p:tav tm="0">
                                          <p:val>
                                            <p:strVal val="#ppt_w*0.70"/>
                                          </p:val>
                                        </p:tav>
                                        <p:tav tm="100000">
                                          <p:val>
                                            <p:strVal val="#ppt_w"/>
                                          </p:val>
                                        </p:tav>
                                      </p:tavLst>
                                    </p:anim>
                                    <p:anim calcmode="lin" valueType="num">
                                      <p:cBhvr>
                                        <p:cTn id="21" dur="1000" fill="hold"/>
                                        <p:tgtEl>
                                          <p:spTgt spid="2"/>
                                        </p:tgtEl>
                                        <p:attrNameLst>
                                          <p:attrName>ppt_h</p:attrName>
                                        </p:attrNameLst>
                                      </p:cBhvr>
                                      <p:tavLst>
                                        <p:tav tm="0">
                                          <p:val>
                                            <p:strVal val="#ppt_h"/>
                                          </p:val>
                                        </p:tav>
                                        <p:tav tm="100000">
                                          <p:val>
                                            <p:strVal val="#ppt_h"/>
                                          </p:val>
                                        </p:tav>
                                      </p:tavLst>
                                    </p:anim>
                                    <p:animEffect transition="in" filter="fade">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5"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p:cTn id="27" dur="1000" fill="hold"/>
                                        <p:tgtEl>
                                          <p:spTgt spid="5"/>
                                        </p:tgtEl>
                                        <p:attrNameLst>
                                          <p:attrName>ppt_w</p:attrName>
                                        </p:attrNameLst>
                                      </p:cBhvr>
                                      <p:tavLst>
                                        <p:tav tm="0">
                                          <p:val>
                                            <p:strVal val="#ppt_w*0.70"/>
                                          </p:val>
                                        </p:tav>
                                        <p:tav tm="100000">
                                          <p:val>
                                            <p:strVal val="#ppt_w"/>
                                          </p:val>
                                        </p:tav>
                                      </p:tavLst>
                                    </p:anim>
                                    <p:anim calcmode="lin" valueType="num">
                                      <p:cBhvr>
                                        <p:cTn id="28" dur="1000" fill="hold"/>
                                        <p:tgtEl>
                                          <p:spTgt spid="5"/>
                                        </p:tgtEl>
                                        <p:attrNameLst>
                                          <p:attrName>ppt_h</p:attrName>
                                        </p:attrNameLst>
                                      </p:cBhvr>
                                      <p:tavLst>
                                        <p:tav tm="0">
                                          <p:val>
                                            <p:strVal val="#ppt_h"/>
                                          </p:val>
                                        </p:tav>
                                        <p:tav tm="100000">
                                          <p:val>
                                            <p:strVal val="#ppt_h"/>
                                          </p:val>
                                        </p:tav>
                                      </p:tavLst>
                                    </p:anim>
                                    <p:animEffect transition="in" filter="fade">
                                      <p:cBhvr>
                                        <p:cTn id="29" dur="10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5" presetClass="entr" presetSubtype="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1000" fill="hold"/>
                                        <p:tgtEl>
                                          <p:spTgt spid="3"/>
                                        </p:tgtEl>
                                        <p:attrNameLst>
                                          <p:attrName>ppt_w</p:attrName>
                                        </p:attrNameLst>
                                      </p:cBhvr>
                                      <p:tavLst>
                                        <p:tav tm="0">
                                          <p:val>
                                            <p:strVal val="#ppt_w*0.70"/>
                                          </p:val>
                                        </p:tav>
                                        <p:tav tm="100000">
                                          <p:val>
                                            <p:strVal val="#ppt_w"/>
                                          </p:val>
                                        </p:tav>
                                      </p:tavLst>
                                    </p:anim>
                                    <p:anim calcmode="lin" valueType="num">
                                      <p:cBhvr>
                                        <p:cTn id="35" dur="1000" fill="hold"/>
                                        <p:tgtEl>
                                          <p:spTgt spid="3"/>
                                        </p:tgtEl>
                                        <p:attrNameLst>
                                          <p:attrName>ppt_h</p:attrName>
                                        </p:attrNameLst>
                                      </p:cBhvr>
                                      <p:tavLst>
                                        <p:tav tm="0">
                                          <p:val>
                                            <p:strVal val="#ppt_h"/>
                                          </p:val>
                                        </p:tav>
                                        <p:tav tm="100000">
                                          <p:val>
                                            <p:strVal val="#ppt_h"/>
                                          </p:val>
                                        </p:tav>
                                      </p:tavLst>
                                    </p:anim>
                                    <p:animEffect transition="in" filter="fade">
                                      <p:cBhvr>
                                        <p:cTn id="36" dur="1000"/>
                                        <p:tgtEl>
                                          <p:spTgt spid="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55"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p:cTn id="41" dur="1000" fill="hold"/>
                                        <p:tgtEl>
                                          <p:spTgt spid="7"/>
                                        </p:tgtEl>
                                        <p:attrNameLst>
                                          <p:attrName>ppt_w</p:attrName>
                                        </p:attrNameLst>
                                      </p:cBhvr>
                                      <p:tavLst>
                                        <p:tav tm="0">
                                          <p:val>
                                            <p:strVal val="#ppt_w*0.70"/>
                                          </p:val>
                                        </p:tav>
                                        <p:tav tm="100000">
                                          <p:val>
                                            <p:strVal val="#ppt_w"/>
                                          </p:val>
                                        </p:tav>
                                      </p:tavLst>
                                    </p:anim>
                                    <p:anim calcmode="lin" valueType="num">
                                      <p:cBhvr>
                                        <p:cTn id="42" dur="1000" fill="hold"/>
                                        <p:tgtEl>
                                          <p:spTgt spid="7"/>
                                        </p:tgtEl>
                                        <p:attrNameLst>
                                          <p:attrName>ppt_h</p:attrName>
                                        </p:attrNameLst>
                                      </p:cBhvr>
                                      <p:tavLst>
                                        <p:tav tm="0">
                                          <p:val>
                                            <p:strVal val="#ppt_h"/>
                                          </p:val>
                                        </p:tav>
                                        <p:tav tm="100000">
                                          <p:val>
                                            <p:strVal val="#ppt_h"/>
                                          </p:val>
                                        </p:tav>
                                      </p:tavLst>
                                    </p:anim>
                                    <p:animEffect transition="in" filter="fade">
                                      <p:cBhvr>
                                        <p:cTn id="43" dur="1000"/>
                                        <p:tgtEl>
                                          <p:spTgt spid="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5" presetClass="entr" presetSubtype="0" fill="hold"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1000" fill="hold"/>
                                        <p:tgtEl>
                                          <p:spTgt spid="4"/>
                                        </p:tgtEl>
                                        <p:attrNameLst>
                                          <p:attrName>ppt_w</p:attrName>
                                        </p:attrNameLst>
                                      </p:cBhvr>
                                      <p:tavLst>
                                        <p:tav tm="0">
                                          <p:val>
                                            <p:strVal val="#ppt_w*0.70"/>
                                          </p:val>
                                        </p:tav>
                                        <p:tav tm="100000">
                                          <p:val>
                                            <p:strVal val="#ppt_w"/>
                                          </p:val>
                                        </p:tav>
                                      </p:tavLst>
                                    </p:anim>
                                    <p:anim calcmode="lin" valueType="num">
                                      <p:cBhvr>
                                        <p:cTn id="49" dur="1000" fill="hold"/>
                                        <p:tgtEl>
                                          <p:spTgt spid="4"/>
                                        </p:tgtEl>
                                        <p:attrNameLst>
                                          <p:attrName>ppt_h</p:attrName>
                                        </p:attrNameLst>
                                      </p:cBhvr>
                                      <p:tavLst>
                                        <p:tav tm="0">
                                          <p:val>
                                            <p:strVal val="#ppt_h"/>
                                          </p:val>
                                        </p:tav>
                                        <p:tav tm="100000">
                                          <p:val>
                                            <p:strVal val="#ppt_h"/>
                                          </p:val>
                                        </p:tav>
                                      </p:tavLst>
                                    </p:anim>
                                    <p:animEffect transition="in" filter="fade">
                                      <p:cBhvr>
                                        <p:cTn id="50" dur="1000"/>
                                        <p:tgtEl>
                                          <p:spTgt spid="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55" presetClass="entr" presetSubtype="0" fill="hold" nodeType="clickEffect">
                                  <p:stCondLst>
                                    <p:cond delay="0"/>
                                  </p:stCondLst>
                                  <p:childTnLst>
                                    <p:set>
                                      <p:cBhvr>
                                        <p:cTn id="54" dur="1" fill="hold">
                                          <p:stCondLst>
                                            <p:cond delay="0"/>
                                          </p:stCondLst>
                                        </p:cTn>
                                        <p:tgtEl>
                                          <p:spTgt spid="6"/>
                                        </p:tgtEl>
                                        <p:attrNameLst>
                                          <p:attrName>style.visibility</p:attrName>
                                        </p:attrNameLst>
                                      </p:cBhvr>
                                      <p:to>
                                        <p:strVal val="visible"/>
                                      </p:to>
                                    </p:set>
                                    <p:anim calcmode="lin" valueType="num">
                                      <p:cBhvr>
                                        <p:cTn id="55" dur="1000" fill="hold"/>
                                        <p:tgtEl>
                                          <p:spTgt spid="6"/>
                                        </p:tgtEl>
                                        <p:attrNameLst>
                                          <p:attrName>ppt_w</p:attrName>
                                        </p:attrNameLst>
                                      </p:cBhvr>
                                      <p:tavLst>
                                        <p:tav tm="0">
                                          <p:val>
                                            <p:strVal val="#ppt_w*0.70"/>
                                          </p:val>
                                        </p:tav>
                                        <p:tav tm="100000">
                                          <p:val>
                                            <p:strVal val="#ppt_w"/>
                                          </p:val>
                                        </p:tav>
                                      </p:tavLst>
                                    </p:anim>
                                    <p:anim calcmode="lin" valueType="num">
                                      <p:cBhvr>
                                        <p:cTn id="56" dur="1000" fill="hold"/>
                                        <p:tgtEl>
                                          <p:spTgt spid="6"/>
                                        </p:tgtEl>
                                        <p:attrNameLst>
                                          <p:attrName>ppt_h</p:attrName>
                                        </p:attrNameLst>
                                      </p:cBhvr>
                                      <p:tavLst>
                                        <p:tav tm="0">
                                          <p:val>
                                            <p:strVal val="#ppt_h"/>
                                          </p:val>
                                        </p:tav>
                                        <p:tav tm="100000">
                                          <p:val>
                                            <p:strVal val="#ppt_h"/>
                                          </p:val>
                                        </p:tav>
                                      </p:tavLst>
                                    </p:anim>
                                    <p:animEffect transition="in" filter="fade">
                                      <p:cBhvr>
                                        <p:cTn id="57" dur="1000"/>
                                        <p:tgtEl>
                                          <p:spTgt spid="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104492"/>
                                        </p:tgtEl>
                                        <p:attrNameLst>
                                          <p:attrName>style.visibility</p:attrName>
                                        </p:attrNameLst>
                                      </p:cBhvr>
                                      <p:to>
                                        <p:strVal val="visible"/>
                                      </p:to>
                                    </p:set>
                                    <p:animEffect transition="in" filter="checkerboard(across)">
                                      <p:cBhvr>
                                        <p:cTn id="62" dur="500"/>
                                        <p:tgtEl>
                                          <p:spTgt spid="104492"/>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104494"/>
                                        </p:tgtEl>
                                        <p:attrNameLst>
                                          <p:attrName>style.visibility</p:attrName>
                                        </p:attrNameLst>
                                      </p:cBhvr>
                                      <p:to>
                                        <p:strVal val="visible"/>
                                      </p:to>
                                    </p:set>
                                    <p:animEffect transition="in" filter="blinds(horizontal)">
                                      <p:cBhvr>
                                        <p:cTn id="67" dur="500"/>
                                        <p:tgtEl>
                                          <p:spTgt spid="104494"/>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5" presetClass="entr" presetSubtype="10" fill="hold" grpId="0" nodeType="clickEffect">
                                  <p:stCondLst>
                                    <p:cond delay="0"/>
                                  </p:stCondLst>
                                  <p:childTnLst>
                                    <p:set>
                                      <p:cBhvr>
                                        <p:cTn id="71" dur="1" fill="hold">
                                          <p:stCondLst>
                                            <p:cond delay="0"/>
                                          </p:stCondLst>
                                        </p:cTn>
                                        <p:tgtEl>
                                          <p:spTgt spid="104497"/>
                                        </p:tgtEl>
                                        <p:attrNameLst>
                                          <p:attrName>style.visibility</p:attrName>
                                        </p:attrNameLst>
                                      </p:cBhvr>
                                      <p:to>
                                        <p:strVal val="visible"/>
                                      </p:to>
                                    </p:set>
                                    <p:animEffect transition="in" filter="checkerboard(across)">
                                      <p:cBhvr>
                                        <p:cTn id="72" dur="500"/>
                                        <p:tgtEl>
                                          <p:spTgt spid="104497"/>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104498"/>
                                        </p:tgtEl>
                                        <p:attrNameLst>
                                          <p:attrName>style.visibility</p:attrName>
                                        </p:attrNameLst>
                                      </p:cBhvr>
                                      <p:to>
                                        <p:strVal val="visible"/>
                                      </p:to>
                                    </p:set>
                                    <p:animEffect transition="in" filter="blinds(horizontal)">
                                      <p:cBhvr>
                                        <p:cTn id="77" dur="500"/>
                                        <p:tgtEl>
                                          <p:spTgt spid="104498"/>
                                        </p:tgtEl>
                                      </p:cBhvr>
                                    </p:animEffect>
                                  </p:childTnLst>
                                </p:cTn>
                              </p:par>
                              <p:par>
                                <p:cTn id="78" presetID="3" presetClass="entr" presetSubtype="10" fill="hold" nodeType="withEffect">
                                  <p:stCondLst>
                                    <p:cond delay="0"/>
                                  </p:stCondLst>
                                  <p:childTnLst>
                                    <p:set>
                                      <p:cBhvr>
                                        <p:cTn id="79" dur="1" fill="hold">
                                          <p:stCondLst>
                                            <p:cond delay="0"/>
                                          </p:stCondLst>
                                        </p:cTn>
                                        <p:tgtEl>
                                          <p:spTgt spid="104499"/>
                                        </p:tgtEl>
                                        <p:attrNameLst>
                                          <p:attrName>style.visibility</p:attrName>
                                        </p:attrNameLst>
                                      </p:cBhvr>
                                      <p:to>
                                        <p:strVal val="visible"/>
                                      </p:to>
                                    </p:set>
                                    <p:animEffect transition="in" filter="blinds(horizontal)">
                                      <p:cBhvr>
                                        <p:cTn id="80" dur="500"/>
                                        <p:tgtEl>
                                          <p:spTgt spid="104499"/>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5" presetClass="entr" presetSubtype="10" fill="hold" grpId="0" nodeType="clickEffect">
                                  <p:stCondLst>
                                    <p:cond delay="0"/>
                                  </p:stCondLst>
                                  <p:childTnLst>
                                    <p:set>
                                      <p:cBhvr>
                                        <p:cTn id="84" dur="1" fill="hold">
                                          <p:stCondLst>
                                            <p:cond delay="0"/>
                                          </p:stCondLst>
                                        </p:cTn>
                                        <p:tgtEl>
                                          <p:spTgt spid="104514"/>
                                        </p:tgtEl>
                                        <p:attrNameLst>
                                          <p:attrName>style.visibility</p:attrName>
                                        </p:attrNameLst>
                                      </p:cBhvr>
                                      <p:to>
                                        <p:strVal val="visible"/>
                                      </p:to>
                                    </p:set>
                                    <p:animEffect transition="in" filter="checkerboard(across)">
                                      <p:cBhvr>
                                        <p:cTn id="85" dur="500"/>
                                        <p:tgtEl>
                                          <p:spTgt spid="104514"/>
                                        </p:tgtEl>
                                      </p:cBhvr>
                                    </p:animEffect>
                                  </p:childTnLst>
                                </p:cTn>
                              </p:par>
                            </p:childTnLst>
                          </p:cTn>
                        </p:par>
                        <p:par>
                          <p:cTn id="86" fill="hold" nodeType="afterGroup">
                            <p:stCondLst>
                              <p:cond delay="500"/>
                            </p:stCondLst>
                            <p:childTnLst>
                              <p:par>
                                <p:cTn id="87" presetID="3" presetClass="entr" presetSubtype="10" fill="hold" nodeType="afterEffect">
                                  <p:stCondLst>
                                    <p:cond delay="0"/>
                                  </p:stCondLst>
                                  <p:childTnLst>
                                    <p:set>
                                      <p:cBhvr>
                                        <p:cTn id="88" dur="1" fill="hold">
                                          <p:stCondLst>
                                            <p:cond delay="0"/>
                                          </p:stCondLst>
                                        </p:cTn>
                                        <p:tgtEl>
                                          <p:spTgt spid="104515"/>
                                        </p:tgtEl>
                                        <p:attrNameLst>
                                          <p:attrName>style.visibility</p:attrName>
                                        </p:attrNameLst>
                                      </p:cBhvr>
                                      <p:to>
                                        <p:strVal val="visible"/>
                                      </p:to>
                                    </p:set>
                                    <p:animEffect transition="in" filter="blinds(horizontal)">
                                      <p:cBhvr>
                                        <p:cTn id="89" dur="500"/>
                                        <p:tgtEl>
                                          <p:spTgt spid="104515"/>
                                        </p:tgtEl>
                                      </p:cBhvr>
                                    </p:animEffect>
                                  </p:childTnLst>
                                </p:cTn>
                              </p:par>
                            </p:childTnLst>
                          </p:cTn>
                        </p:par>
                        <p:par>
                          <p:cTn id="90" fill="hold" nodeType="afterGroup">
                            <p:stCondLst>
                              <p:cond delay="1000"/>
                            </p:stCondLst>
                            <p:childTnLst>
                              <p:par>
                                <p:cTn id="91" presetID="3" presetClass="entr" presetSubtype="10" fill="hold" nodeType="afterEffect">
                                  <p:stCondLst>
                                    <p:cond delay="0"/>
                                  </p:stCondLst>
                                  <p:childTnLst>
                                    <p:set>
                                      <p:cBhvr>
                                        <p:cTn id="92" dur="1" fill="hold">
                                          <p:stCondLst>
                                            <p:cond delay="0"/>
                                          </p:stCondLst>
                                        </p:cTn>
                                        <p:tgtEl>
                                          <p:spTgt spid="8"/>
                                        </p:tgtEl>
                                        <p:attrNameLst>
                                          <p:attrName>style.visibility</p:attrName>
                                        </p:attrNameLst>
                                      </p:cBhvr>
                                      <p:to>
                                        <p:strVal val="visible"/>
                                      </p:to>
                                    </p:set>
                                    <p:animEffect transition="in" filter="blinds(horizontal)">
                                      <p:cBhvr>
                                        <p:cTn id="9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92" grpId="0"/>
      <p:bldP spid="104497" grpId="0"/>
      <p:bldP spid="1045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a:extLst>
              <a:ext uri="{FF2B5EF4-FFF2-40B4-BE49-F238E27FC236}">
                <a16:creationId xmlns:a16="http://schemas.microsoft.com/office/drawing/2014/main" id="{F882A7A9-0B7F-4B24-BFE5-85517A6C2659}"/>
              </a:ext>
            </a:extLst>
          </p:cNvPr>
          <p:cNvSpPr>
            <a:spLocks noChangeArrowheads="1"/>
          </p:cNvSpPr>
          <p:nvPr/>
        </p:nvSpPr>
        <p:spPr bwMode="auto">
          <a:xfrm>
            <a:off x="230188" y="2236788"/>
            <a:ext cx="8713787"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zh-CN" sz="4000">
                <a:solidFill>
                  <a:schemeClr val="folHlink"/>
                </a:solidFill>
                <a:ea typeface="SimSun" panose="02010600030101010101" pitchFamily="2" charset="-122"/>
              </a:rPr>
              <a:t>Modalidad Taller:</a:t>
            </a:r>
          </a:p>
          <a:p>
            <a:pPr algn="ctr" eaLnBrk="1" hangingPunct="1">
              <a:spcBef>
                <a:spcPct val="0"/>
              </a:spcBef>
              <a:buClrTx/>
              <a:buSzTx/>
              <a:buFontTx/>
              <a:buNone/>
            </a:pPr>
            <a:endParaRPr lang="es-AR" altLang="zh-CN" sz="4000">
              <a:solidFill>
                <a:schemeClr val="folHlink"/>
              </a:solidFill>
              <a:ea typeface="SimSun" panose="02010600030101010101" pitchFamily="2" charset="-122"/>
            </a:endParaRPr>
          </a:p>
          <a:p>
            <a:pPr algn="ctr" eaLnBrk="1" hangingPunct="1">
              <a:spcBef>
                <a:spcPct val="0"/>
              </a:spcBef>
              <a:buClrTx/>
              <a:buSzTx/>
              <a:buFontTx/>
              <a:buNone/>
            </a:pPr>
            <a:r>
              <a:rPr lang="es-AR" altLang="zh-CN" sz="4000">
                <a:solidFill>
                  <a:schemeClr val="folHlink"/>
                </a:solidFill>
                <a:ea typeface="SimSun" panose="02010600030101010101" pitchFamily="2" charset="-122"/>
              </a:rPr>
              <a:t>Leer CASO</a:t>
            </a:r>
          </a:p>
        </p:txBody>
      </p:sp>
      <p:sp>
        <p:nvSpPr>
          <p:cNvPr id="49155" name="Rectangle 4">
            <a:extLst>
              <a:ext uri="{FF2B5EF4-FFF2-40B4-BE49-F238E27FC236}">
                <a16:creationId xmlns:a16="http://schemas.microsoft.com/office/drawing/2014/main" id="{5E913D5E-69A9-40B1-ABA9-0A7FB65CFE65}"/>
              </a:ext>
            </a:extLst>
          </p:cNvPr>
          <p:cNvSpPr>
            <a:spLocks noGrp="1" noChangeArrowheads="1"/>
          </p:cNvSpPr>
          <p:nvPr>
            <p:ph type="title"/>
          </p:nvPr>
        </p:nvSpPr>
        <p:spPr>
          <a:xfrm>
            <a:off x="1187450" y="260350"/>
            <a:ext cx="7793038" cy="1143000"/>
          </a:xfrm>
          <a:noFill/>
        </p:spPr>
        <p:txBody>
          <a:bodyPr/>
          <a:lstStyle/>
          <a:p>
            <a:pPr algn="ctr"/>
            <a:r>
              <a:rPr lang="es-AR" altLang="zh-CN">
                <a:ea typeface="SimSun" panose="02010600030101010101" pitchFamily="2" charset="-122"/>
              </a:rPr>
              <a:t>Actividad: </a:t>
            </a:r>
            <a:r>
              <a:rPr lang="es-AR" altLang="zh-CN" sz="3200">
                <a:ea typeface="SimSun" panose="02010600030101010101" pitchFamily="2" charset="-122"/>
              </a:rPr>
              <a:t>CASO JURASSIC PARK</a:t>
            </a:r>
            <a:r>
              <a:rPr lang="es-ES" altLang="zh-CN" sz="3200">
                <a:ea typeface="SimSun" panose="02010600030101010101" pitchFamily="2" charset="-122"/>
              </a:rPr>
              <a:t> </a:t>
            </a:r>
            <a:endParaRPr lang="es-ES" altLang="es-AR" sz="320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416421AE-57EF-4704-95EE-8A9C0C602BC2}"/>
              </a:ext>
            </a:extLst>
          </p:cNvPr>
          <p:cNvSpPr>
            <a:spLocks noGrp="1" noChangeArrowheads="1"/>
          </p:cNvSpPr>
          <p:nvPr>
            <p:ph type="title"/>
          </p:nvPr>
        </p:nvSpPr>
        <p:spPr>
          <a:xfrm>
            <a:off x="1187450" y="404813"/>
            <a:ext cx="7793038" cy="1143000"/>
          </a:xfrm>
        </p:spPr>
        <p:txBody>
          <a:bodyPr/>
          <a:lstStyle/>
          <a:p>
            <a:r>
              <a:rPr lang="es-AR" altLang="zh-CN">
                <a:ea typeface="SimSun" panose="02010600030101010101" pitchFamily="2" charset="-122"/>
              </a:rPr>
              <a:t>CASO JURASSIC PARK</a:t>
            </a:r>
            <a:r>
              <a:rPr lang="es-ES" altLang="zh-CN">
                <a:ea typeface="SimSun" panose="02010600030101010101" pitchFamily="2" charset="-122"/>
              </a:rPr>
              <a:t> </a:t>
            </a:r>
            <a:endParaRPr lang="es-ES" altLang="es-AR"/>
          </a:p>
        </p:txBody>
      </p:sp>
      <p:sp>
        <p:nvSpPr>
          <p:cNvPr id="50179" name="Rectangle 4">
            <a:extLst>
              <a:ext uri="{FF2B5EF4-FFF2-40B4-BE49-F238E27FC236}">
                <a16:creationId xmlns:a16="http://schemas.microsoft.com/office/drawing/2014/main" id="{55D9FE03-1785-4671-A404-3DB62478A546}"/>
              </a:ext>
            </a:extLst>
          </p:cNvPr>
          <p:cNvSpPr>
            <a:spLocks noChangeArrowheads="1"/>
          </p:cNvSpPr>
          <p:nvPr/>
        </p:nvSpPr>
        <p:spPr bwMode="auto">
          <a:xfrm>
            <a:off x="250825" y="1817688"/>
            <a:ext cx="8713788" cy="475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just" eaLnBrk="1" hangingPunct="1">
              <a:spcBef>
                <a:spcPct val="0"/>
              </a:spcBef>
              <a:buClrTx/>
              <a:buSzTx/>
              <a:buFontTx/>
              <a:buNone/>
            </a:pPr>
            <a:r>
              <a:rPr lang="es-AR" altLang="zh-CN" sz="1100">
                <a:solidFill>
                  <a:schemeClr val="folHlink"/>
                </a:solidFill>
                <a:ea typeface="SimSun" panose="02010600030101010101" pitchFamily="2" charset="-122"/>
              </a:rPr>
              <a:t>La empresa </a:t>
            </a:r>
            <a:r>
              <a:rPr lang="es-AR" altLang="zh-CN" sz="1100" err="1">
                <a:solidFill>
                  <a:schemeClr val="folHlink"/>
                </a:solidFill>
                <a:ea typeface="SimSun" panose="02010600030101010101" pitchFamily="2" charset="-122"/>
              </a:rPr>
              <a:t>Jurassic</a:t>
            </a:r>
            <a:r>
              <a:rPr lang="es-AR" altLang="zh-CN" sz="1100">
                <a:solidFill>
                  <a:schemeClr val="folHlink"/>
                </a:solidFill>
                <a:ea typeface="SimSun" panose="02010600030101010101" pitchFamily="2" charset="-122"/>
              </a:rPr>
              <a:t> Park S.A. es la propietaria de un parque de recreación donde el público visita animales prehistóricos. </a:t>
            </a:r>
          </a:p>
          <a:p>
            <a:pPr algn="just" eaLnBrk="1" hangingPunct="1">
              <a:spcBef>
                <a:spcPct val="0"/>
              </a:spcBef>
              <a:buClrTx/>
              <a:buSzTx/>
              <a:buFontTx/>
              <a:buNone/>
            </a:pPr>
            <a:endParaRPr lang="es-AR" altLang="zh-CN" sz="500">
              <a:solidFill>
                <a:schemeClr val="folHlink"/>
              </a:solidFill>
              <a:ea typeface="SimSun" panose="02010600030101010101" pitchFamily="2" charset="-122"/>
            </a:endParaRPr>
          </a:p>
          <a:p>
            <a:pPr algn="just" eaLnBrk="1" hangingPunct="1">
              <a:spcBef>
                <a:spcPct val="0"/>
              </a:spcBef>
              <a:buClrTx/>
              <a:buSzTx/>
              <a:buFontTx/>
              <a:buNone/>
            </a:pPr>
            <a:r>
              <a:rPr lang="es-AR" altLang="zh-CN" sz="1100">
                <a:solidFill>
                  <a:schemeClr val="folHlink"/>
                </a:solidFill>
                <a:ea typeface="SimSun" panose="02010600030101010101" pitchFamily="2" charset="-122"/>
              </a:rPr>
              <a:t>El área Visitas Prehistóricas </a:t>
            </a:r>
            <a:r>
              <a:rPr lang="es-AR" altLang="zh-CN" sz="1100" b="1">
                <a:solidFill>
                  <a:schemeClr val="folHlink"/>
                </a:solidFill>
                <a:ea typeface="SimSun" panose="02010600030101010101" pitchFamily="2" charset="-122"/>
              </a:rPr>
              <a:t>vende a las escuelas visitas </a:t>
            </a:r>
            <a:r>
              <a:rPr lang="es-AR" altLang="zh-CN" sz="1100">
                <a:solidFill>
                  <a:schemeClr val="folHlink"/>
                </a:solidFill>
                <a:ea typeface="SimSun" panose="02010600030101010101" pitchFamily="2" charset="-122"/>
              </a:rPr>
              <a:t>guiadas al parque para sus alumnos. Las </a:t>
            </a:r>
            <a:r>
              <a:rPr lang="es-AR" altLang="zh-CN" sz="1100" b="1">
                <a:solidFill>
                  <a:schemeClr val="folHlink"/>
                </a:solidFill>
                <a:ea typeface="SimSun" panose="02010600030101010101" pitchFamily="2" charset="-122"/>
              </a:rPr>
              <a:t>escuelas realizan reservas </a:t>
            </a:r>
            <a:r>
              <a:rPr lang="es-AR" altLang="zh-CN" sz="1100">
                <a:solidFill>
                  <a:schemeClr val="folHlink"/>
                </a:solidFill>
                <a:ea typeface="SimSun" panose="02010600030101010101" pitchFamily="2" charset="-122"/>
              </a:rPr>
              <a:t>telefónicas de las visitas que van a realizar, y se </a:t>
            </a:r>
            <a:r>
              <a:rPr lang="es-AR" altLang="zh-CN" sz="1100" b="1">
                <a:solidFill>
                  <a:schemeClr val="folHlink"/>
                </a:solidFill>
                <a:ea typeface="SimSun" panose="02010600030101010101" pitchFamily="2" charset="-122"/>
              </a:rPr>
              <a:t>les cobra el día que realizan la visita</a:t>
            </a:r>
            <a:r>
              <a:rPr lang="es-AR" altLang="zh-CN" sz="1100">
                <a:solidFill>
                  <a:schemeClr val="folHlink"/>
                </a:solidFill>
                <a:ea typeface="SimSun" panose="02010600030101010101" pitchFamily="2" charset="-122"/>
              </a:rPr>
              <a:t>, en el momento de ingresar (según los </a:t>
            </a:r>
            <a:r>
              <a:rPr lang="es-AR" altLang="zh-CN" sz="1100" b="1">
                <a:solidFill>
                  <a:schemeClr val="folHlink"/>
                </a:solidFill>
                <a:ea typeface="SimSun" panose="02010600030101010101" pitchFamily="2" charset="-122"/>
              </a:rPr>
              <a:t>tipos de visitas</a:t>
            </a:r>
            <a:r>
              <a:rPr lang="es-AR" altLang="zh-CN" sz="1100">
                <a:solidFill>
                  <a:schemeClr val="folHlink"/>
                </a:solidFill>
                <a:ea typeface="SimSun" panose="02010600030101010101" pitchFamily="2" charset="-122"/>
              </a:rPr>
              <a:t> que realicen). Las escuelas en el momento de realizar la </a:t>
            </a:r>
            <a:r>
              <a:rPr lang="es-AR" altLang="zh-CN" sz="1100" b="1">
                <a:solidFill>
                  <a:schemeClr val="folHlink"/>
                </a:solidFill>
                <a:ea typeface="SimSun" panose="02010600030101010101" pitchFamily="2" charset="-122"/>
              </a:rPr>
              <a:t>reserva informan, día, hora, tipos de visitas, cantidad de alumnos por visita</a:t>
            </a:r>
            <a:r>
              <a:rPr lang="es-AR" altLang="zh-CN" sz="1100">
                <a:solidFill>
                  <a:schemeClr val="folHlink"/>
                </a:solidFill>
                <a:ea typeface="SimSun" panose="02010600030101010101" pitchFamily="2" charset="-122"/>
              </a:rPr>
              <a:t>. Pueden en una misma reserva contratar </a:t>
            </a:r>
            <a:r>
              <a:rPr lang="es-AR" altLang="zh-CN" sz="1100" b="1">
                <a:solidFill>
                  <a:schemeClr val="folHlink"/>
                </a:solidFill>
                <a:ea typeface="SimSun" panose="02010600030101010101" pitchFamily="2" charset="-122"/>
              </a:rPr>
              <a:t>distintos tipos de visitas</a:t>
            </a:r>
            <a:r>
              <a:rPr lang="es-AR" altLang="zh-CN" sz="1100">
                <a:solidFill>
                  <a:schemeClr val="folHlink"/>
                </a:solidFill>
                <a:ea typeface="SimSun" panose="02010600030101010101" pitchFamily="2" charset="-122"/>
              </a:rPr>
              <a:t>, para distintos </a:t>
            </a:r>
            <a:r>
              <a:rPr lang="es-AR" altLang="zh-CN" sz="1100" b="1">
                <a:solidFill>
                  <a:schemeClr val="folHlink"/>
                </a:solidFill>
                <a:ea typeface="SimSun" panose="02010600030101010101" pitchFamily="2" charset="-122"/>
              </a:rPr>
              <a:t>grados</a:t>
            </a:r>
            <a:r>
              <a:rPr lang="es-AR" altLang="zh-CN" sz="1100">
                <a:solidFill>
                  <a:schemeClr val="folHlink"/>
                </a:solidFill>
                <a:ea typeface="SimSun" panose="02010600030101010101" pitchFamily="2" charset="-122"/>
              </a:rPr>
              <a:t> de la escuela. En caso de que la escuela sea la primera vez que realiza una reserva se le piden su domicilio y teléfono(s). </a:t>
            </a:r>
          </a:p>
          <a:p>
            <a:pPr algn="just" eaLnBrk="1" hangingPunct="1">
              <a:spcBef>
                <a:spcPct val="0"/>
              </a:spcBef>
              <a:buClrTx/>
              <a:buSzTx/>
              <a:buFontTx/>
              <a:buNone/>
            </a:pPr>
            <a:endParaRPr lang="es-ES" altLang="zh-CN" sz="500">
              <a:solidFill>
                <a:schemeClr val="folHlink"/>
              </a:solidFill>
              <a:ea typeface="SimSun" panose="02010600030101010101" pitchFamily="2" charset="-122"/>
            </a:endParaRPr>
          </a:p>
          <a:p>
            <a:pPr algn="just" eaLnBrk="1" hangingPunct="1">
              <a:spcBef>
                <a:spcPct val="0"/>
              </a:spcBef>
              <a:buClrTx/>
              <a:buSzTx/>
              <a:buFontTx/>
              <a:buNone/>
            </a:pPr>
            <a:r>
              <a:rPr lang="es-AR" altLang="zh-CN" sz="1100" err="1">
                <a:solidFill>
                  <a:schemeClr val="folHlink"/>
                </a:solidFill>
                <a:ea typeface="SimSun" panose="02010600030101010101" pitchFamily="2" charset="-122"/>
              </a:rPr>
              <a:t>Jurassic</a:t>
            </a:r>
            <a:r>
              <a:rPr lang="es-AR" altLang="zh-CN" sz="1100">
                <a:solidFill>
                  <a:schemeClr val="folHlink"/>
                </a:solidFill>
                <a:ea typeface="SimSun" panose="02010600030101010101" pitchFamily="2" charset="-122"/>
              </a:rPr>
              <a:t> Park S.A. desea desarrollar un sistema de informático que le ayude en un eficiente desempeño y control del área mencionada. Necesita obtener del mismo, todos los días, para la boletería del parque un listado con las visitas que haya reservadas para el día siguiente, de manera de que la misma sepa a quienes debe dejar entrar y cuanto cobrarles. El listado debe contener (para cada reserva del día pedido): Número de reserva de visita, Hora, Código de la escuela, Nombre de la escuela, y por cada tipo de visita de la reserva: Código de tipo de visita, Descripción de tipo de visita, Arancel por alumno del tipo de visita, Cantidad de alumnos y grado(s). </a:t>
            </a:r>
          </a:p>
          <a:p>
            <a:pPr algn="just" eaLnBrk="1" hangingPunct="1">
              <a:spcBef>
                <a:spcPct val="0"/>
              </a:spcBef>
              <a:buClrTx/>
              <a:buSzTx/>
              <a:buFontTx/>
              <a:buNone/>
            </a:pPr>
            <a:r>
              <a:rPr lang="es-AR" altLang="zh-CN" sz="1100">
                <a:solidFill>
                  <a:schemeClr val="folHlink"/>
                </a:solidFill>
                <a:ea typeface="SimSun" panose="02010600030101010101" pitchFamily="2" charset="-122"/>
              </a:rPr>
              <a:t>Al final del día boletería debe informar la </a:t>
            </a:r>
            <a:r>
              <a:rPr lang="es-AR" altLang="zh-CN" sz="1100" b="1">
                <a:solidFill>
                  <a:schemeClr val="folHlink"/>
                </a:solidFill>
                <a:ea typeface="SimSun" panose="02010600030101010101" pitchFamily="2" charset="-122"/>
              </a:rPr>
              <a:t>cantidad real de ingresantes </a:t>
            </a:r>
            <a:r>
              <a:rPr lang="es-AR" altLang="zh-CN" sz="1100">
                <a:solidFill>
                  <a:schemeClr val="folHlink"/>
                </a:solidFill>
                <a:ea typeface="SimSun" panose="02010600030101010101" pitchFamily="2" charset="-122"/>
              </a:rPr>
              <a:t>que fueron por cada reserva. </a:t>
            </a:r>
          </a:p>
          <a:p>
            <a:pPr algn="just" eaLnBrk="1" hangingPunct="1">
              <a:spcBef>
                <a:spcPct val="0"/>
              </a:spcBef>
              <a:buClrTx/>
              <a:buSzTx/>
              <a:buFontTx/>
              <a:buNone/>
            </a:pPr>
            <a:endParaRPr lang="es-ES" altLang="zh-CN" sz="500">
              <a:solidFill>
                <a:schemeClr val="folHlink"/>
              </a:solidFill>
              <a:ea typeface="SimSun" panose="02010600030101010101" pitchFamily="2" charset="-122"/>
            </a:endParaRPr>
          </a:p>
          <a:p>
            <a:pPr algn="just" eaLnBrk="1" hangingPunct="1">
              <a:spcBef>
                <a:spcPct val="0"/>
              </a:spcBef>
              <a:buClrTx/>
              <a:buSzTx/>
              <a:buFontTx/>
              <a:buNone/>
            </a:pPr>
            <a:r>
              <a:rPr lang="es-AR" altLang="zh-CN" sz="1100">
                <a:solidFill>
                  <a:schemeClr val="folHlink"/>
                </a:solidFill>
                <a:ea typeface="SimSun" panose="02010600030101010101" pitchFamily="2" charset="-122"/>
              </a:rPr>
              <a:t>También se debe entregar todos los días un listado con las visitas reservadas para el día siguiente para el Supervisor de Guías, cuando el mismo lo solicite. El supervisor debe, en base al listado, asignar las distintas visitas a su personal a cargo. El listado debe contener (para cada visita del día pedido): Número de reserva de visita, Hora, Código de la escuela, Nombre de la escuela, y por cada tipo de visita de la reserva: Código de tipo de visita, Descripción de tipo de visita, grado(s). </a:t>
            </a:r>
          </a:p>
          <a:p>
            <a:pPr algn="just" eaLnBrk="1" hangingPunct="1">
              <a:spcBef>
                <a:spcPct val="0"/>
              </a:spcBef>
              <a:buClrTx/>
              <a:buSzTx/>
              <a:buFontTx/>
              <a:buNone/>
            </a:pPr>
            <a:endParaRPr lang="es-ES" altLang="zh-CN" sz="500">
              <a:solidFill>
                <a:schemeClr val="folHlink"/>
              </a:solidFill>
              <a:ea typeface="SimSun" panose="02010600030101010101" pitchFamily="2" charset="-122"/>
            </a:endParaRPr>
          </a:p>
          <a:p>
            <a:pPr algn="just" eaLnBrk="1" hangingPunct="1">
              <a:spcBef>
                <a:spcPct val="0"/>
              </a:spcBef>
              <a:buClrTx/>
              <a:buSzTx/>
              <a:buFontTx/>
              <a:buNone/>
            </a:pPr>
            <a:r>
              <a:rPr lang="es-AR" altLang="zh-CN" sz="1100">
                <a:solidFill>
                  <a:schemeClr val="folHlink"/>
                </a:solidFill>
                <a:ea typeface="SimSun" panose="02010600030101010101" pitchFamily="2" charset="-122"/>
              </a:rPr>
              <a:t>Al final del día el supervisor informa los </a:t>
            </a:r>
            <a:r>
              <a:rPr lang="es-AR" altLang="zh-CN" sz="1100" b="1">
                <a:solidFill>
                  <a:schemeClr val="folHlink"/>
                </a:solidFill>
                <a:ea typeface="SimSun" panose="02010600030101010101" pitchFamily="2" charset="-122"/>
              </a:rPr>
              <a:t>guías que se encargaron de cada tipo de visita en cada reserva</a:t>
            </a:r>
            <a:r>
              <a:rPr lang="es-AR" altLang="zh-CN" sz="1100">
                <a:solidFill>
                  <a:schemeClr val="folHlink"/>
                </a:solidFill>
                <a:ea typeface="SimSun" panose="02010600030101010101" pitchFamily="2" charset="-122"/>
              </a:rPr>
              <a:t>. </a:t>
            </a:r>
          </a:p>
          <a:p>
            <a:pPr algn="just" eaLnBrk="1" hangingPunct="1">
              <a:spcBef>
                <a:spcPct val="0"/>
              </a:spcBef>
              <a:buClrTx/>
              <a:buSzTx/>
              <a:buFontTx/>
              <a:buNone/>
            </a:pPr>
            <a:endParaRPr lang="es-ES" altLang="zh-CN" sz="500">
              <a:solidFill>
                <a:schemeClr val="folHlink"/>
              </a:solidFill>
              <a:ea typeface="SimSun" panose="02010600030101010101" pitchFamily="2" charset="-122"/>
            </a:endParaRPr>
          </a:p>
          <a:p>
            <a:pPr algn="just" eaLnBrk="1" hangingPunct="1">
              <a:spcBef>
                <a:spcPct val="0"/>
              </a:spcBef>
              <a:buClrTx/>
              <a:buSzTx/>
              <a:buFontTx/>
              <a:buNone/>
            </a:pPr>
            <a:r>
              <a:rPr lang="es-AR" altLang="zh-CN" sz="1100">
                <a:solidFill>
                  <a:schemeClr val="folHlink"/>
                </a:solidFill>
                <a:ea typeface="SimSun" panose="02010600030101010101" pitchFamily="2" charset="-122"/>
              </a:rPr>
              <a:t>El gerente del área desea poder pedir, en cualquier momento, un listado con la cantidad de alumnos (reales) que ingresaron. Dicha información debe salir discriminada día por día para el periodo de tiempo que él determine, y por cada día discriminado por tipo de visita. Y otro listado donde pueda observar que cantidad de cada uno de los grados reservaron, entre dos fechas a determinar, cada una de los tipos de visitas que existen. </a:t>
            </a:r>
          </a:p>
          <a:p>
            <a:pPr algn="just" eaLnBrk="1" hangingPunct="1">
              <a:spcBef>
                <a:spcPct val="0"/>
              </a:spcBef>
              <a:buClrTx/>
              <a:buSzTx/>
              <a:buFontTx/>
              <a:buNone/>
            </a:pPr>
            <a:endParaRPr lang="es-AR" altLang="zh-CN" sz="500">
              <a:solidFill>
                <a:schemeClr val="folHlink"/>
              </a:solidFill>
              <a:ea typeface="SimSun" panose="02010600030101010101" pitchFamily="2" charset="-122"/>
            </a:endParaRPr>
          </a:p>
          <a:p>
            <a:pPr algn="just" eaLnBrk="1" hangingPunct="1">
              <a:spcBef>
                <a:spcPct val="0"/>
              </a:spcBef>
              <a:buClrTx/>
              <a:buSzTx/>
              <a:buFontTx/>
              <a:buNone/>
            </a:pPr>
            <a:r>
              <a:rPr lang="es-AR" altLang="zh-CN" sz="1100">
                <a:solidFill>
                  <a:schemeClr val="folHlink"/>
                </a:solidFill>
                <a:ea typeface="SimSun" panose="02010600030101010101" pitchFamily="2" charset="-122"/>
              </a:rPr>
              <a:t>El sistema debe permitir, además, permitir que el responsable de Recepción de reservas, consulte quienes fueron los guías (Código de guía, y Nombre de guía), que participaron en una reserva específica, teniendo identificado cual fue el guía responsable por cada tipo de visita de la misma, ya que puede existir una queja de alguna escuela. Además se desea poder realizar un </a:t>
            </a:r>
            <a:r>
              <a:rPr lang="es-AR" altLang="zh-CN" sz="1100" err="1">
                <a:solidFill>
                  <a:schemeClr val="folHlink"/>
                </a:solidFill>
                <a:ea typeface="SimSun" panose="02010600030101010101" pitchFamily="2" charset="-122"/>
              </a:rPr>
              <a:t>mailing</a:t>
            </a:r>
            <a:r>
              <a:rPr lang="es-AR" altLang="zh-CN" sz="1100">
                <a:solidFill>
                  <a:schemeClr val="folHlink"/>
                </a:solidFill>
                <a:ea typeface="SimSun" panose="02010600030101010101" pitchFamily="2" charset="-122"/>
              </a:rPr>
              <a:t>, con Nombre, Domicilio y Teléfono(s), de todas las escuelas que alguna vez realizaron una reserva. </a:t>
            </a: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A9BD7587-0100-424E-8A3A-6F2FD17857F7}"/>
              </a:ext>
            </a:extLst>
          </p:cNvPr>
          <p:cNvSpPr>
            <a:spLocks noGrp="1" noChangeArrowheads="1"/>
          </p:cNvSpPr>
          <p:nvPr>
            <p:ph type="title"/>
          </p:nvPr>
        </p:nvSpPr>
        <p:spPr>
          <a:xfrm>
            <a:off x="1187450" y="260350"/>
            <a:ext cx="7793038" cy="1143000"/>
          </a:xfrm>
          <a:noFill/>
        </p:spPr>
        <p:txBody>
          <a:bodyPr/>
          <a:lstStyle/>
          <a:p>
            <a:pPr algn="ctr"/>
            <a:r>
              <a:rPr lang="es-AR" altLang="zh-CN">
                <a:ea typeface="SimSun" panose="02010600030101010101" pitchFamily="2" charset="-122"/>
              </a:rPr>
              <a:t>Actividad: </a:t>
            </a:r>
            <a:r>
              <a:rPr lang="es-AR" altLang="zh-CN" sz="3200">
                <a:ea typeface="SimSun" panose="02010600030101010101" pitchFamily="2" charset="-122"/>
              </a:rPr>
              <a:t>CASO JURASSIC PARK</a:t>
            </a:r>
            <a:r>
              <a:rPr lang="es-ES" altLang="zh-CN" sz="3200">
                <a:ea typeface="SimSun" panose="02010600030101010101" pitchFamily="2" charset="-122"/>
              </a:rPr>
              <a:t> </a:t>
            </a:r>
            <a:endParaRPr lang="es-ES" altLang="es-AR" sz="3200"/>
          </a:p>
        </p:txBody>
      </p:sp>
      <p:sp>
        <p:nvSpPr>
          <p:cNvPr id="51203" name="Rectangle 6">
            <a:extLst>
              <a:ext uri="{FF2B5EF4-FFF2-40B4-BE49-F238E27FC236}">
                <a16:creationId xmlns:a16="http://schemas.microsoft.com/office/drawing/2014/main" id="{9C9955F8-B046-41DB-A926-AC514ED4EFAF}"/>
              </a:ext>
            </a:extLst>
          </p:cNvPr>
          <p:cNvSpPr>
            <a:spLocks noChangeArrowheads="1"/>
          </p:cNvSpPr>
          <p:nvPr/>
        </p:nvSpPr>
        <p:spPr bwMode="auto">
          <a:xfrm>
            <a:off x="0" y="355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s-AR" altLang="es-AR" sz="1400">
              <a:solidFill>
                <a:schemeClr val="folHlink"/>
              </a:solidFill>
            </a:endParaRPr>
          </a:p>
        </p:txBody>
      </p:sp>
      <p:sp>
        <p:nvSpPr>
          <p:cNvPr id="51204" name="Rectangle 7">
            <a:extLst>
              <a:ext uri="{FF2B5EF4-FFF2-40B4-BE49-F238E27FC236}">
                <a16:creationId xmlns:a16="http://schemas.microsoft.com/office/drawing/2014/main" id="{12537DEE-DA7F-421E-8B4B-AFAA31C8C143}"/>
              </a:ext>
            </a:extLst>
          </p:cNvPr>
          <p:cNvSpPr>
            <a:spLocks noChangeArrowheads="1"/>
          </p:cNvSpPr>
          <p:nvPr/>
        </p:nvSpPr>
        <p:spPr bwMode="auto">
          <a:xfrm>
            <a:off x="684213" y="1704975"/>
            <a:ext cx="5400675" cy="4737100"/>
          </a:xfrm>
          <a:prstGeom prst="rect">
            <a:avLst/>
          </a:prstGeom>
          <a:solidFill>
            <a:srgbClr val="EFF3D5"/>
          </a:solidFill>
          <a:ln>
            <a:noFill/>
          </a:ln>
          <a:effectLst/>
          <a:extLs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lgn="ctr" eaLnBrk="1" hangingPunct="1">
              <a:spcBef>
                <a:spcPct val="0"/>
              </a:spcBef>
              <a:buClrTx/>
              <a:buSzTx/>
              <a:buFontTx/>
              <a:buNone/>
            </a:pPr>
            <a:r>
              <a:rPr lang="es-AR" altLang="zh-CN" sz="1600" b="1">
                <a:solidFill>
                  <a:schemeClr val="folHlink"/>
                </a:solidFill>
                <a:ea typeface="Droid Sans Fallback"/>
                <a:cs typeface="FreeSans"/>
              </a:rPr>
              <a:t>RESERVA</a:t>
            </a:r>
          </a:p>
          <a:p>
            <a:pPr algn="ctr" eaLnBrk="1" hangingPunct="1">
              <a:spcBef>
                <a:spcPct val="0"/>
              </a:spcBef>
              <a:buClrTx/>
              <a:buSzTx/>
              <a:buFontTx/>
              <a:buNone/>
            </a:pPr>
            <a:endParaRPr lang="es-ES" altLang="zh-CN" sz="1600" b="1">
              <a:solidFill>
                <a:schemeClr val="folHlink"/>
              </a:solidFill>
              <a:ea typeface="Droid Sans Fallback"/>
              <a:cs typeface="FreeSans"/>
            </a:endParaRPr>
          </a:p>
          <a:p>
            <a:pPr algn="ctr" eaLnBrk="1" hangingPunct="1">
              <a:spcBef>
                <a:spcPct val="0"/>
              </a:spcBef>
              <a:buClrTx/>
              <a:buSzTx/>
              <a:buFontTx/>
              <a:buNone/>
            </a:pPr>
            <a:r>
              <a:rPr lang="es-AR" altLang="zh-CN" sz="1600" err="1">
                <a:solidFill>
                  <a:schemeClr val="folHlink"/>
                </a:solidFill>
                <a:ea typeface="Droid Sans Fallback"/>
                <a:cs typeface="FreeSans"/>
              </a:rPr>
              <a:t>Número_Reserva</a:t>
            </a:r>
            <a:endParaRPr lang="es-ES" altLang="zh-CN" sz="1600">
              <a:solidFill>
                <a:schemeClr val="folHlink"/>
              </a:solidFill>
              <a:ea typeface="Droid Sans Fallback"/>
              <a:cs typeface="FreeSans"/>
            </a:endParaRPr>
          </a:p>
          <a:p>
            <a:pPr algn="ctr" eaLnBrk="1" hangingPunct="1">
              <a:spcBef>
                <a:spcPct val="0"/>
              </a:spcBef>
              <a:buClrTx/>
              <a:buSzTx/>
              <a:buFontTx/>
              <a:buNone/>
            </a:pPr>
            <a:r>
              <a:rPr lang="es-AR" altLang="zh-CN" sz="1600" err="1">
                <a:solidFill>
                  <a:schemeClr val="folHlink"/>
                </a:solidFill>
                <a:ea typeface="Droid Sans Fallback"/>
                <a:cs typeface="FreeSans"/>
              </a:rPr>
              <a:t>Fecha_Visita_Reservada</a:t>
            </a:r>
            <a:endParaRPr lang="es-ES" altLang="zh-CN" sz="1600">
              <a:solidFill>
                <a:schemeClr val="folHlink"/>
              </a:solidFill>
              <a:ea typeface="Droid Sans Fallback"/>
              <a:cs typeface="FreeSans"/>
            </a:endParaRPr>
          </a:p>
          <a:p>
            <a:pPr algn="ctr" eaLnBrk="1" hangingPunct="1">
              <a:spcBef>
                <a:spcPct val="0"/>
              </a:spcBef>
              <a:buClrTx/>
              <a:buSzTx/>
              <a:buFontTx/>
              <a:buNone/>
            </a:pPr>
            <a:r>
              <a:rPr lang="es-AR" altLang="zh-CN" sz="1600" err="1">
                <a:solidFill>
                  <a:schemeClr val="folHlink"/>
                </a:solidFill>
                <a:ea typeface="Droid Sans Fallback"/>
                <a:cs typeface="FreeSans"/>
              </a:rPr>
              <a:t>Hora_Visita_Reservada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Codigo_Escuela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Nombre_Escuela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Domicilio_Escuela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Teléfono_Escuela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Codigo_Tipo_Visita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Descripción_Tipo_Visita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Arancel_por_Alumno</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Cantidad_Alumnos_Reservados</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Cantidad_Alumnos_Reales</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Codigo_Guia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Nombre_Guia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Domicilio_Guia</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Numero_Grado</a:t>
            </a:r>
            <a:endParaRPr lang="es-ES" altLang="zh-CN" sz="1600">
              <a:solidFill>
                <a:schemeClr val="folHlink"/>
              </a:solidFill>
              <a:ea typeface="SimSun" panose="02010600030101010101" pitchFamily="2" charset="-122"/>
              <a:cs typeface="FreeSans"/>
            </a:endParaRPr>
          </a:p>
          <a:p>
            <a:pPr algn="ctr" eaLnBrk="1" hangingPunct="1">
              <a:spcBef>
                <a:spcPct val="0"/>
              </a:spcBef>
              <a:buClrTx/>
              <a:buSzTx/>
              <a:buFontTx/>
              <a:buNone/>
            </a:pPr>
            <a:r>
              <a:rPr lang="es-AR" altLang="zh-CN" sz="1600" err="1">
                <a:solidFill>
                  <a:schemeClr val="folHlink"/>
                </a:solidFill>
                <a:ea typeface="SimSun" panose="02010600030101010101" pitchFamily="2" charset="-122"/>
                <a:cs typeface="FreeSans"/>
              </a:rPr>
              <a:t>Descripción_Grado</a:t>
            </a:r>
            <a:endParaRPr lang="es-AR" altLang="zh-CN" sz="1600">
              <a:solidFill>
                <a:schemeClr val="folHlink"/>
              </a:solidFill>
              <a:ea typeface="SimSun" panose="02010600030101010101" pitchFamily="2" charset="-122"/>
              <a:cs typeface="FreeSans"/>
            </a:endParaRPr>
          </a:p>
        </p:txBody>
      </p:sp>
      <p:sp>
        <p:nvSpPr>
          <p:cNvPr id="2" name="1 CuadroTexto">
            <a:extLst>
              <a:ext uri="{FF2B5EF4-FFF2-40B4-BE49-F238E27FC236}">
                <a16:creationId xmlns:a16="http://schemas.microsoft.com/office/drawing/2014/main" id="{E587105E-89AD-4F8D-8330-E65E75A3A08A}"/>
              </a:ext>
            </a:extLst>
          </p:cNvPr>
          <p:cNvSpPr txBox="1">
            <a:spLocks noChangeArrowheads="1"/>
          </p:cNvSpPr>
          <p:nvPr/>
        </p:nvSpPr>
        <p:spPr bwMode="auto">
          <a:xfrm>
            <a:off x="6227763" y="1704975"/>
            <a:ext cx="2370137"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a:spcBef>
                <a:spcPct val="0"/>
              </a:spcBef>
              <a:buClrTx/>
              <a:buSzTx/>
              <a:buFontTx/>
              <a:buNone/>
            </a:pPr>
            <a:r>
              <a:rPr lang="es-AR" altLang="es-AR" sz="3000" b="1">
                <a:solidFill>
                  <a:srgbClr val="990033"/>
                </a:solidFill>
              </a:rPr>
              <a:t>Entidad </a:t>
            </a:r>
          </a:p>
          <a:p>
            <a:pPr>
              <a:spcBef>
                <a:spcPct val="0"/>
              </a:spcBef>
              <a:buClrTx/>
              <a:buSzTx/>
              <a:buFontTx/>
              <a:buNone/>
            </a:pPr>
            <a:r>
              <a:rPr lang="es-AR" altLang="es-AR" sz="3000" b="1">
                <a:solidFill>
                  <a:srgbClr val="990033"/>
                </a:solidFill>
              </a:rPr>
              <a:t>“Universal”</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4">
            <a:extLst>
              <a:ext uri="{FF2B5EF4-FFF2-40B4-BE49-F238E27FC236}">
                <a16:creationId xmlns:a16="http://schemas.microsoft.com/office/drawing/2014/main" id="{603F9354-3304-401D-A02F-3F79D3F906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484313"/>
            <a:ext cx="5348288" cy="537368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2227" name="Rectangle 5">
            <a:extLst>
              <a:ext uri="{FF2B5EF4-FFF2-40B4-BE49-F238E27FC236}">
                <a16:creationId xmlns:a16="http://schemas.microsoft.com/office/drawing/2014/main" id="{652B9A55-A8A3-4BC6-93E4-DE25159B173E}"/>
              </a:ext>
            </a:extLst>
          </p:cNvPr>
          <p:cNvSpPr>
            <a:spLocks noGrp="1" noChangeArrowheads="1"/>
          </p:cNvSpPr>
          <p:nvPr>
            <p:ph type="title"/>
          </p:nvPr>
        </p:nvSpPr>
        <p:spPr>
          <a:xfrm>
            <a:off x="1187450" y="404813"/>
            <a:ext cx="7793038" cy="1143000"/>
          </a:xfrm>
          <a:noFill/>
        </p:spPr>
        <p:txBody>
          <a:bodyPr/>
          <a:lstStyle/>
          <a:p>
            <a:r>
              <a:rPr lang="es-AR" altLang="zh-CN">
                <a:ea typeface="SimSun" panose="02010600030101010101" pitchFamily="2" charset="-122"/>
              </a:rPr>
              <a:t>CASO JURASSIC PARK</a:t>
            </a:r>
            <a:r>
              <a:rPr lang="es-ES" altLang="zh-CN">
                <a:ea typeface="SimSun" panose="02010600030101010101" pitchFamily="2" charset="-122"/>
              </a:rPr>
              <a:t> </a:t>
            </a:r>
            <a:endParaRPr lang="es-ES" altLang="es-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99CEFCAA-E1DD-4CF3-AFCD-E5300B838B46}"/>
              </a:ext>
            </a:extLst>
          </p:cNvPr>
          <p:cNvSpPr>
            <a:spLocks noGrp="1" noChangeArrowheads="1"/>
          </p:cNvSpPr>
          <p:nvPr>
            <p:ph type="title"/>
          </p:nvPr>
        </p:nvSpPr>
        <p:spPr>
          <a:xfrm>
            <a:off x="827088" y="260350"/>
            <a:ext cx="7793037" cy="732282"/>
          </a:xfrm>
        </p:spPr>
        <p:txBody>
          <a:bodyPr/>
          <a:lstStyle/>
          <a:p>
            <a:pPr algn="ctr" eaLnBrk="1" hangingPunct="1"/>
            <a:r>
              <a:rPr lang="es-AR" altLang="es-ES"/>
              <a:t>Criterios de buen diseño</a:t>
            </a:r>
          </a:p>
        </p:txBody>
      </p:sp>
      <p:sp>
        <p:nvSpPr>
          <p:cNvPr id="53251" name="Text Box 3">
            <a:extLst>
              <a:ext uri="{FF2B5EF4-FFF2-40B4-BE49-F238E27FC236}">
                <a16:creationId xmlns:a16="http://schemas.microsoft.com/office/drawing/2014/main" id="{05F4B751-1020-4D30-8A8B-D01EA2454F30}"/>
              </a:ext>
            </a:extLst>
          </p:cNvPr>
          <p:cNvSpPr txBox="1">
            <a:spLocks noChangeArrowheads="1"/>
          </p:cNvSpPr>
          <p:nvPr/>
        </p:nvSpPr>
        <p:spPr bwMode="auto">
          <a:xfrm>
            <a:off x="154587" y="3527123"/>
            <a:ext cx="2941831" cy="400110"/>
          </a:xfrm>
          <a:prstGeom prst="rect">
            <a:avLst/>
          </a:prstGeom>
          <a:solidFill>
            <a:srgbClr val="002060"/>
          </a:solidFill>
          <a:ln>
            <a:noFill/>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2000" b="1">
                <a:solidFill>
                  <a:schemeClr val="bg1">
                    <a:lumMod val="95000"/>
                  </a:schemeClr>
                </a:solidFill>
              </a:rPr>
              <a:t>B. </a:t>
            </a:r>
            <a:r>
              <a:rPr lang="en-US" altLang="es-ES" sz="2000" b="1" err="1">
                <a:solidFill>
                  <a:schemeClr val="bg1">
                    <a:lumMod val="95000"/>
                  </a:schemeClr>
                </a:solidFill>
              </a:rPr>
              <a:t>Evitar</a:t>
            </a:r>
            <a:r>
              <a:rPr lang="en-US" altLang="es-ES" sz="2000" b="1">
                <a:solidFill>
                  <a:schemeClr val="bg1">
                    <a:lumMod val="95000"/>
                  </a:schemeClr>
                </a:solidFill>
              </a:rPr>
              <a:t> </a:t>
            </a:r>
            <a:r>
              <a:rPr lang="en-US" altLang="es-ES" sz="2000" b="1" err="1">
                <a:solidFill>
                  <a:schemeClr val="bg1">
                    <a:lumMod val="95000"/>
                  </a:schemeClr>
                </a:solidFill>
              </a:rPr>
              <a:t>redundancia</a:t>
            </a:r>
            <a:endParaRPr lang="en-US" altLang="es-ES" sz="2000" b="1">
              <a:solidFill>
                <a:schemeClr val="bg1">
                  <a:lumMod val="95000"/>
                </a:schemeClr>
              </a:solidFill>
            </a:endParaRPr>
          </a:p>
        </p:txBody>
      </p:sp>
      <p:sp>
        <p:nvSpPr>
          <p:cNvPr id="53252" name="Text Box 4">
            <a:extLst>
              <a:ext uri="{FF2B5EF4-FFF2-40B4-BE49-F238E27FC236}">
                <a16:creationId xmlns:a16="http://schemas.microsoft.com/office/drawing/2014/main" id="{1D8462DF-69B9-438E-93BF-77A70203B7CD}"/>
              </a:ext>
            </a:extLst>
          </p:cNvPr>
          <p:cNvSpPr txBox="1">
            <a:spLocks noChangeArrowheads="1"/>
          </p:cNvSpPr>
          <p:nvPr/>
        </p:nvSpPr>
        <p:spPr bwMode="auto">
          <a:xfrm>
            <a:off x="143493" y="2378940"/>
            <a:ext cx="3842719" cy="400110"/>
          </a:xfrm>
          <a:prstGeom prst="rect">
            <a:avLst/>
          </a:prstGeom>
          <a:solidFill>
            <a:srgbClr val="002060"/>
          </a:solidFill>
          <a:ln>
            <a:noFill/>
          </a:ln>
        </p:spPr>
        <p:txBody>
          <a:bodyPr wrap="none">
            <a:spAutoFit/>
          </a:bodyPr>
          <a:lstStyle>
            <a:lvl1pPr marL="457200" indent="-457200">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AutoNum type="alphaUcPeriod"/>
            </a:pPr>
            <a:r>
              <a:rPr lang="en-US" altLang="es-ES" sz="2000" b="1" err="1">
                <a:solidFill>
                  <a:schemeClr val="bg1">
                    <a:lumMod val="95000"/>
                  </a:schemeClr>
                </a:solidFill>
              </a:rPr>
              <a:t>Representar</a:t>
            </a:r>
            <a:r>
              <a:rPr lang="en-US" altLang="es-ES" sz="2000" b="1">
                <a:solidFill>
                  <a:schemeClr val="bg1">
                    <a:lumMod val="95000"/>
                  </a:schemeClr>
                </a:solidFill>
              </a:rPr>
              <a:t> </a:t>
            </a:r>
            <a:r>
              <a:rPr lang="en-US" altLang="es-ES" sz="2000" b="1" err="1">
                <a:solidFill>
                  <a:schemeClr val="bg1">
                    <a:lumMod val="95000"/>
                  </a:schemeClr>
                </a:solidFill>
              </a:rPr>
              <a:t>información</a:t>
            </a:r>
            <a:endParaRPr lang="en-US" altLang="es-ES" sz="2000" b="1">
              <a:solidFill>
                <a:schemeClr val="bg1">
                  <a:lumMod val="95000"/>
                </a:schemeClr>
              </a:solidFill>
            </a:endParaRPr>
          </a:p>
        </p:txBody>
      </p:sp>
      <p:sp>
        <p:nvSpPr>
          <p:cNvPr id="53253" name="Text Box 5">
            <a:extLst>
              <a:ext uri="{FF2B5EF4-FFF2-40B4-BE49-F238E27FC236}">
                <a16:creationId xmlns:a16="http://schemas.microsoft.com/office/drawing/2014/main" id="{106E3708-FC47-4867-8695-B7C2CCC88B57}"/>
              </a:ext>
            </a:extLst>
          </p:cNvPr>
          <p:cNvSpPr txBox="1">
            <a:spLocks noChangeArrowheads="1"/>
          </p:cNvSpPr>
          <p:nvPr/>
        </p:nvSpPr>
        <p:spPr bwMode="auto">
          <a:xfrm>
            <a:off x="217488" y="4660900"/>
            <a:ext cx="3019425" cy="554038"/>
          </a:xfrm>
          <a:prstGeom prst="rect">
            <a:avLst/>
          </a:prstGeom>
          <a:solidFill>
            <a:srgbClr val="002060"/>
          </a:solidFill>
          <a:ln>
            <a:noFill/>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800" b="1">
                <a:solidFill>
                  <a:schemeClr val="bg1">
                    <a:lumMod val="95000"/>
                  </a:schemeClr>
                </a:solidFill>
              </a:rPr>
              <a:t>C. Asegurar consistencia</a:t>
            </a:r>
          </a:p>
          <a:p>
            <a:pPr eaLnBrk="1" hangingPunct="1">
              <a:spcBef>
                <a:spcPct val="0"/>
              </a:spcBef>
              <a:buClrTx/>
              <a:buSzTx/>
              <a:buFont typeface="Wingdings" panose="05000000000000000000" pitchFamily="2" charset="2"/>
              <a:buNone/>
            </a:pPr>
            <a:r>
              <a:rPr lang="en-US" altLang="es-ES" sz="1200">
                <a:solidFill>
                  <a:schemeClr val="bg1">
                    <a:lumMod val="95000"/>
                  </a:schemeClr>
                </a:solidFill>
              </a:rPr>
              <a:t>Verificar restricciones a mínimo costo</a:t>
            </a:r>
          </a:p>
        </p:txBody>
      </p:sp>
      <p:sp>
        <p:nvSpPr>
          <p:cNvPr id="53254" name="Text Box 6">
            <a:extLst>
              <a:ext uri="{FF2B5EF4-FFF2-40B4-BE49-F238E27FC236}">
                <a16:creationId xmlns:a16="http://schemas.microsoft.com/office/drawing/2014/main" id="{FB737D42-C357-4E40-8187-6AC48EDBBEE6}"/>
              </a:ext>
            </a:extLst>
          </p:cNvPr>
          <p:cNvSpPr txBox="1">
            <a:spLocks noChangeArrowheads="1"/>
          </p:cNvSpPr>
          <p:nvPr/>
        </p:nvSpPr>
        <p:spPr bwMode="auto">
          <a:xfrm>
            <a:off x="217488" y="5870575"/>
            <a:ext cx="5546725" cy="366713"/>
          </a:xfrm>
          <a:prstGeom prst="rect">
            <a:avLst/>
          </a:prstGeom>
          <a:solidFill>
            <a:srgbClr val="002060"/>
          </a:solidFill>
          <a:ln>
            <a:noFill/>
          </a:ln>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800" b="1">
                <a:solidFill>
                  <a:schemeClr val="bg1">
                    <a:lumMod val="95000"/>
                  </a:schemeClr>
                </a:solidFill>
              </a:rPr>
              <a:t>D. Claridad conceptual (semántica del modelo)</a:t>
            </a:r>
          </a:p>
        </p:txBody>
      </p:sp>
      <p:sp>
        <p:nvSpPr>
          <p:cNvPr id="90119" name="Line 7">
            <a:extLst>
              <a:ext uri="{FF2B5EF4-FFF2-40B4-BE49-F238E27FC236}">
                <a16:creationId xmlns:a16="http://schemas.microsoft.com/office/drawing/2014/main" id="{C109B77C-51F0-4643-AD31-BC0203A4D6B3}"/>
              </a:ext>
            </a:extLst>
          </p:cNvPr>
          <p:cNvSpPr>
            <a:spLocks noChangeShapeType="1"/>
          </p:cNvSpPr>
          <p:nvPr/>
        </p:nvSpPr>
        <p:spPr bwMode="auto">
          <a:xfrm flipV="1">
            <a:off x="3132138" y="3282950"/>
            <a:ext cx="576262" cy="4333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90120" name="Text Box 8">
            <a:extLst>
              <a:ext uri="{FF2B5EF4-FFF2-40B4-BE49-F238E27FC236}">
                <a16:creationId xmlns:a16="http://schemas.microsoft.com/office/drawing/2014/main" id="{890A61A6-DC0E-4769-A8DA-E793612EE964}"/>
              </a:ext>
            </a:extLst>
          </p:cNvPr>
          <p:cNvSpPr txBox="1">
            <a:spLocks noChangeArrowheads="1"/>
          </p:cNvSpPr>
          <p:nvPr/>
        </p:nvSpPr>
        <p:spPr bwMode="auto">
          <a:xfrm>
            <a:off x="3708400" y="2995613"/>
            <a:ext cx="21590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dirty="0" err="1">
                <a:solidFill>
                  <a:schemeClr val="folHlink"/>
                </a:solidFill>
              </a:rPr>
              <a:t>Reducir</a:t>
            </a:r>
            <a:r>
              <a:rPr lang="en-US" altLang="es-ES" sz="1400" dirty="0">
                <a:solidFill>
                  <a:schemeClr val="folHlink"/>
                </a:solidFill>
              </a:rPr>
              <a:t> </a:t>
            </a:r>
            <a:r>
              <a:rPr lang="en-US" altLang="es-ES" sz="1400" dirty="0" err="1">
                <a:solidFill>
                  <a:schemeClr val="folHlink"/>
                </a:solidFill>
              </a:rPr>
              <a:t>espacio</a:t>
            </a:r>
            <a:r>
              <a:rPr lang="en-US" altLang="es-ES" sz="1400" dirty="0">
                <a:solidFill>
                  <a:schemeClr val="folHlink"/>
                </a:solidFill>
              </a:rPr>
              <a:t> de </a:t>
            </a:r>
            <a:r>
              <a:rPr lang="en-US" altLang="es-ES" sz="1400" dirty="0" err="1">
                <a:solidFill>
                  <a:schemeClr val="folHlink"/>
                </a:solidFill>
              </a:rPr>
              <a:t>almacenamiento</a:t>
            </a:r>
            <a:endParaRPr lang="en-US" altLang="es-ES" sz="1400" dirty="0">
              <a:solidFill>
                <a:schemeClr val="folHlink"/>
              </a:solidFill>
            </a:endParaRPr>
          </a:p>
        </p:txBody>
      </p:sp>
      <p:sp>
        <p:nvSpPr>
          <p:cNvPr id="90121" name="Line 9">
            <a:extLst>
              <a:ext uri="{FF2B5EF4-FFF2-40B4-BE49-F238E27FC236}">
                <a16:creationId xmlns:a16="http://schemas.microsoft.com/office/drawing/2014/main" id="{BD668E5D-92FB-4D54-8BD2-3241E8690901}"/>
              </a:ext>
            </a:extLst>
          </p:cNvPr>
          <p:cNvSpPr>
            <a:spLocks noChangeShapeType="1"/>
          </p:cNvSpPr>
          <p:nvPr/>
        </p:nvSpPr>
        <p:spPr bwMode="auto">
          <a:xfrm flipV="1">
            <a:off x="3132138" y="3716338"/>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90122" name="Text Box 10">
            <a:extLst>
              <a:ext uri="{FF2B5EF4-FFF2-40B4-BE49-F238E27FC236}">
                <a16:creationId xmlns:a16="http://schemas.microsoft.com/office/drawing/2014/main" id="{0627D182-7CA7-41F8-BC44-8C9152BFE15B}"/>
              </a:ext>
            </a:extLst>
          </p:cNvPr>
          <p:cNvSpPr txBox="1">
            <a:spLocks noChangeArrowheads="1"/>
          </p:cNvSpPr>
          <p:nvPr/>
        </p:nvSpPr>
        <p:spPr bwMode="auto">
          <a:xfrm>
            <a:off x="3708400" y="3554413"/>
            <a:ext cx="2447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solidFill>
                  <a:schemeClr val="folHlink"/>
                </a:solidFill>
              </a:rPr>
              <a:t>Menor costo de actualización</a:t>
            </a:r>
          </a:p>
        </p:txBody>
      </p:sp>
      <p:sp>
        <p:nvSpPr>
          <p:cNvPr id="90123" name="Line 11">
            <a:extLst>
              <a:ext uri="{FF2B5EF4-FFF2-40B4-BE49-F238E27FC236}">
                <a16:creationId xmlns:a16="http://schemas.microsoft.com/office/drawing/2014/main" id="{1B794D78-288F-49EF-A7A1-7BF7A5BB8C0A}"/>
              </a:ext>
            </a:extLst>
          </p:cNvPr>
          <p:cNvSpPr>
            <a:spLocks noChangeShapeType="1"/>
          </p:cNvSpPr>
          <p:nvPr/>
        </p:nvSpPr>
        <p:spPr bwMode="auto">
          <a:xfrm>
            <a:off x="3132138" y="3716338"/>
            <a:ext cx="576262" cy="358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90124" name="Text Box 12">
            <a:extLst>
              <a:ext uri="{FF2B5EF4-FFF2-40B4-BE49-F238E27FC236}">
                <a16:creationId xmlns:a16="http://schemas.microsoft.com/office/drawing/2014/main" id="{31CFC8EA-4D06-4DA6-8614-BB4F51E40125}"/>
              </a:ext>
            </a:extLst>
          </p:cNvPr>
          <p:cNvSpPr txBox="1">
            <a:spLocks noChangeArrowheads="1"/>
          </p:cNvSpPr>
          <p:nvPr/>
        </p:nvSpPr>
        <p:spPr bwMode="auto">
          <a:xfrm>
            <a:off x="3708400" y="3859213"/>
            <a:ext cx="2232025"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solidFill>
                  <a:schemeClr val="folHlink"/>
                </a:solidFill>
              </a:rPr>
              <a:t>Menor probabilidad de generar inconsistencias</a:t>
            </a:r>
          </a:p>
        </p:txBody>
      </p:sp>
      <p:sp>
        <p:nvSpPr>
          <p:cNvPr id="90125" name="Line 13">
            <a:extLst>
              <a:ext uri="{FF2B5EF4-FFF2-40B4-BE49-F238E27FC236}">
                <a16:creationId xmlns:a16="http://schemas.microsoft.com/office/drawing/2014/main" id="{E8966E83-D028-4E48-96F4-E2E86E58D733}"/>
              </a:ext>
            </a:extLst>
          </p:cNvPr>
          <p:cNvSpPr>
            <a:spLocks noChangeShapeType="1"/>
          </p:cNvSpPr>
          <p:nvPr/>
        </p:nvSpPr>
        <p:spPr bwMode="auto">
          <a:xfrm>
            <a:off x="3132138" y="3716338"/>
            <a:ext cx="576262" cy="863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90126" name="Text Box 14">
            <a:extLst>
              <a:ext uri="{FF2B5EF4-FFF2-40B4-BE49-F238E27FC236}">
                <a16:creationId xmlns:a16="http://schemas.microsoft.com/office/drawing/2014/main" id="{8E7F9C94-6655-47C5-BAEA-1ED52C55970B}"/>
              </a:ext>
            </a:extLst>
          </p:cNvPr>
          <p:cNvSpPr txBox="1">
            <a:spLocks noChangeArrowheads="1"/>
          </p:cNvSpPr>
          <p:nvPr/>
        </p:nvSpPr>
        <p:spPr bwMode="auto">
          <a:xfrm>
            <a:off x="3708400" y="4419600"/>
            <a:ext cx="2139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Costo de consulta (+ / -)</a:t>
            </a:r>
          </a:p>
        </p:txBody>
      </p:sp>
      <p:sp>
        <p:nvSpPr>
          <p:cNvPr id="90127" name="Text Box 15">
            <a:extLst>
              <a:ext uri="{FF2B5EF4-FFF2-40B4-BE49-F238E27FC236}">
                <a16:creationId xmlns:a16="http://schemas.microsoft.com/office/drawing/2014/main" id="{2E499C82-B964-49C3-B0B3-85839A9867B2}"/>
              </a:ext>
            </a:extLst>
          </p:cNvPr>
          <p:cNvSpPr txBox="1">
            <a:spLocks noChangeArrowheads="1"/>
          </p:cNvSpPr>
          <p:nvPr/>
        </p:nvSpPr>
        <p:spPr bwMode="auto">
          <a:xfrm>
            <a:off x="6588125" y="2371725"/>
            <a:ext cx="2058988" cy="457200"/>
          </a:xfrm>
          <a:prstGeom prst="rect">
            <a:avLst/>
          </a:prstGeom>
          <a:solidFill>
            <a:schemeClr val="tx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2400">
                <a:solidFill>
                  <a:schemeClr val="bg1"/>
                </a:solidFill>
              </a:rPr>
              <a:t>Normalización</a:t>
            </a:r>
          </a:p>
        </p:txBody>
      </p:sp>
      <p:grpSp>
        <p:nvGrpSpPr>
          <p:cNvPr id="2" name="Group 16">
            <a:extLst>
              <a:ext uri="{FF2B5EF4-FFF2-40B4-BE49-F238E27FC236}">
                <a16:creationId xmlns:a16="http://schemas.microsoft.com/office/drawing/2014/main" id="{8399998C-FE42-4ECA-9805-6646A12A237C}"/>
              </a:ext>
            </a:extLst>
          </p:cNvPr>
          <p:cNvGrpSpPr>
            <a:grpSpLocks/>
          </p:cNvGrpSpPr>
          <p:nvPr/>
        </p:nvGrpSpPr>
        <p:grpSpPr bwMode="auto">
          <a:xfrm>
            <a:off x="6659563" y="2852738"/>
            <a:ext cx="2289175" cy="957262"/>
            <a:chOff x="4195" y="1797"/>
            <a:chExt cx="1442" cy="603"/>
          </a:xfrm>
        </p:grpSpPr>
        <p:sp>
          <p:nvSpPr>
            <p:cNvPr id="53284" name="Text Box 17">
              <a:extLst>
                <a:ext uri="{FF2B5EF4-FFF2-40B4-BE49-F238E27FC236}">
                  <a16:creationId xmlns:a16="http://schemas.microsoft.com/office/drawing/2014/main" id="{DA43709A-CBB7-4102-A4D6-B1EC3260DEF7}"/>
                </a:ext>
              </a:extLst>
            </p:cNvPr>
            <p:cNvSpPr txBox="1">
              <a:spLocks noChangeArrowheads="1"/>
            </p:cNvSpPr>
            <p:nvPr/>
          </p:nvSpPr>
          <p:spPr bwMode="auto">
            <a:xfrm>
              <a:off x="4195" y="2169"/>
              <a:ext cx="113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800">
                  <a:solidFill>
                    <a:schemeClr val="folHlink"/>
                  </a:solidFill>
                </a:rPr>
                <a:t>Descomposición</a:t>
              </a:r>
            </a:p>
          </p:txBody>
        </p:sp>
        <p:sp>
          <p:nvSpPr>
            <p:cNvPr id="53285" name="Line 18">
              <a:extLst>
                <a:ext uri="{FF2B5EF4-FFF2-40B4-BE49-F238E27FC236}">
                  <a16:creationId xmlns:a16="http://schemas.microsoft.com/office/drawing/2014/main" id="{3688130D-FD42-4E4E-9236-92FB65B9BB2F}"/>
                </a:ext>
              </a:extLst>
            </p:cNvPr>
            <p:cNvSpPr>
              <a:spLocks noChangeShapeType="1"/>
            </p:cNvSpPr>
            <p:nvPr/>
          </p:nvSpPr>
          <p:spPr bwMode="auto">
            <a:xfrm>
              <a:off x="4604" y="1842"/>
              <a:ext cx="0" cy="40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a:p>
          </p:txBody>
        </p:sp>
        <p:sp>
          <p:nvSpPr>
            <p:cNvPr id="53286" name="Text Box 19">
              <a:extLst>
                <a:ext uri="{FF2B5EF4-FFF2-40B4-BE49-F238E27FC236}">
                  <a16:creationId xmlns:a16="http://schemas.microsoft.com/office/drawing/2014/main" id="{6EF69EAD-31D3-4F55-8E60-20B5898D69D5}"/>
                </a:ext>
              </a:extLst>
            </p:cNvPr>
            <p:cNvSpPr txBox="1">
              <a:spLocks noChangeArrowheads="1"/>
            </p:cNvSpPr>
            <p:nvPr/>
          </p:nvSpPr>
          <p:spPr bwMode="auto">
            <a:xfrm>
              <a:off x="4649" y="1797"/>
              <a:ext cx="98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Soluciona mediante</a:t>
              </a:r>
            </a:p>
          </p:txBody>
        </p:sp>
      </p:grpSp>
      <p:sp>
        <p:nvSpPr>
          <p:cNvPr id="90132" name="Freeform 20">
            <a:extLst>
              <a:ext uri="{FF2B5EF4-FFF2-40B4-BE49-F238E27FC236}">
                <a16:creationId xmlns:a16="http://schemas.microsoft.com/office/drawing/2014/main" id="{9D2BD443-7988-47BC-A94B-8BD49694BFA1}"/>
              </a:ext>
            </a:extLst>
          </p:cNvPr>
          <p:cNvSpPr>
            <a:spLocks/>
          </p:cNvSpPr>
          <p:nvPr/>
        </p:nvSpPr>
        <p:spPr bwMode="auto">
          <a:xfrm>
            <a:off x="4121149" y="2448935"/>
            <a:ext cx="3116263" cy="2075439"/>
          </a:xfrm>
          <a:custGeom>
            <a:avLst/>
            <a:gdLst>
              <a:gd name="T0" fmla="*/ 2147483646 w 2041"/>
              <a:gd name="T1" fmla="*/ 2147483646 h 1416"/>
              <a:gd name="T2" fmla="*/ 2147483646 w 2041"/>
              <a:gd name="T3" fmla="*/ 2147483646 h 1416"/>
              <a:gd name="T4" fmla="*/ 0 w 2041"/>
              <a:gd name="T5" fmla="*/ 0 h 1416"/>
              <a:gd name="T6" fmla="*/ 0 60000 65536"/>
              <a:gd name="T7" fmla="*/ 0 60000 65536"/>
              <a:gd name="T8" fmla="*/ 0 60000 65536"/>
              <a:gd name="T9" fmla="*/ 0 w 2041"/>
              <a:gd name="T10" fmla="*/ 0 h 1416"/>
              <a:gd name="T11" fmla="*/ 2041 w 2041"/>
              <a:gd name="T12" fmla="*/ 1416 h 1416"/>
            </a:gdLst>
            <a:ahLst/>
            <a:cxnLst>
              <a:cxn ang="T6">
                <a:pos x="T0" y="T1"/>
              </a:cxn>
              <a:cxn ang="T7">
                <a:pos x="T2" y="T3"/>
              </a:cxn>
              <a:cxn ang="T8">
                <a:pos x="T4" y="T5"/>
              </a:cxn>
            </a:cxnLst>
            <a:rect l="T9" t="T10" r="T11" b="T12"/>
            <a:pathLst>
              <a:path w="2041" h="1416">
                <a:moveTo>
                  <a:pt x="2041" y="998"/>
                </a:moveTo>
                <a:lnTo>
                  <a:pt x="2040" y="1416"/>
                </a:lnTo>
                <a:lnTo>
                  <a:pt x="0" y="0"/>
                </a:lnTo>
              </a:path>
            </a:pathLst>
          </a:custGeom>
          <a:noFill/>
          <a:ln w="9525" cap="flat" cmpd="sng">
            <a:solidFill>
              <a:schemeClr val="tx1"/>
            </a:solidFill>
            <a:prstDash val="dash"/>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square">
            <a:spAutoFit/>
          </a:bodyPr>
          <a:lstStyle/>
          <a:p>
            <a:endParaRPr lang="es-ES"/>
          </a:p>
        </p:txBody>
      </p:sp>
      <p:sp>
        <p:nvSpPr>
          <p:cNvPr id="90133" name="Line 21">
            <a:extLst>
              <a:ext uri="{FF2B5EF4-FFF2-40B4-BE49-F238E27FC236}">
                <a16:creationId xmlns:a16="http://schemas.microsoft.com/office/drawing/2014/main" id="{8E51B492-1C83-4246-B499-31093041A81C}"/>
              </a:ext>
            </a:extLst>
          </p:cNvPr>
          <p:cNvSpPr>
            <a:spLocks noChangeShapeType="1"/>
          </p:cNvSpPr>
          <p:nvPr/>
        </p:nvSpPr>
        <p:spPr bwMode="auto">
          <a:xfrm flipH="1">
            <a:off x="3851275" y="4508500"/>
            <a:ext cx="3384550" cy="576263"/>
          </a:xfrm>
          <a:prstGeom prst="line">
            <a:avLst/>
          </a:prstGeom>
          <a:noFill/>
          <a:ln w="9525">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a:p>
        </p:txBody>
      </p:sp>
      <p:sp>
        <p:nvSpPr>
          <p:cNvPr id="90134" name="Text Box 22">
            <a:extLst>
              <a:ext uri="{FF2B5EF4-FFF2-40B4-BE49-F238E27FC236}">
                <a16:creationId xmlns:a16="http://schemas.microsoft.com/office/drawing/2014/main" id="{B20DE301-900A-4685-BA89-9DBCB52EA36F}"/>
              </a:ext>
            </a:extLst>
          </p:cNvPr>
          <p:cNvSpPr txBox="1">
            <a:spLocks noChangeArrowheads="1"/>
          </p:cNvSpPr>
          <p:nvPr/>
        </p:nvSpPr>
        <p:spPr bwMode="auto">
          <a:xfrm>
            <a:off x="7235825" y="4005263"/>
            <a:ext cx="1936749"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dirty="0"/>
              <a:t>1FN, 2FN, 3FN (Codd)</a:t>
            </a:r>
          </a:p>
          <a:p>
            <a:pPr eaLnBrk="1" hangingPunct="1">
              <a:spcBef>
                <a:spcPct val="0"/>
              </a:spcBef>
              <a:buClrTx/>
              <a:buSzTx/>
              <a:buFontTx/>
              <a:buNone/>
            </a:pPr>
            <a:r>
              <a:rPr lang="en-US" altLang="es-ES" sz="1400" dirty="0">
                <a:solidFill>
                  <a:srgbClr val="002060"/>
                </a:solidFill>
              </a:rPr>
              <a:t>-Boyce-Codd</a:t>
            </a:r>
          </a:p>
          <a:p>
            <a:pPr eaLnBrk="1" hangingPunct="1">
              <a:spcBef>
                <a:spcPct val="0"/>
              </a:spcBef>
              <a:buClrTx/>
              <a:buSzTx/>
              <a:buFontTx/>
              <a:buNone/>
            </a:pPr>
            <a:r>
              <a:rPr lang="en-US" altLang="es-ES" sz="1400" dirty="0">
                <a:solidFill>
                  <a:srgbClr val="002060"/>
                </a:solidFill>
              </a:rPr>
              <a:t>-4FN (Fagin)</a:t>
            </a:r>
          </a:p>
          <a:p>
            <a:pPr eaLnBrk="1" hangingPunct="1">
              <a:spcBef>
                <a:spcPct val="0"/>
              </a:spcBef>
              <a:buClrTx/>
              <a:buSzTx/>
              <a:buFontTx/>
              <a:buNone/>
            </a:pPr>
            <a:r>
              <a:rPr lang="en-US" altLang="es-ES" sz="1400" dirty="0">
                <a:solidFill>
                  <a:srgbClr val="002060"/>
                </a:solidFill>
              </a:rPr>
              <a:t>-5FN (Fagin)</a:t>
            </a:r>
          </a:p>
        </p:txBody>
      </p:sp>
      <p:grpSp>
        <p:nvGrpSpPr>
          <p:cNvPr id="3" name="Group 23">
            <a:extLst>
              <a:ext uri="{FF2B5EF4-FFF2-40B4-BE49-F238E27FC236}">
                <a16:creationId xmlns:a16="http://schemas.microsoft.com/office/drawing/2014/main" id="{EC8F4394-2ACE-473C-850F-0B3EFA983136}"/>
              </a:ext>
            </a:extLst>
          </p:cNvPr>
          <p:cNvGrpSpPr>
            <a:grpSpLocks/>
          </p:cNvGrpSpPr>
          <p:nvPr/>
        </p:nvGrpSpPr>
        <p:grpSpPr bwMode="auto">
          <a:xfrm>
            <a:off x="4479929" y="2270126"/>
            <a:ext cx="1238251" cy="539751"/>
            <a:chOff x="2822" y="1308"/>
            <a:chExt cx="780" cy="340"/>
          </a:xfrm>
        </p:grpSpPr>
        <p:sp>
          <p:nvSpPr>
            <p:cNvPr id="53282" name="Text Box 24">
              <a:extLst>
                <a:ext uri="{FF2B5EF4-FFF2-40B4-BE49-F238E27FC236}">
                  <a16:creationId xmlns:a16="http://schemas.microsoft.com/office/drawing/2014/main" id="{8C957BB1-4838-47C8-8C97-03BB3EFDF5B4}"/>
                </a:ext>
              </a:extLst>
            </p:cNvPr>
            <p:cNvSpPr txBox="1">
              <a:spLocks noChangeArrowheads="1"/>
            </p:cNvSpPr>
            <p:nvPr/>
          </p:nvSpPr>
          <p:spPr bwMode="auto">
            <a:xfrm>
              <a:off x="2822" y="1308"/>
              <a:ext cx="16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800" b="1">
                  <a:solidFill>
                    <a:schemeClr val="hlink"/>
                  </a:solidFill>
                </a:rPr>
                <a:t>!</a:t>
              </a:r>
            </a:p>
          </p:txBody>
        </p:sp>
        <p:sp>
          <p:nvSpPr>
            <p:cNvPr id="53283" name="Text Box 25">
              <a:extLst>
                <a:ext uri="{FF2B5EF4-FFF2-40B4-BE49-F238E27FC236}">
                  <a16:creationId xmlns:a16="http://schemas.microsoft.com/office/drawing/2014/main" id="{D34B51A7-18A5-44DB-BD3E-64DD77E4B464}"/>
                </a:ext>
              </a:extLst>
            </p:cNvPr>
            <p:cNvSpPr txBox="1">
              <a:spLocks noChangeArrowheads="1"/>
            </p:cNvSpPr>
            <p:nvPr/>
          </p:nvSpPr>
          <p:spPr bwMode="auto">
            <a:xfrm>
              <a:off x="2913" y="1318"/>
              <a:ext cx="68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a:t>Sin </a:t>
              </a:r>
              <a:r>
                <a:rPr lang="en-US" altLang="es-ES" sz="1400" err="1"/>
                <a:t>pérdida</a:t>
              </a:r>
              <a:endParaRPr lang="en-US" altLang="es-ES" sz="1400"/>
            </a:p>
            <a:p>
              <a:pPr eaLnBrk="1" hangingPunct="1">
                <a:spcBef>
                  <a:spcPct val="0"/>
                </a:spcBef>
                <a:buClrTx/>
                <a:buSzTx/>
                <a:buFontTx/>
                <a:buNone/>
              </a:pPr>
              <a:r>
                <a:rPr lang="en-US" altLang="es-ES" sz="1400"/>
                <a:t>(no </a:t>
              </a:r>
              <a:r>
                <a:rPr lang="en-US" altLang="es-ES" sz="1400" err="1"/>
                <a:t>aditiva</a:t>
              </a:r>
              <a:r>
                <a:rPr lang="en-US" altLang="es-ES" sz="1400"/>
                <a:t>)</a:t>
              </a:r>
            </a:p>
          </p:txBody>
        </p:sp>
      </p:grpSp>
      <p:grpSp>
        <p:nvGrpSpPr>
          <p:cNvPr id="4" name="Group 26">
            <a:extLst>
              <a:ext uri="{FF2B5EF4-FFF2-40B4-BE49-F238E27FC236}">
                <a16:creationId xmlns:a16="http://schemas.microsoft.com/office/drawing/2014/main" id="{6C4BB297-7F01-4112-A883-2A56EB28F60B}"/>
              </a:ext>
            </a:extLst>
          </p:cNvPr>
          <p:cNvGrpSpPr>
            <a:grpSpLocks/>
          </p:cNvGrpSpPr>
          <p:nvPr/>
        </p:nvGrpSpPr>
        <p:grpSpPr bwMode="auto">
          <a:xfrm>
            <a:off x="4313541" y="5010149"/>
            <a:ext cx="2179637" cy="369888"/>
            <a:chOff x="2925" y="3108"/>
            <a:chExt cx="1373" cy="233"/>
          </a:xfrm>
        </p:grpSpPr>
        <p:sp>
          <p:nvSpPr>
            <p:cNvPr id="53280" name="Text Box 27">
              <a:extLst>
                <a:ext uri="{FF2B5EF4-FFF2-40B4-BE49-F238E27FC236}">
                  <a16:creationId xmlns:a16="http://schemas.microsoft.com/office/drawing/2014/main" id="{26CE2D7D-3257-4038-962F-213239AFD75D}"/>
                </a:ext>
              </a:extLst>
            </p:cNvPr>
            <p:cNvSpPr txBox="1">
              <a:spLocks noChangeArrowheads="1"/>
            </p:cNvSpPr>
            <p:nvPr/>
          </p:nvSpPr>
          <p:spPr bwMode="auto">
            <a:xfrm>
              <a:off x="2925" y="3108"/>
              <a:ext cx="16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800" b="1">
                  <a:solidFill>
                    <a:srgbClr val="FF6600"/>
                  </a:solidFill>
                </a:rPr>
                <a:t>!</a:t>
              </a:r>
            </a:p>
          </p:txBody>
        </p:sp>
        <p:sp>
          <p:nvSpPr>
            <p:cNvPr id="53281" name="Text Box 28">
              <a:extLst>
                <a:ext uri="{FF2B5EF4-FFF2-40B4-BE49-F238E27FC236}">
                  <a16:creationId xmlns:a16="http://schemas.microsoft.com/office/drawing/2014/main" id="{2E621FF2-1DE9-424A-98C5-7D426CF2909A}"/>
                </a:ext>
              </a:extLst>
            </p:cNvPr>
            <p:cNvSpPr txBox="1">
              <a:spLocks noChangeArrowheads="1"/>
            </p:cNvSpPr>
            <p:nvPr/>
          </p:nvSpPr>
          <p:spPr bwMode="auto">
            <a:xfrm>
              <a:off x="3019" y="3112"/>
              <a:ext cx="127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n-US" altLang="es-ES" sz="1400" dirty="0">
                  <a:solidFill>
                    <a:srgbClr val="FF6600"/>
                  </a:solidFill>
                </a:rPr>
                <a:t>Conserve </a:t>
              </a:r>
              <a:r>
                <a:rPr lang="en-US" altLang="es-ES" sz="1400" dirty="0" err="1">
                  <a:solidFill>
                    <a:srgbClr val="FF6600"/>
                  </a:solidFill>
                </a:rPr>
                <a:t>dependencias</a:t>
              </a:r>
              <a:endParaRPr lang="en-US" altLang="es-ES" sz="1400" dirty="0">
                <a:solidFill>
                  <a:srgbClr val="FF6600"/>
                </a:solidFill>
              </a:endParaRPr>
            </a:p>
          </p:txBody>
        </p:sp>
      </p:grpSp>
      <p:grpSp>
        <p:nvGrpSpPr>
          <p:cNvPr id="7" name="6 Grupo">
            <a:extLst>
              <a:ext uri="{FF2B5EF4-FFF2-40B4-BE49-F238E27FC236}">
                <a16:creationId xmlns:a16="http://schemas.microsoft.com/office/drawing/2014/main" id="{E823EE8E-24B3-4AA1-9185-FE6536985103}"/>
              </a:ext>
            </a:extLst>
          </p:cNvPr>
          <p:cNvGrpSpPr>
            <a:grpSpLocks/>
          </p:cNvGrpSpPr>
          <p:nvPr/>
        </p:nvGrpSpPr>
        <p:grpSpPr bwMode="auto">
          <a:xfrm>
            <a:off x="4147290" y="1153320"/>
            <a:ext cx="3586269" cy="857250"/>
            <a:chOff x="3811095" y="1336675"/>
            <a:chExt cx="3586656" cy="857250"/>
          </a:xfrm>
        </p:grpSpPr>
        <p:grpSp>
          <p:nvGrpSpPr>
            <p:cNvPr id="53272" name="Group 77">
              <a:extLst>
                <a:ext uri="{FF2B5EF4-FFF2-40B4-BE49-F238E27FC236}">
                  <a16:creationId xmlns:a16="http://schemas.microsoft.com/office/drawing/2014/main" id="{6D084178-29AC-4C08-8D27-0A21C28D466F}"/>
                </a:ext>
              </a:extLst>
            </p:cNvPr>
            <p:cNvGrpSpPr>
              <a:grpSpLocks/>
            </p:cNvGrpSpPr>
            <p:nvPr/>
          </p:nvGrpSpPr>
          <p:grpSpPr bwMode="auto">
            <a:xfrm>
              <a:off x="5067301" y="1336675"/>
              <a:ext cx="2330450" cy="857250"/>
              <a:chOff x="3484" y="1380"/>
              <a:chExt cx="1468" cy="540"/>
            </a:xfrm>
          </p:grpSpPr>
          <p:sp>
            <p:nvSpPr>
              <p:cNvPr id="53274" name="Line 66">
                <a:extLst>
                  <a:ext uri="{FF2B5EF4-FFF2-40B4-BE49-F238E27FC236}">
                    <a16:creationId xmlns:a16="http://schemas.microsoft.com/office/drawing/2014/main" id="{4E6DE3E7-D53F-49BC-9DA6-A9D410AB0CED}"/>
                  </a:ext>
                </a:extLst>
              </p:cNvPr>
              <p:cNvSpPr>
                <a:spLocks noChangeShapeType="1"/>
              </p:cNvSpPr>
              <p:nvPr/>
            </p:nvSpPr>
            <p:spPr bwMode="auto">
              <a:xfrm flipV="1">
                <a:off x="3484" y="1472"/>
                <a:ext cx="240" cy="1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spAutoFit/>
              </a:bodyPr>
              <a:lstStyle/>
              <a:p>
                <a:endParaRPr lang="es-ES" sz="1050"/>
              </a:p>
            </p:txBody>
          </p:sp>
          <p:sp>
            <p:nvSpPr>
              <p:cNvPr id="53275" name="Text Box 67">
                <a:extLst>
                  <a:ext uri="{FF2B5EF4-FFF2-40B4-BE49-F238E27FC236}">
                    <a16:creationId xmlns:a16="http://schemas.microsoft.com/office/drawing/2014/main" id="{2AE3FF3F-867D-41F5-BB6D-E767FC8585C0}"/>
                  </a:ext>
                </a:extLst>
              </p:cNvPr>
              <p:cNvSpPr txBox="1">
                <a:spLocks noChangeArrowheads="1"/>
              </p:cNvSpPr>
              <p:nvPr/>
            </p:nvSpPr>
            <p:spPr bwMode="auto">
              <a:xfrm>
                <a:off x="3762" y="1380"/>
                <a:ext cx="914"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050"/>
                  <a:t>No corresponde valor</a:t>
                </a:r>
              </a:p>
            </p:txBody>
          </p:sp>
          <p:sp>
            <p:nvSpPr>
              <p:cNvPr id="53276" name="Text Box 68">
                <a:extLst>
                  <a:ext uri="{FF2B5EF4-FFF2-40B4-BE49-F238E27FC236}">
                    <a16:creationId xmlns:a16="http://schemas.microsoft.com/office/drawing/2014/main" id="{B4FF4552-1064-4E5D-BF71-96F5797B95F7}"/>
                  </a:ext>
                </a:extLst>
              </p:cNvPr>
              <p:cNvSpPr txBox="1">
                <a:spLocks noChangeArrowheads="1"/>
              </p:cNvSpPr>
              <p:nvPr/>
            </p:nvSpPr>
            <p:spPr bwMode="auto">
              <a:xfrm>
                <a:off x="3772" y="1568"/>
                <a:ext cx="11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050"/>
                  <a:t>Corresponde valor pero falta</a:t>
                </a:r>
              </a:p>
            </p:txBody>
          </p:sp>
          <p:sp>
            <p:nvSpPr>
              <p:cNvPr id="53277" name="Text Box 69">
                <a:extLst>
                  <a:ext uri="{FF2B5EF4-FFF2-40B4-BE49-F238E27FC236}">
                    <a16:creationId xmlns:a16="http://schemas.microsoft.com/office/drawing/2014/main" id="{7B36A961-4AD1-4D18-9973-FCA95C2CDEDC}"/>
                  </a:ext>
                </a:extLst>
              </p:cNvPr>
              <p:cNvSpPr txBox="1">
                <a:spLocks noChangeArrowheads="1"/>
              </p:cNvSpPr>
              <p:nvPr/>
            </p:nvSpPr>
            <p:spPr bwMode="auto">
              <a:xfrm>
                <a:off x="3772" y="1760"/>
                <a:ext cx="1095"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ES" altLang="es-ES" sz="1050"/>
                  <a:t>No se sabe si corresponde</a:t>
                </a:r>
              </a:p>
            </p:txBody>
          </p:sp>
          <p:sp>
            <p:nvSpPr>
              <p:cNvPr id="53278" name="Line 70">
                <a:extLst>
                  <a:ext uri="{FF2B5EF4-FFF2-40B4-BE49-F238E27FC236}">
                    <a16:creationId xmlns:a16="http://schemas.microsoft.com/office/drawing/2014/main" id="{99A0830F-194A-4D9F-B518-DA50CEC18800}"/>
                  </a:ext>
                </a:extLst>
              </p:cNvPr>
              <p:cNvSpPr>
                <a:spLocks noChangeShapeType="1"/>
              </p:cNvSpPr>
              <p:nvPr/>
            </p:nvSpPr>
            <p:spPr bwMode="auto">
              <a:xfrm>
                <a:off x="3484" y="1616"/>
                <a:ext cx="336" cy="4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sz="1050"/>
              </a:p>
            </p:txBody>
          </p:sp>
          <p:sp>
            <p:nvSpPr>
              <p:cNvPr id="53279" name="Line 71">
                <a:extLst>
                  <a:ext uri="{FF2B5EF4-FFF2-40B4-BE49-F238E27FC236}">
                    <a16:creationId xmlns:a16="http://schemas.microsoft.com/office/drawing/2014/main" id="{BAA2C673-874E-499E-8254-E8689AC9EA9E}"/>
                  </a:ext>
                </a:extLst>
              </p:cNvPr>
              <p:cNvSpPr>
                <a:spLocks noChangeShapeType="1"/>
              </p:cNvSpPr>
              <p:nvPr/>
            </p:nvSpPr>
            <p:spPr bwMode="auto">
              <a:xfrm>
                <a:off x="3484" y="1616"/>
                <a:ext cx="24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s-ES" sz="1050"/>
              </a:p>
            </p:txBody>
          </p:sp>
        </p:grpSp>
        <p:sp>
          <p:nvSpPr>
            <p:cNvPr id="53273" name="5 CuadroTexto">
              <a:extLst>
                <a:ext uri="{FF2B5EF4-FFF2-40B4-BE49-F238E27FC236}">
                  <a16:creationId xmlns:a16="http://schemas.microsoft.com/office/drawing/2014/main" id="{744DE8BF-5032-48A5-A30B-39B5FF353490}"/>
                </a:ext>
              </a:extLst>
            </p:cNvPr>
            <p:cNvSpPr txBox="1">
              <a:spLocks noChangeArrowheads="1"/>
            </p:cNvSpPr>
            <p:nvPr/>
          </p:nvSpPr>
          <p:spPr bwMode="auto">
            <a:xfrm>
              <a:off x="3811095" y="1582836"/>
              <a:ext cx="132247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r>
                <a:rPr lang="es-AR" altLang="es-AR" sz="1050"/>
                <a:t>Valores indefinidos</a:t>
              </a:r>
            </a:p>
          </p:txBody>
        </p:sp>
      </p:grpSp>
      <p:sp>
        <p:nvSpPr>
          <p:cNvPr id="5" name="Bocadillo: rectángulo 4">
            <a:extLst>
              <a:ext uri="{FF2B5EF4-FFF2-40B4-BE49-F238E27FC236}">
                <a16:creationId xmlns:a16="http://schemas.microsoft.com/office/drawing/2014/main" id="{9579C434-5A15-A050-B2C9-C82EB50067EB}"/>
              </a:ext>
            </a:extLst>
          </p:cNvPr>
          <p:cNvSpPr/>
          <p:nvPr/>
        </p:nvSpPr>
        <p:spPr bwMode="auto">
          <a:xfrm>
            <a:off x="1084178" y="1382347"/>
            <a:ext cx="2866426" cy="830997"/>
          </a:xfrm>
          <a:prstGeom prst="wedgeRectCallout">
            <a:avLst>
              <a:gd name="adj1" fmla="val -38260"/>
              <a:gd name="adj2" fmla="val 75621"/>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285750" indent="-285750" eaLnBrk="1" hangingPunct="1">
              <a:spcBef>
                <a:spcPct val="0"/>
              </a:spcBef>
              <a:buClrTx/>
              <a:buSzTx/>
              <a:buFont typeface="Arial" panose="020B0604020202020204" pitchFamily="34" charset="0"/>
              <a:buChar char="•"/>
            </a:pPr>
            <a:r>
              <a:rPr lang="en-US" altLang="es-ES" sz="1200" dirty="0" err="1"/>
              <a:t>Evitar</a:t>
            </a:r>
            <a:r>
              <a:rPr lang="en-US" altLang="es-ES" sz="1200" dirty="0"/>
              <a:t> </a:t>
            </a:r>
            <a:r>
              <a:rPr lang="en-US" altLang="es-ES" sz="1200" dirty="0" err="1"/>
              <a:t>valores</a:t>
            </a:r>
            <a:r>
              <a:rPr lang="en-US" altLang="es-ES" sz="1200" dirty="0"/>
              <a:t> </a:t>
            </a:r>
            <a:r>
              <a:rPr lang="en-US" altLang="es-ES" sz="1200" dirty="0" err="1"/>
              <a:t>indefinidos</a:t>
            </a:r>
            <a:r>
              <a:rPr lang="en-US" altLang="es-ES" sz="1200" dirty="0"/>
              <a:t> </a:t>
            </a:r>
          </a:p>
          <a:p>
            <a:pPr marL="285750" indent="-285750" eaLnBrk="1" hangingPunct="1">
              <a:spcBef>
                <a:spcPct val="0"/>
              </a:spcBef>
              <a:buClrTx/>
              <a:buSzTx/>
              <a:buFont typeface="Arial" panose="020B0604020202020204" pitchFamily="34" charset="0"/>
              <a:buChar char="•"/>
            </a:pPr>
            <a:r>
              <a:rPr lang="en-US" altLang="es-ES" sz="1200" dirty="0"/>
              <a:t>Mayor </a:t>
            </a:r>
            <a:r>
              <a:rPr lang="en-US" altLang="es-ES" sz="1200" dirty="0" err="1"/>
              <a:t>nivel</a:t>
            </a:r>
            <a:r>
              <a:rPr lang="en-US" altLang="es-ES" sz="1200" dirty="0"/>
              <a:t> </a:t>
            </a:r>
            <a:r>
              <a:rPr lang="en-US" altLang="es-ES" sz="1200" dirty="0" err="1"/>
              <a:t>desagregación</a:t>
            </a:r>
            <a:r>
              <a:rPr lang="en-US" altLang="es-ES" sz="1200" dirty="0"/>
              <a:t>  </a:t>
            </a:r>
          </a:p>
          <a:p>
            <a:pPr marL="285750" indent="-285750" eaLnBrk="1" hangingPunct="1">
              <a:spcBef>
                <a:spcPct val="0"/>
              </a:spcBef>
              <a:buClrTx/>
              <a:buSzTx/>
              <a:buFont typeface="Arial" panose="020B0604020202020204" pitchFamily="34" charset="0"/>
              <a:buChar char="•"/>
            </a:pPr>
            <a:r>
              <a:rPr lang="en-US" altLang="es-ES" sz="1200" dirty="0" err="1"/>
              <a:t>Evitar</a:t>
            </a:r>
            <a:r>
              <a:rPr lang="en-US" altLang="es-ES" sz="1200" dirty="0"/>
              <a:t> FK con valor </a:t>
            </a:r>
            <a:r>
              <a:rPr lang="en-US" altLang="es-ES" sz="1200" dirty="0" err="1"/>
              <a:t>indefinido</a:t>
            </a:r>
            <a:r>
              <a:rPr lang="en-US" altLang="es-ES" sz="1200" dirty="0"/>
              <a:t> </a:t>
            </a:r>
          </a:p>
          <a:p>
            <a:pPr marL="285750" indent="-285750" eaLnBrk="1" hangingPunct="1">
              <a:spcBef>
                <a:spcPct val="0"/>
              </a:spcBef>
              <a:buClrTx/>
              <a:buSzTx/>
              <a:buFont typeface="Arial" panose="020B0604020202020204" pitchFamily="34" charset="0"/>
              <a:buChar char="•"/>
            </a:pPr>
            <a:r>
              <a:rPr lang="en-US" altLang="es-ES" sz="1200" dirty="0" err="1"/>
              <a:t>Capacidad</a:t>
            </a:r>
            <a:r>
              <a:rPr lang="en-US" altLang="es-ES" sz="1200" dirty="0"/>
              <a:t> de </a:t>
            </a:r>
            <a:r>
              <a:rPr lang="en-US" altLang="es-ES" sz="1200" dirty="0" err="1"/>
              <a:t>generar</a:t>
            </a:r>
            <a:r>
              <a:rPr lang="en-US" altLang="es-ES" sz="1200" dirty="0"/>
              <a:t> </a:t>
            </a:r>
            <a:r>
              <a:rPr lang="en-US" altLang="es-ES" sz="1200" dirty="0" err="1"/>
              <a:t>Información</a:t>
            </a:r>
            <a:r>
              <a:rPr lang="en-US" altLang="es-ES" sz="1200" dirty="0"/>
              <a:t>.</a:t>
            </a:r>
            <a:endParaRPr kumimoji="0" lang="es-AR" sz="1200" b="0" i="0" u="none" strike="noStrike" cap="none" normalizeH="0" baseline="0" dirty="0">
              <a:ln>
                <a:noFill/>
              </a:ln>
              <a:solidFill>
                <a:schemeClr val="folHlink"/>
              </a:solidFill>
              <a:effectLst/>
            </a:endParaRPr>
          </a:p>
        </p:txBody>
      </p:sp>
      <p:sp>
        <p:nvSpPr>
          <p:cNvPr id="6" name="Bocadillo: rectángulo 5">
            <a:extLst>
              <a:ext uri="{FF2B5EF4-FFF2-40B4-BE49-F238E27FC236}">
                <a16:creationId xmlns:a16="http://schemas.microsoft.com/office/drawing/2014/main" id="{E4033555-3A7C-8931-DB85-02FDCE4DA055}"/>
              </a:ext>
            </a:extLst>
          </p:cNvPr>
          <p:cNvSpPr/>
          <p:nvPr/>
        </p:nvSpPr>
        <p:spPr bwMode="auto">
          <a:xfrm>
            <a:off x="460779" y="2828461"/>
            <a:ext cx="3211901" cy="646331"/>
          </a:xfrm>
          <a:prstGeom prst="wedgeRectCallout">
            <a:avLst>
              <a:gd name="adj1" fmla="val 6681"/>
              <a:gd name="adj2" fmla="val 57043"/>
            </a:avLst>
          </a:prstGeom>
          <a:noFill/>
          <a:ln w="9525"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eaLnBrk="1" hangingPunct="1">
              <a:buFont typeface="Arial" panose="020B0604020202020204" pitchFamily="34" charset="0"/>
              <a:buChar char="•"/>
            </a:pPr>
            <a:r>
              <a:rPr lang="en-US" altLang="es-ES" sz="1200"/>
              <a:t>Evitar atributos derivados almacenados</a:t>
            </a:r>
          </a:p>
          <a:p>
            <a:pPr marL="285750" indent="-285750" eaLnBrk="1" hangingPunct="1">
              <a:buFont typeface="Arial" panose="020B0604020202020204" pitchFamily="34" charset="0"/>
              <a:buChar char="•"/>
            </a:pPr>
            <a:r>
              <a:rPr lang="en-US" altLang="es-ES" sz="1200"/>
              <a:t>Evitar guardar el mismo valor en muchas ocurrencias.</a:t>
            </a:r>
            <a:endParaRPr lang="es-AR" sz="1200"/>
          </a:p>
        </p:txBody>
      </p:sp>
      <p:sp>
        <p:nvSpPr>
          <p:cNvPr id="9" name="CuadroTexto 8">
            <a:extLst>
              <a:ext uri="{FF2B5EF4-FFF2-40B4-BE49-F238E27FC236}">
                <a16:creationId xmlns:a16="http://schemas.microsoft.com/office/drawing/2014/main" id="{99EF2108-57CB-5C53-C249-EC31E33D6C5E}"/>
              </a:ext>
            </a:extLst>
          </p:cNvPr>
          <p:cNvSpPr txBox="1"/>
          <p:nvPr/>
        </p:nvSpPr>
        <p:spPr>
          <a:xfrm>
            <a:off x="-2873380" y="1168002"/>
            <a:ext cx="2603533" cy="307777"/>
          </a:xfrm>
          <a:prstGeom prst="rect">
            <a:avLst/>
          </a:prstGeom>
          <a:noFill/>
        </p:spPr>
        <p:txBody>
          <a:bodyPr wrap="none" rtlCol="0">
            <a:spAutoFit/>
          </a:bodyPr>
          <a:lstStyle/>
          <a:p>
            <a:r>
              <a:rPr lang="es-AR" dirty="0"/>
              <a:t>Relación de G/E (subconjunto)</a:t>
            </a:r>
          </a:p>
        </p:txBody>
      </p:sp>
      <p:pic>
        <p:nvPicPr>
          <p:cNvPr id="11" name="Imagen 10">
            <a:extLst>
              <a:ext uri="{FF2B5EF4-FFF2-40B4-BE49-F238E27FC236}">
                <a16:creationId xmlns:a16="http://schemas.microsoft.com/office/drawing/2014/main" id="{629DBAE5-AACE-E588-EE45-98876DCAB5DA}"/>
              </a:ext>
            </a:extLst>
          </p:cNvPr>
          <p:cNvPicPr>
            <a:picLocks noChangeAspect="1"/>
          </p:cNvPicPr>
          <p:nvPr/>
        </p:nvPicPr>
        <p:blipFill>
          <a:blip r:embed="rId3"/>
          <a:stretch>
            <a:fillRect/>
          </a:stretch>
        </p:blipFill>
        <p:spPr>
          <a:xfrm>
            <a:off x="-5026986" y="1417780"/>
            <a:ext cx="4713873" cy="1188112"/>
          </a:xfrm>
          <a:prstGeom prst="rect">
            <a:avLst/>
          </a:prstGeom>
        </p:spPr>
      </p:pic>
      <p:graphicFrame>
        <p:nvGraphicFramePr>
          <p:cNvPr id="13" name="Tabla 13">
            <a:extLst>
              <a:ext uri="{FF2B5EF4-FFF2-40B4-BE49-F238E27FC236}">
                <a16:creationId xmlns:a16="http://schemas.microsoft.com/office/drawing/2014/main" id="{67112D1D-CAF4-6ADB-0AAB-D4CE274FD650}"/>
              </a:ext>
            </a:extLst>
          </p:cNvPr>
          <p:cNvGraphicFramePr>
            <a:graphicFrameLocks noGrp="1"/>
          </p:cNvGraphicFramePr>
          <p:nvPr>
            <p:extLst>
              <p:ext uri="{D42A27DB-BD31-4B8C-83A1-F6EECF244321}">
                <p14:modId xmlns:p14="http://schemas.microsoft.com/office/powerpoint/2010/main" val="4217738026"/>
              </p:ext>
            </p:extLst>
          </p:nvPr>
        </p:nvGraphicFramePr>
        <p:xfrm>
          <a:off x="6474957" y="4377867"/>
          <a:ext cx="2473781" cy="2197734"/>
        </p:xfrm>
        <a:graphic>
          <a:graphicData uri="http://schemas.openxmlformats.org/drawingml/2006/table">
            <a:tbl>
              <a:tblPr firstRow="1" bandRow="1">
                <a:tableStyleId>{5C22544A-7EE6-4342-B048-85BDC9FD1C3A}</a:tableStyleId>
              </a:tblPr>
              <a:tblGrid>
                <a:gridCol w="1180380">
                  <a:extLst>
                    <a:ext uri="{9D8B030D-6E8A-4147-A177-3AD203B41FA5}">
                      <a16:colId xmlns:a16="http://schemas.microsoft.com/office/drawing/2014/main" val="635347405"/>
                    </a:ext>
                  </a:extLst>
                </a:gridCol>
                <a:gridCol w="1293401">
                  <a:extLst>
                    <a:ext uri="{9D8B030D-6E8A-4147-A177-3AD203B41FA5}">
                      <a16:colId xmlns:a16="http://schemas.microsoft.com/office/drawing/2014/main" val="4053472236"/>
                    </a:ext>
                  </a:extLst>
                </a:gridCol>
              </a:tblGrid>
              <a:tr h="313962">
                <a:tc>
                  <a:txBody>
                    <a:bodyPr/>
                    <a:lstStyle/>
                    <a:p>
                      <a:r>
                        <a:rPr lang="es-AR" sz="1000" dirty="0" err="1"/>
                        <a:t>IdEstadoCivil</a:t>
                      </a:r>
                      <a:endParaRPr lang="es-AR" sz="1000" dirty="0"/>
                    </a:p>
                  </a:txBody>
                  <a:tcPr/>
                </a:tc>
                <a:tc>
                  <a:txBody>
                    <a:bodyPr/>
                    <a:lstStyle/>
                    <a:p>
                      <a:r>
                        <a:rPr lang="es-AR" sz="1000" dirty="0"/>
                        <a:t>Descripción</a:t>
                      </a:r>
                    </a:p>
                  </a:txBody>
                  <a:tcPr/>
                </a:tc>
                <a:extLst>
                  <a:ext uri="{0D108BD9-81ED-4DB2-BD59-A6C34878D82A}">
                    <a16:rowId xmlns:a16="http://schemas.microsoft.com/office/drawing/2014/main" val="3513862707"/>
                  </a:ext>
                </a:extLst>
              </a:tr>
              <a:tr h="313962">
                <a:tc>
                  <a:txBody>
                    <a:bodyPr/>
                    <a:lstStyle/>
                    <a:p>
                      <a:r>
                        <a:rPr lang="es-AR" sz="1000" dirty="0"/>
                        <a:t>1</a:t>
                      </a:r>
                    </a:p>
                  </a:txBody>
                  <a:tcPr/>
                </a:tc>
                <a:tc>
                  <a:txBody>
                    <a:bodyPr/>
                    <a:lstStyle/>
                    <a:p>
                      <a:r>
                        <a:rPr lang="es-AR" sz="1000" dirty="0"/>
                        <a:t>Soltero/a</a:t>
                      </a:r>
                    </a:p>
                  </a:txBody>
                  <a:tcPr/>
                </a:tc>
                <a:extLst>
                  <a:ext uri="{0D108BD9-81ED-4DB2-BD59-A6C34878D82A}">
                    <a16:rowId xmlns:a16="http://schemas.microsoft.com/office/drawing/2014/main" val="233949006"/>
                  </a:ext>
                </a:extLst>
              </a:tr>
              <a:tr h="313962">
                <a:tc>
                  <a:txBody>
                    <a:bodyPr/>
                    <a:lstStyle/>
                    <a:p>
                      <a:r>
                        <a:rPr lang="es-AR" sz="1000" dirty="0"/>
                        <a:t>2</a:t>
                      </a:r>
                    </a:p>
                  </a:txBody>
                  <a:tcPr/>
                </a:tc>
                <a:tc>
                  <a:txBody>
                    <a:bodyPr/>
                    <a:lstStyle/>
                    <a:p>
                      <a:r>
                        <a:rPr lang="es-AR" sz="1000" dirty="0"/>
                        <a:t>Casado/a</a:t>
                      </a:r>
                    </a:p>
                  </a:txBody>
                  <a:tcPr/>
                </a:tc>
                <a:extLst>
                  <a:ext uri="{0D108BD9-81ED-4DB2-BD59-A6C34878D82A}">
                    <a16:rowId xmlns:a16="http://schemas.microsoft.com/office/drawing/2014/main" val="3868322116"/>
                  </a:ext>
                </a:extLst>
              </a:tr>
              <a:tr h="313962">
                <a:tc>
                  <a:txBody>
                    <a:bodyPr/>
                    <a:lstStyle/>
                    <a:p>
                      <a:r>
                        <a:rPr lang="es-AR" sz="1000" dirty="0"/>
                        <a:t>3</a:t>
                      </a:r>
                    </a:p>
                  </a:txBody>
                  <a:tcPr/>
                </a:tc>
                <a:tc>
                  <a:txBody>
                    <a:bodyPr/>
                    <a:lstStyle/>
                    <a:p>
                      <a:r>
                        <a:rPr lang="es-AR" sz="1000" dirty="0"/>
                        <a:t>Viudo/a</a:t>
                      </a:r>
                    </a:p>
                  </a:txBody>
                  <a:tcPr/>
                </a:tc>
                <a:extLst>
                  <a:ext uri="{0D108BD9-81ED-4DB2-BD59-A6C34878D82A}">
                    <a16:rowId xmlns:a16="http://schemas.microsoft.com/office/drawing/2014/main" val="1765876318"/>
                  </a:ext>
                </a:extLst>
              </a:tr>
              <a:tr h="313962">
                <a:tc>
                  <a:txBody>
                    <a:bodyPr/>
                    <a:lstStyle/>
                    <a:p>
                      <a:r>
                        <a:rPr lang="es-AR" sz="1000" dirty="0"/>
                        <a:t>4</a:t>
                      </a:r>
                    </a:p>
                  </a:txBody>
                  <a:tcPr/>
                </a:tc>
                <a:tc>
                  <a:txBody>
                    <a:bodyPr/>
                    <a:lstStyle/>
                    <a:p>
                      <a:r>
                        <a:rPr lang="es-AR" sz="1000" dirty="0"/>
                        <a:t>Divorciado/a</a:t>
                      </a:r>
                    </a:p>
                  </a:txBody>
                  <a:tcPr/>
                </a:tc>
                <a:extLst>
                  <a:ext uri="{0D108BD9-81ED-4DB2-BD59-A6C34878D82A}">
                    <a16:rowId xmlns:a16="http://schemas.microsoft.com/office/drawing/2014/main" val="1761549169"/>
                  </a:ext>
                </a:extLst>
              </a:tr>
              <a:tr h="313962">
                <a:tc>
                  <a:txBody>
                    <a:bodyPr/>
                    <a:lstStyle/>
                    <a:p>
                      <a:r>
                        <a:rPr lang="es-AR" sz="1000" dirty="0"/>
                        <a:t>5</a:t>
                      </a:r>
                    </a:p>
                  </a:txBody>
                  <a:tcPr/>
                </a:tc>
                <a:tc>
                  <a:txBody>
                    <a:bodyPr/>
                    <a:lstStyle/>
                    <a:p>
                      <a:r>
                        <a:rPr lang="es-AR" sz="1000" dirty="0"/>
                        <a:t>Conviviente</a:t>
                      </a:r>
                    </a:p>
                  </a:txBody>
                  <a:tcPr/>
                </a:tc>
                <a:extLst>
                  <a:ext uri="{0D108BD9-81ED-4DB2-BD59-A6C34878D82A}">
                    <a16:rowId xmlns:a16="http://schemas.microsoft.com/office/drawing/2014/main" val="4012745314"/>
                  </a:ext>
                </a:extLst>
              </a:tr>
              <a:tr h="313962">
                <a:tc>
                  <a:txBody>
                    <a:bodyPr/>
                    <a:lstStyle/>
                    <a:p>
                      <a:r>
                        <a:rPr lang="es-AR" sz="1000" dirty="0"/>
                        <a:t>99</a:t>
                      </a:r>
                    </a:p>
                  </a:txBody>
                  <a:tcPr/>
                </a:tc>
                <a:tc>
                  <a:txBody>
                    <a:bodyPr/>
                    <a:lstStyle/>
                    <a:p>
                      <a:r>
                        <a:rPr lang="es-AR" sz="1000" dirty="0"/>
                        <a:t>Desconocido</a:t>
                      </a:r>
                    </a:p>
                  </a:txBody>
                  <a:tcPr/>
                </a:tc>
                <a:extLst>
                  <a:ext uri="{0D108BD9-81ED-4DB2-BD59-A6C34878D82A}">
                    <a16:rowId xmlns:a16="http://schemas.microsoft.com/office/drawing/2014/main" val="1609384382"/>
                  </a:ext>
                </a:extLst>
              </a:tr>
            </a:tbl>
          </a:graphicData>
        </a:graphic>
      </p:graphicFrame>
      <p:sp>
        <p:nvSpPr>
          <p:cNvPr id="12" name="CuadroTexto 11">
            <a:extLst>
              <a:ext uri="{FF2B5EF4-FFF2-40B4-BE49-F238E27FC236}">
                <a16:creationId xmlns:a16="http://schemas.microsoft.com/office/drawing/2014/main" id="{0596693C-D532-8D6E-5D20-690094D4B871}"/>
              </a:ext>
            </a:extLst>
          </p:cNvPr>
          <p:cNvSpPr txBox="1"/>
          <p:nvPr/>
        </p:nvSpPr>
        <p:spPr>
          <a:xfrm>
            <a:off x="3509597" y="6320313"/>
            <a:ext cx="1960024" cy="307777"/>
          </a:xfrm>
          <a:prstGeom prst="rect">
            <a:avLst/>
          </a:prstGeom>
          <a:noFill/>
        </p:spPr>
        <p:txBody>
          <a:bodyPr wrap="none" rtlCol="0">
            <a:spAutoFit/>
          </a:bodyPr>
          <a:lstStyle/>
          <a:p>
            <a:r>
              <a:rPr lang="es-AR" dirty="0"/>
              <a:t>Referencias Artificiales</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0" presetClass="path" presetSubtype="0" accel="50000" decel="50000" fill="hold" nodeType="clickEffect">
                                  <p:stCondLst>
                                    <p:cond delay="0"/>
                                  </p:stCondLst>
                                  <p:childTnLst>
                                    <p:animMotion origin="layout" path="M 3.88889E-6 2.96296E-6 L 0.48663 2.96296E-6 C 0.70503 2.96296E-6 0.97343 0.04514 0.97343 0.08194 L 0.97343 0.16412 " pathEditMode="relative" rAng="0" ptsTypes="AAAA">
                                      <p:cBhvr>
                                        <p:cTn id="14" dur="2000" fill="hold"/>
                                        <p:tgtEl>
                                          <p:spTgt spid="11"/>
                                        </p:tgtEl>
                                        <p:attrNameLst>
                                          <p:attrName>ppt_x</p:attrName>
                                          <p:attrName>ppt_y</p:attrName>
                                        </p:attrNameLst>
                                      </p:cBhvr>
                                      <p:rCtr x="48663" y="8194"/>
                                    </p:animMotion>
                                  </p:childTnLst>
                                </p:cTn>
                              </p:par>
                              <p:par>
                                <p:cTn id="15" presetID="42" presetClass="path" presetSubtype="0" accel="50000" decel="50000" fill="hold" grpId="0" nodeType="withEffect">
                                  <p:stCondLst>
                                    <p:cond delay="0"/>
                                  </p:stCondLst>
                                  <p:childTnLst>
                                    <p:animMotion origin="layout" path="M -5E-6 -0.00023 L 0.90018 0.1382 " pathEditMode="relative" rAng="0" ptsTypes="AA">
                                      <p:cBhvr>
                                        <p:cTn id="16" dur="2000" fill="hold"/>
                                        <p:tgtEl>
                                          <p:spTgt spid="9"/>
                                        </p:tgtEl>
                                        <p:attrNameLst>
                                          <p:attrName>ppt_x</p:attrName>
                                          <p:attrName>ppt_y</p:attrName>
                                        </p:attrNameLst>
                                      </p:cBhvr>
                                      <p:rCtr x="45000" y="6921"/>
                                    </p:animMotion>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90119"/>
                                        </p:tgtEl>
                                        <p:attrNameLst>
                                          <p:attrName>style.visibility</p:attrName>
                                        </p:attrNameLst>
                                      </p:cBhvr>
                                      <p:to>
                                        <p:strVal val="visible"/>
                                      </p:to>
                                    </p:set>
                                    <p:animEffect transition="in" filter="diamond(in)">
                                      <p:cBhvr>
                                        <p:cTn id="27" dur="2000"/>
                                        <p:tgtEl>
                                          <p:spTgt spid="90119"/>
                                        </p:tgtEl>
                                      </p:cBhvr>
                                    </p:animEffect>
                                  </p:childTnLst>
                                </p:cTn>
                              </p:par>
                              <p:par>
                                <p:cTn id="28" presetID="10" presetClass="exit" presetSubtype="0" fill="hold" nodeType="withEffect">
                                  <p:stCondLst>
                                    <p:cond delay="0"/>
                                  </p:stCondLst>
                                  <p:childTnLst>
                                    <p:animEffect transition="out" filter="fade">
                                      <p:cBhvr>
                                        <p:cTn id="29" dur="500"/>
                                        <p:tgtEl>
                                          <p:spTgt spid="7"/>
                                        </p:tgtEl>
                                      </p:cBhvr>
                                    </p:animEffect>
                                    <p:set>
                                      <p:cBhvr>
                                        <p:cTn id="30" dur="1" fill="hold">
                                          <p:stCondLst>
                                            <p:cond delay="499"/>
                                          </p:stCondLst>
                                        </p:cTn>
                                        <p:tgtEl>
                                          <p:spTgt spid="7"/>
                                        </p:tgtEl>
                                        <p:attrNameLst>
                                          <p:attrName>style.visibility</p:attrName>
                                        </p:attrNameLst>
                                      </p:cBhvr>
                                      <p:to>
                                        <p:strVal val="hidden"/>
                                      </p:to>
                                    </p:set>
                                  </p:childTnLst>
                                </p:cTn>
                              </p:par>
                              <p:par>
                                <p:cTn id="31" presetID="1" presetClass="exit" presetSubtype="0" fill="hold" grpId="1" nodeType="withEffect">
                                  <p:stCondLst>
                                    <p:cond delay="0"/>
                                  </p:stCondLst>
                                  <p:childTnLst>
                                    <p:set>
                                      <p:cBhvr>
                                        <p:cTn id="32" dur="1" fill="hold">
                                          <p:stCondLst>
                                            <p:cond delay="0"/>
                                          </p:stCondLst>
                                        </p:cTn>
                                        <p:tgtEl>
                                          <p:spTgt spid="5"/>
                                        </p:tgtEl>
                                        <p:attrNameLst>
                                          <p:attrName>style.visibility</p:attrName>
                                        </p:attrNameLst>
                                      </p:cBhvr>
                                      <p:to>
                                        <p:strVal val="hidden"/>
                                      </p:to>
                                    </p:set>
                                  </p:childTnLst>
                                </p:cTn>
                              </p:par>
                              <p:par>
                                <p:cTn id="33" presetID="8" presetClass="entr" presetSubtype="16" fill="hold" grpId="0" nodeType="withEffect">
                                  <p:stCondLst>
                                    <p:cond delay="0"/>
                                  </p:stCondLst>
                                  <p:childTnLst>
                                    <p:set>
                                      <p:cBhvr>
                                        <p:cTn id="34" dur="1" fill="hold">
                                          <p:stCondLst>
                                            <p:cond delay="0"/>
                                          </p:stCondLst>
                                        </p:cTn>
                                        <p:tgtEl>
                                          <p:spTgt spid="90120"/>
                                        </p:tgtEl>
                                        <p:attrNameLst>
                                          <p:attrName>style.visibility</p:attrName>
                                        </p:attrNameLst>
                                      </p:cBhvr>
                                      <p:to>
                                        <p:strVal val="visible"/>
                                      </p:to>
                                    </p:set>
                                    <p:animEffect transition="in" filter="diamond(in)">
                                      <p:cBhvr>
                                        <p:cTn id="35" dur="2000"/>
                                        <p:tgtEl>
                                          <p:spTgt spid="90120"/>
                                        </p:tgtEl>
                                      </p:cBhvr>
                                    </p:animEffect>
                                  </p:childTnLst>
                                </p:cTn>
                              </p:par>
                              <p:par>
                                <p:cTn id="36" presetID="8" presetClass="entr" presetSubtype="16" fill="hold" nodeType="withEffect">
                                  <p:stCondLst>
                                    <p:cond delay="0"/>
                                  </p:stCondLst>
                                  <p:childTnLst>
                                    <p:set>
                                      <p:cBhvr>
                                        <p:cTn id="37" dur="1" fill="hold">
                                          <p:stCondLst>
                                            <p:cond delay="0"/>
                                          </p:stCondLst>
                                        </p:cTn>
                                        <p:tgtEl>
                                          <p:spTgt spid="90121"/>
                                        </p:tgtEl>
                                        <p:attrNameLst>
                                          <p:attrName>style.visibility</p:attrName>
                                        </p:attrNameLst>
                                      </p:cBhvr>
                                      <p:to>
                                        <p:strVal val="visible"/>
                                      </p:to>
                                    </p:set>
                                    <p:animEffect transition="in" filter="diamond(in)">
                                      <p:cBhvr>
                                        <p:cTn id="38" dur="2000"/>
                                        <p:tgtEl>
                                          <p:spTgt spid="90121"/>
                                        </p:tgtEl>
                                      </p:cBhvr>
                                    </p:animEffect>
                                  </p:childTnLst>
                                </p:cTn>
                              </p:par>
                              <p:par>
                                <p:cTn id="39" presetID="8" presetClass="entr" presetSubtype="16" fill="hold" grpId="0" nodeType="withEffect">
                                  <p:stCondLst>
                                    <p:cond delay="0"/>
                                  </p:stCondLst>
                                  <p:childTnLst>
                                    <p:set>
                                      <p:cBhvr>
                                        <p:cTn id="40" dur="1" fill="hold">
                                          <p:stCondLst>
                                            <p:cond delay="0"/>
                                          </p:stCondLst>
                                        </p:cTn>
                                        <p:tgtEl>
                                          <p:spTgt spid="90122"/>
                                        </p:tgtEl>
                                        <p:attrNameLst>
                                          <p:attrName>style.visibility</p:attrName>
                                        </p:attrNameLst>
                                      </p:cBhvr>
                                      <p:to>
                                        <p:strVal val="visible"/>
                                      </p:to>
                                    </p:set>
                                    <p:animEffect transition="in" filter="diamond(in)">
                                      <p:cBhvr>
                                        <p:cTn id="41" dur="2000"/>
                                        <p:tgtEl>
                                          <p:spTgt spid="90122"/>
                                        </p:tgtEl>
                                      </p:cBhvr>
                                    </p:animEffect>
                                  </p:childTnLst>
                                </p:cTn>
                              </p:par>
                              <p:par>
                                <p:cTn id="42" presetID="8" presetClass="entr" presetSubtype="16" fill="hold" nodeType="withEffect">
                                  <p:stCondLst>
                                    <p:cond delay="0"/>
                                  </p:stCondLst>
                                  <p:childTnLst>
                                    <p:set>
                                      <p:cBhvr>
                                        <p:cTn id="43" dur="1" fill="hold">
                                          <p:stCondLst>
                                            <p:cond delay="0"/>
                                          </p:stCondLst>
                                        </p:cTn>
                                        <p:tgtEl>
                                          <p:spTgt spid="90123"/>
                                        </p:tgtEl>
                                        <p:attrNameLst>
                                          <p:attrName>style.visibility</p:attrName>
                                        </p:attrNameLst>
                                      </p:cBhvr>
                                      <p:to>
                                        <p:strVal val="visible"/>
                                      </p:to>
                                    </p:set>
                                    <p:animEffect transition="in" filter="diamond(in)">
                                      <p:cBhvr>
                                        <p:cTn id="44" dur="2000"/>
                                        <p:tgtEl>
                                          <p:spTgt spid="90123"/>
                                        </p:tgtEl>
                                      </p:cBhvr>
                                    </p:animEffect>
                                  </p:childTnLst>
                                </p:cTn>
                              </p:par>
                              <p:par>
                                <p:cTn id="45" presetID="8" presetClass="entr" presetSubtype="16" fill="hold" grpId="0" nodeType="withEffect">
                                  <p:stCondLst>
                                    <p:cond delay="0"/>
                                  </p:stCondLst>
                                  <p:childTnLst>
                                    <p:set>
                                      <p:cBhvr>
                                        <p:cTn id="46" dur="1" fill="hold">
                                          <p:stCondLst>
                                            <p:cond delay="0"/>
                                          </p:stCondLst>
                                        </p:cTn>
                                        <p:tgtEl>
                                          <p:spTgt spid="90124"/>
                                        </p:tgtEl>
                                        <p:attrNameLst>
                                          <p:attrName>style.visibility</p:attrName>
                                        </p:attrNameLst>
                                      </p:cBhvr>
                                      <p:to>
                                        <p:strVal val="visible"/>
                                      </p:to>
                                    </p:set>
                                    <p:animEffect transition="in" filter="diamond(in)">
                                      <p:cBhvr>
                                        <p:cTn id="47" dur="2000"/>
                                        <p:tgtEl>
                                          <p:spTgt spid="90124"/>
                                        </p:tgtEl>
                                      </p:cBhvr>
                                    </p:animEffect>
                                  </p:childTnLst>
                                </p:cTn>
                              </p:par>
                              <p:par>
                                <p:cTn id="48" presetID="8" presetClass="entr" presetSubtype="16" fill="hold" nodeType="withEffect">
                                  <p:stCondLst>
                                    <p:cond delay="0"/>
                                  </p:stCondLst>
                                  <p:childTnLst>
                                    <p:set>
                                      <p:cBhvr>
                                        <p:cTn id="49" dur="1" fill="hold">
                                          <p:stCondLst>
                                            <p:cond delay="0"/>
                                          </p:stCondLst>
                                        </p:cTn>
                                        <p:tgtEl>
                                          <p:spTgt spid="90125"/>
                                        </p:tgtEl>
                                        <p:attrNameLst>
                                          <p:attrName>style.visibility</p:attrName>
                                        </p:attrNameLst>
                                      </p:cBhvr>
                                      <p:to>
                                        <p:strVal val="visible"/>
                                      </p:to>
                                    </p:set>
                                    <p:animEffect transition="in" filter="diamond(in)">
                                      <p:cBhvr>
                                        <p:cTn id="50" dur="2000"/>
                                        <p:tgtEl>
                                          <p:spTgt spid="90125"/>
                                        </p:tgtEl>
                                      </p:cBhvr>
                                    </p:animEffect>
                                  </p:childTnLst>
                                </p:cTn>
                              </p:par>
                              <p:par>
                                <p:cTn id="51" presetID="8" presetClass="entr" presetSubtype="16" fill="hold" grpId="0" nodeType="withEffect">
                                  <p:stCondLst>
                                    <p:cond delay="0"/>
                                  </p:stCondLst>
                                  <p:childTnLst>
                                    <p:set>
                                      <p:cBhvr>
                                        <p:cTn id="52" dur="1" fill="hold">
                                          <p:stCondLst>
                                            <p:cond delay="0"/>
                                          </p:stCondLst>
                                        </p:cTn>
                                        <p:tgtEl>
                                          <p:spTgt spid="90126"/>
                                        </p:tgtEl>
                                        <p:attrNameLst>
                                          <p:attrName>style.visibility</p:attrName>
                                        </p:attrNameLst>
                                      </p:cBhvr>
                                      <p:to>
                                        <p:strVal val="visible"/>
                                      </p:to>
                                    </p:set>
                                    <p:animEffect transition="in" filter="diamond(in)">
                                      <p:cBhvr>
                                        <p:cTn id="53" dur="2000"/>
                                        <p:tgtEl>
                                          <p:spTgt spid="90126"/>
                                        </p:tgtEl>
                                      </p:cBhvr>
                                    </p:animEffect>
                                  </p:childTnLst>
                                </p:cTn>
                              </p:par>
                              <p:par>
                                <p:cTn id="54" presetID="1" presetClass="exit" presetSubtype="0" fill="hold" nodeType="withEffect">
                                  <p:stCondLst>
                                    <p:cond delay="0"/>
                                  </p:stCondLst>
                                  <p:childTnLst>
                                    <p:set>
                                      <p:cBhvr>
                                        <p:cTn id="55" dur="1" fill="hold">
                                          <p:stCondLst>
                                            <p:cond delay="0"/>
                                          </p:stCondLst>
                                        </p:cTn>
                                        <p:tgtEl>
                                          <p:spTgt spid="13"/>
                                        </p:tgtEl>
                                        <p:attrNameLst>
                                          <p:attrName>style.visibility</p:attrName>
                                        </p:attrNameLst>
                                      </p:cBhvr>
                                      <p:to>
                                        <p:strVal val="hidden"/>
                                      </p:to>
                                    </p:set>
                                  </p:childTnLst>
                                </p:cTn>
                              </p:par>
                              <p:par>
                                <p:cTn id="56" presetID="1" presetClass="exit" presetSubtype="0" fill="hold" grpId="1" nodeType="withEffect">
                                  <p:stCondLst>
                                    <p:cond delay="0"/>
                                  </p:stCondLst>
                                  <p:childTnLst>
                                    <p:set>
                                      <p:cBhvr>
                                        <p:cTn id="57" dur="1" fill="hold">
                                          <p:stCondLst>
                                            <p:cond delay="0"/>
                                          </p:stCondLst>
                                        </p:cTn>
                                        <p:tgtEl>
                                          <p:spTgt spid="12"/>
                                        </p:tgtEl>
                                        <p:attrNameLst>
                                          <p:attrName>style.visibility</p:attrName>
                                        </p:attrNameLst>
                                      </p:cBhvr>
                                      <p:to>
                                        <p:strVal val="hidden"/>
                                      </p:to>
                                    </p:set>
                                  </p:childTnLst>
                                </p:cTn>
                              </p:par>
                              <p:par>
                                <p:cTn id="58" presetID="1" presetClass="exit" presetSubtype="0" fill="hold" nodeType="withEffect">
                                  <p:stCondLst>
                                    <p:cond delay="0"/>
                                  </p:stCondLst>
                                  <p:childTnLst>
                                    <p:set>
                                      <p:cBhvr>
                                        <p:cTn id="59" dur="1" fill="hold">
                                          <p:stCondLst>
                                            <p:cond delay="0"/>
                                          </p:stCondLst>
                                        </p:cTn>
                                        <p:tgtEl>
                                          <p:spTgt spid="11"/>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9"/>
                                        </p:tgtEl>
                                        <p:attrNameLst>
                                          <p:attrName>style.visibility</p:attrName>
                                        </p:attrNameLst>
                                      </p:cBhvr>
                                      <p:to>
                                        <p:strVal val="hidden"/>
                                      </p:to>
                                    </p:set>
                                  </p:childTnLst>
                                </p:cTn>
                              </p:par>
                            </p:childTnLst>
                          </p:cTn>
                        </p:par>
                      </p:childTnLst>
                    </p:cTn>
                  </p:par>
                  <p:par>
                    <p:cTn id="62" fill="hold">
                      <p:stCondLst>
                        <p:cond delay="indefinite"/>
                      </p:stCondLst>
                      <p:childTnLst>
                        <p:par>
                          <p:cTn id="63" fill="hold">
                            <p:stCondLst>
                              <p:cond delay="0"/>
                            </p:stCondLst>
                            <p:childTnLst>
                              <p:par>
                                <p:cTn id="64" presetID="8" presetClass="emph" presetSubtype="0" fill="hold" grpId="1" nodeType="clickEffect">
                                  <p:stCondLst>
                                    <p:cond delay="0"/>
                                  </p:stCondLst>
                                  <p:childTnLst>
                                    <p:animRot by="21600000">
                                      <p:cBhvr>
                                        <p:cTn id="65" dur="2000" fill="hold"/>
                                        <p:tgtEl>
                                          <p:spTgt spid="90124"/>
                                        </p:tgtEl>
                                        <p:attrNameLst>
                                          <p:attrName>r</p:attrName>
                                        </p:attrNameLst>
                                      </p:cBhvr>
                                    </p:animRo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2" presetClass="exit" presetSubtype="4" fill="hold" nodeType="clickEffect">
                                  <p:stCondLst>
                                    <p:cond delay="0"/>
                                  </p:stCondLst>
                                  <p:childTnLst>
                                    <p:anim calcmode="lin" valueType="num">
                                      <p:cBhvr additive="base">
                                        <p:cTn id="73" dur="500"/>
                                        <p:tgtEl>
                                          <p:spTgt spid="90119"/>
                                        </p:tgtEl>
                                        <p:attrNameLst>
                                          <p:attrName>ppt_x</p:attrName>
                                        </p:attrNameLst>
                                      </p:cBhvr>
                                      <p:tavLst>
                                        <p:tav tm="0">
                                          <p:val>
                                            <p:strVal val="ppt_x"/>
                                          </p:val>
                                        </p:tav>
                                        <p:tav tm="100000">
                                          <p:val>
                                            <p:strVal val="ppt_x"/>
                                          </p:val>
                                        </p:tav>
                                      </p:tavLst>
                                    </p:anim>
                                    <p:anim calcmode="lin" valueType="num">
                                      <p:cBhvr additive="base">
                                        <p:cTn id="74" dur="500"/>
                                        <p:tgtEl>
                                          <p:spTgt spid="90119"/>
                                        </p:tgtEl>
                                        <p:attrNameLst>
                                          <p:attrName>ppt_y</p:attrName>
                                        </p:attrNameLst>
                                      </p:cBhvr>
                                      <p:tavLst>
                                        <p:tav tm="0">
                                          <p:val>
                                            <p:strVal val="ppt_y"/>
                                          </p:val>
                                        </p:tav>
                                        <p:tav tm="100000">
                                          <p:val>
                                            <p:strVal val="1+ppt_h/2"/>
                                          </p:val>
                                        </p:tav>
                                      </p:tavLst>
                                    </p:anim>
                                    <p:set>
                                      <p:cBhvr>
                                        <p:cTn id="75" dur="1" fill="hold">
                                          <p:stCondLst>
                                            <p:cond delay="499"/>
                                          </p:stCondLst>
                                        </p:cTn>
                                        <p:tgtEl>
                                          <p:spTgt spid="90119"/>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6"/>
                                        </p:tgtEl>
                                        <p:attrNameLst>
                                          <p:attrName>style.visibility</p:attrName>
                                        </p:attrNameLst>
                                      </p:cBhvr>
                                      <p:to>
                                        <p:strVal val="hidden"/>
                                      </p:to>
                                    </p:set>
                                  </p:childTnLst>
                                </p:cTn>
                              </p:par>
                              <p:par>
                                <p:cTn id="78" presetID="2" presetClass="exit" presetSubtype="4" fill="hold" grpId="1" nodeType="withEffect">
                                  <p:stCondLst>
                                    <p:cond delay="0"/>
                                  </p:stCondLst>
                                  <p:childTnLst>
                                    <p:anim calcmode="lin" valueType="num">
                                      <p:cBhvr additive="base">
                                        <p:cTn id="79" dur="500"/>
                                        <p:tgtEl>
                                          <p:spTgt spid="90120"/>
                                        </p:tgtEl>
                                        <p:attrNameLst>
                                          <p:attrName>ppt_x</p:attrName>
                                        </p:attrNameLst>
                                      </p:cBhvr>
                                      <p:tavLst>
                                        <p:tav tm="0">
                                          <p:val>
                                            <p:strVal val="ppt_x"/>
                                          </p:val>
                                        </p:tav>
                                        <p:tav tm="100000">
                                          <p:val>
                                            <p:strVal val="ppt_x"/>
                                          </p:val>
                                        </p:tav>
                                      </p:tavLst>
                                    </p:anim>
                                    <p:anim calcmode="lin" valueType="num">
                                      <p:cBhvr additive="base">
                                        <p:cTn id="80" dur="500"/>
                                        <p:tgtEl>
                                          <p:spTgt spid="90120"/>
                                        </p:tgtEl>
                                        <p:attrNameLst>
                                          <p:attrName>ppt_y</p:attrName>
                                        </p:attrNameLst>
                                      </p:cBhvr>
                                      <p:tavLst>
                                        <p:tav tm="0">
                                          <p:val>
                                            <p:strVal val="ppt_y"/>
                                          </p:val>
                                        </p:tav>
                                        <p:tav tm="100000">
                                          <p:val>
                                            <p:strVal val="1+ppt_h/2"/>
                                          </p:val>
                                        </p:tav>
                                      </p:tavLst>
                                    </p:anim>
                                    <p:set>
                                      <p:cBhvr>
                                        <p:cTn id="81" dur="1" fill="hold">
                                          <p:stCondLst>
                                            <p:cond delay="499"/>
                                          </p:stCondLst>
                                        </p:cTn>
                                        <p:tgtEl>
                                          <p:spTgt spid="90120"/>
                                        </p:tgtEl>
                                        <p:attrNameLst>
                                          <p:attrName>style.visibility</p:attrName>
                                        </p:attrNameLst>
                                      </p:cBhvr>
                                      <p:to>
                                        <p:strVal val="hidden"/>
                                      </p:to>
                                    </p:set>
                                  </p:childTnLst>
                                </p:cTn>
                              </p:par>
                              <p:par>
                                <p:cTn id="82" presetID="2" presetClass="exit" presetSubtype="4" fill="hold" nodeType="withEffect">
                                  <p:stCondLst>
                                    <p:cond delay="0"/>
                                  </p:stCondLst>
                                  <p:childTnLst>
                                    <p:anim calcmode="lin" valueType="num">
                                      <p:cBhvr additive="base">
                                        <p:cTn id="83" dur="500"/>
                                        <p:tgtEl>
                                          <p:spTgt spid="90121"/>
                                        </p:tgtEl>
                                        <p:attrNameLst>
                                          <p:attrName>ppt_x</p:attrName>
                                        </p:attrNameLst>
                                      </p:cBhvr>
                                      <p:tavLst>
                                        <p:tav tm="0">
                                          <p:val>
                                            <p:strVal val="ppt_x"/>
                                          </p:val>
                                        </p:tav>
                                        <p:tav tm="100000">
                                          <p:val>
                                            <p:strVal val="ppt_x"/>
                                          </p:val>
                                        </p:tav>
                                      </p:tavLst>
                                    </p:anim>
                                    <p:anim calcmode="lin" valueType="num">
                                      <p:cBhvr additive="base">
                                        <p:cTn id="84" dur="500"/>
                                        <p:tgtEl>
                                          <p:spTgt spid="90121"/>
                                        </p:tgtEl>
                                        <p:attrNameLst>
                                          <p:attrName>ppt_y</p:attrName>
                                        </p:attrNameLst>
                                      </p:cBhvr>
                                      <p:tavLst>
                                        <p:tav tm="0">
                                          <p:val>
                                            <p:strVal val="ppt_y"/>
                                          </p:val>
                                        </p:tav>
                                        <p:tav tm="100000">
                                          <p:val>
                                            <p:strVal val="1+ppt_h/2"/>
                                          </p:val>
                                        </p:tav>
                                      </p:tavLst>
                                    </p:anim>
                                    <p:set>
                                      <p:cBhvr>
                                        <p:cTn id="85" dur="1" fill="hold">
                                          <p:stCondLst>
                                            <p:cond delay="499"/>
                                          </p:stCondLst>
                                        </p:cTn>
                                        <p:tgtEl>
                                          <p:spTgt spid="90121"/>
                                        </p:tgtEl>
                                        <p:attrNameLst>
                                          <p:attrName>style.visibility</p:attrName>
                                        </p:attrNameLst>
                                      </p:cBhvr>
                                      <p:to>
                                        <p:strVal val="hidden"/>
                                      </p:to>
                                    </p:set>
                                  </p:childTnLst>
                                </p:cTn>
                              </p:par>
                              <p:par>
                                <p:cTn id="86" presetID="2" presetClass="exit" presetSubtype="4" fill="hold" grpId="1" nodeType="withEffect">
                                  <p:stCondLst>
                                    <p:cond delay="0"/>
                                  </p:stCondLst>
                                  <p:childTnLst>
                                    <p:anim calcmode="lin" valueType="num">
                                      <p:cBhvr additive="base">
                                        <p:cTn id="87" dur="500"/>
                                        <p:tgtEl>
                                          <p:spTgt spid="90122"/>
                                        </p:tgtEl>
                                        <p:attrNameLst>
                                          <p:attrName>ppt_x</p:attrName>
                                        </p:attrNameLst>
                                      </p:cBhvr>
                                      <p:tavLst>
                                        <p:tav tm="0">
                                          <p:val>
                                            <p:strVal val="ppt_x"/>
                                          </p:val>
                                        </p:tav>
                                        <p:tav tm="100000">
                                          <p:val>
                                            <p:strVal val="ppt_x"/>
                                          </p:val>
                                        </p:tav>
                                      </p:tavLst>
                                    </p:anim>
                                    <p:anim calcmode="lin" valueType="num">
                                      <p:cBhvr additive="base">
                                        <p:cTn id="88" dur="500"/>
                                        <p:tgtEl>
                                          <p:spTgt spid="90122"/>
                                        </p:tgtEl>
                                        <p:attrNameLst>
                                          <p:attrName>ppt_y</p:attrName>
                                        </p:attrNameLst>
                                      </p:cBhvr>
                                      <p:tavLst>
                                        <p:tav tm="0">
                                          <p:val>
                                            <p:strVal val="ppt_y"/>
                                          </p:val>
                                        </p:tav>
                                        <p:tav tm="100000">
                                          <p:val>
                                            <p:strVal val="1+ppt_h/2"/>
                                          </p:val>
                                        </p:tav>
                                      </p:tavLst>
                                    </p:anim>
                                    <p:set>
                                      <p:cBhvr>
                                        <p:cTn id="89" dur="1" fill="hold">
                                          <p:stCondLst>
                                            <p:cond delay="499"/>
                                          </p:stCondLst>
                                        </p:cTn>
                                        <p:tgtEl>
                                          <p:spTgt spid="90122"/>
                                        </p:tgtEl>
                                        <p:attrNameLst>
                                          <p:attrName>style.visibility</p:attrName>
                                        </p:attrNameLst>
                                      </p:cBhvr>
                                      <p:to>
                                        <p:strVal val="hidden"/>
                                      </p:to>
                                    </p:set>
                                  </p:childTnLst>
                                </p:cTn>
                              </p:par>
                              <p:par>
                                <p:cTn id="90" presetID="2" presetClass="exit" presetSubtype="4" fill="hold" nodeType="withEffect">
                                  <p:stCondLst>
                                    <p:cond delay="0"/>
                                  </p:stCondLst>
                                  <p:childTnLst>
                                    <p:anim calcmode="lin" valueType="num">
                                      <p:cBhvr additive="base">
                                        <p:cTn id="91" dur="500"/>
                                        <p:tgtEl>
                                          <p:spTgt spid="90123"/>
                                        </p:tgtEl>
                                        <p:attrNameLst>
                                          <p:attrName>ppt_x</p:attrName>
                                        </p:attrNameLst>
                                      </p:cBhvr>
                                      <p:tavLst>
                                        <p:tav tm="0">
                                          <p:val>
                                            <p:strVal val="ppt_x"/>
                                          </p:val>
                                        </p:tav>
                                        <p:tav tm="100000">
                                          <p:val>
                                            <p:strVal val="ppt_x"/>
                                          </p:val>
                                        </p:tav>
                                      </p:tavLst>
                                    </p:anim>
                                    <p:anim calcmode="lin" valueType="num">
                                      <p:cBhvr additive="base">
                                        <p:cTn id="92" dur="500"/>
                                        <p:tgtEl>
                                          <p:spTgt spid="90123"/>
                                        </p:tgtEl>
                                        <p:attrNameLst>
                                          <p:attrName>ppt_y</p:attrName>
                                        </p:attrNameLst>
                                      </p:cBhvr>
                                      <p:tavLst>
                                        <p:tav tm="0">
                                          <p:val>
                                            <p:strVal val="ppt_y"/>
                                          </p:val>
                                        </p:tav>
                                        <p:tav tm="100000">
                                          <p:val>
                                            <p:strVal val="1+ppt_h/2"/>
                                          </p:val>
                                        </p:tav>
                                      </p:tavLst>
                                    </p:anim>
                                    <p:set>
                                      <p:cBhvr>
                                        <p:cTn id="93" dur="1" fill="hold">
                                          <p:stCondLst>
                                            <p:cond delay="499"/>
                                          </p:stCondLst>
                                        </p:cTn>
                                        <p:tgtEl>
                                          <p:spTgt spid="90123"/>
                                        </p:tgtEl>
                                        <p:attrNameLst>
                                          <p:attrName>style.visibility</p:attrName>
                                        </p:attrNameLst>
                                      </p:cBhvr>
                                      <p:to>
                                        <p:strVal val="hidden"/>
                                      </p:to>
                                    </p:set>
                                  </p:childTnLst>
                                </p:cTn>
                              </p:par>
                              <p:par>
                                <p:cTn id="94" presetID="2" presetClass="exit" presetSubtype="4" fill="hold" grpId="2" nodeType="withEffect">
                                  <p:stCondLst>
                                    <p:cond delay="0"/>
                                  </p:stCondLst>
                                  <p:childTnLst>
                                    <p:anim calcmode="lin" valueType="num">
                                      <p:cBhvr additive="base">
                                        <p:cTn id="95" dur="500"/>
                                        <p:tgtEl>
                                          <p:spTgt spid="90124"/>
                                        </p:tgtEl>
                                        <p:attrNameLst>
                                          <p:attrName>ppt_x</p:attrName>
                                        </p:attrNameLst>
                                      </p:cBhvr>
                                      <p:tavLst>
                                        <p:tav tm="0">
                                          <p:val>
                                            <p:strVal val="ppt_x"/>
                                          </p:val>
                                        </p:tav>
                                        <p:tav tm="100000">
                                          <p:val>
                                            <p:strVal val="ppt_x"/>
                                          </p:val>
                                        </p:tav>
                                      </p:tavLst>
                                    </p:anim>
                                    <p:anim calcmode="lin" valueType="num">
                                      <p:cBhvr additive="base">
                                        <p:cTn id="96" dur="500"/>
                                        <p:tgtEl>
                                          <p:spTgt spid="90124"/>
                                        </p:tgtEl>
                                        <p:attrNameLst>
                                          <p:attrName>ppt_y</p:attrName>
                                        </p:attrNameLst>
                                      </p:cBhvr>
                                      <p:tavLst>
                                        <p:tav tm="0">
                                          <p:val>
                                            <p:strVal val="ppt_y"/>
                                          </p:val>
                                        </p:tav>
                                        <p:tav tm="100000">
                                          <p:val>
                                            <p:strVal val="1+ppt_h/2"/>
                                          </p:val>
                                        </p:tav>
                                      </p:tavLst>
                                    </p:anim>
                                    <p:set>
                                      <p:cBhvr>
                                        <p:cTn id="97" dur="1" fill="hold">
                                          <p:stCondLst>
                                            <p:cond delay="499"/>
                                          </p:stCondLst>
                                        </p:cTn>
                                        <p:tgtEl>
                                          <p:spTgt spid="90124"/>
                                        </p:tgtEl>
                                        <p:attrNameLst>
                                          <p:attrName>style.visibility</p:attrName>
                                        </p:attrNameLst>
                                      </p:cBhvr>
                                      <p:to>
                                        <p:strVal val="hidden"/>
                                      </p:to>
                                    </p:set>
                                  </p:childTnLst>
                                </p:cTn>
                              </p:par>
                              <p:par>
                                <p:cTn id="98" presetID="2" presetClass="exit" presetSubtype="4" fill="hold" nodeType="withEffect">
                                  <p:stCondLst>
                                    <p:cond delay="0"/>
                                  </p:stCondLst>
                                  <p:childTnLst>
                                    <p:anim calcmode="lin" valueType="num">
                                      <p:cBhvr additive="base">
                                        <p:cTn id="99" dur="500"/>
                                        <p:tgtEl>
                                          <p:spTgt spid="90125"/>
                                        </p:tgtEl>
                                        <p:attrNameLst>
                                          <p:attrName>ppt_x</p:attrName>
                                        </p:attrNameLst>
                                      </p:cBhvr>
                                      <p:tavLst>
                                        <p:tav tm="0">
                                          <p:val>
                                            <p:strVal val="ppt_x"/>
                                          </p:val>
                                        </p:tav>
                                        <p:tav tm="100000">
                                          <p:val>
                                            <p:strVal val="ppt_x"/>
                                          </p:val>
                                        </p:tav>
                                      </p:tavLst>
                                    </p:anim>
                                    <p:anim calcmode="lin" valueType="num">
                                      <p:cBhvr additive="base">
                                        <p:cTn id="100" dur="500"/>
                                        <p:tgtEl>
                                          <p:spTgt spid="90125"/>
                                        </p:tgtEl>
                                        <p:attrNameLst>
                                          <p:attrName>ppt_y</p:attrName>
                                        </p:attrNameLst>
                                      </p:cBhvr>
                                      <p:tavLst>
                                        <p:tav tm="0">
                                          <p:val>
                                            <p:strVal val="ppt_y"/>
                                          </p:val>
                                        </p:tav>
                                        <p:tav tm="100000">
                                          <p:val>
                                            <p:strVal val="1+ppt_h/2"/>
                                          </p:val>
                                        </p:tav>
                                      </p:tavLst>
                                    </p:anim>
                                    <p:set>
                                      <p:cBhvr>
                                        <p:cTn id="101" dur="1" fill="hold">
                                          <p:stCondLst>
                                            <p:cond delay="499"/>
                                          </p:stCondLst>
                                        </p:cTn>
                                        <p:tgtEl>
                                          <p:spTgt spid="90125"/>
                                        </p:tgtEl>
                                        <p:attrNameLst>
                                          <p:attrName>style.visibility</p:attrName>
                                        </p:attrNameLst>
                                      </p:cBhvr>
                                      <p:to>
                                        <p:strVal val="hidden"/>
                                      </p:to>
                                    </p:set>
                                  </p:childTnLst>
                                </p:cTn>
                              </p:par>
                              <p:par>
                                <p:cTn id="102" presetID="2" presetClass="exit" presetSubtype="4" fill="hold" grpId="1" nodeType="withEffect">
                                  <p:stCondLst>
                                    <p:cond delay="0"/>
                                  </p:stCondLst>
                                  <p:childTnLst>
                                    <p:anim calcmode="lin" valueType="num">
                                      <p:cBhvr additive="base">
                                        <p:cTn id="103" dur="500"/>
                                        <p:tgtEl>
                                          <p:spTgt spid="90126"/>
                                        </p:tgtEl>
                                        <p:attrNameLst>
                                          <p:attrName>ppt_x</p:attrName>
                                        </p:attrNameLst>
                                      </p:cBhvr>
                                      <p:tavLst>
                                        <p:tav tm="0">
                                          <p:val>
                                            <p:strVal val="ppt_x"/>
                                          </p:val>
                                        </p:tav>
                                        <p:tav tm="100000">
                                          <p:val>
                                            <p:strVal val="ppt_x"/>
                                          </p:val>
                                        </p:tav>
                                      </p:tavLst>
                                    </p:anim>
                                    <p:anim calcmode="lin" valueType="num">
                                      <p:cBhvr additive="base">
                                        <p:cTn id="104" dur="500"/>
                                        <p:tgtEl>
                                          <p:spTgt spid="90126"/>
                                        </p:tgtEl>
                                        <p:attrNameLst>
                                          <p:attrName>ppt_y</p:attrName>
                                        </p:attrNameLst>
                                      </p:cBhvr>
                                      <p:tavLst>
                                        <p:tav tm="0">
                                          <p:val>
                                            <p:strVal val="ppt_y"/>
                                          </p:val>
                                        </p:tav>
                                        <p:tav tm="100000">
                                          <p:val>
                                            <p:strVal val="1+ppt_h/2"/>
                                          </p:val>
                                        </p:tav>
                                      </p:tavLst>
                                    </p:anim>
                                    <p:set>
                                      <p:cBhvr>
                                        <p:cTn id="105" dur="1" fill="hold">
                                          <p:stCondLst>
                                            <p:cond delay="499"/>
                                          </p:stCondLst>
                                        </p:cTn>
                                        <p:tgtEl>
                                          <p:spTgt spid="90126"/>
                                        </p:tgtEl>
                                        <p:attrNameLst>
                                          <p:attrName>style.visibility</p:attrName>
                                        </p:attrNameLst>
                                      </p:cBhvr>
                                      <p:to>
                                        <p:strVal val="hidden"/>
                                      </p:to>
                                    </p:set>
                                  </p:childTnLst>
                                </p:cTn>
                              </p:par>
                              <p:par>
                                <p:cTn id="106" presetID="3" presetClass="entr" presetSubtype="10" fill="hold" grpId="0" nodeType="withEffect">
                                  <p:stCondLst>
                                    <p:cond delay="0"/>
                                  </p:stCondLst>
                                  <p:childTnLst>
                                    <p:set>
                                      <p:cBhvr>
                                        <p:cTn id="107" dur="1" fill="hold">
                                          <p:stCondLst>
                                            <p:cond delay="0"/>
                                          </p:stCondLst>
                                        </p:cTn>
                                        <p:tgtEl>
                                          <p:spTgt spid="90127"/>
                                        </p:tgtEl>
                                        <p:attrNameLst>
                                          <p:attrName>style.visibility</p:attrName>
                                        </p:attrNameLst>
                                      </p:cBhvr>
                                      <p:to>
                                        <p:strVal val="visible"/>
                                      </p:to>
                                    </p:set>
                                    <p:animEffect transition="in" filter="blinds(horizontal)">
                                      <p:cBhvr>
                                        <p:cTn id="108" dur="500"/>
                                        <p:tgtEl>
                                          <p:spTgt spid="9012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6" presetClass="entr" presetSubtype="16" fill="hold" nodeType="clickEffect">
                                  <p:stCondLst>
                                    <p:cond delay="0"/>
                                  </p:stCondLst>
                                  <p:childTnLst>
                                    <p:set>
                                      <p:cBhvr>
                                        <p:cTn id="112" dur="1" fill="hold">
                                          <p:stCondLst>
                                            <p:cond delay="0"/>
                                          </p:stCondLst>
                                        </p:cTn>
                                        <p:tgtEl>
                                          <p:spTgt spid="2"/>
                                        </p:tgtEl>
                                        <p:attrNameLst>
                                          <p:attrName>style.visibility</p:attrName>
                                        </p:attrNameLst>
                                      </p:cBhvr>
                                      <p:to>
                                        <p:strVal val="visible"/>
                                      </p:to>
                                    </p:set>
                                    <p:animEffect transition="in" filter="circle(in)">
                                      <p:cBhvr>
                                        <p:cTn id="113" dur="2000"/>
                                        <p:tgtEl>
                                          <p:spTgt spid="2"/>
                                        </p:tgtEl>
                                      </p:cBhvr>
                                    </p:animEffect>
                                  </p:childTnLst>
                                </p:cTn>
                              </p:par>
                            </p:childTnLst>
                          </p:cTn>
                        </p:par>
                      </p:childTnLst>
                    </p:cTn>
                  </p:par>
                  <p:par>
                    <p:cTn id="114" fill="hold" nodeType="clickPar">
                      <p:stCondLst>
                        <p:cond delay="indefinite"/>
                      </p:stCondLst>
                      <p:childTnLst>
                        <p:par>
                          <p:cTn id="115" fill="hold" nodeType="withGroup">
                            <p:stCondLst>
                              <p:cond delay="0"/>
                            </p:stCondLst>
                            <p:childTnLst>
                              <p:par>
                                <p:cTn id="116" presetID="10" presetClass="entr" presetSubtype="0" fill="hold" nodeType="clickEffect">
                                  <p:stCondLst>
                                    <p:cond delay="0"/>
                                  </p:stCondLst>
                                  <p:childTnLst>
                                    <p:set>
                                      <p:cBhvr>
                                        <p:cTn id="117" dur="1" fill="hold">
                                          <p:stCondLst>
                                            <p:cond delay="0"/>
                                          </p:stCondLst>
                                        </p:cTn>
                                        <p:tgtEl>
                                          <p:spTgt spid="90132"/>
                                        </p:tgtEl>
                                        <p:attrNameLst>
                                          <p:attrName>style.visibility</p:attrName>
                                        </p:attrNameLst>
                                      </p:cBhvr>
                                      <p:to>
                                        <p:strVal val="visible"/>
                                      </p:to>
                                    </p:set>
                                    <p:animEffect transition="in" filter="fade">
                                      <p:cBhvr>
                                        <p:cTn id="118" dur="2000"/>
                                        <p:tgtEl>
                                          <p:spTgt spid="90132"/>
                                        </p:tgtEl>
                                      </p:cBhvr>
                                    </p:animEffect>
                                  </p:childTnLst>
                                </p:cTn>
                              </p:par>
                              <p:par>
                                <p:cTn id="119" presetID="10" presetClass="entr" presetSubtype="0" fill="hold" nodeType="withEffect">
                                  <p:stCondLst>
                                    <p:cond delay="0"/>
                                  </p:stCondLst>
                                  <p:childTnLst>
                                    <p:set>
                                      <p:cBhvr>
                                        <p:cTn id="120" dur="1" fill="hold">
                                          <p:stCondLst>
                                            <p:cond delay="0"/>
                                          </p:stCondLst>
                                        </p:cTn>
                                        <p:tgtEl>
                                          <p:spTgt spid="90133"/>
                                        </p:tgtEl>
                                        <p:attrNameLst>
                                          <p:attrName>style.visibility</p:attrName>
                                        </p:attrNameLst>
                                      </p:cBhvr>
                                      <p:to>
                                        <p:strVal val="visible"/>
                                      </p:to>
                                    </p:set>
                                    <p:animEffect transition="in" filter="fade">
                                      <p:cBhvr>
                                        <p:cTn id="121" dur="2000"/>
                                        <p:tgtEl>
                                          <p:spTgt spid="90133"/>
                                        </p:tgtEl>
                                      </p:cBhvr>
                                    </p:animEffect>
                                  </p:childTnLst>
                                </p:cTn>
                              </p:par>
                              <p:par>
                                <p:cTn id="122" presetID="10" presetClass="entr" presetSubtype="0" fill="hold" nodeType="withEffect">
                                  <p:stCondLst>
                                    <p:cond delay="0"/>
                                  </p:stCondLst>
                                  <p:childTnLst>
                                    <p:set>
                                      <p:cBhvr>
                                        <p:cTn id="123" dur="1" fill="hold">
                                          <p:stCondLst>
                                            <p:cond delay="0"/>
                                          </p:stCondLst>
                                        </p:cTn>
                                        <p:tgtEl>
                                          <p:spTgt spid="4"/>
                                        </p:tgtEl>
                                        <p:attrNameLst>
                                          <p:attrName>style.visibility</p:attrName>
                                        </p:attrNameLst>
                                      </p:cBhvr>
                                      <p:to>
                                        <p:strVal val="visible"/>
                                      </p:to>
                                    </p:set>
                                    <p:animEffect transition="in" filter="fade">
                                      <p:cBhvr>
                                        <p:cTn id="124" dur="2000"/>
                                        <p:tgtEl>
                                          <p:spTgt spid="4"/>
                                        </p:tgtEl>
                                      </p:cBhvr>
                                    </p:animEffect>
                                  </p:childTnLst>
                                </p:cTn>
                              </p:par>
                              <p:par>
                                <p:cTn id="125" presetID="10" presetClass="entr" presetSubtype="0" fill="hold" nodeType="withEffect">
                                  <p:stCondLst>
                                    <p:cond delay="0"/>
                                  </p:stCondLst>
                                  <p:childTnLst>
                                    <p:set>
                                      <p:cBhvr>
                                        <p:cTn id="126" dur="1" fill="hold">
                                          <p:stCondLst>
                                            <p:cond delay="0"/>
                                          </p:stCondLst>
                                        </p:cTn>
                                        <p:tgtEl>
                                          <p:spTgt spid="3"/>
                                        </p:tgtEl>
                                        <p:attrNameLst>
                                          <p:attrName>style.visibility</p:attrName>
                                        </p:attrNameLst>
                                      </p:cBhvr>
                                      <p:to>
                                        <p:strVal val="visible"/>
                                      </p:to>
                                    </p:set>
                                    <p:animEffect transition="in" filter="fade">
                                      <p:cBhvr>
                                        <p:cTn id="127" dur="2000"/>
                                        <p:tgtEl>
                                          <p:spTgt spid="3"/>
                                        </p:tgtEl>
                                      </p:cBhvr>
                                    </p:animEffect>
                                  </p:childTnLst>
                                </p:cTn>
                              </p:par>
                            </p:childTnLst>
                          </p:cTn>
                        </p:par>
                        <p:par>
                          <p:cTn id="128" fill="hold" nodeType="afterGroup">
                            <p:stCondLst>
                              <p:cond delay="2000"/>
                            </p:stCondLst>
                            <p:childTnLst>
                              <p:par>
                                <p:cTn id="129" presetID="2" presetClass="entr" presetSubtype="4" fill="hold" grpId="0" nodeType="afterEffect">
                                  <p:stCondLst>
                                    <p:cond delay="0"/>
                                  </p:stCondLst>
                                  <p:childTnLst>
                                    <p:set>
                                      <p:cBhvr>
                                        <p:cTn id="130" dur="1" fill="hold">
                                          <p:stCondLst>
                                            <p:cond delay="0"/>
                                          </p:stCondLst>
                                        </p:cTn>
                                        <p:tgtEl>
                                          <p:spTgt spid="90134"/>
                                        </p:tgtEl>
                                        <p:attrNameLst>
                                          <p:attrName>style.visibility</p:attrName>
                                        </p:attrNameLst>
                                      </p:cBhvr>
                                      <p:to>
                                        <p:strVal val="visible"/>
                                      </p:to>
                                    </p:set>
                                    <p:anim calcmode="lin" valueType="num">
                                      <p:cBhvr additive="base">
                                        <p:cTn id="131" dur="500" fill="hold"/>
                                        <p:tgtEl>
                                          <p:spTgt spid="90134"/>
                                        </p:tgtEl>
                                        <p:attrNameLst>
                                          <p:attrName>ppt_x</p:attrName>
                                        </p:attrNameLst>
                                      </p:cBhvr>
                                      <p:tavLst>
                                        <p:tav tm="0">
                                          <p:val>
                                            <p:strVal val="#ppt_x"/>
                                          </p:val>
                                        </p:tav>
                                        <p:tav tm="100000">
                                          <p:val>
                                            <p:strVal val="#ppt_x"/>
                                          </p:val>
                                        </p:tav>
                                      </p:tavLst>
                                    </p:anim>
                                    <p:anim calcmode="lin" valueType="num">
                                      <p:cBhvr additive="base">
                                        <p:cTn id="132" dur="500" fill="hold"/>
                                        <p:tgtEl>
                                          <p:spTgt spid="90134"/>
                                        </p:tgtEl>
                                        <p:attrNameLst>
                                          <p:attrName>ppt_y</p:attrName>
                                        </p:attrNameLst>
                                      </p:cBhvr>
                                      <p:tavLst>
                                        <p:tav tm="0">
                                          <p:val>
                                            <p:strVal val="1+#ppt_h/2"/>
                                          </p:val>
                                        </p:tav>
                                        <p:tav tm="100000">
                                          <p:val>
                                            <p:strVal val="#ppt_y"/>
                                          </p:val>
                                        </p:tav>
                                      </p:tavLst>
                                    </p:anim>
                                  </p:childTnLst>
                                </p:cTn>
                              </p:par>
                              <p:par>
                                <p:cTn id="133" presetID="6" presetClass="emph" presetSubtype="0" fill="hold" nodeType="withEffect">
                                  <p:stCondLst>
                                    <p:cond delay="0"/>
                                  </p:stCondLst>
                                  <p:childTnLst>
                                    <p:animScale>
                                      <p:cBhvr>
                                        <p:cTn id="134" dur="2000" fill="hold"/>
                                        <p:tgtEl>
                                          <p:spTgt spid="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20" grpId="0"/>
      <p:bldP spid="90120" grpId="1"/>
      <p:bldP spid="90122" grpId="0"/>
      <p:bldP spid="90122" grpId="1"/>
      <p:bldP spid="90124" grpId="0"/>
      <p:bldP spid="90124" grpId="1"/>
      <p:bldP spid="90124" grpId="2"/>
      <p:bldP spid="90126" grpId="0"/>
      <p:bldP spid="90126" grpId="1"/>
      <p:bldP spid="90127" grpId="0" animBg="1"/>
      <p:bldP spid="90134" grpId="0"/>
      <p:bldP spid="5" grpId="0" animBg="1"/>
      <p:bldP spid="5" grpId="1" animBg="1"/>
      <p:bldP spid="6" grpId="0" animBg="1"/>
      <p:bldP spid="6" grpId="1" animBg="1"/>
      <p:bldP spid="9" grpId="0"/>
      <p:bldP spid="9" grpId="1"/>
      <p:bldP spid="12" grpId="0"/>
      <p:bldP spid="12" grpId="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12.9|113.9"/>
</p:tagLst>
</file>

<file path=ppt/tags/tag2.xml><?xml version="1.0" encoding="utf-8"?>
<p:tagLst xmlns:a="http://schemas.openxmlformats.org/drawingml/2006/main" xmlns:r="http://schemas.openxmlformats.org/officeDocument/2006/relationships" xmlns:p="http://schemas.openxmlformats.org/presentationml/2006/main">
  <p:tag name="TIMING" val="|30.3|21.6|1.6|35.3|13.9|247.6"/>
</p:tagLst>
</file>

<file path=ppt/tags/tag3.xml><?xml version="1.0" encoding="utf-8"?>
<p:tagLst xmlns:a="http://schemas.openxmlformats.org/drawingml/2006/main" xmlns:r="http://schemas.openxmlformats.org/officeDocument/2006/relationships" xmlns:p="http://schemas.openxmlformats.org/presentationml/2006/main">
  <p:tag name="TIMING" val="|30.3|21.6|1.6|35.3|13.9|247.6"/>
</p:tagLst>
</file>

<file path=ppt/tags/tag4.xml><?xml version="1.0" encoding="utf-8"?>
<p:tagLst xmlns:a="http://schemas.openxmlformats.org/drawingml/2006/main" xmlns:r="http://schemas.openxmlformats.org/officeDocument/2006/relationships" xmlns:p="http://schemas.openxmlformats.org/presentationml/2006/main">
  <p:tag name="TIMING" val="|130.4|75.7|39"/>
</p:tagLst>
</file>

<file path=ppt/tags/tag5.xml><?xml version="1.0" encoding="utf-8"?>
<p:tagLst xmlns:a="http://schemas.openxmlformats.org/drawingml/2006/main" xmlns:r="http://schemas.openxmlformats.org/officeDocument/2006/relationships" xmlns:p="http://schemas.openxmlformats.org/presentationml/2006/main">
  <p:tag name="TIMING" val="|130.4|75.7|39"/>
</p:tagLst>
</file>

<file path=ppt/tags/tag6.xml><?xml version="1.0" encoding="utf-8"?>
<p:tagLst xmlns:a="http://schemas.openxmlformats.org/drawingml/2006/main" xmlns:r="http://schemas.openxmlformats.org/officeDocument/2006/relationships" xmlns:p="http://schemas.openxmlformats.org/presentationml/2006/main">
  <p:tag name="TIMING" val="|130.4|75.7|39"/>
</p:tagLst>
</file>

<file path=ppt/tags/tag7.xml><?xml version="1.0" encoding="utf-8"?>
<p:tagLst xmlns:a="http://schemas.openxmlformats.org/drawingml/2006/main" xmlns:r="http://schemas.openxmlformats.org/officeDocument/2006/relationships" xmlns:p="http://schemas.openxmlformats.org/presentationml/2006/main">
  <p:tag name="TIMING" val="|130.4|75.7|39"/>
</p:tagLst>
</file>

<file path=ppt/tags/tag8.xml><?xml version="1.0" encoding="utf-8"?>
<p:tagLst xmlns:a="http://schemas.openxmlformats.org/drawingml/2006/main" xmlns:r="http://schemas.openxmlformats.org/officeDocument/2006/relationships" xmlns:p="http://schemas.openxmlformats.org/presentationml/2006/main">
  <p:tag name="TIMING" val="|130.4|75.7|39"/>
</p:tagLst>
</file>

<file path=ppt/tags/tag9.xml><?xml version="1.0" encoding="utf-8"?>
<p:tagLst xmlns:a="http://schemas.openxmlformats.org/drawingml/2006/main" xmlns:r="http://schemas.openxmlformats.org/officeDocument/2006/relationships" xmlns:p="http://schemas.openxmlformats.org/presentationml/2006/main">
  <p:tag name="TIMING" val="|130.4|75.7|39"/>
</p:tagLst>
</file>

<file path=ppt/tags/tag10.xml><?xml version="1.0" encoding="utf-8"?>
<p:tagLst xmlns:a="http://schemas.openxmlformats.org/drawingml/2006/main" xmlns:r="http://schemas.openxmlformats.org/officeDocument/2006/relationships" xmlns:p="http://schemas.openxmlformats.org/presentationml/2006/main">
  <p:tag name="TIMING" val="|130.4|75.7|39"/>
</p:tagLst>
</file>

<file path=ppt/tags/tag11.xml><?xml version="1.0" encoding="utf-8"?>
<p:tagLst xmlns:a="http://schemas.openxmlformats.org/drawingml/2006/main" xmlns:r="http://schemas.openxmlformats.org/officeDocument/2006/relationships" xmlns:p="http://schemas.openxmlformats.org/presentationml/2006/main">
  <p:tag name="TIMING" val="|130.4|75.7|39"/>
</p:tagLst>
</file>

<file path=ppt/tags/tag12.xml><?xml version="1.0" encoding="utf-8"?>
<p:tagLst xmlns:a="http://schemas.openxmlformats.org/drawingml/2006/main" xmlns:r="http://schemas.openxmlformats.org/officeDocument/2006/relationships" xmlns:p="http://schemas.openxmlformats.org/presentationml/2006/main">
  <p:tag name="TIMING" val="|130.4|75.7|39"/>
</p:tagLst>
</file>

<file path=ppt/tags/tag13.xml><?xml version="1.0" encoding="utf-8"?>
<p:tagLst xmlns:a="http://schemas.openxmlformats.org/drawingml/2006/main" xmlns:r="http://schemas.openxmlformats.org/officeDocument/2006/relationships" xmlns:p="http://schemas.openxmlformats.org/presentationml/2006/main">
  <p:tag name="TIMING" val="|130.4|75.7|39"/>
</p:tagLst>
</file>

<file path=ppt/tags/tag14.xml><?xml version="1.0" encoding="utf-8"?>
<p:tagLst xmlns:a="http://schemas.openxmlformats.org/drawingml/2006/main" xmlns:r="http://schemas.openxmlformats.org/officeDocument/2006/relationships" xmlns:p="http://schemas.openxmlformats.org/presentationml/2006/main">
  <p:tag name="TIMING" val="|130.4|75.7|39"/>
</p:tagLst>
</file>

<file path=ppt/tags/tag15.xml><?xml version="1.0" encoding="utf-8"?>
<p:tagLst xmlns:a="http://schemas.openxmlformats.org/drawingml/2006/main" xmlns:r="http://schemas.openxmlformats.org/officeDocument/2006/relationships" xmlns:p="http://schemas.openxmlformats.org/presentationml/2006/main">
  <p:tag name="TIMING" val="|130.4|75.7|39"/>
</p:tagLst>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s-AR" sz="1400" b="0" i="0" u="none" strike="noStrike" cap="none" normalizeH="0" baseline="0" smtClean="0">
            <a:ln>
              <a:noFill/>
            </a:ln>
            <a:solidFill>
              <a:schemeClr val="folHlink"/>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lang="es-AR" sz="1400" b="0" i="0" u="none" strike="noStrike" cap="none" normalizeH="0" baseline="0" smtClean="0">
            <a:ln>
              <a:noFill/>
            </a:ln>
            <a:solidFill>
              <a:schemeClr val="folHlink"/>
            </a:solidFill>
            <a:effectLst/>
            <a:latin typeface="Tahoma" pitchFamily="34"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C:\Apps\Office2000\Templates\Presentation Designs\Blends.pot</Template>
  <TotalTime>1892</TotalTime>
  <Words>3188</Words>
  <Application>Microsoft Office PowerPoint</Application>
  <PresentationFormat>Presentación en pantalla (4:3)</PresentationFormat>
  <Paragraphs>721</Paragraphs>
  <Slides>31</Slides>
  <Notes>24</Notes>
  <HiddenSlides>1</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31</vt:i4>
      </vt:variant>
    </vt:vector>
  </HeadingPairs>
  <TitlesOfParts>
    <vt:vector size="39" baseType="lpstr">
      <vt:lpstr>SimSun</vt:lpstr>
      <vt:lpstr>Aptos</vt:lpstr>
      <vt:lpstr>Arial</vt:lpstr>
      <vt:lpstr>Droid Sans Fallback</vt:lpstr>
      <vt:lpstr>Tahoma</vt:lpstr>
      <vt:lpstr>Times New Roman</vt:lpstr>
      <vt:lpstr>Wingdings</vt:lpstr>
      <vt:lpstr>Blends</vt:lpstr>
      <vt:lpstr>Diseño y gestión de Bases de Datos</vt:lpstr>
      <vt:lpstr>Esquema</vt:lpstr>
      <vt:lpstr>El problema infológico y el diseño conceptual</vt:lpstr>
      <vt:lpstr>Presentación de PowerPoint</vt:lpstr>
      <vt:lpstr>Proceso: Diseño conceptual y Lógico</vt:lpstr>
      <vt:lpstr>Diseño conceptual</vt:lpstr>
      <vt:lpstr>Caso -  ImpoCheck</vt:lpstr>
      <vt:lpstr>Entidad</vt:lpstr>
      <vt:lpstr>Relación</vt:lpstr>
      <vt:lpstr>Restricciones</vt:lpstr>
      <vt:lpstr>Modelo E-R</vt:lpstr>
      <vt:lpstr>Presentación de PowerPoint</vt:lpstr>
      <vt:lpstr>Presentación de PowerPoint</vt:lpstr>
      <vt:lpstr>Presentación de PowerPoint</vt:lpstr>
      <vt:lpstr>Presentación de PowerPoint</vt:lpstr>
      <vt:lpstr>Presentación de PowerPoint</vt:lpstr>
      <vt:lpstr>    Métodos: diseño conceptual -&gt; lógico</vt:lpstr>
      <vt:lpstr>    M ER</vt:lpstr>
      <vt:lpstr>    M ER</vt:lpstr>
      <vt:lpstr>    M ER</vt:lpstr>
      <vt:lpstr>    M ER</vt:lpstr>
      <vt:lpstr>En resumen</vt:lpstr>
      <vt:lpstr>Esquema</vt:lpstr>
      <vt:lpstr>    Métodos: diseño conceptual -&gt; lógico</vt:lpstr>
      <vt:lpstr>    NORMALIZACION</vt:lpstr>
      <vt:lpstr>    DER</vt:lpstr>
      <vt:lpstr>Actividad: CASO JURASSIC PARK </vt:lpstr>
      <vt:lpstr>CASO JURASSIC PARK </vt:lpstr>
      <vt:lpstr>Actividad: CASO JURASSIC PARK </vt:lpstr>
      <vt:lpstr>CASO JURASSIC PARK </vt:lpstr>
      <vt:lpstr>Criterios de buen diseño</vt:lpstr>
    </vt:vector>
  </TitlesOfParts>
  <Company>UBA - FCE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Temática 2: Diseño Conceptual y lógico</dc:title>
  <dc:subject>Hardware: Almacenamiento auxiliar / Periféricos</dc:subject>
  <dc:creator>Esteban Suti</dc:creator>
  <cp:lastModifiedBy>Jorge Grinpelc</cp:lastModifiedBy>
  <cp:revision>10</cp:revision>
  <dcterms:created xsi:type="dcterms:W3CDTF">2002-08-15T14:16:53Z</dcterms:created>
  <dcterms:modified xsi:type="dcterms:W3CDTF">2026-03-13T13:44:06Z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haredWithUsers">
    <vt:lpwstr>142;#CESPEDES MABEL SOLEDAD</vt:lpwstr>
  </property>
  <property fmtid="{D5CDD505-2E9C-101B-9397-08002B2CF9AE}" pid="3" name="Unidad">
    <vt:lpwstr>2</vt:lpwstr>
  </property>
  <property fmtid="{D5CDD505-2E9C-101B-9397-08002B2CF9AE}" pid="4" name="Nro">
    <vt:lpwstr>2.00000000000000</vt:lpwstr>
  </property>
  <property fmtid="{D5CDD505-2E9C-101B-9397-08002B2CF9AE}" pid="5" name="display_urn:schemas-microsoft-com:office:office#SharedWithUsers">
    <vt:lpwstr>CESPEDES MABEL SOLEDAD</vt:lpwstr>
  </property>
</Properties>
</file>