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4"/>
  </p:notesMasterIdLst>
  <p:sldIdLst>
    <p:sldId id="256" r:id="rId5"/>
    <p:sldId id="270" r:id="rId6"/>
    <p:sldId id="271" r:id="rId7"/>
    <p:sldId id="257" r:id="rId8"/>
    <p:sldId id="259" r:id="rId9"/>
    <p:sldId id="267" r:id="rId10"/>
    <p:sldId id="269" r:id="rId11"/>
    <p:sldId id="272" r:id="rId12"/>
    <p:sldId id="273"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21" autoAdjust="0"/>
    <p:restoredTop sz="94660"/>
  </p:normalViewPr>
  <p:slideViewPr>
    <p:cSldViewPr snapToGrid="0">
      <p:cViewPr varScale="1">
        <p:scale>
          <a:sx n="90" d="100"/>
          <a:sy n="90" d="100"/>
        </p:scale>
        <p:origin x="1032"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729f02963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729f02963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729f02963f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729f02963f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729f02963f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729f02963f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0628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1834E3-8882-43CD-AF01-A2AD7DB790F4}" type="datetimeFigureOut">
              <a:rPr lang="es-AR" smtClean="0"/>
              <a:t>13/7/2022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ABE8ED8-B6B4-405D-9E79-C4B0507B5F7D}" type="slidenum">
              <a:rPr lang="es-AR" smtClean="0"/>
              <a:t>‹Nº›</a:t>
            </a:fld>
            <a:endParaRPr lang="es-AR"/>
          </a:p>
        </p:txBody>
      </p:sp>
    </p:spTree>
    <p:extLst>
      <p:ext uri="{BB962C8B-B14F-4D97-AF65-F5344CB8AC3E}">
        <p14:creationId xmlns:p14="http://schemas.microsoft.com/office/powerpoint/2010/main" val="4235723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dirty="0"/>
              <a:t>Mafalda</a:t>
            </a:r>
            <a:endParaRPr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a:t>Diagrama Entidad-Relación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8045C0B-3B92-407F-90D6-4C5A91270604}"/>
              </a:ext>
            </a:extLst>
          </p:cNvPr>
          <p:cNvSpPr txBox="1"/>
          <p:nvPr/>
        </p:nvSpPr>
        <p:spPr>
          <a:xfrm>
            <a:off x="336884" y="204537"/>
            <a:ext cx="8494295" cy="5047536"/>
          </a:xfrm>
          <a:prstGeom prst="rect">
            <a:avLst/>
          </a:prstGeom>
          <a:noFill/>
        </p:spPr>
        <p:txBody>
          <a:bodyPr wrap="square" rtlCol="0">
            <a:spAutoFit/>
          </a:bodyPr>
          <a:lstStyle/>
          <a:p>
            <a:r>
              <a:rPr lang="es-AR" dirty="0"/>
              <a:t>Colores</a:t>
            </a:r>
          </a:p>
          <a:p>
            <a:r>
              <a:rPr lang="es-AR" dirty="0">
                <a:highlight>
                  <a:srgbClr val="FFFF00"/>
                </a:highlight>
              </a:rPr>
              <a:t>Entidades/relaciones</a:t>
            </a:r>
            <a:r>
              <a:rPr lang="es-AR" dirty="0"/>
              <a:t>, </a:t>
            </a:r>
            <a:r>
              <a:rPr lang="es-AR" dirty="0">
                <a:highlight>
                  <a:srgbClr val="00FFFF"/>
                </a:highlight>
              </a:rPr>
              <a:t>atributos</a:t>
            </a:r>
            <a:r>
              <a:rPr lang="es-AR" dirty="0"/>
              <a:t>, </a:t>
            </a:r>
            <a:r>
              <a:rPr lang="es-AR" dirty="0">
                <a:highlight>
                  <a:srgbClr val="00FF00"/>
                </a:highlight>
              </a:rPr>
              <a:t>verificadores</a:t>
            </a:r>
            <a:r>
              <a:rPr lang="es-AR" dirty="0"/>
              <a:t>, </a:t>
            </a:r>
            <a:r>
              <a:rPr lang="es-AR" dirty="0">
                <a:highlight>
                  <a:srgbClr val="FF0000"/>
                </a:highlight>
              </a:rPr>
              <a:t>restricciones</a:t>
            </a:r>
          </a:p>
          <a:p>
            <a:endParaRPr lang="es-AR" dirty="0"/>
          </a:p>
          <a:p>
            <a:r>
              <a:rPr lang="es-AR" dirty="0"/>
              <a:t>MAFALDA S.A. </a:t>
            </a:r>
          </a:p>
          <a:p>
            <a:r>
              <a:rPr lang="es-AR" dirty="0"/>
              <a:t>La empresa Mafalda S.A., se dedica a la realización de congresos, conferencias y cursos sobre nuevas tendencias tecnológicas. Debido a la gran cantidad de eventos que realiza y a la gran concurrencia que tienen los mismos necesita un sistema que lo ayude en la gestión de ellos. </a:t>
            </a:r>
          </a:p>
          <a:p>
            <a:r>
              <a:rPr lang="es-AR" dirty="0"/>
              <a:t>La empresa tiene información sobre posibles </a:t>
            </a:r>
            <a:r>
              <a:rPr lang="es-AR" dirty="0">
                <a:highlight>
                  <a:srgbClr val="FFFF00"/>
                </a:highlight>
              </a:rPr>
              <a:t>asistentes</a:t>
            </a:r>
            <a:r>
              <a:rPr lang="es-AR" dirty="0"/>
              <a:t> a sus cursos (</a:t>
            </a:r>
            <a:r>
              <a:rPr lang="es-AR" dirty="0">
                <a:solidFill>
                  <a:schemeClr val="tx1"/>
                </a:solidFill>
                <a:highlight>
                  <a:srgbClr val="00FFFF"/>
                </a:highlight>
              </a:rPr>
              <a:t>Nombre, Domicilio, teléfonos, Profesión, y Tema/s de su interés)</a:t>
            </a:r>
            <a:r>
              <a:rPr lang="es-AR" dirty="0"/>
              <a:t>, dicha información la obtiene respecto de los asistentes a cursos anteriores, y a recolección de información que cotidianamente va obteniendo en colegios profesionales, asociaciones, y promociones en las cercanías de otros congresos, conferencias. </a:t>
            </a:r>
          </a:p>
          <a:p>
            <a:r>
              <a:rPr lang="es-AR" dirty="0"/>
              <a:t>Cuando la empresa está por realizar un </a:t>
            </a:r>
            <a:r>
              <a:rPr lang="es-AR" dirty="0">
                <a:highlight>
                  <a:srgbClr val="FFFF00"/>
                </a:highlight>
              </a:rPr>
              <a:t>evento</a:t>
            </a:r>
            <a:r>
              <a:rPr lang="es-AR" dirty="0"/>
              <a:t>, manda </a:t>
            </a:r>
            <a:r>
              <a:rPr lang="es-AR" dirty="0">
                <a:highlight>
                  <a:srgbClr val="FFFF00"/>
                </a:highlight>
              </a:rPr>
              <a:t>invitaciones</a:t>
            </a:r>
            <a:r>
              <a:rPr lang="es-AR" dirty="0"/>
              <a:t> a los posibles asistentes, la selección de a quien mandar las invitaciones se hace según la profesión y los temas de interés que se tienen guardados de las personas. Aquellas personas que les interese concurrir al evento, se deberán </a:t>
            </a:r>
            <a:r>
              <a:rPr lang="es-AR" dirty="0">
                <a:highlight>
                  <a:srgbClr val="FFFF00"/>
                </a:highlight>
              </a:rPr>
              <a:t>inscribir</a:t>
            </a:r>
            <a:r>
              <a:rPr lang="es-AR" dirty="0"/>
              <a:t>, hasta una semana antes de la realización del mismo. </a:t>
            </a:r>
            <a:r>
              <a:rPr lang="es-AR" dirty="0">
                <a:highlight>
                  <a:srgbClr val="FF0000"/>
                </a:highlight>
              </a:rPr>
              <a:t>Solo se podrá inscribir personas hasta colmar la </a:t>
            </a:r>
            <a:r>
              <a:rPr lang="es-AR" dirty="0">
                <a:highlight>
                  <a:srgbClr val="00FFFF"/>
                </a:highlight>
              </a:rPr>
              <a:t>capacidad máxima </a:t>
            </a:r>
            <a:r>
              <a:rPr lang="es-AR" dirty="0">
                <a:highlight>
                  <a:srgbClr val="FF0000"/>
                </a:highlight>
              </a:rPr>
              <a:t>de asistentes del evento. </a:t>
            </a:r>
          </a:p>
          <a:p>
            <a:r>
              <a:rPr lang="es-AR" dirty="0"/>
              <a:t>El </a:t>
            </a:r>
            <a:r>
              <a:rPr lang="es-AR" dirty="0">
                <a:highlight>
                  <a:srgbClr val="00FFFF"/>
                </a:highlight>
              </a:rPr>
              <a:t>día de realización </a:t>
            </a:r>
            <a:r>
              <a:rPr lang="es-AR" dirty="0"/>
              <a:t>del evento, cuando las personas llegan y se quieren acreditar, se deberá </a:t>
            </a:r>
            <a:r>
              <a:rPr lang="es-AR" dirty="0">
                <a:highlight>
                  <a:srgbClr val="00FF00"/>
                </a:highlight>
              </a:rPr>
              <a:t>verificar que dicha persona se encuentre inscripta en el evento</a:t>
            </a:r>
            <a:r>
              <a:rPr lang="es-AR" dirty="0"/>
              <a:t>, y si ese es el caso se le debe emitir y entregar la tarjeta de ingreso. En este momento, se registra en el sistema la </a:t>
            </a:r>
            <a:r>
              <a:rPr lang="es-AR" dirty="0">
                <a:highlight>
                  <a:srgbClr val="FFFF00"/>
                </a:highlight>
              </a:rPr>
              <a:t>asistencia</a:t>
            </a:r>
            <a:r>
              <a:rPr lang="es-AR" dirty="0"/>
              <a:t> al evento. </a:t>
            </a:r>
          </a:p>
          <a:p>
            <a:r>
              <a:rPr lang="es-AR" dirty="0"/>
              <a:t>Cuando el evento abarca más de un día, se debe poder sacar un </a:t>
            </a:r>
            <a:r>
              <a:rPr lang="es-AR" dirty="0">
                <a:highlight>
                  <a:srgbClr val="00FF00"/>
                </a:highlight>
              </a:rPr>
              <a:t>listado de personas </a:t>
            </a:r>
            <a:r>
              <a:rPr lang="es-AR" dirty="0">
                <a:highlight>
                  <a:srgbClr val="FFFF00"/>
                </a:highlight>
              </a:rPr>
              <a:t>inscriptas</a:t>
            </a:r>
            <a:r>
              <a:rPr lang="es-AR" dirty="0"/>
              <a:t> al evento </a:t>
            </a:r>
            <a:r>
              <a:rPr lang="es-AR" dirty="0">
                <a:highlight>
                  <a:srgbClr val="00FFFF"/>
                </a:highlight>
              </a:rPr>
              <a:t>(código y nombre de las personas, y profesión</a:t>
            </a:r>
            <a:r>
              <a:rPr lang="es-AR" dirty="0"/>
              <a:t>), que permita luego tomar lista de los asistentes de ese día. Cuando el evento dura solo un día la asistencia se obtiene por las personas que se acreditaron. </a:t>
            </a:r>
          </a:p>
          <a:p>
            <a:endParaRPr lang="es-AR" dirty="0"/>
          </a:p>
        </p:txBody>
      </p:sp>
    </p:spTree>
    <p:extLst>
      <p:ext uri="{BB962C8B-B14F-4D97-AF65-F5344CB8AC3E}">
        <p14:creationId xmlns:p14="http://schemas.microsoft.com/office/powerpoint/2010/main" val="332488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1000"/>
                                        <p:tgtEl>
                                          <p:spTgt spid="3">
                                            <p:txEl>
                                              <p:pRg st="6" end="6"/>
                                            </p:txEl>
                                          </p:spTgt>
                                        </p:tgtEl>
                                      </p:cBhvr>
                                    </p:animEffect>
                                    <p:anim calcmode="lin" valueType="num">
                                      <p:cBhvr>
                                        <p:cTn id="1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1000"/>
                                        <p:tgtEl>
                                          <p:spTgt spid="3">
                                            <p:txEl>
                                              <p:pRg st="7" end="7"/>
                                            </p:txEl>
                                          </p:spTgt>
                                        </p:tgtEl>
                                      </p:cBhvr>
                                    </p:animEffect>
                                    <p:anim calcmode="lin" valueType="num">
                                      <p:cBhvr>
                                        <p:cTn id="2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1000"/>
                                        <p:tgtEl>
                                          <p:spTgt spid="3">
                                            <p:txEl>
                                              <p:pRg st="8" end="8"/>
                                            </p:txEl>
                                          </p:spTgt>
                                        </p:tgtEl>
                                      </p:cBhvr>
                                    </p:animEffect>
                                    <p:anim calcmode="lin" valueType="num">
                                      <p:cBhvr>
                                        <p:cTn id="2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DD1921E-C9F2-4463-9FC2-F8443DCCF858}"/>
              </a:ext>
            </a:extLst>
          </p:cNvPr>
          <p:cNvSpPr/>
          <p:nvPr/>
        </p:nvSpPr>
        <p:spPr>
          <a:xfrm>
            <a:off x="300789" y="263426"/>
            <a:ext cx="8494295" cy="3323987"/>
          </a:xfrm>
          <a:prstGeom prst="rect">
            <a:avLst/>
          </a:prstGeom>
        </p:spPr>
        <p:txBody>
          <a:bodyPr wrap="square">
            <a:spAutoFit/>
          </a:bodyPr>
          <a:lstStyle/>
          <a:p>
            <a:r>
              <a:rPr lang="es-AR" dirty="0"/>
              <a:t>Una semana posterior a la finalización del evento se debe enviar al domicilio de todos los asistentes los </a:t>
            </a:r>
            <a:r>
              <a:rPr lang="es-AR" dirty="0">
                <a:highlight>
                  <a:srgbClr val="FFFF00"/>
                </a:highlight>
              </a:rPr>
              <a:t>diplomas</a:t>
            </a:r>
            <a:r>
              <a:rPr lang="es-AR" dirty="0"/>
              <a:t> de asistencia al evento. </a:t>
            </a:r>
          </a:p>
          <a:p>
            <a:r>
              <a:rPr lang="es-AR" dirty="0"/>
              <a:t>Es de vital importancia para Felipe, el gerente general, poder </a:t>
            </a:r>
            <a:r>
              <a:rPr lang="es-AR" dirty="0">
                <a:highlight>
                  <a:srgbClr val="00FF00"/>
                </a:highlight>
              </a:rPr>
              <a:t>obtener información sobre un evento. La información que requiere es:</a:t>
            </a:r>
            <a:r>
              <a:rPr lang="es-AR" dirty="0"/>
              <a:t> </a:t>
            </a:r>
            <a:r>
              <a:rPr lang="es-AR" dirty="0">
                <a:highlight>
                  <a:srgbClr val="00FFFF"/>
                </a:highlight>
              </a:rPr>
              <a:t>Código y Nombre del evento, tema, Cantidad de personas invitadas, cantidad de inscriptos, y cantidad de asistentes. </a:t>
            </a:r>
          </a:p>
          <a:p>
            <a:r>
              <a:rPr lang="es-AR" dirty="0">
                <a:highlight>
                  <a:srgbClr val="00FF00"/>
                </a:highlight>
              </a:rPr>
              <a:t>De igual manera es de sumo interés para Guille, encargado de atención al cliente, poder saber para una persona determinada a qué eventos fue invitada y en qué </a:t>
            </a:r>
            <a:r>
              <a:rPr lang="es-AR" dirty="0">
                <a:highlight>
                  <a:srgbClr val="00FFFF"/>
                </a:highlight>
              </a:rPr>
              <a:t>fecha</a:t>
            </a:r>
            <a:r>
              <a:rPr lang="es-AR" dirty="0">
                <a:highlight>
                  <a:srgbClr val="00FF00"/>
                </a:highlight>
              </a:rPr>
              <a:t>, en cuales se inscribió y en qué </a:t>
            </a:r>
            <a:r>
              <a:rPr lang="es-AR" dirty="0">
                <a:highlight>
                  <a:srgbClr val="00FFFF"/>
                </a:highlight>
              </a:rPr>
              <a:t>fecha</a:t>
            </a:r>
            <a:r>
              <a:rPr lang="es-AR" dirty="0">
                <a:highlight>
                  <a:srgbClr val="00FF00"/>
                </a:highlight>
              </a:rPr>
              <a:t>, y a cuales asistió. </a:t>
            </a:r>
          </a:p>
          <a:p>
            <a:endParaRPr lang="es-AR" dirty="0"/>
          </a:p>
          <a:p>
            <a:r>
              <a:rPr lang="es-AR" dirty="0"/>
              <a:t>OBSERVACIONES </a:t>
            </a:r>
          </a:p>
          <a:p>
            <a:r>
              <a:rPr lang="es-AR" dirty="0"/>
              <a:t>• </a:t>
            </a:r>
            <a:r>
              <a:rPr lang="es-AR" dirty="0">
                <a:highlight>
                  <a:srgbClr val="FF0000"/>
                </a:highlight>
              </a:rPr>
              <a:t>Una persona puede tener más de un tema de interés, dichos temas son una lista de temas en que la empresa ha catalogado, la cual puede ir variando en el tiempo. </a:t>
            </a:r>
          </a:p>
          <a:p>
            <a:r>
              <a:rPr lang="es-AR" dirty="0">
                <a:highlight>
                  <a:srgbClr val="FF0000"/>
                </a:highlight>
              </a:rPr>
              <a:t>• Una persona es considerada asistente, si asistió por lo menos a uno de los días en que se realiza el evento. </a:t>
            </a:r>
          </a:p>
          <a:p>
            <a:r>
              <a:rPr lang="es-AR" dirty="0">
                <a:highlight>
                  <a:srgbClr val="FF0000"/>
                </a:highlight>
              </a:rPr>
              <a:t>• Un evento puede tratar sobre más de un tema de interés.</a:t>
            </a:r>
          </a:p>
        </p:txBody>
      </p:sp>
    </p:spTree>
    <p:extLst>
      <p:ext uri="{BB962C8B-B14F-4D97-AF65-F5344CB8AC3E}">
        <p14:creationId xmlns:p14="http://schemas.microsoft.com/office/powerpoint/2010/main" val="235566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Effect transition="in" filter="fade">
                                      <p:cBhvr>
                                        <p:cTn id="33" dur="1000"/>
                                        <p:tgtEl>
                                          <p:spTgt spid="4">
                                            <p:txEl>
                                              <p:pRg st="5" end="5"/>
                                            </p:txEl>
                                          </p:spTgt>
                                        </p:tgtEl>
                                      </p:cBhvr>
                                    </p:animEffect>
                                    <p:anim calcmode="lin" valueType="num">
                                      <p:cBhvr>
                                        <p:cTn id="34"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animEffect transition="in" filter="fade">
                                      <p:cBhvr>
                                        <p:cTn id="38" dur="1000"/>
                                        <p:tgtEl>
                                          <p:spTgt spid="4">
                                            <p:txEl>
                                              <p:pRg st="6" end="6"/>
                                            </p:txEl>
                                          </p:spTgt>
                                        </p:tgtEl>
                                      </p:cBhvr>
                                    </p:animEffect>
                                    <p:anim calcmode="lin" valueType="num">
                                      <p:cBhvr>
                                        <p:cTn id="3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animEffect transition="in" filter="fade">
                                      <p:cBhvr>
                                        <p:cTn id="43" dur="1000"/>
                                        <p:tgtEl>
                                          <p:spTgt spid="4">
                                            <p:txEl>
                                              <p:pRg st="7" end="7"/>
                                            </p:txEl>
                                          </p:spTgt>
                                        </p:tgtEl>
                                      </p:cBhvr>
                                    </p:animEffect>
                                    <p:anim calcmode="lin" valueType="num">
                                      <p:cBhvr>
                                        <p:cTn id="44"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dirty="0"/>
              <a:t>Entidades potenciales          Atributos potenciales</a:t>
            </a:r>
            <a:endParaRPr dirty="0"/>
          </a:p>
        </p:txBody>
      </p:sp>
      <p:sp>
        <p:nvSpPr>
          <p:cNvPr id="64" name="Google Shape;64;p14"/>
          <p:cNvSpPr txBox="1"/>
          <p:nvPr/>
        </p:nvSpPr>
        <p:spPr>
          <a:xfrm>
            <a:off x="336558" y="2531755"/>
            <a:ext cx="1321887"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solidFill>
                  <a:schemeClr val="dk1"/>
                </a:solidFill>
              </a:rPr>
              <a:t>Asistencia</a:t>
            </a:r>
            <a:endParaRPr b="1" dirty="0"/>
          </a:p>
        </p:txBody>
      </p:sp>
      <p:sp>
        <p:nvSpPr>
          <p:cNvPr id="65" name="Google Shape;65;p14"/>
          <p:cNvSpPr txBox="1"/>
          <p:nvPr/>
        </p:nvSpPr>
        <p:spPr>
          <a:xfrm>
            <a:off x="336558" y="1927350"/>
            <a:ext cx="15846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Inscribir</a:t>
            </a:r>
            <a:endParaRPr b="1" dirty="0"/>
          </a:p>
        </p:txBody>
      </p:sp>
      <p:sp>
        <p:nvSpPr>
          <p:cNvPr id="66" name="Google Shape;66;p14"/>
          <p:cNvSpPr txBox="1"/>
          <p:nvPr/>
        </p:nvSpPr>
        <p:spPr>
          <a:xfrm>
            <a:off x="355037" y="1303291"/>
            <a:ext cx="15846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Asistentes</a:t>
            </a:r>
            <a:endParaRPr b="1" dirty="0"/>
          </a:p>
        </p:txBody>
      </p:sp>
      <p:sp>
        <p:nvSpPr>
          <p:cNvPr id="67" name="Google Shape;67;p14"/>
          <p:cNvSpPr txBox="1"/>
          <p:nvPr/>
        </p:nvSpPr>
        <p:spPr>
          <a:xfrm>
            <a:off x="334957" y="3147018"/>
            <a:ext cx="15846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Evento</a:t>
            </a:r>
            <a:endParaRPr b="1" dirty="0"/>
          </a:p>
        </p:txBody>
      </p:sp>
      <p:sp>
        <p:nvSpPr>
          <p:cNvPr id="69" name="Google Shape;69;p14"/>
          <p:cNvSpPr txBox="1"/>
          <p:nvPr/>
        </p:nvSpPr>
        <p:spPr>
          <a:xfrm>
            <a:off x="2134305" y="1866874"/>
            <a:ext cx="1399375"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solidFill>
                  <a:schemeClr val="dk1"/>
                </a:solidFill>
              </a:rPr>
              <a:t>Diplomas</a:t>
            </a:r>
            <a:endParaRPr b="1" dirty="0"/>
          </a:p>
          <a:p>
            <a:pPr marL="0" lvl="0" indent="0" algn="l" rtl="0">
              <a:spcBef>
                <a:spcPts val="0"/>
              </a:spcBef>
              <a:spcAft>
                <a:spcPts val="0"/>
              </a:spcAft>
              <a:buNone/>
            </a:pPr>
            <a:endParaRPr dirty="0"/>
          </a:p>
        </p:txBody>
      </p:sp>
      <p:sp>
        <p:nvSpPr>
          <p:cNvPr id="70" name="Google Shape;70;p14"/>
          <p:cNvSpPr txBox="1"/>
          <p:nvPr/>
        </p:nvSpPr>
        <p:spPr>
          <a:xfrm>
            <a:off x="355037" y="3862184"/>
            <a:ext cx="15846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a:t>Invitaciones</a:t>
            </a:r>
            <a:endParaRPr b="1"/>
          </a:p>
        </p:txBody>
      </p:sp>
      <p:sp>
        <p:nvSpPr>
          <p:cNvPr id="9" name="Google Shape;77;p15">
            <a:extLst>
              <a:ext uri="{FF2B5EF4-FFF2-40B4-BE49-F238E27FC236}">
                <a16:creationId xmlns:a16="http://schemas.microsoft.com/office/drawing/2014/main" id="{61769169-358E-41FD-B102-87023B576755}"/>
              </a:ext>
            </a:extLst>
          </p:cNvPr>
          <p:cNvSpPr txBox="1"/>
          <p:nvPr/>
        </p:nvSpPr>
        <p:spPr>
          <a:xfrm>
            <a:off x="7179982" y="2021180"/>
            <a:ext cx="17994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Tema/s de interés</a:t>
            </a:r>
            <a:endParaRPr dirty="0"/>
          </a:p>
        </p:txBody>
      </p:sp>
      <p:sp>
        <p:nvSpPr>
          <p:cNvPr id="10" name="Google Shape;79;p15">
            <a:extLst>
              <a:ext uri="{FF2B5EF4-FFF2-40B4-BE49-F238E27FC236}">
                <a16:creationId xmlns:a16="http://schemas.microsoft.com/office/drawing/2014/main" id="{AC2B030A-BD3A-4E11-B9B1-C3202700727E}"/>
              </a:ext>
            </a:extLst>
          </p:cNvPr>
          <p:cNvSpPr txBox="1"/>
          <p:nvPr/>
        </p:nvSpPr>
        <p:spPr>
          <a:xfrm>
            <a:off x="7179982" y="1339755"/>
            <a:ext cx="17994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Día del evento</a:t>
            </a:r>
            <a:endParaRPr dirty="0"/>
          </a:p>
        </p:txBody>
      </p:sp>
      <p:sp>
        <p:nvSpPr>
          <p:cNvPr id="11" name="Google Shape;91;p15">
            <a:extLst>
              <a:ext uri="{FF2B5EF4-FFF2-40B4-BE49-F238E27FC236}">
                <a16:creationId xmlns:a16="http://schemas.microsoft.com/office/drawing/2014/main" id="{824CE55E-2943-40C7-A8A7-0F8B8F150FB0}"/>
              </a:ext>
            </a:extLst>
          </p:cNvPr>
          <p:cNvSpPr txBox="1"/>
          <p:nvPr/>
        </p:nvSpPr>
        <p:spPr>
          <a:xfrm>
            <a:off x="3933705" y="2568989"/>
            <a:ext cx="1180555"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Teléfonos</a:t>
            </a:r>
            <a:endParaRPr dirty="0"/>
          </a:p>
        </p:txBody>
      </p:sp>
      <p:sp>
        <p:nvSpPr>
          <p:cNvPr id="12" name="Google Shape;92;p15">
            <a:extLst>
              <a:ext uri="{FF2B5EF4-FFF2-40B4-BE49-F238E27FC236}">
                <a16:creationId xmlns:a16="http://schemas.microsoft.com/office/drawing/2014/main" id="{2EF5AD89-E17D-4C1F-A168-2AD7B4C2259C}"/>
              </a:ext>
            </a:extLst>
          </p:cNvPr>
          <p:cNvSpPr txBox="1"/>
          <p:nvPr/>
        </p:nvSpPr>
        <p:spPr>
          <a:xfrm>
            <a:off x="3933705" y="1365137"/>
            <a:ext cx="1180555"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Nombre</a:t>
            </a:r>
            <a:endParaRPr dirty="0"/>
          </a:p>
        </p:txBody>
      </p:sp>
      <p:sp>
        <p:nvSpPr>
          <p:cNvPr id="13" name="Google Shape;93;p15">
            <a:extLst>
              <a:ext uri="{FF2B5EF4-FFF2-40B4-BE49-F238E27FC236}">
                <a16:creationId xmlns:a16="http://schemas.microsoft.com/office/drawing/2014/main" id="{C8E0D15F-7C00-4F00-87D3-64B39C773539}"/>
              </a:ext>
            </a:extLst>
          </p:cNvPr>
          <p:cNvSpPr txBox="1"/>
          <p:nvPr/>
        </p:nvSpPr>
        <p:spPr>
          <a:xfrm>
            <a:off x="3933705" y="1967063"/>
            <a:ext cx="1180555"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Domicilio</a:t>
            </a:r>
            <a:endParaRPr dirty="0"/>
          </a:p>
        </p:txBody>
      </p:sp>
      <p:sp>
        <p:nvSpPr>
          <p:cNvPr id="14" name="Google Shape;65;p14">
            <a:extLst>
              <a:ext uri="{FF2B5EF4-FFF2-40B4-BE49-F238E27FC236}">
                <a16:creationId xmlns:a16="http://schemas.microsoft.com/office/drawing/2014/main" id="{8A6E3955-3A99-4885-9AB3-DBC778797686}"/>
              </a:ext>
            </a:extLst>
          </p:cNvPr>
          <p:cNvSpPr txBox="1"/>
          <p:nvPr/>
        </p:nvSpPr>
        <p:spPr>
          <a:xfrm>
            <a:off x="1999536" y="2571750"/>
            <a:ext cx="15846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Persona</a:t>
            </a:r>
            <a:endParaRPr b="1" dirty="0"/>
          </a:p>
        </p:txBody>
      </p:sp>
      <p:sp>
        <p:nvSpPr>
          <p:cNvPr id="15" name="Google Shape;93;p15">
            <a:extLst>
              <a:ext uri="{FF2B5EF4-FFF2-40B4-BE49-F238E27FC236}">
                <a16:creationId xmlns:a16="http://schemas.microsoft.com/office/drawing/2014/main" id="{E1460A32-4F03-45C0-B5B5-8E1342F69981}"/>
              </a:ext>
            </a:extLst>
          </p:cNvPr>
          <p:cNvSpPr txBox="1"/>
          <p:nvPr/>
        </p:nvSpPr>
        <p:spPr>
          <a:xfrm>
            <a:off x="7179982" y="2686627"/>
            <a:ext cx="17994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Capacidad </a:t>
            </a:r>
            <a:r>
              <a:rPr lang="es-419" dirty="0" err="1"/>
              <a:t>Maxima</a:t>
            </a:r>
            <a:endParaRPr dirty="0"/>
          </a:p>
        </p:txBody>
      </p:sp>
      <p:sp>
        <p:nvSpPr>
          <p:cNvPr id="16" name="Google Shape;91;p15">
            <a:extLst>
              <a:ext uri="{FF2B5EF4-FFF2-40B4-BE49-F238E27FC236}">
                <a16:creationId xmlns:a16="http://schemas.microsoft.com/office/drawing/2014/main" id="{6C299171-0798-4177-9CE1-93428B9A56A4}"/>
              </a:ext>
            </a:extLst>
          </p:cNvPr>
          <p:cNvSpPr txBox="1"/>
          <p:nvPr/>
        </p:nvSpPr>
        <p:spPr>
          <a:xfrm>
            <a:off x="3933705" y="3172822"/>
            <a:ext cx="1180555" cy="559205"/>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Código persona</a:t>
            </a:r>
            <a:endParaRPr dirty="0"/>
          </a:p>
        </p:txBody>
      </p:sp>
      <p:sp>
        <p:nvSpPr>
          <p:cNvPr id="17" name="Google Shape;91;p15">
            <a:extLst>
              <a:ext uri="{FF2B5EF4-FFF2-40B4-BE49-F238E27FC236}">
                <a16:creationId xmlns:a16="http://schemas.microsoft.com/office/drawing/2014/main" id="{73B55BB1-9F69-4C63-8F14-24E8968779FC}"/>
              </a:ext>
            </a:extLst>
          </p:cNvPr>
          <p:cNvSpPr txBox="1"/>
          <p:nvPr/>
        </p:nvSpPr>
        <p:spPr>
          <a:xfrm>
            <a:off x="7179982" y="3387623"/>
            <a:ext cx="17994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Profesión</a:t>
            </a:r>
            <a:endParaRPr dirty="0"/>
          </a:p>
        </p:txBody>
      </p:sp>
      <p:sp>
        <p:nvSpPr>
          <p:cNvPr id="18" name="Google Shape;91;p15">
            <a:extLst>
              <a:ext uri="{FF2B5EF4-FFF2-40B4-BE49-F238E27FC236}">
                <a16:creationId xmlns:a16="http://schemas.microsoft.com/office/drawing/2014/main" id="{4B08ECB6-194A-4CE9-9639-B4F9A8826E13}"/>
              </a:ext>
            </a:extLst>
          </p:cNvPr>
          <p:cNvSpPr txBox="1"/>
          <p:nvPr/>
        </p:nvSpPr>
        <p:spPr>
          <a:xfrm>
            <a:off x="3933705" y="3906260"/>
            <a:ext cx="1180555" cy="559204"/>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Código evento</a:t>
            </a:r>
            <a:endParaRPr dirty="0"/>
          </a:p>
        </p:txBody>
      </p:sp>
      <p:sp>
        <p:nvSpPr>
          <p:cNvPr id="19" name="Google Shape;92;p15">
            <a:extLst>
              <a:ext uri="{FF2B5EF4-FFF2-40B4-BE49-F238E27FC236}">
                <a16:creationId xmlns:a16="http://schemas.microsoft.com/office/drawing/2014/main" id="{D8DF7466-17EA-424E-9FB4-1FCDDD63FCF8}"/>
              </a:ext>
            </a:extLst>
          </p:cNvPr>
          <p:cNvSpPr txBox="1"/>
          <p:nvPr/>
        </p:nvSpPr>
        <p:spPr>
          <a:xfrm>
            <a:off x="7179982" y="4068303"/>
            <a:ext cx="1799400"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Nombre Evento</a:t>
            </a:r>
            <a:endParaRPr dirty="0"/>
          </a:p>
        </p:txBody>
      </p:sp>
      <p:sp>
        <p:nvSpPr>
          <p:cNvPr id="20" name="Google Shape;79;p15">
            <a:extLst>
              <a:ext uri="{FF2B5EF4-FFF2-40B4-BE49-F238E27FC236}">
                <a16:creationId xmlns:a16="http://schemas.microsoft.com/office/drawing/2014/main" id="{AF8A74DD-7D54-4080-83A0-3AEB9515D8B3}"/>
              </a:ext>
            </a:extLst>
          </p:cNvPr>
          <p:cNvSpPr txBox="1"/>
          <p:nvPr/>
        </p:nvSpPr>
        <p:spPr>
          <a:xfrm>
            <a:off x="5380582" y="3387623"/>
            <a:ext cx="1445520" cy="532054"/>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Tema del evento</a:t>
            </a:r>
            <a:endParaRPr dirty="0"/>
          </a:p>
        </p:txBody>
      </p:sp>
      <p:sp>
        <p:nvSpPr>
          <p:cNvPr id="21" name="Google Shape;79;p15">
            <a:extLst>
              <a:ext uri="{FF2B5EF4-FFF2-40B4-BE49-F238E27FC236}">
                <a16:creationId xmlns:a16="http://schemas.microsoft.com/office/drawing/2014/main" id="{CFCC4018-4398-4A9C-9D4C-16D24E3B2DF9}"/>
              </a:ext>
            </a:extLst>
          </p:cNvPr>
          <p:cNvSpPr txBox="1"/>
          <p:nvPr/>
        </p:nvSpPr>
        <p:spPr>
          <a:xfrm>
            <a:off x="5327407" y="1867571"/>
            <a:ext cx="1498695" cy="42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Fecha invitación</a:t>
            </a:r>
            <a:endParaRPr dirty="0"/>
          </a:p>
        </p:txBody>
      </p:sp>
      <p:sp>
        <p:nvSpPr>
          <p:cNvPr id="22" name="Google Shape;79;p15">
            <a:extLst>
              <a:ext uri="{FF2B5EF4-FFF2-40B4-BE49-F238E27FC236}">
                <a16:creationId xmlns:a16="http://schemas.microsoft.com/office/drawing/2014/main" id="{0353F856-3A1B-47F6-9937-5BCB0E638EDD}"/>
              </a:ext>
            </a:extLst>
          </p:cNvPr>
          <p:cNvSpPr txBox="1"/>
          <p:nvPr/>
        </p:nvSpPr>
        <p:spPr>
          <a:xfrm>
            <a:off x="5327407" y="2429299"/>
            <a:ext cx="1498695" cy="532055"/>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dirty="0"/>
              <a:t>Fecha inscripción</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190800" y="1926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2000" dirty="0"/>
              <a:t>1er grupo de Entidades con atributos identificados – aplico FN1</a:t>
            </a:r>
            <a:endParaRPr sz="2000" dirty="0"/>
          </a:p>
        </p:txBody>
      </p:sp>
      <p:sp>
        <p:nvSpPr>
          <p:cNvPr id="105" name="Google Shape;105;p16"/>
          <p:cNvSpPr txBox="1"/>
          <p:nvPr/>
        </p:nvSpPr>
        <p:spPr>
          <a:xfrm>
            <a:off x="6046247" y="2839081"/>
            <a:ext cx="1443012" cy="133773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solidFill>
                  <a:schemeClr val="dk1"/>
                </a:solidFill>
              </a:rPr>
              <a:t>Profesión</a:t>
            </a:r>
          </a:p>
          <a:p>
            <a:pPr marL="0" lvl="0" indent="0" algn="l" rtl="0">
              <a:spcBef>
                <a:spcPts val="0"/>
              </a:spcBef>
              <a:spcAft>
                <a:spcPts val="0"/>
              </a:spcAft>
              <a:buNone/>
            </a:pPr>
            <a:r>
              <a:rPr lang="es-419" u="sng" dirty="0" err="1">
                <a:solidFill>
                  <a:schemeClr val="dk1"/>
                </a:solidFill>
              </a:rPr>
              <a:t>Cod_profesión</a:t>
            </a:r>
            <a:endParaRPr lang="es-419" u="sng" dirty="0">
              <a:solidFill>
                <a:schemeClr val="dk1"/>
              </a:solidFill>
            </a:endParaRPr>
          </a:p>
          <a:p>
            <a:pPr marL="0" lvl="0" indent="0" algn="l" rtl="0">
              <a:spcBef>
                <a:spcPts val="0"/>
              </a:spcBef>
              <a:spcAft>
                <a:spcPts val="0"/>
              </a:spcAft>
              <a:buNone/>
            </a:pPr>
            <a:r>
              <a:rPr lang="es-419" dirty="0">
                <a:solidFill>
                  <a:schemeClr val="dk1"/>
                </a:solidFill>
              </a:rPr>
              <a:t>Descripción</a:t>
            </a:r>
            <a:endParaRPr dirty="0">
              <a:solidFill>
                <a:schemeClr val="dk1"/>
              </a:solidFill>
            </a:endParaRPr>
          </a:p>
        </p:txBody>
      </p:sp>
      <p:sp>
        <p:nvSpPr>
          <p:cNvPr id="106" name="Google Shape;106;p16"/>
          <p:cNvSpPr txBox="1"/>
          <p:nvPr/>
        </p:nvSpPr>
        <p:spPr>
          <a:xfrm>
            <a:off x="190800" y="2839081"/>
            <a:ext cx="1780800" cy="1652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Evento</a:t>
            </a:r>
            <a:endParaRPr b="1" dirty="0"/>
          </a:p>
          <a:p>
            <a:pPr marL="0" lvl="0" indent="0" algn="l" rtl="0">
              <a:spcBef>
                <a:spcPts val="0"/>
              </a:spcBef>
              <a:spcAft>
                <a:spcPts val="0"/>
              </a:spcAft>
              <a:buNone/>
            </a:pPr>
            <a:r>
              <a:rPr lang="es-419" u="sng" dirty="0"/>
              <a:t>Cod evento</a:t>
            </a:r>
          </a:p>
          <a:p>
            <a:pPr marL="0" lvl="0" indent="0" algn="l" rtl="0">
              <a:spcBef>
                <a:spcPts val="0"/>
              </a:spcBef>
              <a:spcAft>
                <a:spcPts val="0"/>
              </a:spcAft>
              <a:buNone/>
            </a:pPr>
            <a:r>
              <a:rPr lang="es-419" dirty="0"/>
              <a:t>Nombre</a:t>
            </a:r>
          </a:p>
          <a:p>
            <a:pPr marL="0" lvl="0" indent="0" algn="l" rtl="0">
              <a:spcBef>
                <a:spcPts val="0"/>
              </a:spcBef>
              <a:spcAft>
                <a:spcPts val="0"/>
              </a:spcAft>
              <a:buNone/>
            </a:pPr>
            <a:r>
              <a:rPr lang="es-419" dirty="0"/>
              <a:t>Capacidad Máxima</a:t>
            </a:r>
          </a:p>
          <a:p>
            <a:r>
              <a:rPr lang="es-419" dirty="0"/>
              <a:t>Dia del evento</a:t>
            </a:r>
          </a:p>
          <a:p>
            <a:pPr marL="0" lvl="0" indent="0" algn="l" rtl="0">
              <a:spcBef>
                <a:spcPts val="0"/>
              </a:spcBef>
              <a:spcAft>
                <a:spcPts val="0"/>
              </a:spcAft>
              <a:buNone/>
            </a:pPr>
            <a:r>
              <a:rPr lang="es-419" dirty="0"/>
              <a:t>Tema</a:t>
            </a: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08" name="Google Shape;108;p16"/>
          <p:cNvSpPr txBox="1"/>
          <p:nvPr/>
        </p:nvSpPr>
        <p:spPr>
          <a:xfrm>
            <a:off x="4079951" y="2839081"/>
            <a:ext cx="1584600" cy="1337732"/>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err="1"/>
              <a:t>Evento_temas</a:t>
            </a:r>
            <a:endParaRPr lang="es-419" b="1" dirty="0"/>
          </a:p>
          <a:p>
            <a:pPr marL="0" lvl="0" indent="0" algn="l" rtl="0">
              <a:spcBef>
                <a:spcPts val="0"/>
              </a:spcBef>
              <a:spcAft>
                <a:spcPts val="0"/>
              </a:spcAft>
              <a:buNone/>
            </a:pPr>
            <a:r>
              <a:rPr lang="es-419" u="sng" dirty="0" err="1"/>
              <a:t>Cod_evento</a:t>
            </a:r>
            <a:endParaRPr lang="es-419" u="sng" dirty="0"/>
          </a:p>
          <a:p>
            <a:pPr marL="0" lvl="0" indent="0" algn="l" rtl="0">
              <a:spcBef>
                <a:spcPts val="0"/>
              </a:spcBef>
              <a:spcAft>
                <a:spcPts val="0"/>
              </a:spcAft>
              <a:buNone/>
            </a:pPr>
            <a:r>
              <a:rPr lang="es-419" u="sng" dirty="0" err="1"/>
              <a:t>Cod_tema</a:t>
            </a:r>
            <a:endParaRPr u="sng" dirty="0"/>
          </a:p>
        </p:txBody>
      </p:sp>
      <p:sp>
        <p:nvSpPr>
          <p:cNvPr id="112" name="Google Shape;112;p16"/>
          <p:cNvSpPr txBox="1"/>
          <p:nvPr/>
        </p:nvSpPr>
        <p:spPr>
          <a:xfrm>
            <a:off x="190800" y="785371"/>
            <a:ext cx="1780800" cy="1698268"/>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Persona</a:t>
            </a:r>
            <a:endParaRPr b="1" dirty="0"/>
          </a:p>
          <a:p>
            <a:pPr marL="0" lvl="0" indent="0" algn="l" rtl="0">
              <a:spcBef>
                <a:spcPts val="0"/>
              </a:spcBef>
              <a:spcAft>
                <a:spcPts val="0"/>
              </a:spcAft>
              <a:buNone/>
            </a:pPr>
            <a:r>
              <a:rPr lang="es-419" u="sng" dirty="0"/>
              <a:t>Cod persona</a:t>
            </a:r>
          </a:p>
          <a:p>
            <a:pPr marL="0" lvl="0" indent="0" algn="l" rtl="0">
              <a:spcBef>
                <a:spcPts val="0"/>
              </a:spcBef>
              <a:spcAft>
                <a:spcPts val="0"/>
              </a:spcAft>
              <a:buNone/>
            </a:pPr>
            <a:r>
              <a:rPr lang="es-419" dirty="0"/>
              <a:t>Nombre</a:t>
            </a:r>
            <a:endParaRPr dirty="0"/>
          </a:p>
          <a:p>
            <a:pPr marL="0" lvl="0" indent="0" algn="l" rtl="0">
              <a:spcBef>
                <a:spcPts val="0"/>
              </a:spcBef>
              <a:spcAft>
                <a:spcPts val="0"/>
              </a:spcAft>
              <a:buNone/>
            </a:pPr>
            <a:r>
              <a:rPr lang="es-419" dirty="0"/>
              <a:t>Domicilio</a:t>
            </a:r>
          </a:p>
          <a:p>
            <a:pPr marL="0" lvl="0" indent="0" algn="l" rtl="0">
              <a:spcBef>
                <a:spcPts val="0"/>
              </a:spcBef>
              <a:spcAft>
                <a:spcPts val="0"/>
              </a:spcAft>
              <a:buNone/>
            </a:pPr>
            <a:r>
              <a:rPr lang="es-AR" dirty="0"/>
              <a:t>profesión</a:t>
            </a:r>
            <a:endParaRPr dirty="0"/>
          </a:p>
          <a:p>
            <a:pPr marL="0" lvl="0" indent="0" algn="l" rtl="0">
              <a:spcBef>
                <a:spcPts val="0"/>
              </a:spcBef>
              <a:spcAft>
                <a:spcPts val="0"/>
              </a:spcAft>
              <a:buNone/>
            </a:pPr>
            <a:r>
              <a:rPr lang="es-419" dirty="0"/>
              <a:t>Teléfonos</a:t>
            </a:r>
            <a:endParaRPr dirty="0"/>
          </a:p>
          <a:p>
            <a:pPr marL="0" lvl="0" indent="0" algn="l" rtl="0">
              <a:spcBef>
                <a:spcPts val="0"/>
              </a:spcBef>
              <a:spcAft>
                <a:spcPts val="0"/>
              </a:spcAft>
              <a:buNone/>
            </a:pPr>
            <a:r>
              <a:rPr lang="es-419" dirty="0"/>
              <a:t>Tema/ de interés</a:t>
            </a:r>
            <a:endParaRPr dirty="0"/>
          </a:p>
        </p:txBody>
      </p:sp>
      <p:sp>
        <p:nvSpPr>
          <p:cNvPr id="9" name="Google Shape;107;p16">
            <a:extLst>
              <a:ext uri="{FF2B5EF4-FFF2-40B4-BE49-F238E27FC236}">
                <a16:creationId xmlns:a16="http://schemas.microsoft.com/office/drawing/2014/main" id="{7DFE2524-3050-4833-BAFF-6198823A43F5}"/>
              </a:ext>
            </a:extLst>
          </p:cNvPr>
          <p:cNvSpPr txBox="1"/>
          <p:nvPr/>
        </p:nvSpPr>
        <p:spPr>
          <a:xfrm>
            <a:off x="2191385" y="775556"/>
            <a:ext cx="1287085" cy="1335497"/>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Teléfono</a:t>
            </a:r>
          </a:p>
          <a:p>
            <a:pPr marL="0" lvl="0" indent="0" algn="l" rtl="0">
              <a:spcBef>
                <a:spcPts val="0"/>
              </a:spcBef>
              <a:spcAft>
                <a:spcPts val="0"/>
              </a:spcAft>
              <a:buNone/>
            </a:pPr>
            <a:r>
              <a:rPr lang="es-419" u="sng" dirty="0"/>
              <a:t>Cod persona</a:t>
            </a:r>
          </a:p>
          <a:p>
            <a:pPr marL="0" lvl="0" indent="0" algn="l" rtl="0">
              <a:spcBef>
                <a:spcPts val="0"/>
              </a:spcBef>
              <a:spcAft>
                <a:spcPts val="0"/>
              </a:spcAft>
              <a:buNone/>
            </a:pPr>
            <a:r>
              <a:rPr lang="es-419" u="sng" dirty="0"/>
              <a:t>teléfono</a:t>
            </a:r>
            <a:endParaRPr u="sng" dirty="0"/>
          </a:p>
        </p:txBody>
      </p:sp>
      <p:sp>
        <p:nvSpPr>
          <p:cNvPr id="10" name="Google Shape;104;p16">
            <a:extLst>
              <a:ext uri="{FF2B5EF4-FFF2-40B4-BE49-F238E27FC236}">
                <a16:creationId xmlns:a16="http://schemas.microsoft.com/office/drawing/2014/main" id="{B4F3B052-5221-4B8D-B389-EB7AFEC3A665}"/>
              </a:ext>
            </a:extLst>
          </p:cNvPr>
          <p:cNvSpPr txBox="1"/>
          <p:nvPr/>
        </p:nvSpPr>
        <p:spPr>
          <a:xfrm>
            <a:off x="3698255" y="763410"/>
            <a:ext cx="1584600" cy="133773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err="1"/>
              <a:t>Persona_Temas</a:t>
            </a:r>
            <a:r>
              <a:rPr lang="es-419" b="1" dirty="0"/>
              <a:t> de interés</a:t>
            </a:r>
          </a:p>
          <a:p>
            <a:pPr marL="0" lvl="0" indent="0" algn="l" rtl="0">
              <a:spcBef>
                <a:spcPts val="0"/>
              </a:spcBef>
              <a:spcAft>
                <a:spcPts val="0"/>
              </a:spcAft>
              <a:buNone/>
            </a:pPr>
            <a:r>
              <a:rPr lang="es-419" u="sng" dirty="0"/>
              <a:t>Cod persona</a:t>
            </a:r>
          </a:p>
          <a:p>
            <a:pPr marL="0" lvl="0" indent="0" algn="l" rtl="0">
              <a:spcBef>
                <a:spcPts val="0"/>
              </a:spcBef>
              <a:spcAft>
                <a:spcPts val="0"/>
              </a:spcAft>
              <a:buNone/>
            </a:pPr>
            <a:r>
              <a:rPr lang="es-419" u="sng" dirty="0" err="1"/>
              <a:t>Cod_tema</a:t>
            </a:r>
            <a:endParaRPr lang="es-419" u="sng" dirty="0"/>
          </a:p>
          <a:p>
            <a:pPr marL="0" lvl="0" indent="0" algn="l" rtl="0">
              <a:spcBef>
                <a:spcPts val="0"/>
              </a:spcBef>
              <a:spcAft>
                <a:spcPts val="0"/>
              </a:spcAft>
              <a:buNone/>
            </a:pPr>
            <a:endParaRPr lang="es-419" u="sng" dirty="0"/>
          </a:p>
        </p:txBody>
      </p:sp>
      <p:cxnSp>
        <p:nvCxnSpPr>
          <p:cNvPr id="3" name="Conector recto 2">
            <a:extLst>
              <a:ext uri="{FF2B5EF4-FFF2-40B4-BE49-F238E27FC236}">
                <a16:creationId xmlns:a16="http://schemas.microsoft.com/office/drawing/2014/main" id="{8E7077E3-8C67-41A9-A85C-B173B34537F4}"/>
              </a:ext>
            </a:extLst>
          </p:cNvPr>
          <p:cNvCxnSpPr/>
          <p:nvPr/>
        </p:nvCxnSpPr>
        <p:spPr>
          <a:xfrm>
            <a:off x="273150" y="2086405"/>
            <a:ext cx="957600" cy="0"/>
          </a:xfrm>
          <a:prstGeom prst="line">
            <a:avLst/>
          </a:prstGeom>
          <a:ln>
            <a:solidFill>
              <a:srgbClr val="FF0000"/>
            </a:solidFill>
          </a:ln>
        </p:spPr>
        <p:style>
          <a:lnRef idx="2">
            <a:schemeClr val="accent4"/>
          </a:lnRef>
          <a:fillRef idx="0">
            <a:schemeClr val="accent4"/>
          </a:fillRef>
          <a:effectRef idx="1">
            <a:schemeClr val="accent4"/>
          </a:effectRef>
          <a:fontRef idx="minor">
            <a:schemeClr val="tx1"/>
          </a:fontRef>
        </p:style>
      </p:cxnSp>
      <p:sp>
        <p:nvSpPr>
          <p:cNvPr id="16" name="Google Shape;104;p16">
            <a:extLst>
              <a:ext uri="{FF2B5EF4-FFF2-40B4-BE49-F238E27FC236}">
                <a16:creationId xmlns:a16="http://schemas.microsoft.com/office/drawing/2014/main" id="{307BB4E5-F8FF-4033-AA7E-1E8E6F007835}"/>
              </a:ext>
            </a:extLst>
          </p:cNvPr>
          <p:cNvSpPr txBox="1"/>
          <p:nvPr/>
        </p:nvSpPr>
        <p:spPr>
          <a:xfrm>
            <a:off x="2255243" y="2839081"/>
            <a:ext cx="1443012" cy="133773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err="1"/>
              <a:t>Evento_fecha</a:t>
            </a:r>
            <a:endParaRPr lang="es-419" b="1" dirty="0"/>
          </a:p>
          <a:p>
            <a:pPr marL="0" lvl="0" indent="0" algn="l" rtl="0">
              <a:spcBef>
                <a:spcPts val="0"/>
              </a:spcBef>
              <a:spcAft>
                <a:spcPts val="0"/>
              </a:spcAft>
              <a:buNone/>
            </a:pPr>
            <a:r>
              <a:rPr lang="es-419" u="sng" dirty="0"/>
              <a:t>Cod evento</a:t>
            </a:r>
          </a:p>
          <a:p>
            <a:pPr marL="0" lvl="0" indent="0" algn="l" rtl="0">
              <a:spcBef>
                <a:spcPts val="0"/>
              </a:spcBef>
              <a:spcAft>
                <a:spcPts val="0"/>
              </a:spcAft>
              <a:buNone/>
            </a:pPr>
            <a:r>
              <a:rPr lang="es-419" u="sng" dirty="0"/>
              <a:t>Fecha</a:t>
            </a:r>
          </a:p>
        </p:txBody>
      </p:sp>
      <p:cxnSp>
        <p:nvCxnSpPr>
          <p:cNvPr id="17" name="Conector recto 16">
            <a:extLst>
              <a:ext uri="{FF2B5EF4-FFF2-40B4-BE49-F238E27FC236}">
                <a16:creationId xmlns:a16="http://schemas.microsoft.com/office/drawing/2014/main" id="{375EB579-6FBC-4BB2-8D80-F31C7349B2D4}"/>
              </a:ext>
            </a:extLst>
          </p:cNvPr>
          <p:cNvCxnSpPr/>
          <p:nvPr/>
        </p:nvCxnSpPr>
        <p:spPr>
          <a:xfrm>
            <a:off x="368781" y="3849267"/>
            <a:ext cx="957600" cy="0"/>
          </a:xfrm>
          <a:prstGeom prst="line">
            <a:avLst/>
          </a:prstGeom>
          <a:ln>
            <a:solidFill>
              <a:srgbClr val="FF0000"/>
            </a:solidFill>
          </a:ln>
        </p:spPr>
        <p:style>
          <a:lnRef idx="2">
            <a:schemeClr val="accent4"/>
          </a:lnRef>
          <a:fillRef idx="0">
            <a:schemeClr val="accent4"/>
          </a:fillRef>
          <a:effectRef idx="1">
            <a:schemeClr val="accent4"/>
          </a:effectRef>
          <a:fontRef idx="minor">
            <a:schemeClr val="tx1"/>
          </a:fontRef>
        </p:style>
      </p:cxnSp>
      <p:cxnSp>
        <p:nvCxnSpPr>
          <p:cNvPr id="18" name="Conector recto 17">
            <a:extLst>
              <a:ext uri="{FF2B5EF4-FFF2-40B4-BE49-F238E27FC236}">
                <a16:creationId xmlns:a16="http://schemas.microsoft.com/office/drawing/2014/main" id="{5E43917B-1C8E-4DBB-B423-3FE280759E2E}"/>
              </a:ext>
            </a:extLst>
          </p:cNvPr>
          <p:cNvCxnSpPr>
            <a:cxnSpLocks/>
          </p:cNvCxnSpPr>
          <p:nvPr/>
        </p:nvCxnSpPr>
        <p:spPr>
          <a:xfrm>
            <a:off x="273150" y="2295572"/>
            <a:ext cx="1282695" cy="0"/>
          </a:xfrm>
          <a:prstGeom prst="line">
            <a:avLst/>
          </a:prstGeom>
          <a:ln>
            <a:solidFill>
              <a:srgbClr val="FF0000"/>
            </a:solidFill>
          </a:ln>
        </p:spPr>
        <p:style>
          <a:lnRef idx="2">
            <a:schemeClr val="accent4"/>
          </a:lnRef>
          <a:fillRef idx="0">
            <a:schemeClr val="accent4"/>
          </a:fillRef>
          <a:effectRef idx="1">
            <a:schemeClr val="accent4"/>
          </a:effectRef>
          <a:fontRef idx="minor">
            <a:schemeClr val="tx1"/>
          </a:fontRef>
        </p:style>
      </p:cxnSp>
      <p:cxnSp>
        <p:nvCxnSpPr>
          <p:cNvPr id="20" name="Conector recto 19">
            <a:extLst>
              <a:ext uri="{FF2B5EF4-FFF2-40B4-BE49-F238E27FC236}">
                <a16:creationId xmlns:a16="http://schemas.microsoft.com/office/drawing/2014/main" id="{46202025-7AEA-4AEC-B0CD-3BBE705E91F6}"/>
              </a:ext>
            </a:extLst>
          </p:cNvPr>
          <p:cNvCxnSpPr>
            <a:cxnSpLocks/>
          </p:cNvCxnSpPr>
          <p:nvPr/>
        </p:nvCxnSpPr>
        <p:spPr>
          <a:xfrm flipV="1">
            <a:off x="190800" y="4124750"/>
            <a:ext cx="736498" cy="10989"/>
          </a:xfrm>
          <a:prstGeom prst="line">
            <a:avLst/>
          </a:prstGeom>
          <a:ln>
            <a:solidFill>
              <a:srgbClr val="FF0000"/>
            </a:solidFill>
          </a:ln>
        </p:spPr>
        <p:style>
          <a:lnRef idx="2">
            <a:schemeClr val="accent4"/>
          </a:lnRef>
          <a:fillRef idx="0">
            <a:schemeClr val="accent4"/>
          </a:fillRef>
          <a:effectRef idx="1">
            <a:schemeClr val="accent4"/>
          </a:effectRef>
          <a:fontRef idx="minor">
            <a:schemeClr val="tx1"/>
          </a:fontRef>
        </p:style>
      </p:cxnSp>
      <p:sp>
        <p:nvSpPr>
          <p:cNvPr id="24" name="Google Shape;104;p16">
            <a:extLst>
              <a:ext uri="{FF2B5EF4-FFF2-40B4-BE49-F238E27FC236}">
                <a16:creationId xmlns:a16="http://schemas.microsoft.com/office/drawing/2014/main" id="{B5628CC5-7E16-44B7-A66E-451610EB7384}"/>
              </a:ext>
            </a:extLst>
          </p:cNvPr>
          <p:cNvSpPr txBox="1"/>
          <p:nvPr/>
        </p:nvSpPr>
        <p:spPr>
          <a:xfrm>
            <a:off x="5567126" y="763409"/>
            <a:ext cx="1306345" cy="133773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Temas de interés</a:t>
            </a:r>
            <a:endParaRPr lang="es-419" u="sng" dirty="0"/>
          </a:p>
          <a:p>
            <a:pPr marL="0" lvl="0" indent="0" algn="l" rtl="0">
              <a:spcBef>
                <a:spcPts val="0"/>
              </a:spcBef>
              <a:spcAft>
                <a:spcPts val="0"/>
              </a:spcAft>
              <a:buNone/>
            </a:pPr>
            <a:r>
              <a:rPr lang="es-419" u="sng" dirty="0" err="1"/>
              <a:t>Cod_tema</a:t>
            </a:r>
            <a:endParaRPr lang="es-419" u="sng" dirty="0"/>
          </a:p>
          <a:p>
            <a:pPr marL="0" lvl="0" indent="0" algn="l" rtl="0">
              <a:spcBef>
                <a:spcPts val="0"/>
              </a:spcBef>
              <a:spcAft>
                <a:spcPts val="0"/>
              </a:spcAft>
              <a:buNone/>
            </a:pPr>
            <a:r>
              <a:rPr lang="es-419" dirty="0"/>
              <a:t>Descripción</a:t>
            </a:r>
          </a:p>
          <a:p>
            <a:pPr marL="0" lvl="0" indent="0" algn="l" rtl="0">
              <a:spcBef>
                <a:spcPts val="0"/>
              </a:spcBef>
              <a:spcAft>
                <a:spcPts val="0"/>
              </a:spcAft>
              <a:buNone/>
            </a:pPr>
            <a:endParaRPr lang="es-419" u="sng"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inVertical)">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1000"/>
                                        <p:tgtEl>
                                          <p:spTgt spid="24"/>
                                        </p:tgtEl>
                                      </p:cBhvr>
                                    </p:animEffect>
                                    <p:anim calcmode="lin" valueType="num">
                                      <p:cBhvr>
                                        <p:cTn id="31" dur="1000" fill="hold"/>
                                        <p:tgtEl>
                                          <p:spTgt spid="24"/>
                                        </p:tgtEl>
                                        <p:attrNameLst>
                                          <p:attrName>ppt_x</p:attrName>
                                        </p:attrNameLst>
                                      </p:cBhvr>
                                      <p:tavLst>
                                        <p:tav tm="0">
                                          <p:val>
                                            <p:strVal val="#ppt_x"/>
                                          </p:val>
                                        </p:tav>
                                        <p:tav tm="100000">
                                          <p:val>
                                            <p:strVal val="#ppt_x"/>
                                          </p:val>
                                        </p:tav>
                                      </p:tavLst>
                                    </p:anim>
                                    <p:anim calcmode="lin" valueType="num">
                                      <p:cBhvr>
                                        <p:cTn id="3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arn(inVertical)">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fade">
                                      <p:cBhvr>
                                        <p:cTn id="42" dur="1000"/>
                                        <p:tgtEl>
                                          <p:spTgt spid="108"/>
                                        </p:tgtEl>
                                      </p:cBhvr>
                                    </p:animEffect>
                                    <p:anim calcmode="lin" valueType="num">
                                      <p:cBhvr>
                                        <p:cTn id="43" dur="1000" fill="hold"/>
                                        <p:tgtEl>
                                          <p:spTgt spid="108"/>
                                        </p:tgtEl>
                                        <p:attrNameLst>
                                          <p:attrName>ppt_x</p:attrName>
                                        </p:attrNameLst>
                                      </p:cBhvr>
                                      <p:tavLst>
                                        <p:tav tm="0">
                                          <p:val>
                                            <p:strVal val="#ppt_x"/>
                                          </p:val>
                                        </p:tav>
                                        <p:tav tm="100000">
                                          <p:val>
                                            <p:strVal val="#ppt_x"/>
                                          </p:val>
                                        </p:tav>
                                      </p:tavLst>
                                    </p:anim>
                                    <p:anim calcmode="lin" valueType="num">
                                      <p:cBhvr>
                                        <p:cTn id="44" dur="1000" fill="hold"/>
                                        <p:tgtEl>
                                          <p:spTgt spid="10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arn(inVertical)">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1000"/>
                                        <p:tgtEl>
                                          <p:spTgt spid="16"/>
                                        </p:tgtEl>
                                      </p:cBhvr>
                                    </p:animEffect>
                                    <p:anim calcmode="lin" valueType="num">
                                      <p:cBhvr>
                                        <p:cTn id="55" dur="1000" fill="hold"/>
                                        <p:tgtEl>
                                          <p:spTgt spid="16"/>
                                        </p:tgtEl>
                                        <p:attrNameLst>
                                          <p:attrName>ppt_x</p:attrName>
                                        </p:attrNameLst>
                                      </p:cBhvr>
                                      <p:tavLst>
                                        <p:tav tm="0">
                                          <p:val>
                                            <p:strVal val="#ppt_x"/>
                                          </p:val>
                                        </p:tav>
                                        <p:tav tm="100000">
                                          <p:val>
                                            <p:strVal val="#ppt_x"/>
                                          </p:val>
                                        </p:tav>
                                      </p:tavLst>
                                    </p:anim>
                                    <p:anim calcmode="lin" valueType="num">
                                      <p:cBhvr>
                                        <p:cTn id="5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5" presetClass="emph" presetSubtype="0" nodeType="clickEffect">
                                  <p:stCondLst>
                                    <p:cond delay="0"/>
                                  </p:stCondLst>
                                  <p:iterate type="lt">
                                    <p:tmAbs val="25"/>
                                  </p:iterate>
                                  <p:childTnLst>
                                    <p:set>
                                      <p:cBhvr override="childStyle">
                                        <p:cTn id="60" dur="indefinite"/>
                                        <p:tgtEl>
                                          <p:spTgt spid="112">
                                            <p:txEl>
                                              <p:pRg st="4" end="4"/>
                                            </p:txEl>
                                          </p:spTgt>
                                        </p:tgtEl>
                                        <p:attrNameLst>
                                          <p:attrName>style.fontWeight</p:attrName>
                                        </p:attrNameLst>
                                      </p:cBhvr>
                                      <p:to>
                                        <p:strVal val="bold"/>
                                      </p:to>
                                    </p:se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05"/>
                                        </p:tgtEl>
                                        <p:attrNameLst>
                                          <p:attrName>style.visibility</p:attrName>
                                        </p:attrNameLst>
                                      </p:cBhvr>
                                      <p:to>
                                        <p:strVal val="visible"/>
                                      </p:to>
                                    </p:set>
                                    <p:animEffect transition="in" filter="fade">
                                      <p:cBhvr>
                                        <p:cTn id="65" dur="1000"/>
                                        <p:tgtEl>
                                          <p:spTgt spid="105"/>
                                        </p:tgtEl>
                                      </p:cBhvr>
                                    </p:animEffect>
                                    <p:anim calcmode="lin" valueType="num">
                                      <p:cBhvr>
                                        <p:cTn id="66" dur="1000" fill="hold"/>
                                        <p:tgtEl>
                                          <p:spTgt spid="105"/>
                                        </p:tgtEl>
                                        <p:attrNameLst>
                                          <p:attrName>ppt_x</p:attrName>
                                        </p:attrNameLst>
                                      </p:cBhvr>
                                      <p:tavLst>
                                        <p:tav tm="0">
                                          <p:val>
                                            <p:strVal val="#ppt_x"/>
                                          </p:val>
                                        </p:tav>
                                        <p:tav tm="100000">
                                          <p:val>
                                            <p:strVal val="#ppt_x"/>
                                          </p:val>
                                        </p:tav>
                                      </p:tavLst>
                                    </p:anim>
                                    <p:anim calcmode="lin" valueType="num">
                                      <p:cBhvr>
                                        <p:cTn id="67" dur="1000" fill="hold"/>
                                        <p:tgtEl>
                                          <p:spTgt spid="1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8" grpId="0" animBg="1"/>
      <p:bldP spid="9" grpId="0" animBg="1"/>
      <p:bldP spid="10" grpId="0" animBg="1"/>
      <p:bldP spid="16"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190800" y="1926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dirty="0"/>
              <a:t>2do grupo </a:t>
            </a:r>
            <a:r>
              <a:rPr lang="es-419"/>
              <a:t>deEntidades</a:t>
            </a:r>
            <a:r>
              <a:rPr lang="es-419" dirty="0"/>
              <a:t> con atributos identificados </a:t>
            </a:r>
            <a:endParaRPr dirty="0"/>
          </a:p>
        </p:txBody>
      </p:sp>
      <p:sp>
        <p:nvSpPr>
          <p:cNvPr id="104" name="Google Shape;104;p16"/>
          <p:cNvSpPr txBox="1"/>
          <p:nvPr/>
        </p:nvSpPr>
        <p:spPr>
          <a:xfrm>
            <a:off x="3815275" y="783135"/>
            <a:ext cx="1584600" cy="133773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Inscripción</a:t>
            </a:r>
          </a:p>
          <a:p>
            <a:pPr lvl="0"/>
            <a:r>
              <a:rPr lang="es-AR" u="sng" dirty="0" err="1"/>
              <a:t>Cod_persona</a:t>
            </a:r>
            <a:endParaRPr lang="es-AR" u="sng" dirty="0"/>
          </a:p>
          <a:p>
            <a:pPr lvl="0"/>
            <a:r>
              <a:rPr lang="es-AR" u="sng" dirty="0" err="1"/>
              <a:t>Cod_evento</a:t>
            </a:r>
            <a:endParaRPr lang="es-AR" u="sng" dirty="0"/>
          </a:p>
          <a:p>
            <a:pPr lvl="0"/>
            <a:r>
              <a:rPr lang="es-AR" dirty="0"/>
              <a:t>Fecha inscripción</a:t>
            </a:r>
          </a:p>
          <a:p>
            <a:pPr marL="0" lvl="0" indent="0" algn="l" rtl="0">
              <a:spcBef>
                <a:spcPts val="0"/>
              </a:spcBef>
              <a:spcAft>
                <a:spcPts val="0"/>
              </a:spcAft>
              <a:buNone/>
            </a:pPr>
            <a:endParaRPr b="1" dirty="0"/>
          </a:p>
        </p:txBody>
      </p:sp>
      <p:sp>
        <p:nvSpPr>
          <p:cNvPr id="105" name="Google Shape;105;p16"/>
          <p:cNvSpPr txBox="1"/>
          <p:nvPr/>
        </p:nvSpPr>
        <p:spPr>
          <a:xfrm>
            <a:off x="7407123" y="802507"/>
            <a:ext cx="1443012" cy="1399751"/>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solidFill>
                  <a:schemeClr val="dk1"/>
                </a:solidFill>
              </a:rPr>
              <a:t>Diplomas</a:t>
            </a:r>
          </a:p>
          <a:p>
            <a:pPr lvl="0"/>
            <a:r>
              <a:rPr lang="es-AR" u="sng" dirty="0" err="1"/>
              <a:t>Cod_persona</a:t>
            </a:r>
            <a:endParaRPr lang="es-AR" u="sng" dirty="0"/>
          </a:p>
          <a:p>
            <a:pPr lvl="0"/>
            <a:r>
              <a:rPr lang="es-AR" u="sng" dirty="0" err="1"/>
              <a:t>Cod_evento</a:t>
            </a:r>
            <a:endParaRPr lang="es-AR" u="sng" dirty="0"/>
          </a:p>
          <a:p>
            <a:pPr lvl="0"/>
            <a:r>
              <a:rPr lang="es-AR" dirty="0"/>
              <a:t>Recepción s/n</a:t>
            </a:r>
          </a:p>
          <a:p>
            <a:pPr marL="0" lvl="0" indent="0" algn="l" rtl="0">
              <a:spcBef>
                <a:spcPts val="0"/>
              </a:spcBef>
              <a:spcAft>
                <a:spcPts val="0"/>
              </a:spcAft>
              <a:buNone/>
            </a:pPr>
            <a:endParaRPr b="1" dirty="0">
              <a:solidFill>
                <a:schemeClr val="dk1"/>
              </a:solidFill>
            </a:endParaRPr>
          </a:p>
        </p:txBody>
      </p:sp>
      <p:sp>
        <p:nvSpPr>
          <p:cNvPr id="106" name="Google Shape;106;p16"/>
          <p:cNvSpPr txBox="1"/>
          <p:nvPr/>
        </p:nvSpPr>
        <p:spPr>
          <a:xfrm>
            <a:off x="190800" y="2839081"/>
            <a:ext cx="1780800" cy="1652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Evento</a:t>
            </a:r>
            <a:endParaRPr b="1" dirty="0"/>
          </a:p>
          <a:p>
            <a:pPr marL="0" lvl="0" indent="0" algn="l" rtl="0">
              <a:spcBef>
                <a:spcPts val="0"/>
              </a:spcBef>
              <a:spcAft>
                <a:spcPts val="0"/>
              </a:spcAft>
              <a:buNone/>
            </a:pPr>
            <a:r>
              <a:rPr lang="es-419" u="sng" dirty="0"/>
              <a:t>Cod evento</a:t>
            </a:r>
          </a:p>
          <a:p>
            <a:pPr marL="0" lvl="0" indent="0" algn="l" rtl="0">
              <a:spcBef>
                <a:spcPts val="0"/>
              </a:spcBef>
              <a:spcAft>
                <a:spcPts val="0"/>
              </a:spcAft>
              <a:buNone/>
            </a:pPr>
            <a:r>
              <a:rPr lang="es-419" dirty="0"/>
              <a:t>Nombre</a:t>
            </a:r>
          </a:p>
          <a:p>
            <a:pPr marL="0" lvl="0" indent="0" algn="l" rtl="0">
              <a:spcBef>
                <a:spcPts val="0"/>
              </a:spcBef>
              <a:spcAft>
                <a:spcPts val="0"/>
              </a:spcAft>
              <a:buNone/>
            </a:pPr>
            <a:r>
              <a:rPr lang="es-419" dirty="0"/>
              <a:t>Capacidad Máxima</a:t>
            </a:r>
          </a:p>
          <a:p>
            <a:pPr marL="0" lvl="0" indent="0" algn="l" rtl="0">
              <a:spcBef>
                <a:spcPts val="0"/>
              </a:spcBef>
              <a:spcAft>
                <a:spcPts val="0"/>
              </a:spcAft>
              <a:buNone/>
            </a:pPr>
            <a:r>
              <a:rPr lang="es-419" dirty="0" err="1"/>
              <a:t>Tipo_evento</a:t>
            </a:r>
            <a:endParaRPr lang="es-419" dirty="0"/>
          </a:p>
          <a:p>
            <a:pPr marL="0" lvl="0" indent="0" algn="l" rtl="0">
              <a:spcBef>
                <a:spcPts val="0"/>
              </a:spcBef>
              <a:spcAft>
                <a:spcPts val="0"/>
              </a:spcAft>
              <a:buNone/>
            </a:pPr>
            <a:endParaRPr lang="es-419"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07" name="Google Shape;107;p16"/>
          <p:cNvSpPr txBox="1"/>
          <p:nvPr/>
        </p:nvSpPr>
        <p:spPr>
          <a:xfrm>
            <a:off x="2006711" y="785371"/>
            <a:ext cx="1655749" cy="1335497"/>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Invitación</a:t>
            </a:r>
          </a:p>
          <a:p>
            <a:pPr marL="0" lvl="0" indent="0" algn="l" rtl="0">
              <a:spcBef>
                <a:spcPts val="0"/>
              </a:spcBef>
              <a:spcAft>
                <a:spcPts val="0"/>
              </a:spcAft>
              <a:buNone/>
            </a:pPr>
            <a:r>
              <a:rPr lang="es-419" u="sng" dirty="0" err="1"/>
              <a:t>Cod_persona</a:t>
            </a:r>
            <a:endParaRPr lang="es-419" u="sng" dirty="0"/>
          </a:p>
          <a:p>
            <a:pPr marL="0" lvl="0" indent="0" algn="l" rtl="0">
              <a:spcBef>
                <a:spcPts val="0"/>
              </a:spcBef>
              <a:spcAft>
                <a:spcPts val="0"/>
              </a:spcAft>
              <a:buNone/>
            </a:pPr>
            <a:r>
              <a:rPr lang="es-419" u="sng" dirty="0" err="1"/>
              <a:t>Cod_evento</a:t>
            </a:r>
            <a:endParaRPr lang="es-419" u="sng" dirty="0"/>
          </a:p>
          <a:p>
            <a:pPr marL="0" lvl="0" indent="0" algn="l" rtl="0">
              <a:spcBef>
                <a:spcPts val="0"/>
              </a:spcBef>
              <a:spcAft>
                <a:spcPts val="0"/>
              </a:spcAft>
              <a:buNone/>
            </a:pPr>
            <a:r>
              <a:rPr lang="es-419" dirty="0"/>
              <a:t>Fecha invitación</a:t>
            </a:r>
            <a:endParaRPr dirty="0"/>
          </a:p>
        </p:txBody>
      </p:sp>
      <p:sp>
        <p:nvSpPr>
          <p:cNvPr id="108" name="Google Shape;108;p16"/>
          <p:cNvSpPr txBox="1"/>
          <p:nvPr/>
        </p:nvSpPr>
        <p:spPr>
          <a:xfrm>
            <a:off x="5552689" y="802507"/>
            <a:ext cx="1584600" cy="1337732"/>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Asistencia</a:t>
            </a:r>
          </a:p>
          <a:p>
            <a:pPr lvl="0"/>
            <a:r>
              <a:rPr lang="es-AR" u="sng" dirty="0" err="1"/>
              <a:t>Cod_persona</a:t>
            </a:r>
            <a:endParaRPr lang="es-AR" u="sng" dirty="0"/>
          </a:p>
          <a:p>
            <a:pPr lvl="0"/>
            <a:r>
              <a:rPr lang="es-AR" u="sng" dirty="0" err="1"/>
              <a:t>Cod_evento</a:t>
            </a:r>
            <a:endParaRPr lang="es-AR" u="sng" dirty="0"/>
          </a:p>
          <a:p>
            <a:pPr lvl="0"/>
            <a:endParaRPr lang="es-AR" dirty="0"/>
          </a:p>
          <a:p>
            <a:pPr marL="0" lvl="0" indent="0" algn="l" rtl="0">
              <a:spcBef>
                <a:spcPts val="0"/>
              </a:spcBef>
              <a:spcAft>
                <a:spcPts val="0"/>
              </a:spcAft>
              <a:buNone/>
            </a:pPr>
            <a:endParaRPr b="1" dirty="0"/>
          </a:p>
        </p:txBody>
      </p:sp>
      <p:sp>
        <p:nvSpPr>
          <p:cNvPr id="112" name="Google Shape;112;p16"/>
          <p:cNvSpPr txBox="1"/>
          <p:nvPr/>
        </p:nvSpPr>
        <p:spPr>
          <a:xfrm>
            <a:off x="190800" y="785371"/>
            <a:ext cx="1663780" cy="1354868"/>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a:t>Persona</a:t>
            </a:r>
            <a:endParaRPr b="1" dirty="0"/>
          </a:p>
          <a:p>
            <a:pPr marL="0" lvl="0" indent="0" algn="l" rtl="0">
              <a:spcBef>
                <a:spcPts val="0"/>
              </a:spcBef>
              <a:spcAft>
                <a:spcPts val="0"/>
              </a:spcAft>
              <a:buNone/>
            </a:pPr>
            <a:r>
              <a:rPr lang="es-419" u="sng" dirty="0"/>
              <a:t>Cod persona</a:t>
            </a:r>
          </a:p>
          <a:p>
            <a:pPr marL="0" lvl="0" indent="0" algn="l" rtl="0">
              <a:spcBef>
                <a:spcPts val="0"/>
              </a:spcBef>
              <a:spcAft>
                <a:spcPts val="0"/>
              </a:spcAft>
              <a:buNone/>
            </a:pPr>
            <a:r>
              <a:rPr lang="es-419" dirty="0"/>
              <a:t>Nombre</a:t>
            </a:r>
            <a:endParaRPr dirty="0"/>
          </a:p>
          <a:p>
            <a:pPr marL="0" lvl="0" indent="0" algn="l" rtl="0">
              <a:spcBef>
                <a:spcPts val="0"/>
              </a:spcBef>
              <a:spcAft>
                <a:spcPts val="0"/>
              </a:spcAft>
              <a:buNone/>
            </a:pPr>
            <a:r>
              <a:rPr lang="es-419" dirty="0"/>
              <a:t>Domicilio</a:t>
            </a:r>
          </a:p>
          <a:p>
            <a:pPr marL="0" lvl="0" indent="0" algn="l" rtl="0">
              <a:spcBef>
                <a:spcPts val="0"/>
              </a:spcBef>
              <a:spcAft>
                <a:spcPts val="0"/>
              </a:spcAft>
              <a:buNone/>
            </a:pPr>
            <a:r>
              <a:rPr lang="es-AR" dirty="0"/>
              <a:t>Cod_ profesión</a:t>
            </a:r>
            <a:endParaRPr dirty="0"/>
          </a:p>
        </p:txBody>
      </p:sp>
      <p:sp>
        <p:nvSpPr>
          <p:cNvPr id="16" name="Google Shape;104;p16">
            <a:extLst>
              <a:ext uri="{FF2B5EF4-FFF2-40B4-BE49-F238E27FC236}">
                <a16:creationId xmlns:a16="http://schemas.microsoft.com/office/drawing/2014/main" id="{307BB4E5-F8FF-4033-AA7E-1E8E6F007835}"/>
              </a:ext>
            </a:extLst>
          </p:cNvPr>
          <p:cNvSpPr txBox="1"/>
          <p:nvPr/>
        </p:nvSpPr>
        <p:spPr>
          <a:xfrm>
            <a:off x="2532820" y="2839081"/>
            <a:ext cx="1443012" cy="1337733"/>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s-419" b="1" dirty="0" err="1"/>
              <a:t>Tipo_evento</a:t>
            </a:r>
            <a:endParaRPr lang="es-419" b="1" dirty="0"/>
          </a:p>
          <a:p>
            <a:pPr marL="0" lvl="0" indent="0" algn="l" rtl="0">
              <a:spcBef>
                <a:spcPts val="0"/>
              </a:spcBef>
              <a:spcAft>
                <a:spcPts val="0"/>
              </a:spcAft>
              <a:buNone/>
            </a:pPr>
            <a:r>
              <a:rPr lang="es-419" u="sng" dirty="0"/>
              <a:t>Cod tipo evento</a:t>
            </a:r>
          </a:p>
          <a:p>
            <a:pPr marL="0" lvl="0" indent="0" algn="l" rtl="0">
              <a:spcBef>
                <a:spcPts val="0"/>
              </a:spcBef>
              <a:spcAft>
                <a:spcPts val="0"/>
              </a:spcAft>
              <a:buNone/>
            </a:pPr>
            <a:r>
              <a:rPr lang="es-419" dirty="0"/>
              <a:t>Descripción</a:t>
            </a:r>
          </a:p>
        </p:txBody>
      </p:sp>
    </p:spTree>
    <p:extLst>
      <p:ext uri="{BB962C8B-B14F-4D97-AF65-F5344CB8AC3E}">
        <p14:creationId xmlns:p14="http://schemas.microsoft.com/office/powerpoint/2010/main" val="184989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7">
                                            <p:txEl>
                                              <p:pRg st="1" end="1"/>
                                            </p:txEl>
                                          </p:spTgt>
                                        </p:tgtEl>
                                        <p:attrNameLst>
                                          <p:attrName>style.visibility</p:attrName>
                                        </p:attrNameLst>
                                      </p:cBhvr>
                                      <p:to>
                                        <p:strVal val="visible"/>
                                      </p:to>
                                    </p:set>
                                    <p:animEffect transition="in" filter="fade">
                                      <p:cBhvr>
                                        <p:cTn id="7" dur="1000"/>
                                        <p:tgtEl>
                                          <p:spTgt spid="107">
                                            <p:txEl>
                                              <p:pRg st="1" end="1"/>
                                            </p:txEl>
                                          </p:spTgt>
                                        </p:tgtEl>
                                      </p:cBhvr>
                                    </p:animEffect>
                                    <p:anim calcmode="lin" valueType="num">
                                      <p:cBhvr>
                                        <p:cTn id="8" dur="1000" fill="hold"/>
                                        <p:tgtEl>
                                          <p:spTgt spid="10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7">
                                            <p:txEl>
                                              <p:pRg st="2" end="2"/>
                                            </p:txEl>
                                          </p:spTgt>
                                        </p:tgtEl>
                                        <p:attrNameLst>
                                          <p:attrName>style.visibility</p:attrName>
                                        </p:attrNameLst>
                                      </p:cBhvr>
                                      <p:to>
                                        <p:strVal val="visible"/>
                                      </p:to>
                                    </p:set>
                                    <p:animEffect transition="in" filter="fade">
                                      <p:cBhvr>
                                        <p:cTn id="12" dur="1000"/>
                                        <p:tgtEl>
                                          <p:spTgt spid="107">
                                            <p:txEl>
                                              <p:pRg st="2" end="2"/>
                                            </p:txEl>
                                          </p:spTgt>
                                        </p:tgtEl>
                                      </p:cBhvr>
                                    </p:animEffect>
                                    <p:anim calcmode="lin" valueType="num">
                                      <p:cBhvr>
                                        <p:cTn id="13" dur="1000" fill="hold"/>
                                        <p:tgtEl>
                                          <p:spTgt spid="10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7">
                                            <p:txEl>
                                              <p:pRg st="3" end="3"/>
                                            </p:txEl>
                                          </p:spTgt>
                                        </p:tgtEl>
                                        <p:attrNameLst>
                                          <p:attrName>style.visibility</p:attrName>
                                        </p:attrNameLst>
                                      </p:cBhvr>
                                      <p:to>
                                        <p:strVal val="visible"/>
                                      </p:to>
                                    </p:set>
                                    <p:animEffect transition="in" filter="fade">
                                      <p:cBhvr>
                                        <p:cTn id="17" dur="1000"/>
                                        <p:tgtEl>
                                          <p:spTgt spid="107">
                                            <p:txEl>
                                              <p:pRg st="3" end="3"/>
                                            </p:txEl>
                                          </p:spTgt>
                                        </p:tgtEl>
                                      </p:cBhvr>
                                    </p:animEffect>
                                    <p:anim calcmode="lin" valueType="num">
                                      <p:cBhvr>
                                        <p:cTn id="18" dur="1000" fill="hold"/>
                                        <p:tgtEl>
                                          <p:spTgt spid="10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04">
                                            <p:txEl>
                                              <p:pRg st="1" end="1"/>
                                            </p:txEl>
                                          </p:spTgt>
                                        </p:tgtEl>
                                        <p:attrNameLst>
                                          <p:attrName>style.visibility</p:attrName>
                                        </p:attrNameLst>
                                      </p:cBhvr>
                                      <p:to>
                                        <p:strVal val="visible"/>
                                      </p:to>
                                    </p:set>
                                    <p:animEffect transition="in" filter="fade">
                                      <p:cBhvr>
                                        <p:cTn id="24" dur="1000"/>
                                        <p:tgtEl>
                                          <p:spTgt spid="104">
                                            <p:txEl>
                                              <p:pRg st="1" end="1"/>
                                            </p:txEl>
                                          </p:spTgt>
                                        </p:tgtEl>
                                      </p:cBhvr>
                                    </p:animEffect>
                                    <p:anim calcmode="lin" valueType="num">
                                      <p:cBhvr>
                                        <p:cTn id="25"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104">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4">
                                            <p:txEl>
                                              <p:pRg st="2" end="2"/>
                                            </p:txEl>
                                          </p:spTgt>
                                        </p:tgtEl>
                                        <p:attrNameLst>
                                          <p:attrName>style.visibility</p:attrName>
                                        </p:attrNameLst>
                                      </p:cBhvr>
                                      <p:to>
                                        <p:strVal val="visible"/>
                                      </p:to>
                                    </p:set>
                                    <p:animEffect transition="in" filter="fade">
                                      <p:cBhvr>
                                        <p:cTn id="29" dur="1000"/>
                                        <p:tgtEl>
                                          <p:spTgt spid="104">
                                            <p:txEl>
                                              <p:pRg st="2" end="2"/>
                                            </p:txEl>
                                          </p:spTgt>
                                        </p:tgtEl>
                                      </p:cBhvr>
                                    </p:animEffect>
                                    <p:anim calcmode="lin" valueType="num">
                                      <p:cBhvr>
                                        <p:cTn id="3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104">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04">
                                            <p:txEl>
                                              <p:pRg st="3" end="3"/>
                                            </p:txEl>
                                          </p:spTgt>
                                        </p:tgtEl>
                                        <p:attrNameLst>
                                          <p:attrName>style.visibility</p:attrName>
                                        </p:attrNameLst>
                                      </p:cBhvr>
                                      <p:to>
                                        <p:strVal val="visible"/>
                                      </p:to>
                                    </p:set>
                                    <p:animEffect transition="in" filter="fade">
                                      <p:cBhvr>
                                        <p:cTn id="34" dur="1000"/>
                                        <p:tgtEl>
                                          <p:spTgt spid="104">
                                            <p:txEl>
                                              <p:pRg st="3" end="3"/>
                                            </p:txEl>
                                          </p:spTgt>
                                        </p:tgtEl>
                                      </p:cBhvr>
                                    </p:animEffect>
                                    <p:anim calcmode="lin" valueType="num">
                                      <p:cBhvr>
                                        <p:cTn id="35"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08">
                                            <p:txEl>
                                              <p:pRg st="1" end="1"/>
                                            </p:txEl>
                                          </p:spTgt>
                                        </p:tgtEl>
                                        <p:attrNameLst>
                                          <p:attrName>style.visibility</p:attrName>
                                        </p:attrNameLst>
                                      </p:cBhvr>
                                      <p:to>
                                        <p:strVal val="visible"/>
                                      </p:to>
                                    </p:set>
                                    <p:animEffect transition="in" filter="fade">
                                      <p:cBhvr>
                                        <p:cTn id="41" dur="1000"/>
                                        <p:tgtEl>
                                          <p:spTgt spid="108">
                                            <p:txEl>
                                              <p:pRg st="1" end="1"/>
                                            </p:txEl>
                                          </p:spTgt>
                                        </p:tgtEl>
                                      </p:cBhvr>
                                    </p:animEffect>
                                    <p:anim calcmode="lin" valueType="num">
                                      <p:cBhvr>
                                        <p:cTn id="42" dur="1000" fill="hold"/>
                                        <p:tgtEl>
                                          <p:spTgt spid="108">
                                            <p:txEl>
                                              <p:pRg st="1" end="1"/>
                                            </p:txEl>
                                          </p:spTgt>
                                        </p:tgtEl>
                                        <p:attrNameLst>
                                          <p:attrName>ppt_x</p:attrName>
                                        </p:attrNameLst>
                                      </p:cBhvr>
                                      <p:tavLst>
                                        <p:tav tm="0">
                                          <p:val>
                                            <p:strVal val="#ppt_x"/>
                                          </p:val>
                                        </p:tav>
                                        <p:tav tm="100000">
                                          <p:val>
                                            <p:strVal val="#ppt_x"/>
                                          </p:val>
                                        </p:tav>
                                      </p:tavLst>
                                    </p:anim>
                                    <p:anim calcmode="lin" valueType="num">
                                      <p:cBhvr>
                                        <p:cTn id="43" dur="1000" fill="hold"/>
                                        <p:tgtEl>
                                          <p:spTgt spid="108">
                                            <p:txEl>
                                              <p:pRg st="1" end="1"/>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08">
                                            <p:txEl>
                                              <p:pRg st="2" end="2"/>
                                            </p:txEl>
                                          </p:spTgt>
                                        </p:tgtEl>
                                        <p:attrNameLst>
                                          <p:attrName>style.visibility</p:attrName>
                                        </p:attrNameLst>
                                      </p:cBhvr>
                                      <p:to>
                                        <p:strVal val="visible"/>
                                      </p:to>
                                    </p:set>
                                    <p:animEffect transition="in" filter="fade">
                                      <p:cBhvr>
                                        <p:cTn id="46" dur="1000"/>
                                        <p:tgtEl>
                                          <p:spTgt spid="108">
                                            <p:txEl>
                                              <p:pRg st="2" end="2"/>
                                            </p:txEl>
                                          </p:spTgt>
                                        </p:tgtEl>
                                      </p:cBhvr>
                                    </p:animEffect>
                                    <p:anim calcmode="lin" valueType="num">
                                      <p:cBhvr>
                                        <p:cTn id="47" dur="1000" fill="hold"/>
                                        <p:tgtEl>
                                          <p:spTgt spid="108">
                                            <p:txEl>
                                              <p:pRg st="2" end="2"/>
                                            </p:txEl>
                                          </p:spTgt>
                                        </p:tgtEl>
                                        <p:attrNameLst>
                                          <p:attrName>ppt_x</p:attrName>
                                        </p:attrNameLst>
                                      </p:cBhvr>
                                      <p:tavLst>
                                        <p:tav tm="0">
                                          <p:val>
                                            <p:strVal val="#ppt_x"/>
                                          </p:val>
                                        </p:tav>
                                        <p:tav tm="100000">
                                          <p:val>
                                            <p:strVal val="#ppt_x"/>
                                          </p:val>
                                        </p:tav>
                                      </p:tavLst>
                                    </p:anim>
                                    <p:anim calcmode="lin" valueType="num">
                                      <p:cBhvr>
                                        <p:cTn id="48" dur="1000" fill="hold"/>
                                        <p:tgtEl>
                                          <p:spTgt spid="10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05">
                                            <p:txEl>
                                              <p:pRg st="1" end="1"/>
                                            </p:txEl>
                                          </p:spTgt>
                                        </p:tgtEl>
                                        <p:attrNameLst>
                                          <p:attrName>style.visibility</p:attrName>
                                        </p:attrNameLst>
                                      </p:cBhvr>
                                      <p:to>
                                        <p:strVal val="visible"/>
                                      </p:to>
                                    </p:set>
                                    <p:animEffect transition="in" filter="fade">
                                      <p:cBhvr>
                                        <p:cTn id="53" dur="1000"/>
                                        <p:tgtEl>
                                          <p:spTgt spid="105">
                                            <p:txEl>
                                              <p:pRg st="1" end="1"/>
                                            </p:txEl>
                                          </p:spTgt>
                                        </p:tgtEl>
                                      </p:cBhvr>
                                    </p:animEffect>
                                    <p:anim calcmode="lin" valueType="num">
                                      <p:cBhvr>
                                        <p:cTn id="54" dur="1000" fill="hold"/>
                                        <p:tgtEl>
                                          <p:spTgt spid="105">
                                            <p:txEl>
                                              <p:pRg st="1" end="1"/>
                                            </p:txEl>
                                          </p:spTgt>
                                        </p:tgtEl>
                                        <p:attrNameLst>
                                          <p:attrName>ppt_x</p:attrName>
                                        </p:attrNameLst>
                                      </p:cBhvr>
                                      <p:tavLst>
                                        <p:tav tm="0">
                                          <p:val>
                                            <p:strVal val="#ppt_x"/>
                                          </p:val>
                                        </p:tav>
                                        <p:tav tm="100000">
                                          <p:val>
                                            <p:strVal val="#ppt_x"/>
                                          </p:val>
                                        </p:tav>
                                      </p:tavLst>
                                    </p:anim>
                                    <p:anim calcmode="lin" valueType="num">
                                      <p:cBhvr>
                                        <p:cTn id="55" dur="1000" fill="hold"/>
                                        <p:tgtEl>
                                          <p:spTgt spid="105">
                                            <p:txEl>
                                              <p:pRg st="1" end="1"/>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05">
                                            <p:txEl>
                                              <p:pRg st="2" end="2"/>
                                            </p:txEl>
                                          </p:spTgt>
                                        </p:tgtEl>
                                        <p:attrNameLst>
                                          <p:attrName>style.visibility</p:attrName>
                                        </p:attrNameLst>
                                      </p:cBhvr>
                                      <p:to>
                                        <p:strVal val="visible"/>
                                      </p:to>
                                    </p:set>
                                    <p:animEffect transition="in" filter="fade">
                                      <p:cBhvr>
                                        <p:cTn id="58" dur="1000"/>
                                        <p:tgtEl>
                                          <p:spTgt spid="105">
                                            <p:txEl>
                                              <p:pRg st="2" end="2"/>
                                            </p:txEl>
                                          </p:spTgt>
                                        </p:tgtEl>
                                      </p:cBhvr>
                                    </p:animEffect>
                                    <p:anim calcmode="lin" valueType="num">
                                      <p:cBhvr>
                                        <p:cTn id="59" dur="1000" fill="hold"/>
                                        <p:tgtEl>
                                          <p:spTgt spid="105">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105">
                                            <p:txEl>
                                              <p:pRg st="2" end="2"/>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05">
                                            <p:txEl>
                                              <p:pRg st="3" end="3"/>
                                            </p:txEl>
                                          </p:spTgt>
                                        </p:tgtEl>
                                        <p:attrNameLst>
                                          <p:attrName>style.visibility</p:attrName>
                                        </p:attrNameLst>
                                      </p:cBhvr>
                                      <p:to>
                                        <p:strVal val="visible"/>
                                      </p:to>
                                    </p:set>
                                    <p:animEffect transition="in" filter="fade">
                                      <p:cBhvr>
                                        <p:cTn id="63" dur="1000"/>
                                        <p:tgtEl>
                                          <p:spTgt spid="105">
                                            <p:txEl>
                                              <p:pRg st="3" end="3"/>
                                            </p:txEl>
                                          </p:spTgt>
                                        </p:tgtEl>
                                      </p:cBhvr>
                                    </p:animEffect>
                                    <p:anim calcmode="lin" valueType="num">
                                      <p:cBhvr>
                                        <p:cTn id="64" dur="1000" fill="hold"/>
                                        <p:tgtEl>
                                          <p:spTgt spid="105">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10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nodeType="clickEffect">
                                  <p:stCondLst>
                                    <p:cond delay="0"/>
                                  </p:stCondLst>
                                  <p:childTnLst>
                                    <p:set>
                                      <p:cBhvr>
                                        <p:cTn id="69" dur="1" fill="hold">
                                          <p:stCondLst>
                                            <p:cond delay="0"/>
                                          </p:stCondLst>
                                        </p:cTn>
                                        <p:tgtEl>
                                          <p:spTgt spid="106">
                                            <p:txEl>
                                              <p:pRg st="4" end="4"/>
                                            </p:txEl>
                                          </p:spTgt>
                                        </p:tgtEl>
                                        <p:attrNameLst>
                                          <p:attrName>style.visibility</p:attrName>
                                        </p:attrNameLst>
                                      </p:cBhvr>
                                      <p:to>
                                        <p:strVal val="visible"/>
                                      </p:to>
                                    </p:set>
                                    <p:animEffect transition="in" filter="barn(inVertical)">
                                      <p:cBhvr>
                                        <p:cTn id="70" dur="500"/>
                                        <p:tgtEl>
                                          <p:spTgt spid="106">
                                            <p:txEl>
                                              <p:pRg st="4" end="4"/>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1000"/>
                                        <p:tgtEl>
                                          <p:spTgt spid="16"/>
                                        </p:tgtEl>
                                      </p:cBhvr>
                                    </p:animEffect>
                                    <p:anim calcmode="lin" valueType="num">
                                      <p:cBhvr>
                                        <p:cTn id="76" dur="1000" fill="hold"/>
                                        <p:tgtEl>
                                          <p:spTgt spid="16"/>
                                        </p:tgtEl>
                                        <p:attrNameLst>
                                          <p:attrName>ppt_x</p:attrName>
                                        </p:attrNameLst>
                                      </p:cBhvr>
                                      <p:tavLst>
                                        <p:tav tm="0">
                                          <p:val>
                                            <p:strVal val="#ppt_x"/>
                                          </p:val>
                                        </p:tav>
                                        <p:tav tm="100000">
                                          <p:val>
                                            <p:strVal val="#ppt_x"/>
                                          </p:val>
                                        </p:tav>
                                      </p:tavLst>
                                    </p:anim>
                                    <p:anim calcmode="lin" valueType="num">
                                      <p:cBhvr>
                                        <p:cTn id="7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884103-3566-4DBF-896C-7E1D42CCB3F8}"/>
              </a:ext>
            </a:extLst>
          </p:cNvPr>
          <p:cNvSpPr>
            <a:spLocks noGrp="1"/>
          </p:cNvSpPr>
          <p:nvPr>
            <p:ph type="title"/>
          </p:nvPr>
        </p:nvSpPr>
        <p:spPr/>
        <p:txBody>
          <a:bodyPr/>
          <a:lstStyle/>
          <a:p>
            <a:r>
              <a:rPr lang="es-AR" dirty="0"/>
              <a:t>Relación de Generalización/Especialización</a:t>
            </a:r>
          </a:p>
        </p:txBody>
      </p:sp>
      <p:sp>
        <p:nvSpPr>
          <p:cNvPr id="3" name="Marcador de contenido 2">
            <a:extLst>
              <a:ext uri="{FF2B5EF4-FFF2-40B4-BE49-F238E27FC236}">
                <a16:creationId xmlns:a16="http://schemas.microsoft.com/office/drawing/2014/main" id="{ECF57763-D3FB-4F90-992A-B9EA7E219D43}"/>
              </a:ext>
            </a:extLst>
          </p:cNvPr>
          <p:cNvSpPr>
            <a:spLocks noGrp="1"/>
          </p:cNvSpPr>
          <p:nvPr>
            <p:ph idx="1"/>
          </p:nvPr>
        </p:nvSpPr>
        <p:spPr>
          <a:xfrm>
            <a:off x="852543" y="1100935"/>
            <a:ext cx="2509104" cy="406078"/>
          </a:xfrm>
        </p:spPr>
        <p:txBody>
          <a:bodyPr/>
          <a:lstStyle/>
          <a:p>
            <a:pPr marL="114300" indent="0">
              <a:buNone/>
            </a:pPr>
            <a:r>
              <a:rPr lang="es-AR" dirty="0"/>
              <a:t>Entidad Principal</a:t>
            </a:r>
          </a:p>
        </p:txBody>
      </p:sp>
      <p:sp>
        <p:nvSpPr>
          <p:cNvPr id="4" name="Rectángulo 3">
            <a:extLst>
              <a:ext uri="{FF2B5EF4-FFF2-40B4-BE49-F238E27FC236}">
                <a16:creationId xmlns:a16="http://schemas.microsoft.com/office/drawing/2014/main" id="{811D6C1A-7330-4537-A0BE-17F3A32BD27F}"/>
              </a:ext>
            </a:extLst>
          </p:cNvPr>
          <p:cNvSpPr/>
          <p:nvPr/>
        </p:nvSpPr>
        <p:spPr>
          <a:xfrm>
            <a:off x="1043609" y="1570382"/>
            <a:ext cx="1858618" cy="22700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050"/>
          </a:p>
        </p:txBody>
      </p:sp>
      <p:sp>
        <p:nvSpPr>
          <p:cNvPr id="5" name="Rectángulo 4">
            <a:extLst>
              <a:ext uri="{FF2B5EF4-FFF2-40B4-BE49-F238E27FC236}">
                <a16:creationId xmlns:a16="http://schemas.microsoft.com/office/drawing/2014/main" id="{207A10BC-4640-483F-9D00-19F2091DA79D}"/>
              </a:ext>
            </a:extLst>
          </p:cNvPr>
          <p:cNvSpPr/>
          <p:nvPr/>
        </p:nvSpPr>
        <p:spPr>
          <a:xfrm>
            <a:off x="5645427" y="1570382"/>
            <a:ext cx="1997765" cy="22700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050"/>
          </a:p>
        </p:txBody>
      </p:sp>
      <p:cxnSp>
        <p:nvCxnSpPr>
          <p:cNvPr id="7" name="Conector recto 6">
            <a:extLst>
              <a:ext uri="{FF2B5EF4-FFF2-40B4-BE49-F238E27FC236}">
                <a16:creationId xmlns:a16="http://schemas.microsoft.com/office/drawing/2014/main" id="{E3C50F6B-0EB7-4622-A338-B85CE2311BE7}"/>
              </a:ext>
            </a:extLst>
          </p:cNvPr>
          <p:cNvCxnSpPr/>
          <p:nvPr/>
        </p:nvCxnSpPr>
        <p:spPr>
          <a:xfrm>
            <a:off x="1043609" y="2027582"/>
            <a:ext cx="18586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0D17422D-974A-4581-BBE0-ACC14635E891}"/>
              </a:ext>
            </a:extLst>
          </p:cNvPr>
          <p:cNvCxnSpPr/>
          <p:nvPr/>
        </p:nvCxnSpPr>
        <p:spPr>
          <a:xfrm>
            <a:off x="5645427" y="2027582"/>
            <a:ext cx="19977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B9C738A3-A8F0-4FCF-914B-95BA5D5590F3}"/>
              </a:ext>
            </a:extLst>
          </p:cNvPr>
          <p:cNvCxnSpPr/>
          <p:nvPr/>
        </p:nvCxnSpPr>
        <p:spPr>
          <a:xfrm>
            <a:off x="1043609" y="2847159"/>
            <a:ext cx="18586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E5FD50CB-53A7-41CA-A6F2-B13D058A1824}"/>
              </a:ext>
            </a:extLst>
          </p:cNvPr>
          <p:cNvCxnSpPr/>
          <p:nvPr/>
        </p:nvCxnSpPr>
        <p:spPr>
          <a:xfrm>
            <a:off x="5645424" y="2755529"/>
            <a:ext cx="199776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Marcador de contenido 2">
            <a:extLst>
              <a:ext uri="{FF2B5EF4-FFF2-40B4-BE49-F238E27FC236}">
                <a16:creationId xmlns:a16="http://schemas.microsoft.com/office/drawing/2014/main" id="{000799CC-6C19-4FCA-8D64-43CF3B4B3A3B}"/>
              </a:ext>
            </a:extLst>
          </p:cNvPr>
          <p:cNvSpPr txBox="1">
            <a:spLocks/>
          </p:cNvSpPr>
          <p:nvPr/>
        </p:nvSpPr>
        <p:spPr>
          <a:xfrm>
            <a:off x="5645426" y="1339471"/>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Entidad Subconjunto</a:t>
            </a:r>
          </a:p>
        </p:txBody>
      </p:sp>
      <p:sp>
        <p:nvSpPr>
          <p:cNvPr id="16" name="Marcador de contenido 2">
            <a:extLst>
              <a:ext uri="{FF2B5EF4-FFF2-40B4-BE49-F238E27FC236}">
                <a16:creationId xmlns:a16="http://schemas.microsoft.com/office/drawing/2014/main" id="{1A8C4E58-0F1B-46E1-AE20-738C5A984851}"/>
              </a:ext>
            </a:extLst>
          </p:cNvPr>
          <p:cNvSpPr txBox="1">
            <a:spLocks/>
          </p:cNvSpPr>
          <p:nvPr/>
        </p:nvSpPr>
        <p:spPr>
          <a:xfrm>
            <a:off x="1108213" y="1662514"/>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Invitación</a:t>
            </a:r>
          </a:p>
        </p:txBody>
      </p:sp>
      <p:sp>
        <p:nvSpPr>
          <p:cNvPr id="17" name="Marcador de contenido 2">
            <a:extLst>
              <a:ext uri="{FF2B5EF4-FFF2-40B4-BE49-F238E27FC236}">
                <a16:creationId xmlns:a16="http://schemas.microsoft.com/office/drawing/2014/main" id="{12635A94-80C3-4B0B-95C6-D27385D418C9}"/>
              </a:ext>
            </a:extLst>
          </p:cNvPr>
          <p:cNvSpPr txBox="1">
            <a:spLocks/>
          </p:cNvSpPr>
          <p:nvPr/>
        </p:nvSpPr>
        <p:spPr>
          <a:xfrm>
            <a:off x="1063493" y="2098199"/>
            <a:ext cx="1997765" cy="655712"/>
          </a:xfrm>
          <a:prstGeom prst="rect">
            <a:avLst/>
          </a:prstGeom>
        </p:spPr>
        <p:txBody>
          <a:bodyPr vert="horz" lIns="0" tIns="34290" rIns="0" bIns="3429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PK – Cod Persona</a:t>
            </a:r>
          </a:p>
          <a:p>
            <a:r>
              <a:rPr lang="es-AR" sz="1500" dirty="0"/>
              <a:t>PK – </a:t>
            </a:r>
            <a:r>
              <a:rPr lang="es-AR" sz="1500" dirty="0" err="1"/>
              <a:t>Cod_evento</a:t>
            </a:r>
            <a:endParaRPr lang="es-AR" sz="1500" dirty="0"/>
          </a:p>
        </p:txBody>
      </p:sp>
      <p:sp>
        <p:nvSpPr>
          <p:cNvPr id="18" name="Marcador de contenido 2">
            <a:extLst>
              <a:ext uri="{FF2B5EF4-FFF2-40B4-BE49-F238E27FC236}">
                <a16:creationId xmlns:a16="http://schemas.microsoft.com/office/drawing/2014/main" id="{0BCAEDAF-8BBB-4ED9-A74C-3F9F72F26541}"/>
              </a:ext>
            </a:extLst>
          </p:cNvPr>
          <p:cNvSpPr txBox="1">
            <a:spLocks/>
          </p:cNvSpPr>
          <p:nvPr/>
        </p:nvSpPr>
        <p:spPr>
          <a:xfrm>
            <a:off x="5655369" y="2098199"/>
            <a:ext cx="1997765" cy="586604"/>
          </a:xfrm>
          <a:prstGeom prst="rect">
            <a:avLst/>
          </a:prstGeom>
        </p:spPr>
        <p:txBody>
          <a:bodyPr vert="horz" lIns="0" tIns="34290" rIns="0" bIns="3429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PK/FK – Cod persona</a:t>
            </a:r>
          </a:p>
          <a:p>
            <a:r>
              <a:rPr lang="es-AR" sz="1500" dirty="0"/>
              <a:t>PK/FK – </a:t>
            </a:r>
            <a:r>
              <a:rPr lang="es-AR" sz="1500" dirty="0" err="1"/>
              <a:t>Cod_evento</a:t>
            </a:r>
            <a:endParaRPr lang="es-AR" sz="1500" dirty="0"/>
          </a:p>
        </p:txBody>
      </p:sp>
      <p:sp>
        <p:nvSpPr>
          <p:cNvPr id="19" name="Marcador de contenido 2">
            <a:extLst>
              <a:ext uri="{FF2B5EF4-FFF2-40B4-BE49-F238E27FC236}">
                <a16:creationId xmlns:a16="http://schemas.microsoft.com/office/drawing/2014/main" id="{E0E50FD4-CDDD-4841-AFB4-E76E37B2F540}"/>
              </a:ext>
            </a:extLst>
          </p:cNvPr>
          <p:cNvSpPr txBox="1">
            <a:spLocks/>
          </p:cNvSpPr>
          <p:nvPr/>
        </p:nvSpPr>
        <p:spPr>
          <a:xfrm>
            <a:off x="5849179" y="1688246"/>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Inscripción</a:t>
            </a:r>
          </a:p>
        </p:txBody>
      </p:sp>
      <p:sp>
        <p:nvSpPr>
          <p:cNvPr id="20" name="Marcador de contenido 2">
            <a:extLst>
              <a:ext uri="{FF2B5EF4-FFF2-40B4-BE49-F238E27FC236}">
                <a16:creationId xmlns:a16="http://schemas.microsoft.com/office/drawing/2014/main" id="{B5EDF623-22DA-4DBB-A9AA-74469D11F17B}"/>
              </a:ext>
            </a:extLst>
          </p:cNvPr>
          <p:cNvSpPr txBox="1">
            <a:spLocks/>
          </p:cNvSpPr>
          <p:nvPr/>
        </p:nvSpPr>
        <p:spPr>
          <a:xfrm>
            <a:off x="1063493" y="2863663"/>
            <a:ext cx="1997765" cy="435566"/>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err="1"/>
              <a:t>Fecha_invitación</a:t>
            </a:r>
            <a:endParaRPr lang="es-AR" sz="1500" dirty="0"/>
          </a:p>
          <a:p>
            <a:endParaRPr lang="es-AR" sz="1500" dirty="0"/>
          </a:p>
        </p:txBody>
      </p:sp>
      <p:sp>
        <p:nvSpPr>
          <p:cNvPr id="21" name="Marcador de contenido 2">
            <a:extLst>
              <a:ext uri="{FF2B5EF4-FFF2-40B4-BE49-F238E27FC236}">
                <a16:creationId xmlns:a16="http://schemas.microsoft.com/office/drawing/2014/main" id="{2CCC9199-EF4A-404E-8309-EFE55CBF4FCD}"/>
              </a:ext>
            </a:extLst>
          </p:cNvPr>
          <p:cNvSpPr txBox="1">
            <a:spLocks/>
          </p:cNvSpPr>
          <p:nvPr/>
        </p:nvSpPr>
        <p:spPr>
          <a:xfrm>
            <a:off x="5744816" y="2847159"/>
            <a:ext cx="1997765" cy="392746"/>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err="1"/>
              <a:t>Fecha_inscripción</a:t>
            </a:r>
            <a:endParaRPr lang="es-AR" sz="1500" dirty="0"/>
          </a:p>
        </p:txBody>
      </p:sp>
      <p:cxnSp>
        <p:nvCxnSpPr>
          <p:cNvPr id="23" name="Conector recto 22">
            <a:extLst>
              <a:ext uri="{FF2B5EF4-FFF2-40B4-BE49-F238E27FC236}">
                <a16:creationId xmlns:a16="http://schemas.microsoft.com/office/drawing/2014/main" id="{C9EF44DC-F53A-4E1D-8148-9C7B015F843D}"/>
              </a:ext>
            </a:extLst>
          </p:cNvPr>
          <p:cNvCxnSpPr/>
          <p:nvPr/>
        </p:nvCxnSpPr>
        <p:spPr>
          <a:xfrm>
            <a:off x="2902227" y="2216426"/>
            <a:ext cx="27431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FE30BBE1-FDEE-449A-9D91-8AC22DF7ED33}"/>
              </a:ext>
            </a:extLst>
          </p:cNvPr>
          <p:cNvCxnSpPr>
            <a:cxnSpLocks/>
          </p:cNvCxnSpPr>
          <p:nvPr/>
        </p:nvCxnSpPr>
        <p:spPr>
          <a:xfrm>
            <a:off x="3001619" y="2123796"/>
            <a:ext cx="0" cy="231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C6FD5FD6-74D7-49EB-B09D-66DAB53D70A0}"/>
              </a:ext>
            </a:extLst>
          </p:cNvPr>
          <p:cNvCxnSpPr>
            <a:cxnSpLocks/>
          </p:cNvCxnSpPr>
          <p:nvPr/>
        </p:nvCxnSpPr>
        <p:spPr>
          <a:xfrm>
            <a:off x="3115919" y="2138706"/>
            <a:ext cx="0" cy="231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5C18ABD1-E611-4756-A7B8-CD3073EACAF4}"/>
              </a:ext>
            </a:extLst>
          </p:cNvPr>
          <p:cNvCxnSpPr>
            <a:cxnSpLocks/>
          </p:cNvCxnSpPr>
          <p:nvPr/>
        </p:nvCxnSpPr>
        <p:spPr>
          <a:xfrm>
            <a:off x="5546037" y="2113859"/>
            <a:ext cx="0" cy="231524"/>
          </a:xfrm>
          <a:prstGeom prst="line">
            <a:avLst/>
          </a:prstGeom>
        </p:spPr>
        <p:style>
          <a:lnRef idx="1">
            <a:schemeClr val="accent1"/>
          </a:lnRef>
          <a:fillRef idx="0">
            <a:schemeClr val="accent1"/>
          </a:fillRef>
          <a:effectRef idx="0">
            <a:schemeClr val="accent1"/>
          </a:effectRef>
          <a:fontRef idx="minor">
            <a:schemeClr val="tx1"/>
          </a:fontRef>
        </p:style>
      </p:cxnSp>
      <p:sp>
        <p:nvSpPr>
          <p:cNvPr id="30" name="Elipse 29">
            <a:extLst>
              <a:ext uri="{FF2B5EF4-FFF2-40B4-BE49-F238E27FC236}">
                <a16:creationId xmlns:a16="http://schemas.microsoft.com/office/drawing/2014/main" id="{448618E2-EF19-4FB9-BB6E-02157EE2DEB7}"/>
              </a:ext>
            </a:extLst>
          </p:cNvPr>
          <p:cNvSpPr/>
          <p:nvPr/>
        </p:nvSpPr>
        <p:spPr>
          <a:xfrm>
            <a:off x="5287613" y="2114547"/>
            <a:ext cx="198783" cy="21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050"/>
          </a:p>
        </p:txBody>
      </p:sp>
      <p:sp>
        <p:nvSpPr>
          <p:cNvPr id="31" name="CuadroTexto 30">
            <a:extLst>
              <a:ext uri="{FF2B5EF4-FFF2-40B4-BE49-F238E27FC236}">
                <a16:creationId xmlns:a16="http://schemas.microsoft.com/office/drawing/2014/main" id="{6C10C630-E33B-46FE-9384-1DAA71868E30}"/>
              </a:ext>
            </a:extLst>
          </p:cNvPr>
          <p:cNvSpPr txBox="1"/>
          <p:nvPr/>
        </p:nvSpPr>
        <p:spPr>
          <a:xfrm>
            <a:off x="3911047" y="1810472"/>
            <a:ext cx="1023731" cy="253916"/>
          </a:xfrm>
          <a:prstGeom prst="rect">
            <a:avLst/>
          </a:prstGeom>
          <a:noFill/>
        </p:spPr>
        <p:txBody>
          <a:bodyPr wrap="square" rtlCol="0">
            <a:spAutoFit/>
          </a:bodyPr>
          <a:lstStyle/>
          <a:p>
            <a:r>
              <a:rPr lang="es-AR" sz="1050" dirty="0"/>
              <a:t>G/E</a:t>
            </a:r>
          </a:p>
        </p:txBody>
      </p:sp>
    </p:spTree>
    <p:extLst>
      <p:ext uri="{BB962C8B-B14F-4D97-AF65-F5344CB8AC3E}">
        <p14:creationId xmlns:p14="http://schemas.microsoft.com/office/powerpoint/2010/main" val="3331016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884103-3566-4DBF-896C-7E1D42CCB3F8}"/>
              </a:ext>
            </a:extLst>
          </p:cNvPr>
          <p:cNvSpPr>
            <a:spLocks noGrp="1"/>
          </p:cNvSpPr>
          <p:nvPr>
            <p:ph type="title"/>
          </p:nvPr>
        </p:nvSpPr>
        <p:spPr/>
        <p:txBody>
          <a:bodyPr/>
          <a:lstStyle/>
          <a:p>
            <a:r>
              <a:rPr lang="es-AR" dirty="0"/>
              <a:t>Relación de No Identidad</a:t>
            </a:r>
          </a:p>
        </p:txBody>
      </p:sp>
      <p:sp>
        <p:nvSpPr>
          <p:cNvPr id="3" name="Marcador de contenido 2">
            <a:extLst>
              <a:ext uri="{FF2B5EF4-FFF2-40B4-BE49-F238E27FC236}">
                <a16:creationId xmlns:a16="http://schemas.microsoft.com/office/drawing/2014/main" id="{ECF57763-D3FB-4F90-992A-B9EA7E219D43}"/>
              </a:ext>
            </a:extLst>
          </p:cNvPr>
          <p:cNvSpPr>
            <a:spLocks noGrp="1"/>
          </p:cNvSpPr>
          <p:nvPr>
            <p:ph idx="1"/>
          </p:nvPr>
        </p:nvSpPr>
        <p:spPr>
          <a:xfrm>
            <a:off x="852543" y="1100935"/>
            <a:ext cx="2509104" cy="406078"/>
          </a:xfrm>
        </p:spPr>
        <p:txBody>
          <a:bodyPr/>
          <a:lstStyle/>
          <a:p>
            <a:pPr marL="114300" indent="0">
              <a:buNone/>
            </a:pPr>
            <a:r>
              <a:rPr lang="es-AR" dirty="0"/>
              <a:t>Entidad</a:t>
            </a:r>
          </a:p>
        </p:txBody>
      </p:sp>
      <p:sp>
        <p:nvSpPr>
          <p:cNvPr id="4" name="Rectángulo 3">
            <a:extLst>
              <a:ext uri="{FF2B5EF4-FFF2-40B4-BE49-F238E27FC236}">
                <a16:creationId xmlns:a16="http://schemas.microsoft.com/office/drawing/2014/main" id="{811D6C1A-7330-4537-A0BE-17F3A32BD27F}"/>
              </a:ext>
            </a:extLst>
          </p:cNvPr>
          <p:cNvSpPr/>
          <p:nvPr/>
        </p:nvSpPr>
        <p:spPr>
          <a:xfrm>
            <a:off x="1043609" y="1570382"/>
            <a:ext cx="1858618" cy="22700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050"/>
          </a:p>
        </p:txBody>
      </p:sp>
      <p:sp>
        <p:nvSpPr>
          <p:cNvPr id="5" name="Rectángulo 4">
            <a:extLst>
              <a:ext uri="{FF2B5EF4-FFF2-40B4-BE49-F238E27FC236}">
                <a16:creationId xmlns:a16="http://schemas.microsoft.com/office/drawing/2014/main" id="{207A10BC-4640-483F-9D00-19F2091DA79D}"/>
              </a:ext>
            </a:extLst>
          </p:cNvPr>
          <p:cNvSpPr/>
          <p:nvPr/>
        </p:nvSpPr>
        <p:spPr>
          <a:xfrm>
            <a:off x="5645427" y="1570382"/>
            <a:ext cx="1997765" cy="22700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050"/>
          </a:p>
        </p:txBody>
      </p:sp>
      <p:cxnSp>
        <p:nvCxnSpPr>
          <p:cNvPr id="7" name="Conector recto 6">
            <a:extLst>
              <a:ext uri="{FF2B5EF4-FFF2-40B4-BE49-F238E27FC236}">
                <a16:creationId xmlns:a16="http://schemas.microsoft.com/office/drawing/2014/main" id="{E3C50F6B-0EB7-4622-A338-B85CE2311BE7}"/>
              </a:ext>
            </a:extLst>
          </p:cNvPr>
          <p:cNvCxnSpPr/>
          <p:nvPr/>
        </p:nvCxnSpPr>
        <p:spPr>
          <a:xfrm>
            <a:off x="1043609" y="2027582"/>
            <a:ext cx="18586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0D17422D-974A-4581-BBE0-ACC14635E891}"/>
              </a:ext>
            </a:extLst>
          </p:cNvPr>
          <p:cNvCxnSpPr/>
          <p:nvPr/>
        </p:nvCxnSpPr>
        <p:spPr>
          <a:xfrm>
            <a:off x="5645427" y="2027582"/>
            <a:ext cx="19977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B9C738A3-A8F0-4FCF-914B-95BA5D5590F3}"/>
              </a:ext>
            </a:extLst>
          </p:cNvPr>
          <p:cNvCxnSpPr/>
          <p:nvPr/>
        </p:nvCxnSpPr>
        <p:spPr>
          <a:xfrm>
            <a:off x="1043609" y="2415209"/>
            <a:ext cx="18586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E5FD50CB-53A7-41CA-A6F2-B13D058A1824}"/>
              </a:ext>
            </a:extLst>
          </p:cNvPr>
          <p:cNvCxnSpPr/>
          <p:nvPr/>
        </p:nvCxnSpPr>
        <p:spPr>
          <a:xfrm>
            <a:off x="5645427" y="2415209"/>
            <a:ext cx="199776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Marcador de contenido 2">
            <a:extLst>
              <a:ext uri="{FF2B5EF4-FFF2-40B4-BE49-F238E27FC236}">
                <a16:creationId xmlns:a16="http://schemas.microsoft.com/office/drawing/2014/main" id="{000799CC-6C19-4FCA-8D64-43CF3B4B3A3B}"/>
              </a:ext>
            </a:extLst>
          </p:cNvPr>
          <p:cNvSpPr txBox="1">
            <a:spLocks/>
          </p:cNvSpPr>
          <p:nvPr/>
        </p:nvSpPr>
        <p:spPr>
          <a:xfrm>
            <a:off x="5645426" y="1339471"/>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Entidad</a:t>
            </a:r>
          </a:p>
        </p:txBody>
      </p:sp>
      <p:sp>
        <p:nvSpPr>
          <p:cNvPr id="16" name="Marcador de contenido 2">
            <a:extLst>
              <a:ext uri="{FF2B5EF4-FFF2-40B4-BE49-F238E27FC236}">
                <a16:creationId xmlns:a16="http://schemas.microsoft.com/office/drawing/2014/main" id="{1A8C4E58-0F1B-46E1-AE20-738C5A984851}"/>
              </a:ext>
            </a:extLst>
          </p:cNvPr>
          <p:cNvSpPr txBox="1">
            <a:spLocks/>
          </p:cNvSpPr>
          <p:nvPr/>
        </p:nvSpPr>
        <p:spPr>
          <a:xfrm>
            <a:off x="1108213" y="1662514"/>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Persona</a:t>
            </a:r>
          </a:p>
        </p:txBody>
      </p:sp>
      <p:sp>
        <p:nvSpPr>
          <p:cNvPr id="17" name="Marcador de contenido 2">
            <a:extLst>
              <a:ext uri="{FF2B5EF4-FFF2-40B4-BE49-F238E27FC236}">
                <a16:creationId xmlns:a16="http://schemas.microsoft.com/office/drawing/2014/main" id="{12635A94-80C3-4B0B-95C6-D27385D418C9}"/>
              </a:ext>
            </a:extLst>
          </p:cNvPr>
          <p:cNvSpPr txBox="1">
            <a:spLocks/>
          </p:cNvSpPr>
          <p:nvPr/>
        </p:nvSpPr>
        <p:spPr>
          <a:xfrm>
            <a:off x="1108213" y="2108868"/>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PK – Cod persona</a:t>
            </a:r>
          </a:p>
        </p:txBody>
      </p:sp>
      <p:sp>
        <p:nvSpPr>
          <p:cNvPr id="18" name="Marcador de contenido 2">
            <a:extLst>
              <a:ext uri="{FF2B5EF4-FFF2-40B4-BE49-F238E27FC236}">
                <a16:creationId xmlns:a16="http://schemas.microsoft.com/office/drawing/2014/main" id="{0BCAEDAF-8BBB-4ED9-A74C-3F9F72F26541}"/>
              </a:ext>
            </a:extLst>
          </p:cNvPr>
          <p:cNvSpPr txBox="1">
            <a:spLocks/>
          </p:cNvSpPr>
          <p:nvPr/>
        </p:nvSpPr>
        <p:spPr>
          <a:xfrm>
            <a:off x="5719972" y="2075872"/>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PK –</a:t>
            </a:r>
            <a:r>
              <a:rPr lang="es-AR" sz="1500" dirty="0" err="1"/>
              <a:t>Cod_Profesión</a:t>
            </a:r>
            <a:endParaRPr lang="es-AR" sz="1500" dirty="0"/>
          </a:p>
        </p:txBody>
      </p:sp>
      <p:sp>
        <p:nvSpPr>
          <p:cNvPr id="19" name="Marcador de contenido 2">
            <a:extLst>
              <a:ext uri="{FF2B5EF4-FFF2-40B4-BE49-F238E27FC236}">
                <a16:creationId xmlns:a16="http://schemas.microsoft.com/office/drawing/2014/main" id="{E0E50FD4-CDDD-4841-AFB4-E76E37B2F540}"/>
              </a:ext>
            </a:extLst>
          </p:cNvPr>
          <p:cNvSpPr txBox="1">
            <a:spLocks/>
          </p:cNvSpPr>
          <p:nvPr/>
        </p:nvSpPr>
        <p:spPr>
          <a:xfrm>
            <a:off x="5849179" y="1688246"/>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Profesión</a:t>
            </a:r>
          </a:p>
        </p:txBody>
      </p:sp>
      <p:sp>
        <p:nvSpPr>
          <p:cNvPr id="20" name="Marcador de contenido 2">
            <a:extLst>
              <a:ext uri="{FF2B5EF4-FFF2-40B4-BE49-F238E27FC236}">
                <a16:creationId xmlns:a16="http://schemas.microsoft.com/office/drawing/2014/main" id="{B5EDF623-22DA-4DBB-A9AA-74469D11F17B}"/>
              </a:ext>
            </a:extLst>
          </p:cNvPr>
          <p:cNvSpPr txBox="1">
            <a:spLocks/>
          </p:cNvSpPr>
          <p:nvPr/>
        </p:nvSpPr>
        <p:spPr>
          <a:xfrm>
            <a:off x="1108213" y="2490274"/>
            <a:ext cx="1997765" cy="1350206"/>
          </a:xfrm>
          <a:prstGeom prst="rect">
            <a:avLst/>
          </a:prstGeom>
        </p:spPr>
        <p:txBody>
          <a:bodyPr vert="horz" lIns="0" tIns="34290" rIns="0" bIns="3429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Nombre</a:t>
            </a:r>
          </a:p>
          <a:p>
            <a:r>
              <a:rPr lang="es-AR" sz="1500" dirty="0"/>
              <a:t>Apellido</a:t>
            </a:r>
          </a:p>
          <a:p>
            <a:r>
              <a:rPr lang="es-AR" sz="1500" dirty="0"/>
              <a:t>Dirección</a:t>
            </a:r>
          </a:p>
          <a:p>
            <a:r>
              <a:rPr lang="es-AR" sz="1500" dirty="0"/>
              <a:t>FK - </a:t>
            </a:r>
            <a:r>
              <a:rPr lang="es-AR" sz="1500" dirty="0" err="1"/>
              <a:t>Cod_profesión</a:t>
            </a:r>
            <a:endParaRPr lang="es-AR" sz="1500" dirty="0"/>
          </a:p>
          <a:p>
            <a:endParaRPr lang="es-AR" sz="1500" dirty="0"/>
          </a:p>
        </p:txBody>
      </p:sp>
      <p:sp>
        <p:nvSpPr>
          <p:cNvPr id="21" name="Marcador de contenido 2">
            <a:extLst>
              <a:ext uri="{FF2B5EF4-FFF2-40B4-BE49-F238E27FC236}">
                <a16:creationId xmlns:a16="http://schemas.microsoft.com/office/drawing/2014/main" id="{2CCC9199-EF4A-404E-8309-EFE55CBF4FCD}"/>
              </a:ext>
            </a:extLst>
          </p:cNvPr>
          <p:cNvSpPr txBox="1">
            <a:spLocks/>
          </p:cNvSpPr>
          <p:nvPr/>
        </p:nvSpPr>
        <p:spPr>
          <a:xfrm>
            <a:off x="5747302" y="2575121"/>
            <a:ext cx="1997765" cy="953263"/>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Descripción</a:t>
            </a:r>
          </a:p>
          <a:p>
            <a:endParaRPr lang="es-AR" sz="1500" dirty="0"/>
          </a:p>
        </p:txBody>
      </p:sp>
      <p:cxnSp>
        <p:nvCxnSpPr>
          <p:cNvPr id="23" name="Conector recto 22">
            <a:extLst>
              <a:ext uri="{FF2B5EF4-FFF2-40B4-BE49-F238E27FC236}">
                <a16:creationId xmlns:a16="http://schemas.microsoft.com/office/drawing/2014/main" id="{C9EF44DC-F53A-4E1D-8148-9C7B015F843D}"/>
              </a:ext>
            </a:extLst>
          </p:cNvPr>
          <p:cNvCxnSpPr/>
          <p:nvPr/>
        </p:nvCxnSpPr>
        <p:spPr>
          <a:xfrm>
            <a:off x="2902227" y="2216426"/>
            <a:ext cx="27431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FE30BBE1-FDEE-449A-9D91-8AC22DF7ED33}"/>
              </a:ext>
            </a:extLst>
          </p:cNvPr>
          <p:cNvCxnSpPr>
            <a:cxnSpLocks/>
          </p:cNvCxnSpPr>
          <p:nvPr/>
        </p:nvCxnSpPr>
        <p:spPr>
          <a:xfrm>
            <a:off x="2902227" y="2075872"/>
            <a:ext cx="203751" cy="1531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C6FD5FD6-74D7-49EB-B09D-66DAB53D70A0}"/>
              </a:ext>
            </a:extLst>
          </p:cNvPr>
          <p:cNvCxnSpPr>
            <a:cxnSpLocks/>
          </p:cNvCxnSpPr>
          <p:nvPr/>
        </p:nvCxnSpPr>
        <p:spPr>
          <a:xfrm>
            <a:off x="5471606" y="2090397"/>
            <a:ext cx="0" cy="231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5C18ABD1-E611-4756-A7B8-CD3073EACAF4}"/>
              </a:ext>
            </a:extLst>
          </p:cNvPr>
          <p:cNvCxnSpPr>
            <a:cxnSpLocks/>
          </p:cNvCxnSpPr>
          <p:nvPr/>
        </p:nvCxnSpPr>
        <p:spPr>
          <a:xfrm>
            <a:off x="5546037" y="2113859"/>
            <a:ext cx="0" cy="231524"/>
          </a:xfrm>
          <a:prstGeom prst="line">
            <a:avLst/>
          </a:prstGeom>
        </p:spPr>
        <p:style>
          <a:lnRef idx="1">
            <a:schemeClr val="accent1"/>
          </a:lnRef>
          <a:fillRef idx="0">
            <a:schemeClr val="accent1"/>
          </a:fillRef>
          <a:effectRef idx="0">
            <a:schemeClr val="accent1"/>
          </a:effectRef>
          <a:fontRef idx="minor">
            <a:schemeClr val="tx1"/>
          </a:fontRef>
        </p:style>
      </p:cxnSp>
      <p:sp>
        <p:nvSpPr>
          <p:cNvPr id="30" name="Elipse 29">
            <a:extLst>
              <a:ext uri="{FF2B5EF4-FFF2-40B4-BE49-F238E27FC236}">
                <a16:creationId xmlns:a16="http://schemas.microsoft.com/office/drawing/2014/main" id="{448618E2-EF19-4FB9-BB6E-02157EE2DEB7}"/>
              </a:ext>
            </a:extLst>
          </p:cNvPr>
          <p:cNvSpPr/>
          <p:nvPr/>
        </p:nvSpPr>
        <p:spPr>
          <a:xfrm>
            <a:off x="3159620" y="2123796"/>
            <a:ext cx="198783" cy="210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050"/>
          </a:p>
        </p:txBody>
      </p:sp>
      <p:sp>
        <p:nvSpPr>
          <p:cNvPr id="31" name="CuadroTexto 30">
            <a:extLst>
              <a:ext uri="{FF2B5EF4-FFF2-40B4-BE49-F238E27FC236}">
                <a16:creationId xmlns:a16="http://schemas.microsoft.com/office/drawing/2014/main" id="{6C10C630-E33B-46FE-9384-1DAA71868E30}"/>
              </a:ext>
            </a:extLst>
          </p:cNvPr>
          <p:cNvSpPr txBox="1"/>
          <p:nvPr/>
        </p:nvSpPr>
        <p:spPr>
          <a:xfrm>
            <a:off x="3911047" y="1810472"/>
            <a:ext cx="1023731" cy="253916"/>
          </a:xfrm>
          <a:prstGeom prst="rect">
            <a:avLst/>
          </a:prstGeom>
          <a:noFill/>
        </p:spPr>
        <p:txBody>
          <a:bodyPr wrap="square" rtlCol="0">
            <a:spAutoFit/>
          </a:bodyPr>
          <a:lstStyle/>
          <a:p>
            <a:r>
              <a:rPr lang="es-AR" sz="1050" dirty="0"/>
              <a:t>NI</a:t>
            </a:r>
          </a:p>
        </p:txBody>
      </p:sp>
      <p:cxnSp>
        <p:nvCxnSpPr>
          <p:cNvPr id="24" name="Conector recto 23">
            <a:extLst>
              <a:ext uri="{FF2B5EF4-FFF2-40B4-BE49-F238E27FC236}">
                <a16:creationId xmlns:a16="http://schemas.microsoft.com/office/drawing/2014/main" id="{DEBD9FFA-0043-4FE6-A667-7A7C08F22D2B}"/>
              </a:ext>
            </a:extLst>
          </p:cNvPr>
          <p:cNvCxnSpPr>
            <a:cxnSpLocks/>
          </p:cNvCxnSpPr>
          <p:nvPr/>
        </p:nvCxnSpPr>
        <p:spPr>
          <a:xfrm flipH="1">
            <a:off x="2890932" y="2230967"/>
            <a:ext cx="171449" cy="11411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5715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884103-3566-4DBF-896C-7E1D42CCB3F8}"/>
              </a:ext>
            </a:extLst>
          </p:cNvPr>
          <p:cNvSpPr>
            <a:spLocks noGrp="1"/>
          </p:cNvSpPr>
          <p:nvPr>
            <p:ph type="title"/>
          </p:nvPr>
        </p:nvSpPr>
        <p:spPr/>
        <p:txBody>
          <a:bodyPr/>
          <a:lstStyle/>
          <a:p>
            <a:r>
              <a:rPr lang="es-AR" dirty="0"/>
              <a:t>Relación de Identidad</a:t>
            </a:r>
          </a:p>
        </p:txBody>
      </p:sp>
      <p:sp>
        <p:nvSpPr>
          <p:cNvPr id="3" name="Marcador de contenido 2">
            <a:extLst>
              <a:ext uri="{FF2B5EF4-FFF2-40B4-BE49-F238E27FC236}">
                <a16:creationId xmlns:a16="http://schemas.microsoft.com/office/drawing/2014/main" id="{ECF57763-D3FB-4F90-992A-B9EA7E219D43}"/>
              </a:ext>
            </a:extLst>
          </p:cNvPr>
          <p:cNvSpPr>
            <a:spLocks noGrp="1"/>
          </p:cNvSpPr>
          <p:nvPr>
            <p:ph idx="1"/>
          </p:nvPr>
        </p:nvSpPr>
        <p:spPr>
          <a:xfrm>
            <a:off x="852543" y="1100935"/>
            <a:ext cx="2509104" cy="406078"/>
          </a:xfrm>
        </p:spPr>
        <p:txBody>
          <a:bodyPr/>
          <a:lstStyle/>
          <a:p>
            <a:pPr marL="114300" indent="0">
              <a:buNone/>
            </a:pPr>
            <a:r>
              <a:rPr lang="es-AR" dirty="0"/>
              <a:t>Entidad</a:t>
            </a:r>
          </a:p>
        </p:txBody>
      </p:sp>
      <p:sp>
        <p:nvSpPr>
          <p:cNvPr id="4" name="Rectángulo 3">
            <a:extLst>
              <a:ext uri="{FF2B5EF4-FFF2-40B4-BE49-F238E27FC236}">
                <a16:creationId xmlns:a16="http://schemas.microsoft.com/office/drawing/2014/main" id="{811D6C1A-7330-4537-A0BE-17F3A32BD27F}"/>
              </a:ext>
            </a:extLst>
          </p:cNvPr>
          <p:cNvSpPr/>
          <p:nvPr/>
        </p:nvSpPr>
        <p:spPr>
          <a:xfrm>
            <a:off x="1043609" y="1570382"/>
            <a:ext cx="1858618" cy="22700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050"/>
          </a:p>
        </p:txBody>
      </p:sp>
      <p:sp>
        <p:nvSpPr>
          <p:cNvPr id="5" name="Rectángulo 4">
            <a:extLst>
              <a:ext uri="{FF2B5EF4-FFF2-40B4-BE49-F238E27FC236}">
                <a16:creationId xmlns:a16="http://schemas.microsoft.com/office/drawing/2014/main" id="{207A10BC-4640-483F-9D00-19F2091DA79D}"/>
              </a:ext>
            </a:extLst>
          </p:cNvPr>
          <p:cNvSpPr/>
          <p:nvPr/>
        </p:nvSpPr>
        <p:spPr>
          <a:xfrm>
            <a:off x="5645427" y="1570382"/>
            <a:ext cx="1997765" cy="22700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050"/>
          </a:p>
        </p:txBody>
      </p:sp>
      <p:cxnSp>
        <p:nvCxnSpPr>
          <p:cNvPr id="7" name="Conector recto 6">
            <a:extLst>
              <a:ext uri="{FF2B5EF4-FFF2-40B4-BE49-F238E27FC236}">
                <a16:creationId xmlns:a16="http://schemas.microsoft.com/office/drawing/2014/main" id="{E3C50F6B-0EB7-4622-A338-B85CE2311BE7}"/>
              </a:ext>
            </a:extLst>
          </p:cNvPr>
          <p:cNvCxnSpPr/>
          <p:nvPr/>
        </p:nvCxnSpPr>
        <p:spPr>
          <a:xfrm>
            <a:off x="1043609" y="2027582"/>
            <a:ext cx="18586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0D17422D-974A-4581-BBE0-ACC14635E891}"/>
              </a:ext>
            </a:extLst>
          </p:cNvPr>
          <p:cNvCxnSpPr/>
          <p:nvPr/>
        </p:nvCxnSpPr>
        <p:spPr>
          <a:xfrm>
            <a:off x="5645427" y="2027582"/>
            <a:ext cx="19977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B9C738A3-A8F0-4FCF-914B-95BA5D5590F3}"/>
              </a:ext>
            </a:extLst>
          </p:cNvPr>
          <p:cNvCxnSpPr/>
          <p:nvPr/>
        </p:nvCxnSpPr>
        <p:spPr>
          <a:xfrm>
            <a:off x="1043609" y="2415209"/>
            <a:ext cx="18586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E5FD50CB-53A7-41CA-A6F2-B13D058A1824}"/>
              </a:ext>
            </a:extLst>
          </p:cNvPr>
          <p:cNvCxnSpPr/>
          <p:nvPr/>
        </p:nvCxnSpPr>
        <p:spPr>
          <a:xfrm>
            <a:off x="5645426" y="2717682"/>
            <a:ext cx="199776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Marcador de contenido 2">
            <a:extLst>
              <a:ext uri="{FF2B5EF4-FFF2-40B4-BE49-F238E27FC236}">
                <a16:creationId xmlns:a16="http://schemas.microsoft.com/office/drawing/2014/main" id="{000799CC-6C19-4FCA-8D64-43CF3B4B3A3B}"/>
              </a:ext>
            </a:extLst>
          </p:cNvPr>
          <p:cNvSpPr txBox="1">
            <a:spLocks/>
          </p:cNvSpPr>
          <p:nvPr/>
        </p:nvSpPr>
        <p:spPr>
          <a:xfrm>
            <a:off x="5645426" y="1339471"/>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Entidad</a:t>
            </a:r>
          </a:p>
        </p:txBody>
      </p:sp>
      <p:sp>
        <p:nvSpPr>
          <p:cNvPr id="16" name="Marcador de contenido 2">
            <a:extLst>
              <a:ext uri="{FF2B5EF4-FFF2-40B4-BE49-F238E27FC236}">
                <a16:creationId xmlns:a16="http://schemas.microsoft.com/office/drawing/2014/main" id="{1A8C4E58-0F1B-46E1-AE20-738C5A984851}"/>
              </a:ext>
            </a:extLst>
          </p:cNvPr>
          <p:cNvSpPr txBox="1">
            <a:spLocks/>
          </p:cNvSpPr>
          <p:nvPr/>
        </p:nvSpPr>
        <p:spPr>
          <a:xfrm>
            <a:off x="1108213" y="1662514"/>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Persona</a:t>
            </a:r>
          </a:p>
        </p:txBody>
      </p:sp>
      <p:sp>
        <p:nvSpPr>
          <p:cNvPr id="17" name="Marcador de contenido 2">
            <a:extLst>
              <a:ext uri="{FF2B5EF4-FFF2-40B4-BE49-F238E27FC236}">
                <a16:creationId xmlns:a16="http://schemas.microsoft.com/office/drawing/2014/main" id="{12635A94-80C3-4B0B-95C6-D27385D418C9}"/>
              </a:ext>
            </a:extLst>
          </p:cNvPr>
          <p:cNvSpPr txBox="1">
            <a:spLocks/>
          </p:cNvSpPr>
          <p:nvPr/>
        </p:nvSpPr>
        <p:spPr>
          <a:xfrm>
            <a:off x="1108213" y="2108868"/>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PK – </a:t>
            </a:r>
            <a:r>
              <a:rPr lang="es-AR" sz="1500" dirty="0" err="1"/>
              <a:t>Cod_persona</a:t>
            </a:r>
            <a:endParaRPr lang="es-AR" sz="1500" dirty="0"/>
          </a:p>
        </p:txBody>
      </p:sp>
      <p:sp>
        <p:nvSpPr>
          <p:cNvPr id="18" name="Marcador de contenido 2">
            <a:extLst>
              <a:ext uri="{FF2B5EF4-FFF2-40B4-BE49-F238E27FC236}">
                <a16:creationId xmlns:a16="http://schemas.microsoft.com/office/drawing/2014/main" id="{0BCAEDAF-8BBB-4ED9-A74C-3F9F72F26541}"/>
              </a:ext>
            </a:extLst>
          </p:cNvPr>
          <p:cNvSpPr txBox="1">
            <a:spLocks/>
          </p:cNvSpPr>
          <p:nvPr/>
        </p:nvSpPr>
        <p:spPr>
          <a:xfrm>
            <a:off x="5650686" y="2132702"/>
            <a:ext cx="1997765" cy="306341"/>
          </a:xfrm>
          <a:prstGeom prst="rect">
            <a:avLst/>
          </a:prstGeom>
        </p:spPr>
        <p:txBody>
          <a:bodyPr vert="horz" lIns="0" tIns="34290" rIns="0" bIns="3429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PK/FK – </a:t>
            </a:r>
            <a:r>
              <a:rPr lang="es-AR" sz="1500" dirty="0" err="1"/>
              <a:t>Cod_persona</a:t>
            </a:r>
            <a:endParaRPr lang="es-AR" sz="1500" dirty="0"/>
          </a:p>
        </p:txBody>
      </p:sp>
      <p:sp>
        <p:nvSpPr>
          <p:cNvPr id="19" name="Marcador de contenido 2">
            <a:extLst>
              <a:ext uri="{FF2B5EF4-FFF2-40B4-BE49-F238E27FC236}">
                <a16:creationId xmlns:a16="http://schemas.microsoft.com/office/drawing/2014/main" id="{E0E50FD4-CDDD-4841-AFB4-E76E37B2F540}"/>
              </a:ext>
            </a:extLst>
          </p:cNvPr>
          <p:cNvSpPr txBox="1">
            <a:spLocks/>
          </p:cNvSpPr>
          <p:nvPr/>
        </p:nvSpPr>
        <p:spPr>
          <a:xfrm>
            <a:off x="5713210" y="1689088"/>
            <a:ext cx="1997765" cy="30634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err="1"/>
              <a:t>Empleado_teléfono</a:t>
            </a:r>
            <a:endParaRPr lang="es-AR" sz="1500" dirty="0"/>
          </a:p>
        </p:txBody>
      </p:sp>
      <p:sp>
        <p:nvSpPr>
          <p:cNvPr id="20" name="Marcador de contenido 2">
            <a:extLst>
              <a:ext uri="{FF2B5EF4-FFF2-40B4-BE49-F238E27FC236}">
                <a16:creationId xmlns:a16="http://schemas.microsoft.com/office/drawing/2014/main" id="{B5EDF623-22DA-4DBB-A9AA-74469D11F17B}"/>
              </a:ext>
            </a:extLst>
          </p:cNvPr>
          <p:cNvSpPr txBox="1">
            <a:spLocks/>
          </p:cNvSpPr>
          <p:nvPr/>
        </p:nvSpPr>
        <p:spPr>
          <a:xfrm>
            <a:off x="1108213" y="2490274"/>
            <a:ext cx="1997765" cy="1350207"/>
          </a:xfrm>
          <a:prstGeom prst="rect">
            <a:avLst/>
          </a:prstGeom>
        </p:spPr>
        <p:txBody>
          <a:bodyPr vert="horz" lIns="0" tIns="34290" rIns="0" bIns="3429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Nombre</a:t>
            </a:r>
          </a:p>
          <a:p>
            <a:r>
              <a:rPr lang="es-AR" sz="1500" dirty="0"/>
              <a:t>Apellido</a:t>
            </a:r>
          </a:p>
          <a:p>
            <a:r>
              <a:rPr lang="es-AR" sz="1500" dirty="0"/>
              <a:t>Dirección</a:t>
            </a:r>
          </a:p>
          <a:p>
            <a:r>
              <a:rPr lang="es-AR" sz="1500" dirty="0"/>
              <a:t>FK - </a:t>
            </a:r>
            <a:r>
              <a:rPr lang="es-AR" sz="1500" dirty="0" err="1"/>
              <a:t>Cod_profesión</a:t>
            </a:r>
            <a:endParaRPr lang="es-AR" sz="1500" dirty="0"/>
          </a:p>
          <a:p>
            <a:endParaRPr lang="es-AR" sz="1500" dirty="0"/>
          </a:p>
        </p:txBody>
      </p:sp>
      <p:sp>
        <p:nvSpPr>
          <p:cNvPr id="21" name="Marcador de contenido 2">
            <a:extLst>
              <a:ext uri="{FF2B5EF4-FFF2-40B4-BE49-F238E27FC236}">
                <a16:creationId xmlns:a16="http://schemas.microsoft.com/office/drawing/2014/main" id="{2CCC9199-EF4A-404E-8309-EFE55CBF4FCD}"/>
              </a:ext>
            </a:extLst>
          </p:cNvPr>
          <p:cNvSpPr txBox="1">
            <a:spLocks/>
          </p:cNvSpPr>
          <p:nvPr/>
        </p:nvSpPr>
        <p:spPr>
          <a:xfrm>
            <a:off x="5679317" y="2444338"/>
            <a:ext cx="1997765" cy="306342"/>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sz="1500" dirty="0"/>
              <a:t>PK - Teléfono</a:t>
            </a:r>
          </a:p>
          <a:p>
            <a:endParaRPr lang="es-AR" sz="1500" dirty="0"/>
          </a:p>
        </p:txBody>
      </p:sp>
      <p:cxnSp>
        <p:nvCxnSpPr>
          <p:cNvPr id="23" name="Conector recto 22">
            <a:extLst>
              <a:ext uri="{FF2B5EF4-FFF2-40B4-BE49-F238E27FC236}">
                <a16:creationId xmlns:a16="http://schemas.microsoft.com/office/drawing/2014/main" id="{C9EF44DC-F53A-4E1D-8148-9C7B015F843D}"/>
              </a:ext>
            </a:extLst>
          </p:cNvPr>
          <p:cNvCxnSpPr/>
          <p:nvPr/>
        </p:nvCxnSpPr>
        <p:spPr>
          <a:xfrm>
            <a:off x="2902227" y="2216426"/>
            <a:ext cx="27431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FE30BBE1-FDEE-449A-9D91-8AC22DF7ED33}"/>
              </a:ext>
            </a:extLst>
          </p:cNvPr>
          <p:cNvCxnSpPr>
            <a:cxnSpLocks/>
          </p:cNvCxnSpPr>
          <p:nvPr/>
        </p:nvCxnSpPr>
        <p:spPr>
          <a:xfrm>
            <a:off x="3001619" y="2123796"/>
            <a:ext cx="0" cy="231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C6FD5FD6-74D7-49EB-B09D-66DAB53D70A0}"/>
              </a:ext>
            </a:extLst>
          </p:cNvPr>
          <p:cNvCxnSpPr>
            <a:cxnSpLocks/>
          </p:cNvCxnSpPr>
          <p:nvPr/>
        </p:nvCxnSpPr>
        <p:spPr>
          <a:xfrm>
            <a:off x="3115919" y="2138706"/>
            <a:ext cx="0" cy="231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5C18ABD1-E611-4756-A7B8-CD3073EACAF4}"/>
              </a:ext>
            </a:extLst>
          </p:cNvPr>
          <p:cNvCxnSpPr>
            <a:cxnSpLocks/>
          </p:cNvCxnSpPr>
          <p:nvPr/>
        </p:nvCxnSpPr>
        <p:spPr>
          <a:xfrm>
            <a:off x="5375916" y="2100664"/>
            <a:ext cx="0" cy="231524"/>
          </a:xfrm>
          <a:prstGeom prst="line">
            <a:avLst/>
          </a:prstGeom>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6C10C630-E33B-46FE-9384-1DAA71868E30}"/>
              </a:ext>
            </a:extLst>
          </p:cNvPr>
          <p:cNvSpPr txBox="1"/>
          <p:nvPr/>
        </p:nvSpPr>
        <p:spPr>
          <a:xfrm>
            <a:off x="3761961" y="1810492"/>
            <a:ext cx="1023731" cy="253916"/>
          </a:xfrm>
          <a:prstGeom prst="rect">
            <a:avLst/>
          </a:prstGeom>
          <a:noFill/>
        </p:spPr>
        <p:txBody>
          <a:bodyPr wrap="square" rtlCol="0">
            <a:spAutoFit/>
          </a:bodyPr>
          <a:lstStyle/>
          <a:p>
            <a:r>
              <a:rPr lang="es-AR" sz="1050" dirty="0"/>
              <a:t>ID</a:t>
            </a:r>
          </a:p>
        </p:txBody>
      </p:sp>
      <p:cxnSp>
        <p:nvCxnSpPr>
          <p:cNvPr id="24" name="Conector recto 23">
            <a:extLst>
              <a:ext uri="{FF2B5EF4-FFF2-40B4-BE49-F238E27FC236}">
                <a16:creationId xmlns:a16="http://schemas.microsoft.com/office/drawing/2014/main" id="{A6BFE231-17B3-4049-B8A8-C2D1143C80AE}"/>
              </a:ext>
            </a:extLst>
          </p:cNvPr>
          <p:cNvCxnSpPr>
            <a:cxnSpLocks/>
          </p:cNvCxnSpPr>
          <p:nvPr/>
        </p:nvCxnSpPr>
        <p:spPr>
          <a:xfrm>
            <a:off x="5375916" y="2216426"/>
            <a:ext cx="193311" cy="1388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C6116C4F-3CBE-4622-B00B-1835CABCA9A6}"/>
              </a:ext>
            </a:extLst>
          </p:cNvPr>
          <p:cNvCxnSpPr>
            <a:cxnSpLocks/>
          </p:cNvCxnSpPr>
          <p:nvPr/>
        </p:nvCxnSpPr>
        <p:spPr>
          <a:xfrm flipV="1">
            <a:off x="5375916" y="2108868"/>
            <a:ext cx="193310" cy="1075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6455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ro xmlns="4e2fc5dc-0a9b-4fb0-a7bb-f2dbd29023f9">0</Nro>
    <Unidad xmlns="4e2fc5dc-0a9b-4fb0-a7bb-f2dbd29023f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A77989896D2AC4D9D96CE4C57E869D0" ma:contentTypeVersion="4" ma:contentTypeDescription="Crear nuevo documento." ma:contentTypeScope="" ma:versionID="29012f36dd80fbd6a3d0ddbdb9f47357">
  <xsd:schema xmlns:xsd="http://www.w3.org/2001/XMLSchema" xmlns:xs="http://www.w3.org/2001/XMLSchema" xmlns:p="http://schemas.microsoft.com/office/2006/metadata/properties" xmlns:ns2="4e2fc5dc-0a9b-4fb0-a7bb-f2dbd29023f9" targetNamespace="http://schemas.microsoft.com/office/2006/metadata/properties" ma:root="true" ma:fieldsID="fbd407c50ac373832a33d9f6edc00259" ns2:_="">
    <xsd:import namespace="4e2fc5dc-0a9b-4fb0-a7bb-f2dbd29023f9"/>
    <xsd:element name="properties">
      <xsd:complexType>
        <xsd:sequence>
          <xsd:element name="documentManagement">
            <xsd:complexType>
              <xsd:all>
                <xsd:element ref="ns2:Nro"/>
                <xsd:element ref="ns2:Unidad" minOccurs="0"/>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2fc5dc-0a9b-4fb0-a7bb-f2dbd29023f9" elementFormDefault="qualified">
    <xsd:import namespace="http://schemas.microsoft.com/office/2006/documentManagement/types"/>
    <xsd:import namespace="http://schemas.microsoft.com/office/infopath/2007/PartnerControls"/>
    <xsd:element name="Nro" ma:index="8" ma:displayName="Nro" ma:default="0" ma:description="Campo utilizado para ordenar" ma:internalName="Nro" ma:percentage="FALSE">
      <xsd:simpleType>
        <xsd:restriction base="dms:Number"/>
      </xsd:simpleType>
    </xsd:element>
    <xsd:element name="Unidad" ma:index="9" nillable="true" ma:displayName="Unidad" ma:internalName="Unidad" ma:percentage="FALSE">
      <xsd:simpleType>
        <xsd:restriction base="dms:Number"/>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03E429-A3B2-41D8-AF24-7B3E6CC79C4B}">
  <ds:schemaRefs>
    <ds:schemaRef ds:uri="http://schemas.microsoft.com/office/2006/metadata/properties"/>
    <ds:schemaRef ds:uri="http://schemas.microsoft.com/office/infopath/2007/PartnerControls"/>
    <ds:schemaRef ds:uri="4e2fc5dc-0a9b-4fb0-a7bb-f2dbd29023f9"/>
  </ds:schemaRefs>
</ds:datastoreItem>
</file>

<file path=customXml/itemProps2.xml><?xml version="1.0" encoding="utf-8"?>
<ds:datastoreItem xmlns:ds="http://schemas.openxmlformats.org/officeDocument/2006/customXml" ds:itemID="{6B675CC7-0580-4275-BC58-CD43A15D59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2fc5dc-0a9b-4fb0-a7bb-f2dbd29023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12B596-A862-481F-970F-A027E997B4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2006</TotalTime>
  <Words>804</Words>
  <Application>Microsoft Office PowerPoint</Application>
  <PresentationFormat>Presentación en pantalla (16:9)</PresentationFormat>
  <Paragraphs>140</Paragraphs>
  <Slides>9</Slides>
  <Notes>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9</vt:i4>
      </vt:variant>
    </vt:vector>
  </HeadingPairs>
  <TitlesOfParts>
    <vt:vector size="12" baseType="lpstr">
      <vt:lpstr>Arial</vt:lpstr>
      <vt:lpstr>Calibri</vt:lpstr>
      <vt:lpstr>Simple Light</vt:lpstr>
      <vt:lpstr>Mafalda</vt:lpstr>
      <vt:lpstr>Presentación de PowerPoint</vt:lpstr>
      <vt:lpstr>Presentación de PowerPoint</vt:lpstr>
      <vt:lpstr>Entidades potenciales          Atributos potenciales</vt:lpstr>
      <vt:lpstr>1er grupo de Entidades con atributos identificados – aplico FN1</vt:lpstr>
      <vt:lpstr>2do grupo deEntidades con atributos identificados </vt:lpstr>
      <vt:lpstr>Relación de Generalización/Especialización</vt:lpstr>
      <vt:lpstr>Relación de No Identidad</vt:lpstr>
      <vt:lpstr>Relación de Identidad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Mafalda 202102</dc:title>
  <cp:lastModifiedBy>Micaela Guadalupe Gutierrez Grinfeld</cp:lastModifiedBy>
  <cp:revision>26</cp:revision>
  <dcterms:modified xsi:type="dcterms:W3CDTF">2022-07-13T15:05:53Z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0x0101002A77989896D2AC4D9D96CE4C57E869D0</vt:lpwstr>
  </property>
</Properties>
</file>